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922B52-F810-4ECE-AA54-C31FA968E27D}">
  <a:tblStyle styleId="{E1922B52-F810-4ECE-AA54-C31FA968E27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048B22E-B1D8-479D-8C7E-11459F30318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B186099-4DFA-47FD-87C0-A4B7D03E1858}" styleName="Table_2">
    <a:wholeTbl>
      <a:tcTxStyle b="off" i="off">
        <a:font>
          <a:latin typeface="Century Gothic"/>
          <a:ea typeface="Century Gothic"/>
          <a:cs typeface="Century Gothic"/>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a268464eb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a268464eb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t>The board sets district policy, hires and oversees the superintendent, and prepares and presents a proposed budget to voters.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7ff65fd3e0c956a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7ff65fd3e0c956a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b6c31f3f5_0_1030:notes"/>
          <p:cNvSpPr txBox="1"/>
          <p:nvPr>
            <p:ph idx="1" type="body"/>
          </p:nvPr>
        </p:nvSpPr>
        <p:spPr>
          <a:xfrm>
            <a:off x="685800" y="4343401"/>
            <a:ext cx="5486400" cy="4114800"/>
          </a:xfrm>
          <a:prstGeom prst="rect">
            <a:avLst/>
          </a:prstGeom>
          <a:noFill/>
          <a:ln>
            <a:noFill/>
          </a:ln>
        </p:spPr>
        <p:txBody>
          <a:bodyPr anchorCtr="0" anchor="ctr" bIns="91225" lIns="91225" spcFirstLastPara="1" rIns="91225" wrap="square" tIns="91225">
            <a:noAutofit/>
          </a:bodyPr>
          <a:lstStyle/>
          <a:p>
            <a:pPr indent="0" lvl="0" marL="0" rtl="0" algn="l">
              <a:lnSpc>
                <a:spcPct val="100000"/>
              </a:lnSpc>
              <a:spcBef>
                <a:spcPts val="0"/>
              </a:spcBef>
              <a:spcAft>
                <a:spcPts val="0"/>
              </a:spcAft>
              <a:buSzPts val="1400"/>
              <a:buNone/>
            </a:pPr>
            <a:r>
              <a:t/>
            </a:r>
            <a:endParaRPr sz="1400"/>
          </a:p>
        </p:txBody>
      </p:sp>
      <p:sp>
        <p:nvSpPr>
          <p:cNvPr id="111" name="Google Shape;111;g3fb6c31f3f5_0_1030:notes"/>
          <p:cNvSpPr/>
          <p:nvPr>
            <p:ph idx="2" type="sldImg"/>
          </p:nvPr>
        </p:nvSpPr>
        <p:spPr>
          <a:xfrm>
            <a:off x="407740"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2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b6c31f3f5_0_1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b6c31f3f5_0_1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b6c31f3f5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b6c31f3f5_0_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b6c31f3f5_0_2425:notes"/>
          <p:cNvSpPr txBox="1"/>
          <p:nvPr>
            <p:ph idx="1" type="body"/>
          </p:nvPr>
        </p:nvSpPr>
        <p:spPr>
          <a:xfrm>
            <a:off x="685800" y="4343401"/>
            <a:ext cx="5486400" cy="4114800"/>
          </a:xfrm>
          <a:prstGeom prst="rect">
            <a:avLst/>
          </a:prstGeom>
          <a:noFill/>
          <a:ln>
            <a:noFill/>
          </a:ln>
        </p:spPr>
        <p:txBody>
          <a:bodyPr anchorCtr="0" anchor="ctr" bIns="91225" lIns="91225" spcFirstLastPara="1" rIns="91225" wrap="square" tIns="91225">
            <a:noAutofit/>
          </a:bodyPr>
          <a:lstStyle/>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t/>
            </a:r>
            <a:endParaRPr sz="1400"/>
          </a:p>
        </p:txBody>
      </p:sp>
      <p:sp>
        <p:nvSpPr>
          <p:cNvPr id="185" name="Google Shape;185;g3fb6c31f3f5_0_2425:notes"/>
          <p:cNvSpPr/>
          <p:nvPr>
            <p:ph idx="2" type="sldImg"/>
          </p:nvPr>
        </p:nvSpPr>
        <p:spPr>
          <a:xfrm>
            <a:off x="407740"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2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b6c31f3f5_0_3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b6c31f3f5_0_3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a268464eb_0_153:notes"/>
          <p:cNvSpPr txBox="1"/>
          <p:nvPr>
            <p:ph idx="1" type="body"/>
          </p:nvPr>
        </p:nvSpPr>
        <p:spPr>
          <a:xfrm>
            <a:off x="685800" y="4343401"/>
            <a:ext cx="5486400" cy="4114800"/>
          </a:xfrm>
          <a:prstGeom prst="rect">
            <a:avLst/>
          </a:prstGeom>
          <a:noFill/>
          <a:ln>
            <a:noFill/>
          </a:ln>
        </p:spPr>
        <p:txBody>
          <a:bodyPr anchorCtr="0" anchor="ctr" bIns="91225" lIns="91225" spcFirstLastPara="1" rIns="91225" wrap="square" tIns="91225">
            <a:noAutofit/>
          </a:bodyPr>
          <a:lstStyle/>
          <a:p>
            <a:pPr indent="0" lvl="0" marL="0" rtl="0" algn="l">
              <a:lnSpc>
                <a:spcPct val="100000"/>
              </a:lnSpc>
              <a:spcBef>
                <a:spcPts val="0"/>
              </a:spcBef>
              <a:spcAft>
                <a:spcPts val="0"/>
              </a:spcAft>
              <a:buSzPts val="1400"/>
              <a:buNone/>
            </a:pPr>
            <a:r>
              <a:t/>
            </a:r>
            <a:endParaRPr sz="1400"/>
          </a:p>
        </p:txBody>
      </p:sp>
      <p:sp>
        <p:nvSpPr>
          <p:cNvPr id="269" name="Google Shape;269;g3fa268464eb_0_153:notes"/>
          <p:cNvSpPr/>
          <p:nvPr>
            <p:ph idx="2" type="sldImg"/>
          </p:nvPr>
        </p:nvSpPr>
        <p:spPr>
          <a:xfrm>
            <a:off x="407740"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2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a268464eb_0_78:notes"/>
          <p:cNvSpPr txBox="1"/>
          <p:nvPr>
            <p:ph idx="1" type="body"/>
          </p:nvPr>
        </p:nvSpPr>
        <p:spPr>
          <a:xfrm>
            <a:off x="685800" y="4343401"/>
            <a:ext cx="5486400" cy="4114800"/>
          </a:xfrm>
          <a:prstGeom prst="rect">
            <a:avLst/>
          </a:prstGeom>
          <a:noFill/>
          <a:ln>
            <a:noFill/>
          </a:ln>
        </p:spPr>
        <p:txBody>
          <a:bodyPr anchorCtr="0" anchor="ctr" bIns="91225" lIns="91225" spcFirstLastPara="1" rIns="91225" wrap="square" tIns="91225">
            <a:noAutofit/>
          </a:bodyPr>
          <a:lstStyle/>
          <a:p>
            <a:pPr indent="0" lvl="0" marL="0" rtl="0" algn="l">
              <a:lnSpc>
                <a:spcPct val="100000"/>
              </a:lnSpc>
              <a:spcBef>
                <a:spcPts val="0"/>
              </a:spcBef>
              <a:spcAft>
                <a:spcPts val="0"/>
              </a:spcAft>
              <a:buSzPts val="1400"/>
              <a:buNone/>
            </a:pPr>
            <a:r>
              <a:rPr lang="en" sz="1400"/>
              <a:t>The District Education Spending is then divided by the number of LTW ADM.  This number is the Education Spending per LTW ADM.  This number is then divided by the State Dollar Equivalent Yield, which gives you the HHUSD Homestead Tax Rate.</a:t>
            </a:r>
            <a:endParaRPr sz="1400"/>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t/>
            </a:r>
            <a:endParaRPr sz="1400"/>
          </a:p>
        </p:txBody>
      </p:sp>
      <p:sp>
        <p:nvSpPr>
          <p:cNvPr id="283" name="Google Shape;283;g3fa268464eb_0_78:notes"/>
          <p:cNvSpPr/>
          <p:nvPr>
            <p:ph idx="2" type="sldImg"/>
          </p:nvPr>
        </p:nvSpPr>
        <p:spPr>
          <a:xfrm>
            <a:off x="407740"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2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8dc512564_0_2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8dc512564_0_2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a:t>
            </a:r>
            <a:r>
              <a:rPr lang="en"/>
              <a:t>basically</a:t>
            </a:r>
            <a:r>
              <a:rPr lang="en"/>
              <a:t> a statewide checkbook so if Ed Spending statewide it </a:t>
            </a:r>
            <a:r>
              <a:rPr lang="en"/>
              <a:t>growing</a:t>
            </a:r>
            <a:r>
              <a:rPr lang="en"/>
              <a:t> more money is needed statewide and the yield is set accordingly. The yield is difficult to estimate as it is driven by the financial status of the education fund and other political factors but also by the Legislature’s management of the fund— including decisions to shift costs into the fund and whether to use reserves. The yield is the lever the legislature has to determine how much money comes into the education fund. When the Legislature lowers the yield, tax rates go up, and if it raises the yield, tax rates go down.</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a268464eb_0_5:notes"/>
          <p:cNvSpPr/>
          <p:nvPr>
            <p:ph idx="2" type="sldImg"/>
          </p:nvPr>
        </p:nvSpPr>
        <p:spPr>
          <a:xfrm>
            <a:off x="409273" y="686496"/>
            <a:ext cx="6040800" cy="34278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fa268464eb_0_5:notes"/>
          <p:cNvSpPr txBox="1"/>
          <p:nvPr>
            <p:ph idx="1" type="body"/>
          </p:nvPr>
        </p:nvSpPr>
        <p:spPr>
          <a:xfrm>
            <a:off x="685800"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The VT Agency of Education and the VT Department of Taxes work together to determine how much all Vermont schools need from the Education Fund to fund their school budget(s) for the year.  This is determined by estimated budget increases collected from all districts.  A statewide budget increase is calculated and the Dollar Yield is announced by the Commissioner from the VT Department of Taxes.  The Education Spending Per LTW ADM is divided by the Dollar Yield to equal the HUUSD Homestead Tax Rate.</a:t>
            </a: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f8dc5125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f8dc5125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Local control is expenditures and revenues.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8de2a136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f8de2a136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b6c31f3f5_0_1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fb6c31f3f5_0_1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8ec9cfcb5_0_22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g3f8ec9cfcb5_0_22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Update the title of the slide and examples to fit your context.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fa268464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fa268464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8dc512564_207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f8dc512564_207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8dc512564_207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f8dc512564_207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bd8007355_0_2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fbd8007355_0_2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f8dc512564_207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f8dc512564_207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8ec9cfcb5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f8ec9cfcb5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8dc512564_207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f8dc512564_207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f8ec9cfcb5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f8ec9cfcb5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f8ec9cfcb5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f8ec9cfcb5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fbd80073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fbd80073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fbd8007355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fbd8007355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fbd8007355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fbd8007355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fbd8007355_0_1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fbd8007355_0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fbd8007355_0_2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fbd8007355_0_2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fbd8007355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3fbd8007355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fbeb953810_44_1046:notes"/>
          <p:cNvSpPr txBox="1"/>
          <p:nvPr>
            <p:ph idx="1" type="body"/>
          </p:nvPr>
        </p:nvSpPr>
        <p:spPr>
          <a:xfrm>
            <a:off x="685800" y="4343401"/>
            <a:ext cx="5486400" cy="4114800"/>
          </a:xfrm>
          <a:prstGeom prst="rect">
            <a:avLst/>
          </a:prstGeom>
          <a:noFill/>
          <a:ln>
            <a:noFill/>
          </a:ln>
        </p:spPr>
        <p:txBody>
          <a:bodyPr anchorCtr="0" anchor="ctr" bIns="91225" lIns="91225" spcFirstLastPara="1" rIns="91225" wrap="square" tIns="91225">
            <a:noAutofit/>
          </a:bodyPr>
          <a:lstStyle/>
          <a:p>
            <a:pPr indent="0" lvl="0" marL="0" rtl="0" algn="l">
              <a:lnSpc>
                <a:spcPct val="100000"/>
              </a:lnSpc>
              <a:spcBef>
                <a:spcPts val="0"/>
              </a:spcBef>
              <a:spcAft>
                <a:spcPts val="0"/>
              </a:spcAft>
              <a:buSzPts val="1400"/>
              <a:buNone/>
            </a:pPr>
            <a:r>
              <a:t/>
            </a:r>
            <a:endParaRPr sz="1400"/>
          </a:p>
        </p:txBody>
      </p:sp>
      <p:sp>
        <p:nvSpPr>
          <p:cNvPr id="898" name="Google Shape;898;g3fbeb953810_44_1046:notes"/>
          <p:cNvSpPr/>
          <p:nvPr>
            <p:ph idx="2" type="sldImg"/>
          </p:nvPr>
        </p:nvSpPr>
        <p:spPr>
          <a:xfrm>
            <a:off x="407740"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2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fbeb953810_2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3fbeb953810_2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h1d53d9f1810dfa02_3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h1d53d9f1810dfa02_3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fbeb953810_2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fbeb953810_2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fbd8007355_0_1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fbd8007355_0_1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fa268464eb_0_615:notes"/>
          <p:cNvSpPr/>
          <p:nvPr>
            <p:ph idx="2" type="sldImg"/>
          </p:nvPr>
        </p:nvSpPr>
        <p:spPr>
          <a:xfrm>
            <a:off x="409273" y="686496"/>
            <a:ext cx="6040800" cy="34278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fa268464eb_0_615:notes"/>
          <p:cNvSpPr txBox="1"/>
          <p:nvPr>
            <p:ph idx="1" type="body"/>
          </p:nvPr>
        </p:nvSpPr>
        <p:spPr>
          <a:xfrm>
            <a:off x="685800"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f8e9484d22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f8e9484d22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fbd8007355_0_2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fbd8007355_0_2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fbd8007355_0_2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fbd8007355_0_2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h7ff65fd3e0c956a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h7ff65fd3e0c956a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h7ff65fd3e0c956a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h7ff65fd3e0c956a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h7ff65fd3e0c956a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h7ff65fd3e0c956a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h7ff65fd3e0c956a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h7ff65fd3e0c956a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f8de2a1368_0_426:notes"/>
          <p:cNvSpPr/>
          <p:nvPr>
            <p:ph idx="2" type="sldImg"/>
          </p:nvPr>
        </p:nvSpPr>
        <p:spPr>
          <a:xfrm>
            <a:off x="409273" y="686496"/>
            <a:ext cx="6040800" cy="34278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3f8de2a1368_0_426:notes"/>
          <p:cNvSpPr txBox="1"/>
          <p:nvPr>
            <p:ph idx="1" type="body"/>
          </p:nvPr>
        </p:nvSpPr>
        <p:spPr>
          <a:xfrm>
            <a:off x="685800"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a268464eb_0_747:notes"/>
          <p:cNvSpPr txBox="1"/>
          <p:nvPr>
            <p:ph idx="1" type="body"/>
          </p:nvPr>
        </p:nvSpPr>
        <p:spPr>
          <a:xfrm>
            <a:off x="685800" y="4343401"/>
            <a:ext cx="5486400" cy="4114800"/>
          </a:xfrm>
          <a:prstGeom prst="rect">
            <a:avLst/>
          </a:prstGeom>
          <a:noFill/>
          <a:ln>
            <a:noFill/>
          </a:ln>
        </p:spPr>
        <p:txBody>
          <a:bodyPr anchorCtr="0" anchor="ctr" bIns="91225" lIns="91225" spcFirstLastPara="1" rIns="91225" wrap="square" tIns="91225">
            <a:noAutofit/>
          </a:bodyPr>
          <a:lstStyle/>
          <a:p>
            <a:pPr indent="0" lvl="0" marL="0" rtl="0" algn="l">
              <a:lnSpc>
                <a:spcPct val="100000"/>
              </a:lnSpc>
              <a:spcBef>
                <a:spcPts val="0"/>
              </a:spcBef>
              <a:spcAft>
                <a:spcPts val="0"/>
              </a:spcAft>
              <a:buSzPts val="1400"/>
              <a:buNone/>
            </a:pPr>
            <a:r>
              <a:t/>
            </a:r>
            <a:endParaRPr sz="1400"/>
          </a:p>
        </p:txBody>
      </p:sp>
      <p:sp>
        <p:nvSpPr>
          <p:cNvPr id="1076" name="Google Shape;1076;g3fa268464eb_0_747:notes"/>
          <p:cNvSpPr/>
          <p:nvPr>
            <p:ph idx="2" type="sldImg"/>
          </p:nvPr>
        </p:nvSpPr>
        <p:spPr>
          <a:xfrm>
            <a:off x="407740"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2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fbd8007355_0_2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fbd8007355_0_2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f8e2422db6_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f8e2422db6_6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fbeb953810_44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3fbeb953810_44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fbeb953810_4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fbeb953810_4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fbd8007355_0_2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fbd8007355_0_2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fbeb95381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3fbeb95381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f8e9484d22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f8e9484d22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fa268464eb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3fa268464eb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fa268464eb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fa268464eb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838200" y="57150"/>
            <a:ext cx="7620000" cy="1047900"/>
          </a:xfrm>
          <a:prstGeom prst="rect">
            <a:avLst/>
          </a:prstGeom>
          <a:noFill/>
          <a:ln>
            <a:noFill/>
          </a:ln>
        </p:spPr>
        <p:txBody>
          <a:bodyPr anchorCtr="0" anchor="b" bIns="68575" lIns="68575" spcFirstLastPara="1" rIns="68575" wrap="square" tIns="68575">
            <a:normAutofit/>
          </a:bodyPr>
          <a:lstStyle>
            <a:lvl1pPr lvl="0" marR="0" algn="l">
              <a:lnSpc>
                <a:spcPct val="85000"/>
              </a:lnSpc>
              <a:spcBef>
                <a:spcPts val="0"/>
              </a:spcBef>
              <a:spcAft>
                <a:spcPts val="0"/>
              </a:spcAft>
              <a:buClr>
                <a:srgbClr val="833C0B"/>
              </a:buClr>
              <a:buSzPts val="3300"/>
              <a:buFont typeface="Century Gothic"/>
              <a:buNone/>
              <a:defRPr b="0" i="0" sz="3300" u="none" cap="none" strike="noStrike">
                <a:solidFill>
                  <a:srgbClr val="833C0B"/>
                </a:solidFill>
                <a:latin typeface="Century Gothic"/>
                <a:ea typeface="Century Gothic"/>
                <a:cs typeface="Century Gothic"/>
                <a:sym typeface="Century Gothic"/>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52" name="Google Shape;52;p13"/>
          <p:cNvSpPr txBox="1"/>
          <p:nvPr>
            <p:ph idx="1" type="body"/>
          </p:nvPr>
        </p:nvSpPr>
        <p:spPr>
          <a:xfrm>
            <a:off x="838200" y="1276350"/>
            <a:ext cx="7620000" cy="3352800"/>
          </a:xfrm>
          <a:prstGeom prst="rect">
            <a:avLst/>
          </a:prstGeom>
          <a:noFill/>
          <a:ln>
            <a:noFill/>
          </a:ln>
        </p:spPr>
        <p:txBody>
          <a:bodyPr anchorCtr="0" anchor="t" bIns="68575" lIns="68575" spcFirstLastPara="1" rIns="68575" wrap="square" tIns="68575">
            <a:normAutofit/>
          </a:bodyPr>
          <a:lstStyle>
            <a:lvl1pPr indent="-342900" lvl="0" marL="457200" marR="0" algn="l">
              <a:lnSpc>
                <a:spcPct val="95000"/>
              </a:lnSpc>
              <a:spcBef>
                <a:spcPts val="1400"/>
              </a:spcBef>
              <a:spcAft>
                <a:spcPts val="0"/>
              </a:spcAft>
              <a:buClr>
                <a:srgbClr val="385623"/>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23850" lvl="1" marL="914400" marR="0" algn="l">
              <a:lnSpc>
                <a:spcPct val="95000"/>
              </a:lnSpc>
              <a:spcBef>
                <a:spcPts val="800"/>
              </a:spcBef>
              <a:spcAft>
                <a:spcPts val="0"/>
              </a:spcAft>
              <a:buClr>
                <a:srgbClr val="385623"/>
              </a:buClr>
              <a:buSzPts val="1500"/>
              <a:buFont typeface="Century Gothic"/>
              <a:buChar char="–"/>
              <a:defRPr b="0" i="0" sz="1500" u="none" cap="none" strike="noStrike">
                <a:solidFill>
                  <a:schemeClr val="dk1"/>
                </a:solidFill>
                <a:latin typeface="Century Gothic"/>
                <a:ea typeface="Century Gothic"/>
                <a:cs typeface="Century Gothic"/>
                <a:sym typeface="Century Gothic"/>
              </a:defRPr>
            </a:lvl2pPr>
            <a:lvl3pPr indent="-317500" lvl="2" marL="13716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3pPr>
            <a:lvl4pPr indent="-317500" lvl="3" marL="18288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4pPr>
            <a:lvl5pPr indent="-317500" lvl="4" marL="22860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5pPr>
            <a:lvl6pPr indent="-228600" lvl="5" marL="2743200" marR="0" algn="l">
              <a:lnSpc>
                <a:spcPct val="95000"/>
              </a:lnSpc>
              <a:spcBef>
                <a:spcPts val="800"/>
              </a:spcBef>
              <a:spcAft>
                <a:spcPts val="0"/>
              </a:spcAft>
              <a:buClr>
                <a:srgbClr val="385623"/>
              </a:buClr>
              <a:buSzPts val="1200"/>
              <a:buFont typeface="Century Gothic"/>
              <a:buNone/>
              <a:defRPr b="0" i="0" sz="1400" u="none" cap="none" strike="noStrike">
                <a:solidFill>
                  <a:srgbClr val="222A35"/>
                </a:solidFill>
                <a:latin typeface="Century Gothic"/>
                <a:ea typeface="Century Gothic"/>
                <a:cs typeface="Century Gothic"/>
                <a:sym typeface="Century Gothic"/>
              </a:defRPr>
            </a:lvl6pPr>
            <a:lvl7pPr indent="-304800" lvl="6" marL="32004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7pPr>
            <a:lvl8pPr indent="-304800" lvl="7" marL="36576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8pPr>
            <a:lvl9pPr indent="-304800" lvl="8" marL="41148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9pPr>
          </a:lstStyle>
          <a:p/>
        </p:txBody>
      </p:sp>
      <p:sp>
        <p:nvSpPr>
          <p:cNvPr id="53" name="Google Shape;53;p13"/>
          <p:cNvSpPr txBox="1"/>
          <p:nvPr>
            <p:ph idx="10" type="dt"/>
          </p:nvPr>
        </p:nvSpPr>
        <p:spPr>
          <a:xfrm>
            <a:off x="838200" y="4800601"/>
            <a:ext cx="2057400" cy="240600"/>
          </a:xfrm>
          <a:prstGeom prst="rect">
            <a:avLst/>
          </a:prstGeom>
          <a:noFill/>
          <a:ln>
            <a:noFill/>
          </a:ln>
        </p:spPr>
        <p:txBody>
          <a:bodyPr anchorCtr="0" anchor="b" bIns="68575" lIns="68575" spcFirstLastPara="1" rIns="68575" wrap="square" tIns="68575">
            <a:noAutofit/>
          </a:bodyPr>
          <a:lstStyle>
            <a:lvl1pPr lvl="0" marR="0" algn="l">
              <a:lnSpc>
                <a:spcPct val="100000"/>
              </a:lnSpc>
              <a:spcBef>
                <a:spcPts val="0"/>
              </a:spcBef>
              <a:spcAft>
                <a:spcPts val="0"/>
              </a:spcAft>
              <a:buSzPts val="1100"/>
              <a:buNone/>
              <a:defRPr b="0" i="0" sz="900" u="none" cap="none" strike="noStrike">
                <a:solidFill>
                  <a:srgbClr val="222A35"/>
                </a:solidFill>
                <a:latin typeface="Century Gothic"/>
                <a:ea typeface="Century Gothic"/>
                <a:cs typeface="Century Gothic"/>
                <a:sym typeface="Century Gothic"/>
              </a:defRPr>
            </a:lvl1pPr>
            <a:lvl2pPr lvl="1"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2pPr>
            <a:lvl3pPr lvl="2"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3pPr>
            <a:lvl4pPr lvl="3"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4pPr>
            <a:lvl5pPr lvl="4"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5pPr>
            <a:lvl6pPr lvl="5"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6pPr>
            <a:lvl7pPr lvl="6"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7pPr>
            <a:lvl8pPr lvl="7"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8pPr>
            <a:lvl9pPr lvl="8"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9pPr>
          </a:lstStyle>
          <a:p/>
        </p:txBody>
      </p:sp>
      <p:sp>
        <p:nvSpPr>
          <p:cNvPr id="54" name="Google Shape;54;p13"/>
          <p:cNvSpPr txBox="1"/>
          <p:nvPr>
            <p:ph idx="11" type="ftr"/>
          </p:nvPr>
        </p:nvSpPr>
        <p:spPr>
          <a:xfrm>
            <a:off x="2931645" y="4800601"/>
            <a:ext cx="4663500" cy="240600"/>
          </a:xfrm>
          <a:prstGeom prst="rect">
            <a:avLst/>
          </a:prstGeom>
          <a:noFill/>
          <a:ln>
            <a:noFill/>
          </a:ln>
        </p:spPr>
        <p:txBody>
          <a:bodyPr anchorCtr="0" anchor="b" bIns="68575" lIns="68575" spcFirstLastPara="1" rIns="68575" wrap="square" tIns="68575">
            <a:noAutofit/>
          </a:bodyPr>
          <a:lstStyle>
            <a:lvl1pPr lvl="0" marR="0" algn="ctr">
              <a:lnSpc>
                <a:spcPct val="100000"/>
              </a:lnSpc>
              <a:spcBef>
                <a:spcPts val="0"/>
              </a:spcBef>
              <a:spcAft>
                <a:spcPts val="0"/>
              </a:spcAft>
              <a:buSzPts val="1100"/>
              <a:buNone/>
              <a:defRPr b="0" i="0" sz="900" u="none" cap="none" strike="noStrike">
                <a:solidFill>
                  <a:srgbClr val="222A35"/>
                </a:solidFill>
                <a:latin typeface="Century Gothic"/>
                <a:ea typeface="Century Gothic"/>
                <a:cs typeface="Century Gothic"/>
                <a:sym typeface="Century Gothic"/>
              </a:defRPr>
            </a:lvl1pPr>
            <a:lvl2pPr lvl="1"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2pPr>
            <a:lvl3pPr lvl="2"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3pPr>
            <a:lvl4pPr lvl="3"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4pPr>
            <a:lvl5pPr lvl="4"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5pPr>
            <a:lvl6pPr lvl="5"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6pPr>
            <a:lvl7pPr lvl="6"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7pPr>
            <a:lvl8pPr lvl="7"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8pPr>
            <a:lvl9pPr lvl="8"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9pPr>
          </a:lstStyle>
          <a:p/>
        </p:txBody>
      </p:sp>
      <p:sp>
        <p:nvSpPr>
          <p:cNvPr id="55" name="Google Shape;55;p13"/>
          <p:cNvSpPr txBox="1"/>
          <p:nvPr>
            <p:ph idx="12" type="sldNum"/>
          </p:nvPr>
        </p:nvSpPr>
        <p:spPr>
          <a:xfrm>
            <a:off x="7627346" y="4800601"/>
            <a:ext cx="831000" cy="240600"/>
          </a:xfrm>
          <a:prstGeom prst="rect">
            <a:avLst/>
          </a:prstGeom>
          <a:noFill/>
          <a:ln>
            <a:noFill/>
          </a:ln>
        </p:spPr>
        <p:txBody>
          <a:bodyPr anchorCtr="0" anchor="b" bIns="45700" lIns="91425" spcFirstLastPara="1" rIns="91425" wrap="square" tIns="45700">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4"/>
          <p:cNvSpPr txBox="1"/>
          <p:nvPr>
            <p:ph type="title"/>
          </p:nvPr>
        </p:nvSpPr>
        <p:spPr>
          <a:xfrm>
            <a:off x="838200" y="57150"/>
            <a:ext cx="7620000" cy="1047900"/>
          </a:xfrm>
          <a:prstGeom prst="rect">
            <a:avLst/>
          </a:prstGeom>
          <a:noFill/>
          <a:ln>
            <a:noFill/>
          </a:ln>
        </p:spPr>
        <p:txBody>
          <a:bodyPr anchorCtr="0" anchor="b" bIns="68575" lIns="68575" spcFirstLastPara="1" rIns="68575" wrap="square" tIns="68575">
            <a:normAutofit/>
          </a:bodyPr>
          <a:lstStyle>
            <a:lvl1pPr lvl="0" marR="0" algn="l">
              <a:lnSpc>
                <a:spcPct val="85000"/>
              </a:lnSpc>
              <a:spcBef>
                <a:spcPts val="0"/>
              </a:spcBef>
              <a:spcAft>
                <a:spcPts val="0"/>
              </a:spcAft>
              <a:buClr>
                <a:srgbClr val="833C0B"/>
              </a:buClr>
              <a:buSzPts val="3300"/>
              <a:buFont typeface="Century Gothic"/>
              <a:buNone/>
              <a:defRPr b="0" i="0" sz="3300" u="none" cap="none" strike="noStrike">
                <a:solidFill>
                  <a:srgbClr val="833C0B"/>
                </a:solidFill>
                <a:latin typeface="Century Gothic"/>
                <a:ea typeface="Century Gothic"/>
                <a:cs typeface="Century Gothic"/>
                <a:sym typeface="Century Gothic"/>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58" name="Google Shape;58;p14"/>
          <p:cNvSpPr txBox="1"/>
          <p:nvPr>
            <p:ph idx="1" type="body"/>
          </p:nvPr>
        </p:nvSpPr>
        <p:spPr>
          <a:xfrm>
            <a:off x="841248" y="1206627"/>
            <a:ext cx="3730800" cy="384000"/>
          </a:xfrm>
          <a:prstGeom prst="rect">
            <a:avLst/>
          </a:prstGeom>
          <a:noFill/>
          <a:ln>
            <a:noFill/>
          </a:ln>
        </p:spPr>
        <p:txBody>
          <a:bodyPr anchorCtr="0" anchor="b" bIns="68575" lIns="68575" spcFirstLastPara="1" rIns="68575" wrap="square" tIns="68575">
            <a:normAutofit/>
          </a:bodyPr>
          <a:lstStyle>
            <a:lvl1pPr indent="-228600" lvl="0" marL="457200" marR="0" algn="l">
              <a:lnSpc>
                <a:spcPct val="95000"/>
              </a:lnSpc>
              <a:spcBef>
                <a:spcPts val="0"/>
              </a:spcBef>
              <a:spcAft>
                <a:spcPts val="0"/>
              </a:spcAft>
              <a:buClr>
                <a:srgbClr val="385623"/>
              </a:buClr>
              <a:buSzPts val="1800"/>
              <a:buFont typeface="Arial"/>
              <a:buNone/>
              <a:defRPr b="1" i="0" sz="1800" u="none" cap="none" strike="noStrike">
                <a:solidFill>
                  <a:schemeClr val="dk1"/>
                </a:solidFill>
                <a:latin typeface="Century Gothic"/>
                <a:ea typeface="Century Gothic"/>
                <a:cs typeface="Century Gothic"/>
                <a:sym typeface="Century Gothic"/>
              </a:defRPr>
            </a:lvl1pPr>
            <a:lvl2pPr indent="-228600" lvl="1" marL="914400" marR="0" algn="l">
              <a:lnSpc>
                <a:spcPct val="95000"/>
              </a:lnSpc>
              <a:spcBef>
                <a:spcPts val="800"/>
              </a:spcBef>
              <a:spcAft>
                <a:spcPts val="0"/>
              </a:spcAft>
              <a:buClr>
                <a:srgbClr val="385623"/>
              </a:buClr>
              <a:buSzPts val="2000"/>
              <a:buFont typeface="Century Gothic"/>
              <a:buNone/>
              <a:defRPr b="1" i="0" sz="2000" u="none" cap="none" strike="noStrike">
                <a:solidFill>
                  <a:schemeClr val="dk1"/>
                </a:solidFill>
                <a:latin typeface="Century Gothic"/>
                <a:ea typeface="Century Gothic"/>
                <a:cs typeface="Century Gothic"/>
                <a:sym typeface="Century Gothic"/>
              </a:defRPr>
            </a:lvl2pPr>
            <a:lvl3pPr indent="-228600" lvl="2" marL="1371600" marR="0" algn="l">
              <a:lnSpc>
                <a:spcPct val="95000"/>
              </a:lnSpc>
              <a:spcBef>
                <a:spcPts val="800"/>
              </a:spcBef>
              <a:spcAft>
                <a:spcPts val="0"/>
              </a:spcAft>
              <a:buClr>
                <a:srgbClr val="385623"/>
              </a:buClr>
              <a:buSzPts val="1800"/>
              <a:buFont typeface="Century Gothic"/>
              <a:buNone/>
              <a:defRPr b="1" i="0" sz="1800" u="none" cap="none" strike="noStrike">
                <a:solidFill>
                  <a:schemeClr val="dk1"/>
                </a:solidFill>
                <a:latin typeface="Century Gothic"/>
                <a:ea typeface="Century Gothic"/>
                <a:cs typeface="Century Gothic"/>
                <a:sym typeface="Century Gothic"/>
              </a:defRPr>
            </a:lvl3pPr>
            <a:lvl4pPr indent="-228600" lvl="3" marL="1828800" marR="0" algn="l">
              <a:lnSpc>
                <a:spcPct val="95000"/>
              </a:lnSpc>
              <a:spcBef>
                <a:spcPts val="800"/>
              </a:spcBef>
              <a:spcAft>
                <a:spcPts val="0"/>
              </a:spcAft>
              <a:buClr>
                <a:srgbClr val="385623"/>
              </a:buClr>
              <a:buSzPts val="1600"/>
              <a:buFont typeface="Century Gothic"/>
              <a:buNone/>
              <a:defRPr b="1" i="0" sz="1600" u="none" cap="none" strike="noStrike">
                <a:solidFill>
                  <a:schemeClr val="dk1"/>
                </a:solidFill>
                <a:latin typeface="Century Gothic"/>
                <a:ea typeface="Century Gothic"/>
                <a:cs typeface="Century Gothic"/>
                <a:sym typeface="Century Gothic"/>
              </a:defRPr>
            </a:lvl4pPr>
            <a:lvl5pPr indent="-228600" lvl="4" marL="2286000" marR="0" algn="l">
              <a:lnSpc>
                <a:spcPct val="95000"/>
              </a:lnSpc>
              <a:spcBef>
                <a:spcPts val="800"/>
              </a:spcBef>
              <a:spcAft>
                <a:spcPts val="0"/>
              </a:spcAft>
              <a:buClr>
                <a:srgbClr val="385623"/>
              </a:buClr>
              <a:buSzPts val="1600"/>
              <a:buFont typeface="Century Gothic"/>
              <a:buNone/>
              <a:defRPr b="1" i="0" sz="1600" u="none" cap="none" strike="noStrike">
                <a:solidFill>
                  <a:schemeClr val="dk1"/>
                </a:solidFill>
                <a:latin typeface="Century Gothic"/>
                <a:ea typeface="Century Gothic"/>
                <a:cs typeface="Century Gothic"/>
                <a:sym typeface="Century Gothic"/>
              </a:defRPr>
            </a:lvl5pPr>
            <a:lvl6pPr indent="-228600" lvl="5" marL="27432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6pPr>
            <a:lvl7pPr indent="-228600" lvl="6" marL="32004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7pPr>
            <a:lvl8pPr indent="-228600" lvl="7" marL="36576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8pPr>
            <a:lvl9pPr indent="-228600" lvl="8" marL="41148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9pPr>
          </a:lstStyle>
          <a:p/>
        </p:txBody>
      </p:sp>
      <p:sp>
        <p:nvSpPr>
          <p:cNvPr id="59" name="Google Shape;59;p14"/>
          <p:cNvSpPr txBox="1"/>
          <p:nvPr>
            <p:ph idx="2" type="body"/>
          </p:nvPr>
        </p:nvSpPr>
        <p:spPr>
          <a:xfrm>
            <a:off x="838200" y="1657350"/>
            <a:ext cx="3733800" cy="2971800"/>
          </a:xfrm>
          <a:prstGeom prst="rect">
            <a:avLst/>
          </a:prstGeom>
          <a:noFill/>
          <a:ln>
            <a:noFill/>
          </a:ln>
        </p:spPr>
        <p:txBody>
          <a:bodyPr anchorCtr="0" anchor="t" bIns="68575" lIns="68575" spcFirstLastPara="1" rIns="68575" wrap="square" tIns="68575">
            <a:normAutofit/>
          </a:bodyPr>
          <a:lstStyle>
            <a:lvl1pPr indent="-323850" lvl="0" marL="457200" marR="0" algn="l">
              <a:lnSpc>
                <a:spcPct val="95000"/>
              </a:lnSpc>
              <a:spcBef>
                <a:spcPts val="1400"/>
              </a:spcBef>
              <a:spcAft>
                <a:spcPts val="0"/>
              </a:spcAft>
              <a:buClr>
                <a:srgbClr val="385623"/>
              </a:buClr>
              <a:buSzPts val="1500"/>
              <a:buFont typeface="Arial"/>
              <a:buChar char="•"/>
              <a:defRPr b="0" i="0" sz="1500" u="none" cap="none" strike="noStrike">
                <a:solidFill>
                  <a:schemeClr val="dk1"/>
                </a:solidFill>
                <a:latin typeface="Century Gothic"/>
                <a:ea typeface="Century Gothic"/>
                <a:cs typeface="Century Gothic"/>
                <a:sym typeface="Century Gothic"/>
              </a:defRPr>
            </a:lvl1pPr>
            <a:lvl2pPr indent="-317500" lvl="1" marL="9144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2pPr>
            <a:lvl3pPr indent="-317500" lvl="2" marL="13716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3pPr>
            <a:lvl4pPr indent="-317500" lvl="3" marL="18288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4pPr>
            <a:lvl5pPr indent="-317500" lvl="4" marL="22860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5pPr>
            <a:lvl6pPr indent="-304800" lvl="5" marL="27432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6pPr>
            <a:lvl7pPr indent="-304800" lvl="6" marL="32004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7pPr>
            <a:lvl8pPr indent="-304800" lvl="7" marL="36576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8pPr>
            <a:lvl9pPr indent="-304800" lvl="8" marL="41148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9pPr>
          </a:lstStyle>
          <a:p/>
        </p:txBody>
      </p:sp>
      <p:sp>
        <p:nvSpPr>
          <p:cNvPr id="60" name="Google Shape;60;p14"/>
          <p:cNvSpPr txBox="1"/>
          <p:nvPr>
            <p:ph idx="3" type="body"/>
          </p:nvPr>
        </p:nvSpPr>
        <p:spPr>
          <a:xfrm>
            <a:off x="4727448" y="1206627"/>
            <a:ext cx="3730800" cy="384000"/>
          </a:xfrm>
          <a:prstGeom prst="rect">
            <a:avLst/>
          </a:prstGeom>
          <a:noFill/>
          <a:ln>
            <a:noFill/>
          </a:ln>
        </p:spPr>
        <p:txBody>
          <a:bodyPr anchorCtr="0" anchor="b" bIns="68575" lIns="68575" spcFirstLastPara="1" rIns="68575" wrap="square" tIns="68575">
            <a:normAutofit/>
          </a:bodyPr>
          <a:lstStyle>
            <a:lvl1pPr indent="-228600" lvl="0" marL="457200" marR="0" algn="l">
              <a:lnSpc>
                <a:spcPct val="95000"/>
              </a:lnSpc>
              <a:spcBef>
                <a:spcPts val="0"/>
              </a:spcBef>
              <a:spcAft>
                <a:spcPts val="0"/>
              </a:spcAft>
              <a:buClr>
                <a:srgbClr val="385623"/>
              </a:buClr>
              <a:buSzPts val="1800"/>
              <a:buFont typeface="Arial"/>
              <a:buNone/>
              <a:defRPr b="1" i="0" sz="1800" u="none" cap="none" strike="noStrike">
                <a:solidFill>
                  <a:schemeClr val="dk1"/>
                </a:solidFill>
                <a:latin typeface="Century Gothic"/>
                <a:ea typeface="Century Gothic"/>
                <a:cs typeface="Century Gothic"/>
                <a:sym typeface="Century Gothic"/>
              </a:defRPr>
            </a:lvl1pPr>
            <a:lvl2pPr indent="-228600" lvl="1" marL="914400" marR="0" algn="l">
              <a:lnSpc>
                <a:spcPct val="95000"/>
              </a:lnSpc>
              <a:spcBef>
                <a:spcPts val="800"/>
              </a:spcBef>
              <a:spcAft>
                <a:spcPts val="0"/>
              </a:spcAft>
              <a:buClr>
                <a:srgbClr val="385623"/>
              </a:buClr>
              <a:buSzPts val="2000"/>
              <a:buFont typeface="Century Gothic"/>
              <a:buNone/>
              <a:defRPr b="1" i="0" sz="2000" u="none" cap="none" strike="noStrike">
                <a:solidFill>
                  <a:schemeClr val="dk1"/>
                </a:solidFill>
                <a:latin typeface="Century Gothic"/>
                <a:ea typeface="Century Gothic"/>
                <a:cs typeface="Century Gothic"/>
                <a:sym typeface="Century Gothic"/>
              </a:defRPr>
            </a:lvl2pPr>
            <a:lvl3pPr indent="-228600" lvl="2" marL="1371600" marR="0" algn="l">
              <a:lnSpc>
                <a:spcPct val="95000"/>
              </a:lnSpc>
              <a:spcBef>
                <a:spcPts val="800"/>
              </a:spcBef>
              <a:spcAft>
                <a:spcPts val="0"/>
              </a:spcAft>
              <a:buClr>
                <a:srgbClr val="385623"/>
              </a:buClr>
              <a:buSzPts val="1800"/>
              <a:buFont typeface="Century Gothic"/>
              <a:buNone/>
              <a:defRPr b="1" i="0" sz="1800" u="none" cap="none" strike="noStrike">
                <a:solidFill>
                  <a:schemeClr val="dk1"/>
                </a:solidFill>
                <a:latin typeface="Century Gothic"/>
                <a:ea typeface="Century Gothic"/>
                <a:cs typeface="Century Gothic"/>
                <a:sym typeface="Century Gothic"/>
              </a:defRPr>
            </a:lvl3pPr>
            <a:lvl4pPr indent="-228600" lvl="3" marL="1828800" marR="0" algn="l">
              <a:lnSpc>
                <a:spcPct val="95000"/>
              </a:lnSpc>
              <a:spcBef>
                <a:spcPts val="800"/>
              </a:spcBef>
              <a:spcAft>
                <a:spcPts val="0"/>
              </a:spcAft>
              <a:buClr>
                <a:srgbClr val="385623"/>
              </a:buClr>
              <a:buSzPts val="1600"/>
              <a:buFont typeface="Century Gothic"/>
              <a:buNone/>
              <a:defRPr b="1" i="0" sz="1600" u="none" cap="none" strike="noStrike">
                <a:solidFill>
                  <a:schemeClr val="dk1"/>
                </a:solidFill>
                <a:latin typeface="Century Gothic"/>
                <a:ea typeface="Century Gothic"/>
                <a:cs typeface="Century Gothic"/>
                <a:sym typeface="Century Gothic"/>
              </a:defRPr>
            </a:lvl4pPr>
            <a:lvl5pPr indent="-228600" lvl="4" marL="2286000" marR="0" algn="l">
              <a:lnSpc>
                <a:spcPct val="95000"/>
              </a:lnSpc>
              <a:spcBef>
                <a:spcPts val="800"/>
              </a:spcBef>
              <a:spcAft>
                <a:spcPts val="0"/>
              </a:spcAft>
              <a:buClr>
                <a:srgbClr val="385623"/>
              </a:buClr>
              <a:buSzPts val="1600"/>
              <a:buFont typeface="Century Gothic"/>
              <a:buNone/>
              <a:defRPr b="1" i="0" sz="1600" u="none" cap="none" strike="noStrike">
                <a:solidFill>
                  <a:schemeClr val="dk1"/>
                </a:solidFill>
                <a:latin typeface="Century Gothic"/>
                <a:ea typeface="Century Gothic"/>
                <a:cs typeface="Century Gothic"/>
                <a:sym typeface="Century Gothic"/>
              </a:defRPr>
            </a:lvl5pPr>
            <a:lvl6pPr indent="-228600" lvl="5" marL="27432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6pPr>
            <a:lvl7pPr indent="-228600" lvl="6" marL="32004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7pPr>
            <a:lvl8pPr indent="-228600" lvl="7" marL="36576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8pPr>
            <a:lvl9pPr indent="-228600" lvl="8" marL="4114800" marR="0" algn="l">
              <a:lnSpc>
                <a:spcPct val="95000"/>
              </a:lnSpc>
              <a:spcBef>
                <a:spcPts val="800"/>
              </a:spcBef>
              <a:spcAft>
                <a:spcPts val="0"/>
              </a:spcAft>
              <a:buClr>
                <a:srgbClr val="385623"/>
              </a:buClr>
              <a:buSzPts val="1400"/>
              <a:buFont typeface="Century Gothic"/>
              <a:buNone/>
              <a:defRPr b="1" i="0" sz="1600" u="none" cap="none" strike="noStrike">
                <a:solidFill>
                  <a:srgbClr val="222A35"/>
                </a:solidFill>
                <a:latin typeface="Century Gothic"/>
                <a:ea typeface="Century Gothic"/>
                <a:cs typeface="Century Gothic"/>
                <a:sym typeface="Century Gothic"/>
              </a:defRPr>
            </a:lvl9pPr>
          </a:lstStyle>
          <a:p/>
        </p:txBody>
      </p:sp>
      <p:sp>
        <p:nvSpPr>
          <p:cNvPr id="61" name="Google Shape;61;p14"/>
          <p:cNvSpPr txBox="1"/>
          <p:nvPr>
            <p:ph idx="4" type="body"/>
          </p:nvPr>
        </p:nvSpPr>
        <p:spPr>
          <a:xfrm>
            <a:off x="4724400" y="1657350"/>
            <a:ext cx="3733800" cy="2971800"/>
          </a:xfrm>
          <a:prstGeom prst="rect">
            <a:avLst/>
          </a:prstGeom>
          <a:noFill/>
          <a:ln>
            <a:noFill/>
          </a:ln>
        </p:spPr>
        <p:txBody>
          <a:bodyPr anchorCtr="0" anchor="t" bIns="68575" lIns="68575" spcFirstLastPara="1" rIns="68575" wrap="square" tIns="68575">
            <a:normAutofit/>
          </a:bodyPr>
          <a:lstStyle>
            <a:lvl1pPr indent="-323850" lvl="0" marL="457200" marR="0" algn="l">
              <a:lnSpc>
                <a:spcPct val="95000"/>
              </a:lnSpc>
              <a:spcBef>
                <a:spcPts val="1400"/>
              </a:spcBef>
              <a:spcAft>
                <a:spcPts val="0"/>
              </a:spcAft>
              <a:buClr>
                <a:srgbClr val="385623"/>
              </a:buClr>
              <a:buSzPts val="1500"/>
              <a:buFont typeface="Arial"/>
              <a:buChar char="•"/>
              <a:defRPr b="0" i="0" sz="1500" u="none" cap="none" strike="noStrike">
                <a:solidFill>
                  <a:schemeClr val="dk1"/>
                </a:solidFill>
                <a:latin typeface="Century Gothic"/>
                <a:ea typeface="Century Gothic"/>
                <a:cs typeface="Century Gothic"/>
                <a:sym typeface="Century Gothic"/>
              </a:defRPr>
            </a:lvl1pPr>
            <a:lvl2pPr indent="-317500" lvl="1" marL="9144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2pPr>
            <a:lvl3pPr indent="-317500" lvl="2" marL="13716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3pPr>
            <a:lvl4pPr indent="-317500" lvl="3" marL="18288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4pPr>
            <a:lvl5pPr indent="-317500" lvl="4" marL="2286000" marR="0" algn="l">
              <a:lnSpc>
                <a:spcPct val="95000"/>
              </a:lnSpc>
              <a:spcBef>
                <a:spcPts val="800"/>
              </a:spcBef>
              <a:spcAft>
                <a:spcPts val="0"/>
              </a:spcAft>
              <a:buClr>
                <a:srgbClr val="385623"/>
              </a:buClr>
              <a:buSzPts val="1400"/>
              <a:buFont typeface="Century Gothic"/>
              <a:buChar char="–"/>
              <a:defRPr b="0" i="0" sz="1400" u="none" cap="none" strike="noStrike">
                <a:solidFill>
                  <a:schemeClr val="dk1"/>
                </a:solidFill>
                <a:latin typeface="Century Gothic"/>
                <a:ea typeface="Century Gothic"/>
                <a:cs typeface="Century Gothic"/>
                <a:sym typeface="Century Gothic"/>
              </a:defRPr>
            </a:lvl5pPr>
            <a:lvl6pPr indent="-304800" lvl="5" marL="27432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6pPr>
            <a:lvl7pPr indent="-304800" lvl="6" marL="32004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7pPr>
            <a:lvl8pPr indent="-304800" lvl="7" marL="36576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8pPr>
            <a:lvl9pPr indent="-304800" lvl="8" marL="4114800" marR="0" algn="l">
              <a:lnSpc>
                <a:spcPct val="95000"/>
              </a:lnSpc>
              <a:spcBef>
                <a:spcPts val="800"/>
              </a:spcBef>
              <a:spcAft>
                <a:spcPts val="0"/>
              </a:spcAft>
              <a:buClr>
                <a:srgbClr val="385623"/>
              </a:buClr>
              <a:buSzPts val="1200"/>
              <a:buFont typeface="Century Gothic"/>
              <a:buChar char="–"/>
              <a:defRPr b="0" i="0" sz="1400" u="none" cap="none" strike="noStrike">
                <a:solidFill>
                  <a:srgbClr val="222A35"/>
                </a:solidFill>
                <a:latin typeface="Century Gothic"/>
                <a:ea typeface="Century Gothic"/>
                <a:cs typeface="Century Gothic"/>
                <a:sym typeface="Century Gothic"/>
              </a:defRPr>
            </a:lvl9pPr>
          </a:lstStyle>
          <a:p/>
        </p:txBody>
      </p:sp>
      <p:sp>
        <p:nvSpPr>
          <p:cNvPr id="62" name="Google Shape;62;p14"/>
          <p:cNvSpPr txBox="1"/>
          <p:nvPr>
            <p:ph idx="10" type="dt"/>
          </p:nvPr>
        </p:nvSpPr>
        <p:spPr>
          <a:xfrm>
            <a:off x="838200" y="4800601"/>
            <a:ext cx="2057400" cy="240600"/>
          </a:xfrm>
          <a:prstGeom prst="rect">
            <a:avLst/>
          </a:prstGeom>
          <a:noFill/>
          <a:ln>
            <a:noFill/>
          </a:ln>
        </p:spPr>
        <p:txBody>
          <a:bodyPr anchorCtr="0" anchor="b" bIns="68575" lIns="68575" spcFirstLastPara="1" rIns="68575" wrap="square" tIns="68575">
            <a:noAutofit/>
          </a:bodyPr>
          <a:lstStyle>
            <a:lvl1pPr lvl="0" marR="0" algn="l">
              <a:lnSpc>
                <a:spcPct val="100000"/>
              </a:lnSpc>
              <a:spcBef>
                <a:spcPts val="0"/>
              </a:spcBef>
              <a:spcAft>
                <a:spcPts val="0"/>
              </a:spcAft>
              <a:buSzPts val="1100"/>
              <a:buNone/>
              <a:defRPr b="0" i="0" sz="900" u="none" cap="none" strike="noStrike">
                <a:solidFill>
                  <a:srgbClr val="222A35"/>
                </a:solidFill>
                <a:latin typeface="Century Gothic"/>
                <a:ea typeface="Century Gothic"/>
                <a:cs typeface="Century Gothic"/>
                <a:sym typeface="Century Gothic"/>
              </a:defRPr>
            </a:lvl1pPr>
            <a:lvl2pPr lvl="1"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2pPr>
            <a:lvl3pPr lvl="2"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3pPr>
            <a:lvl4pPr lvl="3"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4pPr>
            <a:lvl5pPr lvl="4"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5pPr>
            <a:lvl6pPr lvl="5"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6pPr>
            <a:lvl7pPr lvl="6"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7pPr>
            <a:lvl8pPr lvl="7"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8pPr>
            <a:lvl9pPr lvl="8"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9pPr>
          </a:lstStyle>
          <a:p/>
        </p:txBody>
      </p:sp>
      <p:sp>
        <p:nvSpPr>
          <p:cNvPr id="63" name="Google Shape;63;p14"/>
          <p:cNvSpPr txBox="1"/>
          <p:nvPr>
            <p:ph idx="11" type="ftr"/>
          </p:nvPr>
        </p:nvSpPr>
        <p:spPr>
          <a:xfrm>
            <a:off x="2931645" y="4800601"/>
            <a:ext cx="4663500" cy="240600"/>
          </a:xfrm>
          <a:prstGeom prst="rect">
            <a:avLst/>
          </a:prstGeom>
          <a:noFill/>
          <a:ln>
            <a:noFill/>
          </a:ln>
        </p:spPr>
        <p:txBody>
          <a:bodyPr anchorCtr="0" anchor="b" bIns="68575" lIns="68575" spcFirstLastPara="1" rIns="68575" wrap="square" tIns="68575">
            <a:noAutofit/>
          </a:bodyPr>
          <a:lstStyle>
            <a:lvl1pPr lvl="0" marR="0" algn="ctr">
              <a:lnSpc>
                <a:spcPct val="100000"/>
              </a:lnSpc>
              <a:spcBef>
                <a:spcPts val="0"/>
              </a:spcBef>
              <a:spcAft>
                <a:spcPts val="0"/>
              </a:spcAft>
              <a:buSzPts val="1100"/>
              <a:buNone/>
              <a:defRPr b="0" i="0" sz="900" u="none" cap="none" strike="noStrike">
                <a:solidFill>
                  <a:srgbClr val="222A35"/>
                </a:solidFill>
                <a:latin typeface="Century Gothic"/>
                <a:ea typeface="Century Gothic"/>
                <a:cs typeface="Century Gothic"/>
                <a:sym typeface="Century Gothic"/>
              </a:defRPr>
            </a:lvl1pPr>
            <a:lvl2pPr lvl="1"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2pPr>
            <a:lvl3pPr lvl="2"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3pPr>
            <a:lvl4pPr lvl="3"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4pPr>
            <a:lvl5pPr lvl="4"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5pPr>
            <a:lvl6pPr lvl="5"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6pPr>
            <a:lvl7pPr lvl="6"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7pPr>
            <a:lvl8pPr lvl="7"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8pPr>
            <a:lvl9pPr lvl="8" marR="0" algn="l">
              <a:lnSpc>
                <a:spcPct val="100000"/>
              </a:lnSpc>
              <a:spcBef>
                <a:spcPts val="0"/>
              </a:spcBef>
              <a:spcAft>
                <a:spcPts val="0"/>
              </a:spcAft>
              <a:buSzPts val="1100"/>
              <a:buNone/>
              <a:defRPr b="0" i="0" sz="1800" u="none" cap="none" strike="noStrike">
                <a:solidFill>
                  <a:schemeClr val="dk1"/>
                </a:solidFill>
                <a:latin typeface="Century Gothic"/>
                <a:ea typeface="Century Gothic"/>
                <a:cs typeface="Century Gothic"/>
                <a:sym typeface="Century Gothic"/>
              </a:defRPr>
            </a:lvl9pPr>
          </a:lstStyle>
          <a:p/>
        </p:txBody>
      </p:sp>
      <p:sp>
        <p:nvSpPr>
          <p:cNvPr id="64" name="Google Shape;64;p14"/>
          <p:cNvSpPr txBox="1"/>
          <p:nvPr>
            <p:ph idx="12" type="sldNum"/>
          </p:nvPr>
        </p:nvSpPr>
        <p:spPr>
          <a:xfrm>
            <a:off x="7627346" y="4800601"/>
            <a:ext cx="831000" cy="240600"/>
          </a:xfrm>
          <a:prstGeom prst="rect">
            <a:avLst/>
          </a:prstGeom>
          <a:noFill/>
          <a:ln>
            <a:noFill/>
          </a:ln>
        </p:spPr>
        <p:txBody>
          <a:bodyPr anchorCtr="0" anchor="b" bIns="45700" lIns="91425" spcFirstLastPara="1" rIns="91425" wrap="square" tIns="45700">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22A35"/>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cSld name="Simple">
    <p:spTree>
      <p:nvGrpSpPr>
        <p:cNvPr id="65" name="Shape 65"/>
        <p:cNvGrpSpPr/>
        <p:nvPr/>
      </p:nvGrpSpPr>
      <p:grpSpPr>
        <a:xfrm>
          <a:off x="0" y="0"/>
          <a:ext cx="0" cy="0"/>
          <a:chOff x="0" y="0"/>
          <a:chExt cx="0" cy="0"/>
        </a:xfrm>
      </p:grpSpPr>
      <p:sp>
        <p:nvSpPr>
          <p:cNvPr id="66" name="Google Shape;66;p15"/>
          <p:cNvSpPr/>
          <p:nvPr/>
        </p:nvSpPr>
        <p:spPr>
          <a:xfrm>
            <a:off x="7671862" y="0"/>
            <a:ext cx="1472100" cy="876300"/>
          </a:xfrm>
          <a:prstGeom prst="rect">
            <a:avLst/>
          </a:prstGeom>
          <a:solidFill>
            <a:srgbClr val="84C0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 name="Google Shape;67;p15"/>
          <p:cNvSpPr/>
          <p:nvPr/>
        </p:nvSpPr>
        <p:spPr>
          <a:xfrm>
            <a:off x="0" y="0"/>
            <a:ext cx="8122333" cy="876300"/>
          </a:xfrm>
          <a:custGeom>
            <a:rect b="b" l="l" r="r" t="t"/>
            <a:pathLst>
              <a:path extrusionOk="0" h="876300" w="8122333">
                <a:moveTo>
                  <a:pt x="0" y="0"/>
                </a:moveTo>
                <a:lnTo>
                  <a:pt x="6785369" y="0"/>
                </a:lnTo>
                <a:lnTo>
                  <a:pt x="7021002" y="0"/>
                </a:lnTo>
                <a:lnTo>
                  <a:pt x="8122333" y="0"/>
                </a:lnTo>
                <a:lnTo>
                  <a:pt x="7820133" y="876299"/>
                </a:lnTo>
                <a:lnTo>
                  <a:pt x="7021002" y="876299"/>
                </a:lnTo>
                <a:lnTo>
                  <a:pt x="7021002" y="876300"/>
                </a:lnTo>
                <a:lnTo>
                  <a:pt x="0" y="876300"/>
                </a:lnTo>
                <a:close/>
              </a:path>
            </a:pathLst>
          </a:custGeom>
          <a:solidFill>
            <a:schemeClr val="dk1"/>
          </a:solidFill>
          <a:ln>
            <a:noFill/>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 name="Google Shape;68;p15"/>
          <p:cNvSpPr txBox="1"/>
          <p:nvPr>
            <p:ph type="title"/>
          </p:nvPr>
        </p:nvSpPr>
        <p:spPr>
          <a:xfrm>
            <a:off x="0" y="0"/>
            <a:ext cx="7886700" cy="8763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2800"/>
              <a:buFont typeface="Arial"/>
              <a:buNone/>
              <a:defRPr b="0" i="0" sz="28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1">
  <p:cSld name="Simple (g3fbcc9beeda_111_0)">
    <p:spTree>
      <p:nvGrpSpPr>
        <p:cNvPr id="69" name="Shape 69"/>
        <p:cNvGrpSpPr/>
        <p:nvPr/>
      </p:nvGrpSpPr>
      <p:grpSpPr>
        <a:xfrm>
          <a:off x="0" y="0"/>
          <a:ext cx="0" cy="0"/>
          <a:chOff x="0" y="0"/>
          <a:chExt cx="0" cy="0"/>
        </a:xfrm>
      </p:grpSpPr>
      <p:sp>
        <p:nvSpPr>
          <p:cNvPr id="70" name="Google Shape;70;p16"/>
          <p:cNvSpPr txBox="1"/>
          <p:nvPr>
            <p:ph type="title"/>
          </p:nvPr>
        </p:nvSpPr>
        <p:spPr>
          <a:xfrm>
            <a:off x="0" y="0"/>
            <a:ext cx="7886700" cy="8763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2800"/>
              <a:buFont typeface="Arial"/>
              <a:buNone/>
              <a:defRPr b="0" i="0" sz="28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1d53d9f1810dfa02_15_0)">
  <p:cSld name="Generated (h1d53d9f1810dfa02_15_0)">
    <p:spTree>
      <p:nvGrpSpPr>
        <p:cNvPr id="71" name="Shape 7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hyperlink" Target="http://huusd.org/BUDGET" TargetMode="External"/><Relationship Id="rId5"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5.png"/><Relationship Id="rId4" Type="http://schemas.openxmlformats.org/officeDocument/2006/relationships/image" Target="../media/image6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hyperlink" Target="https://docs.google.com/document/d/1wmJBZaqm1MRNC5nG71RhYYtQmRLPtg-W1UNYMjDHJS4/edit?tab=t.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drive.google.com/file/d/1fQa9s9X1SrsOzvNxhvACkMOTtiR-Lfo5/view?usp=drive_link"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0.png"/><Relationship Id="rId4" Type="http://schemas.openxmlformats.org/officeDocument/2006/relationships/hyperlink" Target="https://chatgpt.com/s/w_6ab30b9056088191a697b3e6f50c9bc0" TargetMode="External"/><Relationship Id="rId5"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37.png"/><Relationship Id="rId7"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6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5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2.png"/><Relationship Id="rId4" Type="http://schemas.openxmlformats.org/officeDocument/2006/relationships/image" Target="../media/image41.png"/><Relationship Id="rId5"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56.png"/><Relationship Id="rId4" Type="http://schemas.openxmlformats.org/officeDocument/2006/relationships/image" Target="../media/image58.png"/><Relationship Id="rId5" Type="http://schemas.openxmlformats.org/officeDocument/2006/relationships/image" Target="../media/image6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6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8"/>
          <p:cNvSpPr txBox="1"/>
          <p:nvPr/>
        </p:nvSpPr>
        <p:spPr>
          <a:xfrm>
            <a:off x="476250" y="819525"/>
            <a:ext cx="7770000" cy="147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4600">
                <a:solidFill>
                  <a:srgbClr val="95B721"/>
                </a:solidFill>
                <a:latin typeface="Poppins ExtraBold"/>
                <a:ea typeface="Poppins ExtraBold"/>
                <a:cs typeface="Poppins ExtraBold"/>
                <a:sym typeface="Poppins ExtraBold"/>
              </a:rPr>
              <a:t>FY28 Budget</a:t>
            </a:r>
            <a:endParaRPr b="0" sz="4600">
              <a:solidFill>
                <a:srgbClr val="95B721"/>
              </a:solidFill>
              <a:latin typeface="Poppins ExtraBold"/>
              <a:ea typeface="Poppins ExtraBold"/>
              <a:cs typeface="Poppins ExtraBold"/>
              <a:sym typeface="Poppins ExtraBold"/>
            </a:endParaRPr>
          </a:p>
          <a:p>
            <a:pPr indent="0" lvl="0" marL="0" rtl="0" algn="l">
              <a:spcBef>
                <a:spcPts val="0"/>
              </a:spcBef>
              <a:spcAft>
                <a:spcPts val="0"/>
              </a:spcAft>
              <a:buNone/>
            </a:pPr>
            <a:r>
              <a:rPr b="0" lang="en" sz="4600">
                <a:solidFill>
                  <a:srgbClr val="56BCC7"/>
                </a:solidFill>
                <a:latin typeface="Poppins ExtraBold"/>
                <a:ea typeface="Poppins ExtraBold"/>
                <a:cs typeface="Poppins ExtraBold"/>
                <a:sym typeface="Poppins ExtraBold"/>
              </a:rPr>
              <a:t>Development &amp; Early Projection</a:t>
            </a:r>
            <a:r>
              <a:rPr lang="en" sz="4600">
                <a:solidFill>
                  <a:srgbClr val="56BCC7"/>
                </a:solidFill>
                <a:latin typeface="Poppins ExtraBold"/>
                <a:ea typeface="Poppins ExtraBold"/>
                <a:cs typeface="Poppins ExtraBold"/>
                <a:sym typeface="Poppins ExtraBold"/>
              </a:rPr>
              <a:t>s</a:t>
            </a:r>
            <a:r>
              <a:rPr b="0" lang="en" sz="4600">
                <a:solidFill>
                  <a:srgbClr val="56BCC7"/>
                </a:solidFill>
                <a:latin typeface="Poppins ExtraBold"/>
                <a:ea typeface="Poppins ExtraBold"/>
                <a:cs typeface="Poppins ExtraBold"/>
                <a:sym typeface="Poppins ExtraBold"/>
              </a:rPr>
              <a:t> </a:t>
            </a:r>
            <a:endParaRPr b="0" sz="4600">
              <a:solidFill>
                <a:srgbClr val="56BCC7"/>
              </a:solidFill>
              <a:latin typeface="Poppins ExtraBold"/>
              <a:ea typeface="Poppins ExtraBold"/>
              <a:cs typeface="Poppins ExtraBold"/>
              <a:sym typeface="Poppins ExtraBold"/>
            </a:endParaRPr>
          </a:p>
        </p:txBody>
      </p:sp>
      <p:grpSp>
        <p:nvGrpSpPr>
          <p:cNvPr id="77" name="Google Shape;77;p18"/>
          <p:cNvGrpSpPr/>
          <p:nvPr/>
        </p:nvGrpSpPr>
        <p:grpSpPr>
          <a:xfrm>
            <a:off x="476250" y="2714625"/>
            <a:ext cx="3952800" cy="1666800"/>
            <a:chOff x="0" y="0"/>
            <a:chExt cx="3952800" cy="1666800"/>
          </a:xfrm>
        </p:grpSpPr>
        <p:sp>
          <p:nvSpPr>
            <p:cNvPr id="78" name="Google Shape;78;p18"/>
            <p:cNvSpPr/>
            <p:nvPr/>
          </p:nvSpPr>
          <p:spPr>
            <a:xfrm>
              <a:off x="0" y="0"/>
              <a:ext cx="3952800" cy="1666800"/>
            </a:xfrm>
            <a:prstGeom prst="roundRect">
              <a:avLst>
                <a:gd fmla="val 6857"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8"/>
            <p:cNvSpPr/>
            <p:nvPr/>
          </p:nvSpPr>
          <p:spPr>
            <a:xfrm>
              <a:off x="228600" y="228600"/>
              <a:ext cx="381000" cy="381000"/>
            </a:xfrm>
            <a:prstGeom prst="roundRect">
              <a:avLst>
                <a:gd fmla="val 20000" name="adj"/>
              </a:avLst>
            </a:prstGeom>
            <a:solidFill>
              <a:srgbClr val="0097A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8"/>
            <p:cNvSpPr txBox="1"/>
            <p:nvPr/>
          </p:nvSpPr>
          <p:spPr>
            <a:xfrm>
              <a:off x="228600" y="2578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00">
                  <a:solidFill>
                    <a:srgbClr val="FFFFFF"/>
                  </a:solidFill>
                  <a:latin typeface="Material Icons"/>
                  <a:ea typeface="Material Icons"/>
                  <a:cs typeface="Material Icons"/>
                  <a:sym typeface="Material Icons"/>
                </a:rPr>
                <a:t>event</a:t>
              </a:r>
              <a:endParaRPr b="0" sz="2000">
                <a:solidFill>
                  <a:srgbClr val="FFFFFF"/>
                </a:solidFill>
                <a:latin typeface="Material Icons"/>
                <a:ea typeface="Material Icons"/>
                <a:cs typeface="Material Icons"/>
                <a:sym typeface="Material Icons"/>
              </a:endParaRPr>
            </a:p>
          </p:txBody>
        </p:sp>
        <p:sp>
          <p:nvSpPr>
            <p:cNvPr id="81" name="Google Shape;81;p18"/>
            <p:cNvSpPr/>
            <p:nvPr/>
          </p:nvSpPr>
          <p:spPr>
            <a:xfrm>
              <a:off x="723900" y="285750"/>
              <a:ext cx="1095300" cy="266700"/>
            </a:xfrm>
            <a:prstGeom prst="roundRect">
              <a:avLst>
                <a:gd fmla="val 21428" name="adj"/>
              </a:avLst>
            </a:prstGeom>
            <a:solidFill>
              <a:srgbClr val="0A36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8"/>
            <p:cNvSpPr txBox="1"/>
            <p:nvPr/>
          </p:nvSpPr>
          <p:spPr>
            <a:xfrm>
              <a:off x="723900" y="285750"/>
              <a:ext cx="10953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56BCC7"/>
                  </a:solidFill>
                  <a:latin typeface="Poppins"/>
                  <a:ea typeface="Poppins"/>
                  <a:cs typeface="Poppins"/>
                  <a:sym typeface="Poppins"/>
                </a:rPr>
                <a:t>9/23/2026</a:t>
              </a:r>
              <a:endParaRPr b="1" sz="1100">
                <a:solidFill>
                  <a:srgbClr val="56BCC7"/>
                </a:solidFill>
                <a:latin typeface="Poppins"/>
                <a:ea typeface="Poppins"/>
                <a:cs typeface="Poppins"/>
                <a:sym typeface="Poppins"/>
              </a:endParaRPr>
            </a:p>
          </p:txBody>
        </p:sp>
        <p:sp>
          <p:nvSpPr>
            <p:cNvPr id="83" name="Google Shape;83;p18"/>
            <p:cNvSpPr txBox="1"/>
            <p:nvPr/>
          </p:nvSpPr>
          <p:spPr>
            <a:xfrm>
              <a:off x="228600" y="762000"/>
              <a:ext cx="34956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FFFFFF"/>
                  </a:solidFill>
                  <a:latin typeface="Poppins"/>
                  <a:ea typeface="Poppins"/>
                  <a:cs typeface="Poppins"/>
                  <a:sym typeface="Poppins"/>
                </a:rPr>
                <a:t>HARWOOD UNIFIED UNION</a:t>
              </a:r>
              <a:endParaRPr b="1" sz="1300">
                <a:solidFill>
                  <a:srgbClr val="FFFFFF"/>
                </a:solidFill>
                <a:latin typeface="Poppins"/>
                <a:ea typeface="Poppins"/>
                <a:cs typeface="Poppins"/>
                <a:sym typeface="Poppins"/>
              </a:endParaRPr>
            </a:p>
            <a:p>
              <a:pPr indent="0" lvl="0" marL="0" rtl="0" algn="l">
                <a:spcBef>
                  <a:spcPts val="400"/>
                </a:spcBef>
                <a:spcAft>
                  <a:spcPts val="0"/>
                </a:spcAft>
                <a:buNone/>
              </a:pPr>
              <a:r>
                <a:rPr b="0" lang="en" sz="1100">
                  <a:solidFill>
                    <a:srgbClr val="94A3B8"/>
                  </a:solidFill>
                  <a:latin typeface="Poppins Medium"/>
                  <a:ea typeface="Poppins Medium"/>
                  <a:cs typeface="Poppins Medium"/>
                  <a:sym typeface="Poppins Medium"/>
                </a:rPr>
                <a:t>School Board Meeting</a:t>
              </a:r>
              <a:endParaRPr b="0" sz="1100">
                <a:solidFill>
                  <a:srgbClr val="94A3B8"/>
                </a:solidFill>
                <a:latin typeface="Poppins Medium"/>
                <a:ea typeface="Poppins Medium"/>
                <a:cs typeface="Poppins Medium"/>
                <a:sym typeface="Poppins Medium"/>
              </a:endParaRPr>
            </a:p>
          </p:txBody>
        </p:sp>
      </p:grpSp>
      <p:sp>
        <p:nvSpPr>
          <p:cNvPr id="84" name="Google Shape;8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5" name="Google Shape;85;p18"/>
          <p:cNvGrpSpPr/>
          <p:nvPr/>
        </p:nvGrpSpPr>
        <p:grpSpPr>
          <a:xfrm>
            <a:off x="4714875" y="2714625"/>
            <a:ext cx="3952800" cy="1666800"/>
            <a:chOff x="0" y="0"/>
            <a:chExt cx="3952800" cy="1666800"/>
          </a:xfrm>
        </p:grpSpPr>
        <p:sp>
          <p:nvSpPr>
            <p:cNvPr id="86" name="Google Shape;86;p18"/>
            <p:cNvSpPr/>
            <p:nvPr/>
          </p:nvSpPr>
          <p:spPr>
            <a:xfrm>
              <a:off x="0" y="0"/>
              <a:ext cx="3952800" cy="1666800"/>
            </a:xfrm>
            <a:prstGeom prst="roundRect">
              <a:avLst>
                <a:gd fmla="val 6857"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8"/>
            <p:cNvSpPr/>
            <p:nvPr/>
          </p:nvSpPr>
          <p:spPr>
            <a:xfrm>
              <a:off x="228600" y="228600"/>
              <a:ext cx="381000" cy="381000"/>
            </a:xfrm>
            <a:prstGeom prst="roundRect">
              <a:avLst>
                <a:gd fmla="val 20000" name="adj"/>
              </a:avLst>
            </a:prstGeom>
            <a:solidFill>
              <a:srgbClr val="94B6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8"/>
            <p:cNvSpPr txBox="1"/>
            <p:nvPr/>
          </p:nvSpPr>
          <p:spPr>
            <a:xfrm>
              <a:off x="228600" y="2578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00">
                  <a:solidFill>
                    <a:srgbClr val="FFFFFF"/>
                  </a:solidFill>
                  <a:latin typeface="Material Icons"/>
                  <a:ea typeface="Material Icons"/>
                  <a:cs typeface="Material Icons"/>
                  <a:sym typeface="Material Icons"/>
                </a:rPr>
                <a:t>language</a:t>
              </a:r>
              <a:endParaRPr b="0" sz="2000">
                <a:solidFill>
                  <a:srgbClr val="FFFFFF"/>
                </a:solidFill>
                <a:latin typeface="Material Icons"/>
                <a:ea typeface="Material Icons"/>
                <a:cs typeface="Material Icons"/>
                <a:sym typeface="Material Icons"/>
              </a:endParaRPr>
            </a:p>
          </p:txBody>
        </p:sp>
        <p:sp>
          <p:nvSpPr>
            <p:cNvPr id="89" name="Google Shape;89;p18"/>
            <p:cNvSpPr txBox="1"/>
            <p:nvPr/>
          </p:nvSpPr>
          <p:spPr>
            <a:xfrm>
              <a:off x="723900" y="285750"/>
              <a:ext cx="19050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94B621"/>
                  </a:solidFill>
                  <a:latin typeface="Poppins"/>
                  <a:ea typeface="Poppins"/>
                  <a:cs typeface="Poppins"/>
                  <a:sym typeface="Poppins"/>
                </a:rPr>
                <a:t>ONLINE RESOURCE</a:t>
              </a:r>
              <a:endParaRPr b="1" sz="1000">
                <a:solidFill>
                  <a:srgbClr val="94B621"/>
                </a:solidFill>
                <a:latin typeface="Poppins"/>
                <a:ea typeface="Poppins"/>
                <a:cs typeface="Poppins"/>
                <a:sym typeface="Poppins"/>
              </a:endParaRPr>
            </a:p>
          </p:txBody>
        </p:sp>
        <p:sp>
          <p:nvSpPr>
            <p:cNvPr id="90" name="Google Shape;90;p18"/>
            <p:cNvSpPr txBox="1"/>
            <p:nvPr/>
          </p:nvSpPr>
          <p:spPr>
            <a:xfrm>
              <a:off x="228600" y="762000"/>
              <a:ext cx="34956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94A3B8"/>
                  </a:solidFill>
                  <a:latin typeface="Poppins Medium"/>
                  <a:ea typeface="Poppins Medium"/>
                  <a:cs typeface="Poppins Medium"/>
                  <a:sym typeface="Poppins Medium"/>
                </a:rPr>
                <a:t>Budget information:</a:t>
              </a:r>
              <a:endParaRPr b="0" sz="1200">
                <a:solidFill>
                  <a:srgbClr val="94A3B8"/>
                </a:solidFill>
                <a:latin typeface="Poppins Medium"/>
                <a:ea typeface="Poppins Medium"/>
                <a:cs typeface="Poppins Medium"/>
                <a:sym typeface="Poppins Medium"/>
              </a:endParaRPr>
            </a:p>
            <a:p>
              <a:pPr indent="0" lvl="0" marL="0" rtl="0" algn="l">
                <a:spcBef>
                  <a:spcPts val="600"/>
                </a:spcBef>
                <a:spcAft>
                  <a:spcPts val="0"/>
                </a:spcAft>
                <a:buNone/>
              </a:pPr>
              <a:r>
                <a:rPr b="1" lang="en" sz="1400" u="sng">
                  <a:solidFill>
                    <a:srgbClr val="56BCC7"/>
                  </a:solidFill>
                  <a:latin typeface="Poppins"/>
                  <a:ea typeface="Poppins"/>
                  <a:cs typeface="Poppins"/>
                  <a:sym typeface="Poppins"/>
                  <a:hlinkClick r:id="rId4">
                    <a:extLst>
                      <a:ext uri="{A12FA001-AC4F-418D-AE19-62706E023703}">
                        <ahyp:hlinkClr val="tx"/>
                      </a:ext>
                    </a:extLst>
                  </a:hlinkClick>
                </a:rPr>
                <a:t>HUUSD.ORG/BUDGET</a:t>
              </a:r>
              <a:endParaRPr b="1" sz="1400">
                <a:solidFill>
                  <a:srgbClr val="94A3B8"/>
                </a:solidFill>
                <a:latin typeface="Poppins"/>
                <a:ea typeface="Poppins"/>
                <a:cs typeface="Poppins"/>
                <a:sym typeface="Poppins"/>
              </a:endParaRPr>
            </a:p>
          </p:txBody>
        </p:sp>
      </p:grpSp>
      <p:sp>
        <p:nvSpPr>
          <p:cNvPr id="91" name="Google Shape;91;p18"/>
          <p:cNvSpPr txBox="1"/>
          <p:nvPr/>
        </p:nvSpPr>
        <p:spPr>
          <a:xfrm>
            <a:off x="5760750" y="424150"/>
            <a:ext cx="2711700" cy="119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92" name="Google Shape;92;p18"/>
          <p:cNvPicPr preferRelativeResize="0"/>
          <p:nvPr/>
        </p:nvPicPr>
        <p:blipFill rotWithShape="1">
          <a:blip r:embed="rId5">
            <a:alphaModFix/>
          </a:blip>
          <a:srcRect b="0" l="0" r="0" t="0"/>
          <a:stretch/>
        </p:blipFill>
        <p:spPr>
          <a:xfrm>
            <a:off x="5009000" y="212850"/>
            <a:ext cx="3463450" cy="851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19"/>
          <p:cNvSpPr txBox="1"/>
          <p:nvPr/>
        </p:nvSpPr>
        <p:spPr>
          <a:xfrm>
            <a:off x="476250" y="428625"/>
            <a:ext cx="4572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FFFF"/>
                </a:solidFill>
                <a:latin typeface="Poppins ExtraBold"/>
                <a:ea typeface="Poppins ExtraBold"/>
                <a:cs typeface="Poppins ExtraBold"/>
                <a:sym typeface="Poppins ExtraBold"/>
              </a:rPr>
              <a:t>Preliminary</a:t>
            </a:r>
            <a:endParaRPr b="0" sz="3200">
              <a:solidFill>
                <a:srgbClr val="FFFFFF"/>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480">
                <a:solidFill>
                  <a:srgbClr val="FFAB40"/>
                </a:solidFill>
                <a:latin typeface="Poppins SemiBold"/>
                <a:ea typeface="Poppins SemiBold"/>
                <a:cs typeface="Poppins SemiBold"/>
                <a:sym typeface="Poppins SemiBold"/>
              </a:rPr>
              <a:t>Subject to Change</a:t>
            </a:r>
            <a:endParaRPr b="0" sz="1480">
              <a:solidFill>
                <a:srgbClr val="FFAB40"/>
              </a:solidFill>
              <a:latin typeface="Poppins SemiBold"/>
              <a:ea typeface="Poppins SemiBold"/>
              <a:cs typeface="Poppins SemiBold"/>
              <a:sym typeface="Poppins SemiBold"/>
            </a:endParaRPr>
          </a:p>
        </p:txBody>
      </p:sp>
      <p:grpSp>
        <p:nvGrpSpPr>
          <p:cNvPr id="98" name="Google Shape;98;p19"/>
          <p:cNvGrpSpPr/>
          <p:nvPr/>
        </p:nvGrpSpPr>
        <p:grpSpPr>
          <a:xfrm>
            <a:off x="476250" y="1714500"/>
            <a:ext cx="3952800" cy="2667000"/>
            <a:chOff x="0" y="0"/>
            <a:chExt cx="3952800" cy="2667000"/>
          </a:xfrm>
        </p:grpSpPr>
        <p:sp>
          <p:nvSpPr>
            <p:cNvPr id="99" name="Google Shape;99;p19"/>
            <p:cNvSpPr/>
            <p:nvPr/>
          </p:nvSpPr>
          <p:spPr>
            <a:xfrm>
              <a:off x="0" y="0"/>
              <a:ext cx="3952800" cy="2667000"/>
            </a:xfrm>
            <a:prstGeom prst="roundRect">
              <a:avLst>
                <a:gd fmla="val 4285"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9"/>
            <p:cNvSpPr/>
            <p:nvPr/>
          </p:nvSpPr>
          <p:spPr>
            <a:xfrm>
              <a:off x="228600" y="228600"/>
              <a:ext cx="457200" cy="457200"/>
            </a:xfrm>
            <a:prstGeom prst="roundRect">
              <a:avLst>
                <a:gd fmla="val 16666" name="adj"/>
              </a:avLst>
            </a:prstGeom>
            <a:solidFill>
              <a:srgbClr val="0A36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9"/>
            <p:cNvSpPr txBox="1"/>
            <p:nvPr/>
          </p:nvSpPr>
          <p:spPr>
            <a:xfrm>
              <a:off x="228600" y="269494"/>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800">
                  <a:solidFill>
                    <a:srgbClr val="56BCC7"/>
                  </a:solidFill>
                  <a:latin typeface="Material Icons"/>
                  <a:ea typeface="Material Icons"/>
                  <a:cs typeface="Material Icons"/>
                  <a:sym typeface="Material Icons"/>
                </a:rPr>
                <a:t>warning</a:t>
              </a:r>
              <a:endParaRPr sz="2800">
                <a:solidFill>
                  <a:srgbClr val="56BCC7"/>
                </a:solidFill>
                <a:latin typeface="Material Icons"/>
                <a:ea typeface="Material Icons"/>
                <a:cs typeface="Material Icons"/>
                <a:sym typeface="Material Icons"/>
              </a:endParaRPr>
            </a:p>
          </p:txBody>
        </p:sp>
        <p:sp>
          <p:nvSpPr>
            <p:cNvPr id="102" name="Google Shape;102;p19"/>
            <p:cNvSpPr txBox="1"/>
            <p:nvPr/>
          </p:nvSpPr>
          <p:spPr>
            <a:xfrm>
              <a:off x="228600" y="838200"/>
              <a:ext cx="3495600" cy="16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80">
                  <a:solidFill>
                    <a:srgbClr val="FFAB40"/>
                  </a:solidFill>
                  <a:latin typeface="Poppins"/>
                  <a:ea typeface="Poppins"/>
                  <a:cs typeface="Poppins"/>
                  <a:sym typeface="Poppins"/>
                </a:rPr>
                <a:t>Important Notice</a:t>
              </a:r>
              <a:endParaRPr b="1" sz="1480">
                <a:solidFill>
                  <a:srgbClr val="FFAB40"/>
                </a:solidFill>
                <a:latin typeface="Poppins"/>
                <a:ea typeface="Poppins"/>
                <a:cs typeface="Poppins"/>
                <a:sym typeface="Poppins"/>
              </a:endParaRPr>
            </a:p>
            <a:p>
              <a:pPr indent="0" lvl="0" marL="0" rtl="0" algn="l">
                <a:spcBef>
                  <a:spcPts val="600"/>
                </a:spcBef>
                <a:spcAft>
                  <a:spcPts val="0"/>
                </a:spcAft>
                <a:buNone/>
              </a:pPr>
              <a:r>
                <a:rPr b="0" lang="en" sz="1018">
                  <a:solidFill>
                    <a:srgbClr val="CBD5E1"/>
                  </a:solidFill>
                  <a:latin typeface="Poppins"/>
                  <a:ea typeface="Poppins"/>
                  <a:cs typeface="Poppins"/>
                  <a:sym typeface="Poppins"/>
                </a:rPr>
                <a:t>The financial data, projections, and estimates presented in this document are initial drafts intended solely for discussion and planning purposes.</a:t>
              </a:r>
              <a:endParaRPr b="0" sz="1018">
                <a:solidFill>
                  <a:srgbClr val="CBD5E1"/>
                </a:solidFill>
                <a:latin typeface="Poppins"/>
                <a:ea typeface="Poppins"/>
                <a:cs typeface="Poppins"/>
                <a:sym typeface="Poppins"/>
              </a:endParaRPr>
            </a:p>
            <a:p>
              <a:pPr indent="0" lvl="0" marL="0" rtl="0" algn="l">
                <a:spcBef>
                  <a:spcPts val="900"/>
                </a:spcBef>
                <a:spcAft>
                  <a:spcPts val="0"/>
                </a:spcAft>
                <a:buNone/>
              </a:pPr>
              <a:r>
                <a:rPr b="0" lang="en" sz="1018">
                  <a:solidFill>
                    <a:srgbClr val="CBD5E1"/>
                  </a:solidFill>
                  <a:latin typeface="Poppins"/>
                  <a:ea typeface="Poppins"/>
                  <a:cs typeface="Poppins"/>
                  <a:sym typeface="Poppins"/>
                </a:rPr>
                <a:t>All figures remain subject to further revision based on updated state data, local board decisions, and upcoming legislative impacts.</a:t>
              </a:r>
              <a:endParaRPr b="0" sz="1018">
                <a:solidFill>
                  <a:srgbClr val="CBD5E1"/>
                </a:solidFill>
                <a:latin typeface="Poppins"/>
                <a:ea typeface="Poppins"/>
                <a:cs typeface="Poppins"/>
                <a:sym typeface="Poppins"/>
              </a:endParaRPr>
            </a:p>
          </p:txBody>
        </p:sp>
      </p:grpSp>
      <p:grpSp>
        <p:nvGrpSpPr>
          <p:cNvPr id="103" name="Google Shape;103;p19"/>
          <p:cNvGrpSpPr/>
          <p:nvPr/>
        </p:nvGrpSpPr>
        <p:grpSpPr>
          <a:xfrm>
            <a:off x="4714875" y="1714500"/>
            <a:ext cx="3952800" cy="2667000"/>
            <a:chOff x="0" y="0"/>
            <a:chExt cx="3952800" cy="2667000"/>
          </a:xfrm>
        </p:grpSpPr>
        <p:sp>
          <p:nvSpPr>
            <p:cNvPr id="104" name="Google Shape;104;p19"/>
            <p:cNvSpPr/>
            <p:nvPr/>
          </p:nvSpPr>
          <p:spPr>
            <a:xfrm>
              <a:off x="0" y="0"/>
              <a:ext cx="3952800" cy="2667000"/>
            </a:xfrm>
            <a:prstGeom prst="roundRect">
              <a:avLst>
                <a:gd fmla="val 4285"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9"/>
            <p:cNvSpPr/>
            <p:nvPr/>
          </p:nvSpPr>
          <p:spPr>
            <a:xfrm>
              <a:off x="228600" y="228600"/>
              <a:ext cx="457200" cy="457200"/>
            </a:xfrm>
            <a:prstGeom prst="roundRect">
              <a:avLst>
                <a:gd fmla="val 16666" name="adj"/>
              </a:avLst>
            </a:prstGeom>
            <a:solidFill>
              <a:srgbClr val="0A36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9"/>
            <p:cNvSpPr txBox="1"/>
            <p:nvPr/>
          </p:nvSpPr>
          <p:spPr>
            <a:xfrm>
              <a:off x="228600" y="269494"/>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800">
                  <a:solidFill>
                    <a:srgbClr val="56BCC7"/>
                  </a:solidFill>
                  <a:latin typeface="Material Icons"/>
                  <a:ea typeface="Material Icons"/>
                  <a:cs typeface="Material Icons"/>
                  <a:sym typeface="Material Icons"/>
                </a:rPr>
                <a:t>update</a:t>
              </a:r>
              <a:endParaRPr sz="2800">
                <a:solidFill>
                  <a:srgbClr val="56BCC7"/>
                </a:solidFill>
                <a:latin typeface="Material Icons"/>
                <a:ea typeface="Material Icons"/>
                <a:cs typeface="Material Icons"/>
                <a:sym typeface="Material Icons"/>
              </a:endParaRPr>
            </a:p>
          </p:txBody>
        </p:sp>
        <p:sp>
          <p:nvSpPr>
            <p:cNvPr id="107" name="Google Shape;107;p19"/>
            <p:cNvSpPr txBox="1"/>
            <p:nvPr/>
          </p:nvSpPr>
          <p:spPr>
            <a:xfrm>
              <a:off x="228600" y="838200"/>
              <a:ext cx="3495600" cy="16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80">
                  <a:solidFill>
                    <a:srgbClr val="56BCC7"/>
                  </a:solidFill>
                  <a:latin typeface="Poppins"/>
                  <a:ea typeface="Poppins"/>
                  <a:cs typeface="Poppins"/>
                  <a:sym typeface="Poppins"/>
                </a:rPr>
                <a:t>Next Steps</a:t>
              </a:r>
              <a:endParaRPr b="1" sz="1480">
                <a:solidFill>
                  <a:srgbClr val="56BCC7"/>
                </a:solidFill>
                <a:latin typeface="Poppins"/>
                <a:ea typeface="Poppins"/>
                <a:cs typeface="Poppins"/>
                <a:sym typeface="Poppins"/>
              </a:endParaRPr>
            </a:p>
            <a:p>
              <a:pPr indent="0" lvl="0" marL="0" rtl="0" algn="l">
                <a:spcBef>
                  <a:spcPts val="600"/>
                </a:spcBef>
                <a:spcAft>
                  <a:spcPts val="0"/>
                </a:spcAft>
                <a:buNone/>
              </a:pPr>
              <a:r>
                <a:rPr b="0" lang="en" sz="1018">
                  <a:solidFill>
                    <a:srgbClr val="CBD5E1"/>
                  </a:solidFill>
                  <a:latin typeface="Poppins"/>
                  <a:ea typeface="Poppins"/>
                  <a:cs typeface="Poppins"/>
                  <a:sym typeface="Poppins"/>
                </a:rPr>
                <a:t>Updated numbers and formal proposals will be presented in subsequent board meetings as state models finalize.</a:t>
              </a:r>
              <a:endParaRPr b="0" sz="1018">
                <a:solidFill>
                  <a:srgbClr val="CBD5E1"/>
                </a:solidFill>
                <a:latin typeface="Poppins"/>
                <a:ea typeface="Poppins"/>
                <a:cs typeface="Poppins"/>
                <a:sym typeface="Poppins"/>
              </a:endParaRPr>
            </a:p>
            <a:p>
              <a:pPr indent="0" lvl="0" marL="0" rtl="0" algn="l">
                <a:spcBef>
                  <a:spcPts val="900"/>
                </a:spcBef>
                <a:spcAft>
                  <a:spcPts val="0"/>
                </a:spcAft>
                <a:buNone/>
              </a:pPr>
              <a:r>
                <a:rPr b="0" lang="en" sz="1018">
                  <a:solidFill>
                    <a:srgbClr val="CBD5E1"/>
                  </a:solidFill>
                  <a:latin typeface="Poppins"/>
                  <a:ea typeface="Poppins"/>
                  <a:cs typeface="Poppins"/>
                  <a:sym typeface="Poppins"/>
                </a:rPr>
                <a:t>Please refer to the official district budget webpage for the most current documentation and timeline updates.</a:t>
              </a:r>
              <a:endParaRPr b="0" sz="1018">
                <a:solidFill>
                  <a:srgbClr val="CBD5E1"/>
                </a:solidFill>
                <a:latin typeface="Poppins"/>
                <a:ea typeface="Poppins"/>
                <a:cs typeface="Poppins"/>
                <a:sym typeface="Poppins"/>
              </a:endParaRPr>
            </a:p>
          </p:txBody>
        </p:sp>
      </p:grpSp>
      <p:pic>
        <p:nvPicPr>
          <p:cNvPr id="108" name="Google Shape;108;p19"/>
          <p:cNvPicPr preferRelativeResize="0"/>
          <p:nvPr/>
        </p:nvPicPr>
        <p:blipFill rotWithShape="1">
          <a:blip r:embed="rId4">
            <a:alphaModFix/>
          </a:blip>
          <a:srcRect b="0" l="0" r="0" t="0"/>
          <a:stretch/>
        </p:blipFill>
        <p:spPr>
          <a:xfrm>
            <a:off x="5009000" y="212850"/>
            <a:ext cx="3463450" cy="851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20"/>
          <p:cNvSpPr txBox="1"/>
          <p:nvPr/>
        </p:nvSpPr>
        <p:spPr>
          <a:xfrm>
            <a:off x="381000" y="1238250"/>
            <a:ext cx="2476500" cy="2667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FFFFFF"/>
                </a:solidFill>
                <a:latin typeface="Poppins ExtraBold"/>
                <a:ea typeface="Poppins ExtraBold"/>
                <a:cs typeface="Poppins ExtraBold"/>
                <a:sym typeface="Poppins ExtraBold"/>
              </a:rPr>
              <a:t>Presentation Includes the Following</a:t>
            </a:r>
            <a:endParaRPr b="0" sz="1100">
              <a:solidFill>
                <a:srgbClr val="94A3B8"/>
              </a:solidFill>
              <a:latin typeface="Poppins"/>
              <a:ea typeface="Poppins"/>
              <a:cs typeface="Poppins"/>
              <a:sym typeface="Poppins"/>
            </a:endParaRPr>
          </a:p>
          <a:p>
            <a:pPr indent="0" lvl="0" marL="0" rtl="0" algn="l">
              <a:spcBef>
                <a:spcPts val="1200"/>
              </a:spcBef>
              <a:spcAft>
                <a:spcPts val="0"/>
              </a:spcAft>
              <a:buNone/>
            </a:pPr>
            <a:r>
              <a:rPr b="0" lang="en" sz="1100">
                <a:solidFill>
                  <a:srgbClr val="94A3B8"/>
                </a:solidFill>
                <a:latin typeface="Poppins"/>
                <a:ea typeface="Poppins"/>
                <a:cs typeface="Poppins"/>
                <a:sym typeface="Poppins"/>
              </a:rPr>
              <a:t>Overview of key agenda topics and structural modules covered in this session.</a:t>
            </a:r>
            <a:endParaRPr b="0" sz="1100">
              <a:solidFill>
                <a:srgbClr val="94A3B8"/>
              </a:solidFill>
              <a:latin typeface="Poppins"/>
              <a:ea typeface="Poppins"/>
              <a:cs typeface="Poppins"/>
              <a:sym typeface="Poppins"/>
            </a:endParaRPr>
          </a:p>
        </p:txBody>
      </p:sp>
      <p:grpSp>
        <p:nvGrpSpPr>
          <p:cNvPr id="114" name="Google Shape;114;p20"/>
          <p:cNvGrpSpPr/>
          <p:nvPr/>
        </p:nvGrpSpPr>
        <p:grpSpPr>
          <a:xfrm>
            <a:off x="3143250" y="381000"/>
            <a:ext cx="5619900" cy="705000"/>
            <a:chOff x="0" y="0"/>
            <a:chExt cx="5619900" cy="705000"/>
          </a:xfrm>
        </p:grpSpPr>
        <p:sp>
          <p:nvSpPr>
            <p:cNvPr id="115" name="Google Shape;115;p20"/>
            <p:cNvSpPr/>
            <p:nvPr/>
          </p:nvSpPr>
          <p:spPr>
            <a:xfrm>
              <a:off x="0" y="0"/>
              <a:ext cx="5619900" cy="705000"/>
            </a:xfrm>
            <a:prstGeom prst="roundRect">
              <a:avLst>
                <a:gd fmla="val 13513"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20"/>
            <p:cNvSpPr txBox="1"/>
            <p:nvPr/>
          </p:nvSpPr>
          <p:spPr>
            <a:xfrm>
              <a:off x="190500" y="213106"/>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94B621"/>
                  </a:solidFill>
                  <a:latin typeface="Material Icons"/>
                  <a:ea typeface="Material Icons"/>
                  <a:cs typeface="Material Icons"/>
                  <a:sym typeface="Material Icons"/>
                </a:rPr>
                <a:t>account_balance</a:t>
              </a:r>
              <a:endParaRPr b="0" sz="2200">
                <a:solidFill>
                  <a:srgbClr val="94B621"/>
                </a:solidFill>
                <a:latin typeface="Material Icons"/>
                <a:ea typeface="Material Icons"/>
                <a:cs typeface="Material Icons"/>
                <a:sym typeface="Material Icons"/>
              </a:endParaRPr>
            </a:p>
          </p:txBody>
        </p:sp>
        <p:sp>
          <p:nvSpPr>
            <p:cNvPr id="117" name="Google Shape;117;p20"/>
            <p:cNvSpPr txBox="1"/>
            <p:nvPr/>
          </p:nvSpPr>
          <p:spPr>
            <a:xfrm>
              <a:off x="647700" y="114300"/>
              <a:ext cx="4762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156">
                  <a:solidFill>
                    <a:srgbClr val="94B621"/>
                  </a:solidFill>
                  <a:latin typeface="Poppins"/>
                  <a:ea typeface="Poppins"/>
                  <a:cs typeface="Poppins"/>
                  <a:sym typeface="Poppins"/>
                </a:rPr>
                <a:t>Finance Overview</a:t>
              </a:r>
              <a:endParaRPr b="1" sz="1156">
                <a:solidFill>
                  <a:srgbClr val="94B621"/>
                </a:solidFill>
                <a:latin typeface="Poppins"/>
                <a:ea typeface="Poppins"/>
                <a:cs typeface="Poppins"/>
                <a:sym typeface="Poppins"/>
              </a:endParaRPr>
            </a:p>
            <a:p>
              <a:pPr indent="0" lvl="0" marL="0" rtl="0" algn="l">
                <a:spcBef>
                  <a:spcPts val="0"/>
                </a:spcBef>
                <a:spcAft>
                  <a:spcPts val="0"/>
                </a:spcAft>
                <a:buNone/>
              </a:pPr>
              <a:r>
                <a:rPr b="0" lang="en" sz="925">
                  <a:solidFill>
                    <a:srgbClr val="CBD5E1"/>
                  </a:solidFill>
                  <a:latin typeface="Poppins"/>
                  <a:ea typeface="Poppins"/>
                  <a:cs typeface="Poppins"/>
                  <a:sym typeface="Poppins"/>
                </a:rPr>
                <a:t>Quick Overview of Vermont Education Finance System and the Education Fund</a:t>
              </a:r>
              <a:endParaRPr b="0" sz="925">
                <a:solidFill>
                  <a:srgbClr val="CBD5E1"/>
                </a:solidFill>
                <a:latin typeface="Poppins"/>
                <a:ea typeface="Poppins"/>
                <a:cs typeface="Poppins"/>
                <a:sym typeface="Poppins"/>
              </a:endParaRPr>
            </a:p>
          </p:txBody>
        </p:sp>
      </p:grpSp>
      <p:grpSp>
        <p:nvGrpSpPr>
          <p:cNvPr id="118" name="Google Shape;118;p20"/>
          <p:cNvGrpSpPr/>
          <p:nvPr/>
        </p:nvGrpSpPr>
        <p:grpSpPr>
          <a:xfrm>
            <a:off x="3143250" y="1200150"/>
            <a:ext cx="5619900" cy="705000"/>
            <a:chOff x="0" y="0"/>
            <a:chExt cx="5619900" cy="705000"/>
          </a:xfrm>
        </p:grpSpPr>
        <p:sp>
          <p:nvSpPr>
            <p:cNvPr id="119" name="Google Shape;119;p20"/>
            <p:cNvSpPr/>
            <p:nvPr/>
          </p:nvSpPr>
          <p:spPr>
            <a:xfrm>
              <a:off x="0" y="0"/>
              <a:ext cx="5619900" cy="705000"/>
            </a:xfrm>
            <a:prstGeom prst="roundRect">
              <a:avLst>
                <a:gd fmla="val 13513"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20"/>
            <p:cNvSpPr txBox="1"/>
            <p:nvPr/>
          </p:nvSpPr>
          <p:spPr>
            <a:xfrm>
              <a:off x="190500" y="213106"/>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56BCC7"/>
                  </a:solidFill>
                  <a:latin typeface="Material Icons"/>
                  <a:ea typeface="Material Icons"/>
                  <a:cs typeface="Material Icons"/>
                  <a:sym typeface="Material Icons"/>
                </a:rPr>
                <a:t>groups</a:t>
              </a:r>
              <a:endParaRPr b="0" sz="2200">
                <a:solidFill>
                  <a:srgbClr val="56BCC7"/>
                </a:solidFill>
                <a:latin typeface="Material Icons"/>
                <a:ea typeface="Material Icons"/>
                <a:cs typeface="Material Icons"/>
                <a:sym typeface="Material Icons"/>
              </a:endParaRPr>
            </a:p>
          </p:txBody>
        </p:sp>
        <p:sp>
          <p:nvSpPr>
            <p:cNvPr id="121" name="Google Shape;121;p20"/>
            <p:cNvSpPr txBox="1"/>
            <p:nvPr/>
          </p:nvSpPr>
          <p:spPr>
            <a:xfrm>
              <a:off x="647700" y="114300"/>
              <a:ext cx="4762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56BCC7"/>
                  </a:solidFill>
                  <a:latin typeface="Poppins"/>
                  <a:ea typeface="Poppins"/>
                  <a:cs typeface="Poppins"/>
                  <a:sym typeface="Poppins"/>
                </a:rPr>
                <a:t>Pupils</a:t>
              </a:r>
              <a:endParaRPr b="1" sz="1250">
                <a:solidFill>
                  <a:srgbClr val="56BCC7"/>
                </a:solidFill>
                <a:latin typeface="Poppins"/>
                <a:ea typeface="Poppins"/>
                <a:cs typeface="Poppins"/>
                <a:sym typeface="Poppins"/>
              </a:endParaRPr>
            </a:p>
            <a:p>
              <a:pPr indent="0" lvl="0" marL="0" rtl="0" algn="l">
                <a:spcBef>
                  <a:spcPts val="0"/>
                </a:spcBef>
                <a:spcAft>
                  <a:spcPts val="0"/>
                </a:spcAft>
                <a:buNone/>
              </a:pPr>
              <a:r>
                <a:rPr b="0" lang="en" sz="1000">
                  <a:solidFill>
                    <a:srgbClr val="CBD5E1"/>
                  </a:solidFill>
                  <a:latin typeface="Poppins"/>
                  <a:ea typeface="Poppins"/>
                  <a:cs typeface="Poppins"/>
                  <a:sym typeface="Poppins"/>
                </a:rPr>
                <a:t>Weighted pupils and pupil weighting factors breakdown</a:t>
              </a:r>
              <a:endParaRPr b="0" sz="1000">
                <a:solidFill>
                  <a:srgbClr val="CBD5E1"/>
                </a:solidFill>
                <a:latin typeface="Poppins"/>
                <a:ea typeface="Poppins"/>
                <a:cs typeface="Poppins"/>
                <a:sym typeface="Poppins"/>
              </a:endParaRPr>
            </a:p>
          </p:txBody>
        </p:sp>
      </p:grpSp>
      <p:grpSp>
        <p:nvGrpSpPr>
          <p:cNvPr id="122" name="Google Shape;122;p20"/>
          <p:cNvGrpSpPr/>
          <p:nvPr/>
        </p:nvGrpSpPr>
        <p:grpSpPr>
          <a:xfrm>
            <a:off x="3143250" y="2019300"/>
            <a:ext cx="5619900" cy="705000"/>
            <a:chOff x="0" y="0"/>
            <a:chExt cx="5619900" cy="705000"/>
          </a:xfrm>
        </p:grpSpPr>
        <p:sp>
          <p:nvSpPr>
            <p:cNvPr id="123" name="Google Shape;123;p20"/>
            <p:cNvSpPr/>
            <p:nvPr/>
          </p:nvSpPr>
          <p:spPr>
            <a:xfrm>
              <a:off x="0" y="0"/>
              <a:ext cx="5619900" cy="705000"/>
            </a:xfrm>
            <a:prstGeom prst="roundRect">
              <a:avLst>
                <a:gd fmla="val 13513"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20"/>
            <p:cNvSpPr txBox="1"/>
            <p:nvPr/>
          </p:nvSpPr>
          <p:spPr>
            <a:xfrm>
              <a:off x="190500" y="213106"/>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FFAB40"/>
                  </a:solidFill>
                  <a:latin typeface="Material Icons"/>
                  <a:ea typeface="Material Icons"/>
                  <a:cs typeface="Material Icons"/>
                  <a:sym typeface="Material Icons"/>
                </a:rPr>
                <a:t>settings_suggest</a:t>
              </a:r>
              <a:endParaRPr b="0" sz="2200">
                <a:solidFill>
                  <a:srgbClr val="FFAB40"/>
                </a:solidFill>
                <a:latin typeface="Material Icons"/>
                <a:ea typeface="Material Icons"/>
                <a:cs typeface="Material Icons"/>
                <a:sym typeface="Material Icons"/>
              </a:endParaRPr>
            </a:p>
          </p:txBody>
        </p:sp>
        <p:sp>
          <p:nvSpPr>
            <p:cNvPr id="125" name="Google Shape;125;p20"/>
            <p:cNvSpPr txBox="1"/>
            <p:nvPr/>
          </p:nvSpPr>
          <p:spPr>
            <a:xfrm>
              <a:off x="647700" y="114300"/>
              <a:ext cx="4762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FFAB40"/>
                  </a:solidFill>
                  <a:latin typeface="Poppins"/>
                  <a:ea typeface="Poppins"/>
                  <a:cs typeface="Poppins"/>
                  <a:sym typeface="Poppins"/>
                </a:rPr>
                <a:t>Process</a:t>
              </a:r>
              <a:endParaRPr b="1" sz="1250">
                <a:solidFill>
                  <a:srgbClr val="FFAB40"/>
                </a:solidFill>
                <a:latin typeface="Poppins"/>
                <a:ea typeface="Poppins"/>
                <a:cs typeface="Poppins"/>
                <a:sym typeface="Poppins"/>
              </a:endParaRPr>
            </a:p>
            <a:p>
              <a:pPr indent="0" lvl="0" marL="0" rtl="0" algn="l">
                <a:spcBef>
                  <a:spcPts val="0"/>
                </a:spcBef>
                <a:spcAft>
                  <a:spcPts val="0"/>
                </a:spcAft>
                <a:buNone/>
              </a:pPr>
              <a:r>
                <a:rPr b="0" lang="en" sz="1000">
                  <a:solidFill>
                    <a:srgbClr val="CBD5E1"/>
                  </a:solidFill>
                  <a:latin typeface="Poppins"/>
                  <a:ea typeface="Poppins"/>
                  <a:cs typeface="Poppins"/>
                  <a:sym typeface="Poppins"/>
                </a:rPr>
                <a:t>Budget development process and planning framework</a:t>
              </a:r>
              <a:endParaRPr b="0" sz="1000">
                <a:solidFill>
                  <a:srgbClr val="CBD5E1"/>
                </a:solidFill>
                <a:latin typeface="Poppins"/>
                <a:ea typeface="Poppins"/>
                <a:cs typeface="Poppins"/>
                <a:sym typeface="Poppins"/>
              </a:endParaRPr>
            </a:p>
          </p:txBody>
        </p:sp>
      </p:grpSp>
      <p:sp>
        <p:nvSpPr>
          <p:cNvPr id="126" name="Google Shape;126;p20"/>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grpSp>
        <p:nvGrpSpPr>
          <p:cNvPr id="127" name="Google Shape;127;p20"/>
          <p:cNvGrpSpPr/>
          <p:nvPr/>
        </p:nvGrpSpPr>
        <p:grpSpPr>
          <a:xfrm>
            <a:off x="3143250" y="2838450"/>
            <a:ext cx="5619900" cy="705000"/>
            <a:chOff x="0" y="0"/>
            <a:chExt cx="5619900" cy="705000"/>
          </a:xfrm>
        </p:grpSpPr>
        <p:sp>
          <p:nvSpPr>
            <p:cNvPr id="128" name="Google Shape;128;p20"/>
            <p:cNvSpPr/>
            <p:nvPr/>
          </p:nvSpPr>
          <p:spPr>
            <a:xfrm>
              <a:off x="0" y="0"/>
              <a:ext cx="5619900" cy="705000"/>
            </a:xfrm>
            <a:prstGeom prst="roundRect">
              <a:avLst>
                <a:gd fmla="val 13513"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20"/>
            <p:cNvSpPr txBox="1"/>
            <p:nvPr/>
          </p:nvSpPr>
          <p:spPr>
            <a:xfrm>
              <a:off x="190500" y="213106"/>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4ADE80"/>
                  </a:solidFill>
                  <a:latin typeface="Material Icons"/>
                  <a:ea typeface="Material Icons"/>
                  <a:cs typeface="Material Icons"/>
                  <a:sym typeface="Material Icons"/>
                </a:rPr>
                <a:t>event_note</a:t>
              </a:r>
              <a:endParaRPr b="0" sz="2200">
                <a:solidFill>
                  <a:srgbClr val="4ADE80"/>
                </a:solidFill>
                <a:latin typeface="Material Icons"/>
                <a:ea typeface="Material Icons"/>
                <a:cs typeface="Material Icons"/>
                <a:sym typeface="Material Icons"/>
              </a:endParaRPr>
            </a:p>
          </p:txBody>
        </p:sp>
        <p:sp>
          <p:nvSpPr>
            <p:cNvPr id="130" name="Google Shape;130;p20"/>
            <p:cNvSpPr txBox="1"/>
            <p:nvPr/>
          </p:nvSpPr>
          <p:spPr>
            <a:xfrm>
              <a:off x="647700" y="114300"/>
              <a:ext cx="4762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4ADE80"/>
                  </a:solidFill>
                  <a:latin typeface="Poppins"/>
                  <a:ea typeface="Poppins"/>
                  <a:cs typeface="Poppins"/>
                  <a:sym typeface="Poppins"/>
                </a:rPr>
                <a:t>HUUSD Timeline</a:t>
              </a:r>
              <a:endParaRPr b="1" sz="1250">
                <a:solidFill>
                  <a:srgbClr val="4ADE80"/>
                </a:solidFill>
                <a:latin typeface="Poppins"/>
                <a:ea typeface="Poppins"/>
                <a:cs typeface="Poppins"/>
                <a:sym typeface="Poppins"/>
              </a:endParaRPr>
            </a:p>
            <a:p>
              <a:pPr indent="0" lvl="0" marL="0" rtl="0" algn="l">
                <a:spcBef>
                  <a:spcPts val="0"/>
                </a:spcBef>
                <a:spcAft>
                  <a:spcPts val="0"/>
                </a:spcAft>
                <a:buNone/>
              </a:pPr>
              <a:r>
                <a:rPr b="0" lang="en" sz="1000">
                  <a:solidFill>
                    <a:srgbClr val="CBD5E1"/>
                  </a:solidFill>
                  <a:latin typeface="Poppins"/>
                  <a:ea typeface="Poppins"/>
                  <a:cs typeface="Poppins"/>
                  <a:sym typeface="Poppins"/>
                </a:rPr>
                <a:t>Budget time-line, key milestones &amp; board actions</a:t>
              </a:r>
              <a:endParaRPr b="0" sz="1000">
                <a:solidFill>
                  <a:srgbClr val="CBD5E1"/>
                </a:solidFill>
                <a:latin typeface="Poppins"/>
                <a:ea typeface="Poppins"/>
                <a:cs typeface="Poppins"/>
                <a:sym typeface="Poppins"/>
              </a:endParaRPr>
            </a:p>
          </p:txBody>
        </p:sp>
      </p:grpSp>
      <p:grpSp>
        <p:nvGrpSpPr>
          <p:cNvPr id="131" name="Google Shape;131;p20"/>
          <p:cNvGrpSpPr/>
          <p:nvPr/>
        </p:nvGrpSpPr>
        <p:grpSpPr>
          <a:xfrm>
            <a:off x="3143250" y="3657600"/>
            <a:ext cx="5619900" cy="705000"/>
            <a:chOff x="0" y="0"/>
            <a:chExt cx="5619900" cy="705000"/>
          </a:xfrm>
        </p:grpSpPr>
        <p:sp>
          <p:nvSpPr>
            <p:cNvPr id="132" name="Google Shape;132;p20"/>
            <p:cNvSpPr/>
            <p:nvPr/>
          </p:nvSpPr>
          <p:spPr>
            <a:xfrm>
              <a:off x="0" y="0"/>
              <a:ext cx="5619900" cy="705000"/>
            </a:xfrm>
            <a:prstGeom prst="roundRect">
              <a:avLst>
                <a:gd fmla="val 13513"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20"/>
            <p:cNvSpPr txBox="1"/>
            <p:nvPr/>
          </p:nvSpPr>
          <p:spPr>
            <a:xfrm>
              <a:off x="190500" y="213106"/>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38BDF8"/>
                  </a:solidFill>
                  <a:latin typeface="Material Icons"/>
                  <a:ea typeface="Material Icons"/>
                  <a:cs typeface="Material Icons"/>
                  <a:sym typeface="Material Icons"/>
                </a:rPr>
                <a:t>insights</a:t>
              </a:r>
              <a:endParaRPr b="0" sz="2200">
                <a:solidFill>
                  <a:srgbClr val="38BDF8"/>
                </a:solidFill>
                <a:latin typeface="Material Icons"/>
                <a:ea typeface="Material Icons"/>
                <a:cs typeface="Material Icons"/>
                <a:sym typeface="Material Icons"/>
              </a:endParaRPr>
            </a:p>
          </p:txBody>
        </p:sp>
        <p:sp>
          <p:nvSpPr>
            <p:cNvPr id="134" name="Google Shape;134;p20"/>
            <p:cNvSpPr txBox="1"/>
            <p:nvPr/>
          </p:nvSpPr>
          <p:spPr>
            <a:xfrm>
              <a:off x="647700" y="114300"/>
              <a:ext cx="4762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38BDF8"/>
                  </a:solidFill>
                  <a:latin typeface="Poppins"/>
                  <a:ea typeface="Poppins"/>
                  <a:cs typeface="Poppins"/>
                  <a:sym typeface="Poppins"/>
                </a:rPr>
                <a:t>Projections</a:t>
              </a:r>
              <a:endParaRPr b="1" sz="1250">
                <a:solidFill>
                  <a:srgbClr val="38BDF8"/>
                </a:solidFill>
                <a:latin typeface="Poppins"/>
                <a:ea typeface="Poppins"/>
                <a:cs typeface="Poppins"/>
                <a:sym typeface="Poppins"/>
              </a:endParaRPr>
            </a:p>
            <a:p>
              <a:pPr indent="0" lvl="0" marL="0" rtl="0" algn="l">
                <a:spcBef>
                  <a:spcPts val="0"/>
                </a:spcBef>
                <a:spcAft>
                  <a:spcPts val="0"/>
                </a:spcAft>
                <a:buNone/>
              </a:pPr>
              <a:r>
                <a:rPr b="0" lang="en" sz="1000">
                  <a:solidFill>
                    <a:srgbClr val="CBD5E1"/>
                  </a:solidFill>
                  <a:latin typeface="Poppins"/>
                  <a:ea typeface="Poppins"/>
                  <a:cs typeface="Poppins"/>
                  <a:sym typeface="Poppins"/>
                </a:rPr>
                <a:t>Preliminary FY28 projections and financial outlook</a:t>
              </a:r>
              <a:endParaRPr b="0" sz="1000">
                <a:solidFill>
                  <a:srgbClr val="CBD5E1"/>
                </a:solidFill>
                <a:latin typeface="Poppins"/>
                <a:ea typeface="Poppins"/>
                <a:cs typeface="Poppins"/>
                <a:sym typeface="Poppins"/>
              </a:endParaRPr>
            </a:p>
          </p:txBody>
        </p:sp>
      </p:gr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 name="Shape 138"/>
        <p:cNvGrpSpPr/>
        <p:nvPr/>
      </p:nvGrpSpPr>
      <p:grpSpPr>
        <a:xfrm>
          <a:off x="0" y="0"/>
          <a:ext cx="0" cy="0"/>
          <a:chOff x="0" y="0"/>
          <a:chExt cx="0" cy="0"/>
        </a:xfrm>
      </p:grpSpPr>
      <p:grpSp>
        <p:nvGrpSpPr>
          <p:cNvPr id="139" name="Google Shape;139;p21"/>
          <p:cNvGrpSpPr/>
          <p:nvPr/>
        </p:nvGrpSpPr>
        <p:grpSpPr>
          <a:xfrm>
            <a:off x="381000" y="238125"/>
            <a:ext cx="8382000" cy="714300"/>
            <a:chOff x="0" y="0"/>
            <a:chExt cx="8382000" cy="714300"/>
          </a:xfrm>
        </p:grpSpPr>
        <p:sp>
          <p:nvSpPr>
            <p:cNvPr id="140" name="Google Shape;140;p21"/>
            <p:cNvSpPr/>
            <p:nvPr/>
          </p:nvSpPr>
          <p:spPr>
            <a:xfrm>
              <a:off x="0" y="0"/>
              <a:ext cx="8382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21"/>
            <p:cNvSpPr txBox="1"/>
            <p:nvPr/>
          </p:nvSpPr>
          <p:spPr>
            <a:xfrm>
              <a:off x="0" y="0"/>
              <a:ext cx="8382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035">
                  <a:solidFill>
                    <a:srgbClr val="FFFFFF"/>
                  </a:solidFill>
                  <a:latin typeface="Poppins ExtraBold"/>
                  <a:ea typeface="Poppins ExtraBold"/>
                  <a:cs typeface="Poppins ExtraBold"/>
                  <a:sym typeface="Poppins ExtraBold"/>
                </a:rPr>
                <a:t>Vermont’s Education Finance System</a:t>
              </a:r>
              <a:endParaRPr b="0" sz="2035">
                <a:solidFill>
                  <a:srgbClr val="FFFFFF"/>
                </a:solidFill>
                <a:latin typeface="Poppins ExtraBold"/>
                <a:ea typeface="Poppins ExtraBold"/>
                <a:cs typeface="Poppins ExtraBold"/>
                <a:sym typeface="Poppins ExtraBold"/>
              </a:endParaRPr>
            </a:p>
            <a:p>
              <a:pPr indent="0" lvl="0" marL="0" rtl="0" algn="l">
                <a:spcBef>
                  <a:spcPts val="150"/>
                </a:spcBef>
                <a:spcAft>
                  <a:spcPts val="0"/>
                </a:spcAft>
                <a:buNone/>
              </a:pPr>
              <a:r>
                <a:rPr b="0" lang="en" sz="1295">
                  <a:solidFill>
                    <a:srgbClr val="56BCC7"/>
                  </a:solidFill>
                  <a:latin typeface="Poppins SemiBold"/>
                  <a:ea typeface="Poppins SemiBold"/>
                  <a:cs typeface="Poppins SemiBold"/>
                  <a:sym typeface="Poppins SemiBold"/>
                </a:rPr>
                <a:t>Couples Local and State Decisions</a:t>
              </a:r>
              <a:endParaRPr b="0" sz="2035">
                <a:solidFill>
                  <a:srgbClr val="FFFFFF"/>
                </a:solidFill>
                <a:latin typeface="Poppins ExtraBold"/>
                <a:ea typeface="Poppins ExtraBold"/>
                <a:cs typeface="Poppins ExtraBold"/>
                <a:sym typeface="Poppins ExtraBold"/>
              </a:endParaRPr>
            </a:p>
          </p:txBody>
        </p:sp>
      </p:grpSp>
      <p:grpSp>
        <p:nvGrpSpPr>
          <p:cNvPr id="142" name="Google Shape;142;p21"/>
          <p:cNvGrpSpPr/>
          <p:nvPr/>
        </p:nvGrpSpPr>
        <p:grpSpPr>
          <a:xfrm>
            <a:off x="381000" y="1143000"/>
            <a:ext cx="2571900" cy="3524400"/>
            <a:chOff x="0" y="0"/>
            <a:chExt cx="2571900" cy="3524400"/>
          </a:xfrm>
        </p:grpSpPr>
        <p:sp>
          <p:nvSpPr>
            <p:cNvPr id="143" name="Google Shape;143;p21"/>
            <p:cNvSpPr/>
            <p:nvPr/>
          </p:nvSpPr>
          <p:spPr>
            <a:xfrm>
              <a:off x="0" y="0"/>
              <a:ext cx="2571900" cy="3524400"/>
            </a:xfrm>
            <a:prstGeom prst="roundRect">
              <a:avLst>
                <a:gd fmla="val 4444"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21"/>
            <p:cNvSpPr txBox="1"/>
            <p:nvPr/>
          </p:nvSpPr>
          <p:spPr>
            <a:xfrm>
              <a:off x="190500" y="323723"/>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 sz="2600">
                  <a:solidFill>
                    <a:srgbClr val="56BCC7"/>
                  </a:solidFill>
                  <a:latin typeface="Material Icons"/>
                  <a:ea typeface="Material Icons"/>
                  <a:cs typeface="Material Icons"/>
                  <a:sym typeface="Material Icons"/>
                </a:rPr>
                <a:t>how_to_vote</a:t>
              </a:r>
              <a:endParaRPr sz="2600">
                <a:solidFill>
                  <a:srgbClr val="56BCC7"/>
                </a:solidFill>
                <a:latin typeface="Material Icons"/>
                <a:ea typeface="Material Icons"/>
                <a:cs typeface="Material Icons"/>
                <a:sym typeface="Material Icons"/>
              </a:endParaRPr>
            </a:p>
          </p:txBody>
        </p:sp>
        <p:sp>
          <p:nvSpPr>
            <p:cNvPr id="145" name="Google Shape;145;p21"/>
            <p:cNvSpPr txBox="1"/>
            <p:nvPr/>
          </p:nvSpPr>
          <p:spPr>
            <a:xfrm>
              <a:off x="190500" y="809625"/>
              <a:ext cx="2190900" cy="2524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56BCC7"/>
                  </a:solidFill>
                  <a:latin typeface="Poppins"/>
                  <a:ea typeface="Poppins"/>
                  <a:cs typeface="Poppins"/>
                  <a:sym typeface="Poppins"/>
                </a:rPr>
                <a:t>Local &amp; State Level</a:t>
              </a:r>
              <a:endParaRPr b="1" sz="1300">
                <a:solidFill>
                  <a:srgbClr val="56BCC7"/>
                </a:solidFill>
                <a:latin typeface="Poppins"/>
                <a:ea typeface="Poppins"/>
                <a:cs typeface="Poppins"/>
                <a:sym typeface="Poppins"/>
              </a:endParaRPr>
            </a:p>
            <a:p>
              <a:pPr indent="0" lvl="0" marL="0" rtl="0" algn="l">
                <a:spcBef>
                  <a:spcPts val="600"/>
                </a:spcBef>
                <a:spcAft>
                  <a:spcPts val="600"/>
                </a:spcAft>
                <a:buNone/>
              </a:pPr>
              <a:r>
                <a:rPr b="0" lang="en" sz="1100">
                  <a:solidFill>
                    <a:srgbClr val="E2E8F0"/>
                  </a:solidFill>
                  <a:latin typeface="Poppins"/>
                  <a:ea typeface="Poppins"/>
                  <a:cs typeface="Poppins"/>
                  <a:sym typeface="Poppins"/>
                </a:rPr>
                <a:t>Expenses are determined at the local and state level</a:t>
              </a:r>
              <a:endParaRPr b="1" sz="1100">
                <a:solidFill>
                  <a:srgbClr val="56BCC7"/>
                </a:solidFill>
                <a:latin typeface="Poppins"/>
                <a:ea typeface="Poppins"/>
                <a:cs typeface="Poppins"/>
                <a:sym typeface="Poppins"/>
              </a:endParaRPr>
            </a:p>
          </p:txBody>
        </p:sp>
      </p:grpSp>
      <p:grpSp>
        <p:nvGrpSpPr>
          <p:cNvPr id="146" name="Google Shape;146;p21"/>
          <p:cNvGrpSpPr/>
          <p:nvPr/>
        </p:nvGrpSpPr>
        <p:grpSpPr>
          <a:xfrm>
            <a:off x="3286125" y="1143000"/>
            <a:ext cx="2571900" cy="3524400"/>
            <a:chOff x="0" y="0"/>
            <a:chExt cx="2571900" cy="3524400"/>
          </a:xfrm>
        </p:grpSpPr>
        <p:sp>
          <p:nvSpPr>
            <p:cNvPr id="147" name="Google Shape;147;p21"/>
            <p:cNvSpPr/>
            <p:nvPr/>
          </p:nvSpPr>
          <p:spPr>
            <a:xfrm>
              <a:off x="0" y="0"/>
              <a:ext cx="2571900" cy="3524400"/>
            </a:xfrm>
            <a:prstGeom prst="roundRect">
              <a:avLst>
                <a:gd fmla="val 4444"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21"/>
            <p:cNvSpPr txBox="1"/>
            <p:nvPr/>
          </p:nvSpPr>
          <p:spPr>
            <a:xfrm>
              <a:off x="190500" y="323723"/>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 sz="2600">
                  <a:solidFill>
                    <a:srgbClr val="FFAB40"/>
                  </a:solidFill>
                  <a:latin typeface="Material Icons"/>
                  <a:ea typeface="Material Icons"/>
                  <a:cs typeface="Material Icons"/>
                  <a:sym typeface="Material Icons"/>
                </a:rPr>
                <a:t>calculate</a:t>
              </a:r>
              <a:endParaRPr sz="2600">
                <a:solidFill>
                  <a:srgbClr val="FFAB40"/>
                </a:solidFill>
                <a:latin typeface="Material Icons"/>
                <a:ea typeface="Material Icons"/>
                <a:cs typeface="Material Icons"/>
                <a:sym typeface="Material Icons"/>
              </a:endParaRPr>
            </a:p>
          </p:txBody>
        </p:sp>
        <p:sp>
          <p:nvSpPr>
            <p:cNvPr id="149" name="Google Shape;149;p21"/>
            <p:cNvSpPr txBox="1"/>
            <p:nvPr/>
          </p:nvSpPr>
          <p:spPr>
            <a:xfrm>
              <a:off x="190500" y="809625"/>
              <a:ext cx="2190900" cy="2524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FFAB40"/>
                  </a:solidFill>
                  <a:latin typeface="Poppins"/>
                  <a:ea typeface="Poppins"/>
                  <a:cs typeface="Poppins"/>
                  <a:sym typeface="Poppins"/>
                </a:rPr>
                <a:t>Tax Rate Funding</a:t>
              </a:r>
              <a:endParaRPr b="1" sz="1300">
                <a:solidFill>
                  <a:srgbClr val="FFAB40"/>
                </a:solidFill>
                <a:latin typeface="Poppins"/>
                <a:ea typeface="Poppins"/>
                <a:cs typeface="Poppins"/>
                <a:sym typeface="Poppins"/>
              </a:endParaRPr>
            </a:p>
            <a:p>
              <a:pPr indent="0" lvl="0" marL="0" rtl="0" algn="l">
                <a:spcBef>
                  <a:spcPts val="600"/>
                </a:spcBef>
                <a:spcAft>
                  <a:spcPts val="600"/>
                </a:spcAft>
                <a:buNone/>
              </a:pPr>
              <a:r>
                <a:rPr b="0" lang="en" sz="1100">
                  <a:solidFill>
                    <a:srgbClr val="E2E8F0"/>
                  </a:solidFill>
                  <a:latin typeface="Poppins"/>
                  <a:ea typeface="Poppins"/>
                  <a:cs typeface="Poppins"/>
                  <a:sym typeface="Poppins"/>
                </a:rPr>
                <a:t>Property tax rates are then set to fully fund those expenditures</a:t>
              </a:r>
              <a:endParaRPr b="1" sz="1100">
                <a:solidFill>
                  <a:srgbClr val="FFAB40"/>
                </a:solidFill>
                <a:latin typeface="Poppins"/>
                <a:ea typeface="Poppins"/>
                <a:cs typeface="Poppins"/>
                <a:sym typeface="Poppins"/>
              </a:endParaRPr>
            </a:p>
          </p:txBody>
        </p:sp>
      </p:grpSp>
      <p:grpSp>
        <p:nvGrpSpPr>
          <p:cNvPr id="150" name="Google Shape;150;p21"/>
          <p:cNvGrpSpPr/>
          <p:nvPr/>
        </p:nvGrpSpPr>
        <p:grpSpPr>
          <a:xfrm>
            <a:off x="6191250" y="1143000"/>
            <a:ext cx="2571900" cy="3524400"/>
            <a:chOff x="0" y="0"/>
            <a:chExt cx="2571900" cy="3524400"/>
          </a:xfrm>
        </p:grpSpPr>
        <p:sp>
          <p:nvSpPr>
            <p:cNvPr id="151" name="Google Shape;151;p21"/>
            <p:cNvSpPr/>
            <p:nvPr/>
          </p:nvSpPr>
          <p:spPr>
            <a:xfrm>
              <a:off x="0" y="0"/>
              <a:ext cx="2571900" cy="3524400"/>
            </a:xfrm>
            <a:prstGeom prst="roundRect">
              <a:avLst>
                <a:gd fmla="val 4444"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21"/>
            <p:cNvSpPr txBox="1"/>
            <p:nvPr/>
          </p:nvSpPr>
          <p:spPr>
            <a:xfrm>
              <a:off x="190500" y="323723"/>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 sz="2600">
                  <a:solidFill>
                    <a:srgbClr val="4ADE80"/>
                  </a:solidFill>
                  <a:latin typeface="Material Icons"/>
                  <a:ea typeface="Material Icons"/>
                  <a:cs typeface="Material Icons"/>
                  <a:sym typeface="Material Icons"/>
                </a:rPr>
                <a:t>account_balance</a:t>
              </a:r>
              <a:endParaRPr sz="2600">
                <a:solidFill>
                  <a:srgbClr val="4ADE80"/>
                </a:solidFill>
                <a:latin typeface="Material Icons"/>
                <a:ea typeface="Material Icons"/>
                <a:cs typeface="Material Icons"/>
                <a:sym typeface="Material Icons"/>
              </a:endParaRPr>
            </a:p>
          </p:txBody>
        </p:sp>
        <p:sp>
          <p:nvSpPr>
            <p:cNvPr id="153" name="Google Shape;153;p21"/>
            <p:cNvSpPr txBox="1"/>
            <p:nvPr/>
          </p:nvSpPr>
          <p:spPr>
            <a:xfrm>
              <a:off x="190500" y="809625"/>
              <a:ext cx="2190900" cy="2524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4ADE80"/>
                  </a:solidFill>
                  <a:latin typeface="Poppins"/>
                  <a:ea typeface="Poppins"/>
                  <a:cs typeface="Poppins"/>
                  <a:sym typeface="Poppins"/>
                </a:rPr>
                <a:t>Education Fund</a:t>
              </a:r>
              <a:endParaRPr b="1" sz="1300">
                <a:solidFill>
                  <a:srgbClr val="4ADE80"/>
                </a:solidFill>
                <a:latin typeface="Poppins"/>
                <a:ea typeface="Poppins"/>
                <a:cs typeface="Poppins"/>
                <a:sym typeface="Poppins"/>
              </a:endParaRPr>
            </a:p>
            <a:p>
              <a:pPr indent="0" lvl="0" marL="0" rtl="0" algn="l">
                <a:spcBef>
                  <a:spcPts val="600"/>
                </a:spcBef>
                <a:spcAft>
                  <a:spcPts val="600"/>
                </a:spcAft>
                <a:buNone/>
              </a:pPr>
              <a:r>
                <a:rPr b="0" lang="en" sz="1100">
                  <a:solidFill>
                    <a:srgbClr val="E2E8F0"/>
                  </a:solidFill>
                  <a:latin typeface="Poppins"/>
                  <a:ea typeface="Poppins"/>
                  <a:cs typeface="Poppins"/>
                  <a:sym typeface="Poppins"/>
                </a:rPr>
                <a:t>All Education property taxes are dedicated to the statewide Education fund.</a:t>
              </a:r>
              <a:endParaRPr b="1" sz="1100">
                <a:solidFill>
                  <a:srgbClr val="4ADE80"/>
                </a:solidFill>
                <a:latin typeface="Poppins"/>
                <a:ea typeface="Poppins"/>
                <a:cs typeface="Poppins"/>
                <a:sym typeface="Poppi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22"/>
          <p:cNvSpPr txBox="1"/>
          <p:nvPr/>
        </p:nvSpPr>
        <p:spPr>
          <a:xfrm>
            <a:off x="381000" y="228600"/>
            <a:ext cx="8382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FFFFFF"/>
                </a:solidFill>
                <a:latin typeface="Poppins ExtraBold"/>
                <a:ea typeface="Poppins ExtraBold"/>
                <a:cs typeface="Poppins ExtraBold"/>
                <a:sym typeface="Poppins ExtraBold"/>
              </a:rPr>
              <a:t>What is the Education Fund?</a:t>
            </a:r>
            <a:endParaRPr b="0" sz="2400">
              <a:solidFill>
                <a:srgbClr val="FFFFFF"/>
              </a:solidFill>
              <a:latin typeface="Poppins ExtraBold"/>
              <a:ea typeface="Poppins ExtraBold"/>
              <a:cs typeface="Poppins ExtraBold"/>
              <a:sym typeface="Poppins ExtraBold"/>
            </a:endParaRPr>
          </a:p>
        </p:txBody>
      </p:sp>
      <p:grpSp>
        <p:nvGrpSpPr>
          <p:cNvPr id="159" name="Google Shape;159;p22"/>
          <p:cNvGrpSpPr/>
          <p:nvPr/>
        </p:nvGrpSpPr>
        <p:grpSpPr>
          <a:xfrm>
            <a:off x="381000" y="904875"/>
            <a:ext cx="8382000" cy="666900"/>
            <a:chOff x="0" y="0"/>
            <a:chExt cx="8382000" cy="666900"/>
          </a:xfrm>
        </p:grpSpPr>
        <p:sp>
          <p:nvSpPr>
            <p:cNvPr id="160" name="Google Shape;160;p22"/>
            <p:cNvSpPr/>
            <p:nvPr/>
          </p:nvSpPr>
          <p:spPr>
            <a:xfrm>
              <a:off x="0" y="0"/>
              <a:ext cx="8382000" cy="666900"/>
            </a:xfrm>
            <a:prstGeom prst="roundRect">
              <a:avLst>
                <a:gd fmla="val 14285" name="adj"/>
              </a:avLst>
            </a:prstGeom>
            <a:solidFill>
              <a:srgbClr val="132238"/>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22"/>
            <p:cNvSpPr txBox="1"/>
            <p:nvPr/>
          </p:nvSpPr>
          <p:spPr>
            <a:xfrm>
              <a:off x="190500" y="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56BCC7"/>
                  </a:solidFill>
                  <a:latin typeface="Poppins"/>
                  <a:ea typeface="Poppins"/>
                  <a:cs typeface="Poppins"/>
                  <a:sym typeface="Poppins"/>
                </a:rPr>
                <a:t>The Total Cost of Public Education in Vermont</a:t>
              </a:r>
              <a:endParaRPr b="1" sz="1500">
                <a:solidFill>
                  <a:srgbClr val="56BCC7"/>
                </a:solidFill>
                <a:latin typeface="Poppins"/>
                <a:ea typeface="Poppins"/>
                <a:cs typeface="Poppins"/>
                <a:sym typeface="Poppins"/>
              </a:endParaRPr>
            </a:p>
            <a:p>
              <a:pPr indent="0" lvl="0" marL="0" rtl="0" algn="l">
                <a:spcBef>
                  <a:spcPts val="150"/>
                </a:spcBef>
                <a:spcAft>
                  <a:spcPts val="0"/>
                </a:spcAft>
                <a:buNone/>
              </a:pPr>
              <a:r>
                <a:rPr b="0" lang="en" sz="1050">
                  <a:solidFill>
                    <a:srgbClr val="CBD5E1"/>
                  </a:solidFill>
                  <a:latin typeface="Poppins"/>
                  <a:ea typeface="Poppins"/>
                  <a:cs typeface="Poppins"/>
                  <a:sym typeface="Poppins"/>
                </a:rPr>
                <a:t>Annually, local and State decisions determine total expenditures from the education fund.</a:t>
              </a:r>
              <a:endParaRPr b="0" sz="1050">
                <a:solidFill>
                  <a:srgbClr val="CBD5E1"/>
                </a:solidFill>
                <a:latin typeface="Poppins"/>
                <a:ea typeface="Poppins"/>
                <a:cs typeface="Poppins"/>
                <a:sym typeface="Poppins"/>
              </a:endParaRPr>
            </a:p>
          </p:txBody>
        </p:sp>
      </p:grpSp>
      <p:grpSp>
        <p:nvGrpSpPr>
          <p:cNvPr id="162" name="Google Shape;162;p22"/>
          <p:cNvGrpSpPr/>
          <p:nvPr/>
        </p:nvGrpSpPr>
        <p:grpSpPr>
          <a:xfrm>
            <a:off x="381000" y="1714500"/>
            <a:ext cx="4048200" cy="1666800"/>
            <a:chOff x="0" y="0"/>
            <a:chExt cx="4048200" cy="1666800"/>
          </a:xfrm>
        </p:grpSpPr>
        <p:sp>
          <p:nvSpPr>
            <p:cNvPr id="163" name="Google Shape;163;p22"/>
            <p:cNvSpPr/>
            <p:nvPr/>
          </p:nvSpPr>
          <p:spPr>
            <a:xfrm>
              <a:off x="0" y="0"/>
              <a:ext cx="4048200" cy="1666800"/>
            </a:xfrm>
            <a:prstGeom prst="roundRect">
              <a:avLst>
                <a:gd fmla="val 6857"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2"/>
            <p:cNvSpPr/>
            <p:nvPr/>
          </p:nvSpPr>
          <p:spPr>
            <a:xfrm>
              <a:off x="190500" y="190500"/>
              <a:ext cx="342900" cy="342900"/>
            </a:xfrm>
            <a:prstGeom prst="roundRect">
              <a:avLst>
                <a:gd fmla="val 22222" name="adj"/>
              </a:avLst>
            </a:prstGeom>
            <a:solidFill>
              <a:srgbClr val="56BC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22"/>
            <p:cNvSpPr txBox="1"/>
            <p:nvPr/>
          </p:nvSpPr>
          <p:spPr>
            <a:xfrm>
              <a:off x="190500" y="21971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Material Icons"/>
                  <a:ea typeface="Material Icons"/>
                  <a:cs typeface="Material Icons"/>
                  <a:sym typeface="Material Icons"/>
                </a:rPr>
                <a:t>how_to_vote</a:t>
              </a:r>
              <a:endParaRPr sz="2000">
                <a:solidFill>
                  <a:srgbClr val="FFFFFF"/>
                </a:solidFill>
                <a:latin typeface="Material Icons"/>
                <a:ea typeface="Material Icons"/>
                <a:cs typeface="Material Icons"/>
                <a:sym typeface="Material Icons"/>
              </a:endParaRPr>
            </a:p>
          </p:txBody>
        </p:sp>
        <p:sp>
          <p:nvSpPr>
            <p:cNvPr id="166" name="Google Shape;166;p22"/>
            <p:cNvSpPr txBox="1"/>
            <p:nvPr/>
          </p:nvSpPr>
          <p:spPr>
            <a:xfrm>
              <a:off x="647700" y="190500"/>
              <a:ext cx="32100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500">
                  <a:solidFill>
                    <a:srgbClr val="56BCC7"/>
                  </a:solidFill>
                  <a:latin typeface="Poppins"/>
                  <a:ea typeface="Poppins"/>
                  <a:cs typeface="Poppins"/>
                  <a:sym typeface="Poppins"/>
                </a:rPr>
                <a:t>Local Decisions</a:t>
              </a:r>
              <a:endParaRPr>
                <a:latin typeface="Poppins"/>
                <a:ea typeface="Poppins"/>
                <a:cs typeface="Poppins"/>
                <a:sym typeface="Poppins"/>
              </a:endParaRPr>
            </a:p>
          </p:txBody>
        </p:sp>
        <p:sp>
          <p:nvSpPr>
            <p:cNvPr id="167" name="Google Shape;167;p22"/>
            <p:cNvSpPr txBox="1"/>
            <p:nvPr/>
          </p:nvSpPr>
          <p:spPr>
            <a:xfrm>
              <a:off x="190500" y="647700"/>
              <a:ext cx="3667200" cy="857400"/>
            </a:xfrm>
            <a:prstGeom prst="rect">
              <a:avLst/>
            </a:prstGeom>
            <a:noFill/>
            <a:ln>
              <a:noFill/>
            </a:ln>
          </p:spPr>
          <p:txBody>
            <a:bodyPr anchorCtr="0" anchor="t" bIns="0" lIns="0" spcFirstLastPara="1" rIns="0" wrap="square" tIns="0">
              <a:noAutofit/>
            </a:bodyPr>
            <a:lstStyle/>
            <a:p>
              <a:pPr indent="-298450" lvl="0" marL="457200" rtl="0" algn="l">
                <a:spcBef>
                  <a:spcPts val="0"/>
                </a:spcBef>
                <a:spcAft>
                  <a:spcPts val="600"/>
                </a:spcAft>
                <a:buClr>
                  <a:srgbClr val="E2E8F0"/>
                </a:buClr>
                <a:buSzPts val="1100"/>
                <a:buFont typeface="Poppins"/>
                <a:buChar char="●"/>
              </a:pPr>
              <a:r>
                <a:rPr lang="en" sz="1100">
                  <a:solidFill>
                    <a:srgbClr val="E2E8F0"/>
                  </a:solidFill>
                  <a:latin typeface="Poppins"/>
                  <a:ea typeface="Poppins"/>
                  <a:cs typeface="Poppins"/>
                  <a:sym typeface="Poppins"/>
                </a:rPr>
                <a:t>School districts build budgets that must be approved by voters</a:t>
              </a:r>
              <a:endParaRPr sz="1100">
                <a:solidFill>
                  <a:srgbClr val="E2E8F0"/>
                </a:solidFill>
                <a:latin typeface="Poppins"/>
                <a:ea typeface="Poppins"/>
                <a:cs typeface="Poppins"/>
                <a:sym typeface="Poppins"/>
              </a:endParaRPr>
            </a:p>
          </p:txBody>
        </p:sp>
      </p:grpSp>
      <p:grpSp>
        <p:nvGrpSpPr>
          <p:cNvPr id="168" name="Google Shape;168;p22"/>
          <p:cNvGrpSpPr/>
          <p:nvPr/>
        </p:nvGrpSpPr>
        <p:grpSpPr>
          <a:xfrm>
            <a:off x="4714875" y="1714500"/>
            <a:ext cx="4048200" cy="1666800"/>
            <a:chOff x="0" y="0"/>
            <a:chExt cx="4048200" cy="1666800"/>
          </a:xfrm>
        </p:grpSpPr>
        <p:sp>
          <p:nvSpPr>
            <p:cNvPr id="169" name="Google Shape;169;p22"/>
            <p:cNvSpPr/>
            <p:nvPr/>
          </p:nvSpPr>
          <p:spPr>
            <a:xfrm>
              <a:off x="0" y="0"/>
              <a:ext cx="4048200" cy="1666800"/>
            </a:xfrm>
            <a:prstGeom prst="roundRect">
              <a:avLst>
                <a:gd fmla="val 6857"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22"/>
            <p:cNvSpPr/>
            <p:nvPr/>
          </p:nvSpPr>
          <p:spPr>
            <a:xfrm>
              <a:off x="190500" y="190500"/>
              <a:ext cx="342900" cy="342900"/>
            </a:xfrm>
            <a:prstGeom prst="roundRect">
              <a:avLst>
                <a:gd fmla="val 22222"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2"/>
            <p:cNvSpPr txBox="1"/>
            <p:nvPr/>
          </p:nvSpPr>
          <p:spPr>
            <a:xfrm>
              <a:off x="190500" y="21971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Material Icons"/>
                  <a:ea typeface="Material Icons"/>
                  <a:cs typeface="Material Icons"/>
                  <a:sym typeface="Material Icons"/>
                </a:rPr>
                <a:t>account_balance</a:t>
              </a:r>
              <a:endParaRPr sz="2000">
                <a:solidFill>
                  <a:srgbClr val="FFFFFF"/>
                </a:solidFill>
                <a:latin typeface="Material Icons"/>
                <a:ea typeface="Material Icons"/>
                <a:cs typeface="Material Icons"/>
                <a:sym typeface="Material Icons"/>
              </a:endParaRPr>
            </a:p>
          </p:txBody>
        </p:sp>
        <p:sp>
          <p:nvSpPr>
            <p:cNvPr id="172" name="Google Shape;172;p22"/>
            <p:cNvSpPr txBox="1"/>
            <p:nvPr/>
          </p:nvSpPr>
          <p:spPr>
            <a:xfrm>
              <a:off x="647700" y="190500"/>
              <a:ext cx="32100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500">
                  <a:solidFill>
                    <a:srgbClr val="FFAB40"/>
                  </a:solidFill>
                  <a:latin typeface="Poppins"/>
                  <a:ea typeface="Poppins"/>
                  <a:cs typeface="Poppins"/>
                  <a:sym typeface="Poppins"/>
                </a:rPr>
                <a:t>State Decisions</a:t>
              </a:r>
              <a:endParaRPr>
                <a:latin typeface="Poppins"/>
                <a:ea typeface="Poppins"/>
                <a:cs typeface="Poppins"/>
                <a:sym typeface="Poppins"/>
              </a:endParaRPr>
            </a:p>
          </p:txBody>
        </p:sp>
        <p:sp>
          <p:nvSpPr>
            <p:cNvPr id="173" name="Google Shape;173;p22"/>
            <p:cNvSpPr txBox="1"/>
            <p:nvPr/>
          </p:nvSpPr>
          <p:spPr>
            <a:xfrm>
              <a:off x="190500" y="647700"/>
              <a:ext cx="3667200" cy="857400"/>
            </a:xfrm>
            <a:prstGeom prst="rect">
              <a:avLst/>
            </a:prstGeom>
            <a:noFill/>
            <a:ln>
              <a:noFill/>
            </a:ln>
          </p:spPr>
          <p:txBody>
            <a:bodyPr anchorCtr="0" anchor="t" bIns="0" lIns="0" spcFirstLastPara="1" rIns="0" wrap="square" tIns="0">
              <a:noAutofit/>
            </a:bodyPr>
            <a:lstStyle/>
            <a:p>
              <a:pPr indent="-298450" lvl="0" marL="457200" rtl="0" algn="l">
                <a:spcBef>
                  <a:spcPts val="0"/>
                </a:spcBef>
                <a:spcAft>
                  <a:spcPts val="0"/>
                </a:spcAft>
                <a:buClr>
                  <a:srgbClr val="E2E8F0"/>
                </a:buClr>
                <a:buSzPts val="1100"/>
                <a:buFont typeface="Poppins"/>
                <a:buChar char="●"/>
              </a:pPr>
              <a:r>
                <a:rPr lang="en" sz="1100">
                  <a:solidFill>
                    <a:srgbClr val="E2E8F0"/>
                  </a:solidFill>
                  <a:latin typeface="Poppins"/>
                  <a:ea typeface="Poppins"/>
                  <a:cs typeface="Poppins"/>
                  <a:sym typeface="Poppins"/>
                </a:rPr>
                <a:t>Certain appropriations and categorical aid</a:t>
              </a:r>
              <a:endParaRPr sz="1100">
                <a:solidFill>
                  <a:srgbClr val="E2E8F0"/>
                </a:solidFill>
                <a:latin typeface="Poppins"/>
                <a:ea typeface="Poppins"/>
                <a:cs typeface="Poppins"/>
                <a:sym typeface="Poppins"/>
              </a:endParaRPr>
            </a:p>
            <a:p>
              <a:pPr indent="-298450" lvl="0" marL="457200" rtl="0" algn="l">
                <a:spcBef>
                  <a:spcPts val="600"/>
                </a:spcBef>
                <a:spcAft>
                  <a:spcPts val="600"/>
                </a:spcAft>
                <a:buClr>
                  <a:srgbClr val="E2E8F0"/>
                </a:buClr>
                <a:buSzPts val="1100"/>
                <a:buFont typeface="Poppins"/>
                <a:buChar char="●"/>
              </a:pPr>
              <a:r>
                <a:rPr lang="en" sz="1100">
                  <a:solidFill>
                    <a:srgbClr val="E2E8F0"/>
                  </a:solidFill>
                  <a:latin typeface="Poppins"/>
                  <a:ea typeface="Poppins"/>
                  <a:cs typeface="Poppins"/>
                  <a:sym typeface="Poppins"/>
                </a:rPr>
                <a:t>Policies that impact local budgets</a:t>
              </a:r>
              <a:endParaRPr sz="1100">
                <a:solidFill>
                  <a:srgbClr val="E2E8F0"/>
                </a:solidFill>
                <a:latin typeface="Poppins"/>
                <a:ea typeface="Poppins"/>
                <a:cs typeface="Poppins"/>
                <a:sym typeface="Poppins"/>
              </a:endParaRPr>
            </a:p>
          </p:txBody>
        </p:sp>
      </p:grpSp>
      <p:grpSp>
        <p:nvGrpSpPr>
          <p:cNvPr id="174" name="Google Shape;174;p22"/>
          <p:cNvGrpSpPr/>
          <p:nvPr/>
        </p:nvGrpSpPr>
        <p:grpSpPr>
          <a:xfrm>
            <a:off x="381000" y="3571875"/>
            <a:ext cx="8382000" cy="1143000"/>
            <a:chOff x="0" y="0"/>
            <a:chExt cx="8382000" cy="1143000"/>
          </a:xfrm>
        </p:grpSpPr>
        <p:sp>
          <p:nvSpPr>
            <p:cNvPr id="175" name="Google Shape;175;p22"/>
            <p:cNvSpPr/>
            <p:nvPr/>
          </p:nvSpPr>
          <p:spPr>
            <a:xfrm>
              <a:off x="0" y="0"/>
              <a:ext cx="2381400" cy="1143000"/>
            </a:xfrm>
            <a:prstGeom prst="roundRect">
              <a:avLst>
                <a:gd fmla="val 8333" name="adj"/>
              </a:avLst>
            </a:prstGeom>
            <a:solidFill>
              <a:srgbClr val="131E36"/>
            </a:solidFill>
            <a:ln cap="flat" cmpd="sng" w="19050">
              <a:solidFill>
                <a:srgbClr val="56BC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22"/>
            <p:cNvSpPr txBox="1"/>
            <p:nvPr/>
          </p:nvSpPr>
          <p:spPr>
            <a:xfrm>
              <a:off x="142875" y="142875"/>
              <a:ext cx="20955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56BCC7"/>
                  </a:solidFill>
                  <a:latin typeface="Material Icons"/>
                  <a:ea typeface="Material Icons"/>
                  <a:cs typeface="Material Icons"/>
                  <a:sym typeface="Material Icons"/>
                </a:rPr>
                <a:t>location_city</a:t>
              </a:r>
              <a:endParaRPr sz="2200">
                <a:solidFill>
                  <a:srgbClr val="56BCC7"/>
                </a:solidFill>
                <a:latin typeface="Material Icons"/>
                <a:ea typeface="Material Icons"/>
                <a:cs typeface="Material Icons"/>
                <a:sym typeface="Material Icons"/>
              </a:endParaRPr>
            </a:p>
            <a:p>
              <a:pPr indent="0" lvl="0" marL="0" rtl="0" algn="ctr">
                <a:spcBef>
                  <a:spcPts val="300"/>
                </a:spcBef>
                <a:spcAft>
                  <a:spcPts val="0"/>
                </a:spcAft>
                <a:buNone/>
              </a:pPr>
              <a:r>
                <a:rPr b="1" lang="en" sz="1200">
                  <a:solidFill>
                    <a:srgbClr val="FFFFFF"/>
                  </a:solidFill>
                  <a:latin typeface="Poppins"/>
                  <a:ea typeface="Poppins"/>
                  <a:cs typeface="Poppins"/>
                  <a:sym typeface="Poppins"/>
                </a:rPr>
                <a:t>Local spending decisions</a:t>
              </a:r>
              <a:endParaRPr b="1" sz="1200">
                <a:solidFill>
                  <a:srgbClr val="FFFFFF"/>
                </a:solidFill>
                <a:latin typeface="Poppins"/>
                <a:ea typeface="Poppins"/>
                <a:cs typeface="Poppins"/>
                <a:sym typeface="Poppins"/>
              </a:endParaRPr>
            </a:p>
          </p:txBody>
        </p:sp>
        <p:sp>
          <p:nvSpPr>
            <p:cNvPr id="177" name="Google Shape;177;p22"/>
            <p:cNvSpPr txBox="1"/>
            <p:nvPr/>
          </p:nvSpPr>
          <p:spPr>
            <a:xfrm>
              <a:off x="2428875" y="333375"/>
              <a:ext cx="381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600">
                  <a:solidFill>
                    <a:srgbClr val="94B621"/>
                  </a:solidFill>
                  <a:latin typeface="Poppins ExtraBold"/>
                  <a:ea typeface="Poppins ExtraBold"/>
                  <a:cs typeface="Poppins ExtraBold"/>
                  <a:sym typeface="Poppins ExtraBold"/>
                </a:rPr>
                <a:t>+</a:t>
              </a:r>
              <a:endParaRPr>
                <a:latin typeface="Poppins"/>
                <a:ea typeface="Poppins"/>
                <a:cs typeface="Poppins"/>
                <a:sym typeface="Poppins"/>
              </a:endParaRPr>
            </a:p>
          </p:txBody>
        </p:sp>
        <p:sp>
          <p:nvSpPr>
            <p:cNvPr id="178" name="Google Shape;178;p22"/>
            <p:cNvSpPr/>
            <p:nvPr/>
          </p:nvSpPr>
          <p:spPr>
            <a:xfrm>
              <a:off x="2857500" y="0"/>
              <a:ext cx="2381400" cy="1143000"/>
            </a:xfrm>
            <a:prstGeom prst="roundRect">
              <a:avLst>
                <a:gd fmla="val 8333" name="adj"/>
              </a:avLst>
            </a:prstGeom>
            <a:solidFill>
              <a:srgbClr val="131E36"/>
            </a:solidFill>
            <a:ln cap="flat" cmpd="sng" w="19050">
              <a:solidFill>
                <a:srgbClr val="FFAB4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2"/>
            <p:cNvSpPr txBox="1"/>
            <p:nvPr/>
          </p:nvSpPr>
          <p:spPr>
            <a:xfrm>
              <a:off x="3000375" y="142875"/>
              <a:ext cx="20955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FFAB40"/>
                  </a:solidFill>
                  <a:latin typeface="Material Icons"/>
                  <a:ea typeface="Material Icons"/>
                  <a:cs typeface="Material Icons"/>
                  <a:sym typeface="Material Icons"/>
                </a:rPr>
                <a:t>gavel</a:t>
              </a:r>
              <a:endParaRPr sz="2200">
                <a:solidFill>
                  <a:srgbClr val="FFAB40"/>
                </a:solidFill>
                <a:latin typeface="Material Icons"/>
                <a:ea typeface="Material Icons"/>
                <a:cs typeface="Material Icons"/>
                <a:sym typeface="Material Icons"/>
              </a:endParaRPr>
            </a:p>
            <a:p>
              <a:pPr indent="0" lvl="0" marL="0" rtl="0" algn="ctr">
                <a:spcBef>
                  <a:spcPts val="300"/>
                </a:spcBef>
                <a:spcAft>
                  <a:spcPts val="0"/>
                </a:spcAft>
                <a:buNone/>
              </a:pPr>
              <a:r>
                <a:rPr b="1" lang="en" sz="1200">
                  <a:solidFill>
                    <a:srgbClr val="FFFFFF"/>
                  </a:solidFill>
                  <a:latin typeface="Poppins"/>
                  <a:ea typeface="Poppins"/>
                  <a:cs typeface="Poppins"/>
                  <a:sym typeface="Poppins"/>
                </a:rPr>
                <a:t>State spending decisions</a:t>
              </a:r>
              <a:endParaRPr b="1" sz="1200">
                <a:solidFill>
                  <a:srgbClr val="FFFFFF"/>
                </a:solidFill>
                <a:latin typeface="Poppins"/>
                <a:ea typeface="Poppins"/>
                <a:cs typeface="Poppins"/>
                <a:sym typeface="Poppins"/>
              </a:endParaRPr>
            </a:p>
          </p:txBody>
        </p:sp>
        <p:sp>
          <p:nvSpPr>
            <p:cNvPr id="180" name="Google Shape;180;p22"/>
            <p:cNvSpPr txBox="1"/>
            <p:nvPr/>
          </p:nvSpPr>
          <p:spPr>
            <a:xfrm>
              <a:off x="5286375" y="333375"/>
              <a:ext cx="381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600">
                  <a:solidFill>
                    <a:srgbClr val="94B621"/>
                  </a:solidFill>
                  <a:latin typeface="Poppins ExtraBold"/>
                  <a:ea typeface="Poppins ExtraBold"/>
                  <a:cs typeface="Poppins ExtraBold"/>
                  <a:sym typeface="Poppins ExtraBold"/>
                </a:rPr>
                <a:t>=</a:t>
              </a:r>
              <a:endParaRPr>
                <a:latin typeface="Poppins"/>
                <a:ea typeface="Poppins"/>
                <a:cs typeface="Poppins"/>
                <a:sym typeface="Poppins"/>
              </a:endParaRPr>
            </a:p>
          </p:txBody>
        </p:sp>
        <p:sp>
          <p:nvSpPr>
            <p:cNvPr id="181" name="Google Shape;181;p22"/>
            <p:cNvSpPr/>
            <p:nvPr/>
          </p:nvSpPr>
          <p:spPr>
            <a:xfrm>
              <a:off x="5715000" y="0"/>
              <a:ext cx="2667000" cy="1143000"/>
            </a:xfrm>
            <a:prstGeom prst="roundRect">
              <a:avLst>
                <a:gd fmla="val 8333" name="adj"/>
              </a:avLst>
            </a:prstGeom>
            <a:solidFill>
              <a:srgbClr val="1B382B"/>
            </a:solidFill>
            <a:ln cap="flat" cmpd="sng" w="23825">
              <a:solidFill>
                <a:srgbClr val="94B62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2"/>
            <p:cNvSpPr txBox="1"/>
            <p:nvPr/>
          </p:nvSpPr>
          <p:spPr>
            <a:xfrm>
              <a:off x="5857875" y="142875"/>
              <a:ext cx="2381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94B621"/>
                  </a:solidFill>
                  <a:latin typeface="Material Icons"/>
                  <a:ea typeface="Material Icons"/>
                  <a:cs typeface="Material Icons"/>
                  <a:sym typeface="Material Icons"/>
                </a:rPr>
                <a:t>assignment</a:t>
              </a:r>
              <a:endParaRPr sz="2200">
                <a:solidFill>
                  <a:srgbClr val="94B621"/>
                </a:solidFill>
                <a:latin typeface="Material Icons"/>
                <a:ea typeface="Material Icons"/>
                <a:cs typeface="Material Icons"/>
                <a:sym typeface="Material Icons"/>
              </a:endParaRPr>
            </a:p>
            <a:p>
              <a:pPr indent="0" lvl="0" marL="0" rtl="0" algn="ctr">
                <a:spcBef>
                  <a:spcPts val="300"/>
                </a:spcBef>
                <a:spcAft>
                  <a:spcPts val="0"/>
                </a:spcAft>
                <a:buNone/>
              </a:pPr>
              <a:r>
                <a:rPr b="0" lang="en" sz="1200">
                  <a:solidFill>
                    <a:srgbClr val="FFFFFF"/>
                  </a:solidFill>
                  <a:latin typeface="Poppins ExtraBold"/>
                  <a:ea typeface="Poppins ExtraBold"/>
                  <a:cs typeface="Poppins ExtraBold"/>
                  <a:sym typeface="Poppins ExtraBold"/>
                </a:rPr>
                <a:t>Total expenditures from the Education Fund</a:t>
              </a:r>
              <a:endParaRPr b="0" sz="1200">
                <a:solidFill>
                  <a:srgbClr val="FFFFFF"/>
                </a:solidFill>
                <a:latin typeface="Poppins ExtraBold"/>
                <a:ea typeface="Poppins ExtraBold"/>
                <a:cs typeface="Poppins ExtraBold"/>
                <a:sym typeface="Poppins Extra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p23"/>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
        <p:nvSpPr>
          <p:cNvPr id="188" name="Google Shape;188;p23"/>
          <p:cNvSpPr txBox="1"/>
          <p:nvPr/>
        </p:nvSpPr>
        <p:spPr>
          <a:xfrm>
            <a:off x="381000" y="190500"/>
            <a:ext cx="8382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2200">
                <a:solidFill>
                  <a:srgbClr val="FFFFFF"/>
                </a:solidFill>
                <a:latin typeface="Poppins ExtraBold"/>
                <a:ea typeface="Poppins ExtraBold"/>
                <a:cs typeface="Poppins ExtraBold"/>
                <a:sym typeface="Poppins ExtraBold"/>
              </a:rPr>
              <a:t>FY27 Education Fund Revenue Sources</a:t>
            </a:r>
            <a:endParaRPr b="0" i="0" sz="2200">
              <a:solidFill>
                <a:srgbClr val="FFFFFF"/>
              </a:solidFill>
              <a:latin typeface="Poppins ExtraBold"/>
              <a:ea typeface="Poppins ExtraBold"/>
              <a:cs typeface="Poppins ExtraBold"/>
              <a:sym typeface="Poppins ExtraBold"/>
            </a:endParaRPr>
          </a:p>
          <a:p>
            <a:pPr indent="0" lvl="0" marL="0" rtl="0" algn="l">
              <a:spcBef>
                <a:spcPts val="200"/>
              </a:spcBef>
              <a:spcAft>
                <a:spcPts val="0"/>
              </a:spcAft>
              <a:buNone/>
            </a:pPr>
            <a:r>
              <a:rPr b="0" i="0" lang="en" sz="1300">
                <a:solidFill>
                  <a:srgbClr val="56BCC7"/>
                </a:solidFill>
                <a:latin typeface="Poppins SemiBold"/>
                <a:ea typeface="Poppins SemiBold"/>
                <a:cs typeface="Poppins SemiBold"/>
                <a:sym typeface="Poppins SemiBold"/>
              </a:rPr>
              <a:t>Total Revenue Available: $2.433 Billion</a:t>
            </a:r>
            <a:endParaRPr b="0" i="0" sz="1300">
              <a:solidFill>
                <a:srgbClr val="FFFFFF"/>
              </a:solidFill>
              <a:latin typeface="Poppins ExtraBold"/>
              <a:ea typeface="Poppins ExtraBold"/>
              <a:cs typeface="Poppins ExtraBold"/>
              <a:sym typeface="Poppins ExtraBold"/>
            </a:endParaRPr>
          </a:p>
        </p:txBody>
      </p:sp>
      <p:grpSp>
        <p:nvGrpSpPr>
          <p:cNvPr id="189" name="Google Shape;189;p23"/>
          <p:cNvGrpSpPr/>
          <p:nvPr/>
        </p:nvGrpSpPr>
        <p:grpSpPr>
          <a:xfrm>
            <a:off x="381000" y="904875"/>
            <a:ext cx="5238900" cy="1095300"/>
            <a:chOff x="0" y="0"/>
            <a:chExt cx="5238900" cy="1095300"/>
          </a:xfrm>
        </p:grpSpPr>
        <p:sp>
          <p:nvSpPr>
            <p:cNvPr id="190" name="Google Shape;190;p23"/>
            <p:cNvSpPr/>
            <p:nvPr/>
          </p:nvSpPr>
          <p:spPr>
            <a:xfrm>
              <a:off x="0" y="0"/>
              <a:ext cx="5238900" cy="1095300"/>
            </a:xfrm>
            <a:prstGeom prst="roundRect">
              <a:avLst>
                <a:gd fmla="val 8695"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3"/>
            <p:cNvSpPr/>
            <p:nvPr/>
          </p:nvSpPr>
          <p:spPr>
            <a:xfrm>
              <a:off x="0" y="0"/>
              <a:ext cx="57300" cy="1095300"/>
            </a:xfrm>
            <a:prstGeom prst="roundRect">
              <a:avLst>
                <a:gd fmla="val 50000" name="adj"/>
              </a:avLst>
            </a:prstGeom>
            <a:solidFill>
              <a:srgbClr val="56BC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23"/>
            <p:cNvSpPr txBox="1"/>
            <p:nvPr/>
          </p:nvSpPr>
          <p:spPr>
            <a:xfrm>
              <a:off x="238125" y="0"/>
              <a:ext cx="4857900" cy="10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56BCC7"/>
                  </a:solidFill>
                  <a:latin typeface="Poppins"/>
                  <a:ea typeface="Poppins"/>
                  <a:cs typeface="Poppins"/>
                  <a:sym typeface="Poppins"/>
                </a:rPr>
                <a:t>Non-Homestead Property Tax </a:t>
              </a:r>
              <a:r>
                <a:rPr b="0" lang="en" sz="1600">
                  <a:solidFill>
                    <a:srgbClr val="FFFFFF"/>
                  </a:solidFill>
                  <a:latin typeface="Poppins ExtraBold"/>
                  <a:ea typeface="Poppins ExtraBold"/>
                  <a:cs typeface="Poppins ExtraBold"/>
                  <a:sym typeface="Poppins ExtraBold"/>
                </a:rPr>
                <a:t>37.5% </a:t>
              </a:r>
              <a:r>
                <a:rPr b="0" lang="en" sz="1200">
                  <a:solidFill>
                    <a:srgbClr val="CBD5E1"/>
                  </a:solidFill>
                  <a:latin typeface="Poppins SemiBold"/>
                  <a:ea typeface="Poppins SemiBold"/>
                  <a:cs typeface="Poppins SemiBold"/>
                  <a:sym typeface="Poppins SemiBold"/>
                </a:rPr>
                <a:t>($941.8M)</a:t>
              </a:r>
              <a:endParaRPr>
                <a:latin typeface="Poppins"/>
                <a:ea typeface="Poppins"/>
                <a:cs typeface="Poppins"/>
                <a:sym typeface="Poppins"/>
              </a:endParaRPr>
            </a:p>
            <a:p>
              <a:pPr indent="0" lvl="0" marL="0" rtl="0" algn="l">
                <a:spcBef>
                  <a:spcPts val="450"/>
                </a:spcBef>
                <a:spcAft>
                  <a:spcPts val="0"/>
                </a:spcAft>
                <a:buNone/>
              </a:pPr>
              <a:r>
                <a:rPr b="0" lang="en" sz="1050">
                  <a:solidFill>
                    <a:srgbClr val="E2E8F0"/>
                  </a:solidFill>
                  <a:latin typeface="Poppins"/>
                  <a:ea typeface="Poppins"/>
                  <a:cs typeface="Poppins"/>
                  <a:sym typeface="Poppins"/>
                </a:rPr>
                <a:t>Education property tax paid on non-homestead property.</a:t>
              </a:r>
              <a:endParaRPr b="0" sz="1050">
                <a:solidFill>
                  <a:srgbClr val="E2E8F0"/>
                </a:solidFill>
                <a:latin typeface="Poppins"/>
                <a:ea typeface="Poppins"/>
                <a:cs typeface="Poppins"/>
                <a:sym typeface="Poppins"/>
              </a:endParaRPr>
            </a:p>
          </p:txBody>
        </p:sp>
      </p:grpSp>
      <p:grpSp>
        <p:nvGrpSpPr>
          <p:cNvPr id="193" name="Google Shape;193;p23"/>
          <p:cNvGrpSpPr/>
          <p:nvPr/>
        </p:nvGrpSpPr>
        <p:grpSpPr>
          <a:xfrm>
            <a:off x="381000" y="2114550"/>
            <a:ext cx="5238900" cy="1238400"/>
            <a:chOff x="0" y="0"/>
            <a:chExt cx="5238900" cy="1238400"/>
          </a:xfrm>
        </p:grpSpPr>
        <p:sp>
          <p:nvSpPr>
            <p:cNvPr id="194" name="Google Shape;194;p23"/>
            <p:cNvSpPr/>
            <p:nvPr/>
          </p:nvSpPr>
          <p:spPr>
            <a:xfrm>
              <a:off x="0" y="0"/>
              <a:ext cx="5238900" cy="1238400"/>
            </a:xfrm>
            <a:prstGeom prst="roundRect">
              <a:avLst>
                <a:gd fmla="val 7692"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3"/>
            <p:cNvSpPr/>
            <p:nvPr/>
          </p:nvSpPr>
          <p:spPr>
            <a:xfrm>
              <a:off x="0" y="0"/>
              <a:ext cx="57300" cy="1238400"/>
            </a:xfrm>
            <a:prstGeom prst="roundRect">
              <a:avLst>
                <a:gd fmla="val 50000"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23"/>
            <p:cNvSpPr txBox="1"/>
            <p:nvPr/>
          </p:nvSpPr>
          <p:spPr>
            <a:xfrm>
              <a:off x="238125" y="0"/>
              <a:ext cx="48579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FFAB40"/>
                  </a:solidFill>
                  <a:latin typeface="Poppins"/>
                  <a:ea typeface="Poppins"/>
                  <a:cs typeface="Poppins"/>
                  <a:sym typeface="Poppins"/>
                </a:rPr>
                <a:t>Homestead Property Tax</a:t>
              </a:r>
              <a:r>
                <a:rPr b="0" lang="en" sz="1600">
                  <a:solidFill>
                    <a:srgbClr val="FFFFFF"/>
                  </a:solidFill>
                  <a:latin typeface="Poppins ExtraBold"/>
                  <a:ea typeface="Poppins ExtraBold"/>
                  <a:cs typeface="Poppins ExtraBold"/>
                  <a:sym typeface="Poppins ExtraBold"/>
                </a:rPr>
                <a:t>26.1% </a:t>
              </a:r>
              <a:r>
                <a:rPr b="0" lang="en" sz="1200">
                  <a:solidFill>
                    <a:srgbClr val="CBD5E1"/>
                  </a:solidFill>
                  <a:latin typeface="Poppins SemiBold"/>
                  <a:ea typeface="Poppins SemiBold"/>
                  <a:cs typeface="Poppins SemiBold"/>
                  <a:sym typeface="Poppins SemiBold"/>
                </a:rPr>
                <a:t>($655.2M)</a:t>
              </a:r>
              <a:endParaRPr>
                <a:latin typeface="Poppins"/>
                <a:ea typeface="Poppins"/>
                <a:cs typeface="Poppins"/>
                <a:sym typeface="Poppins"/>
              </a:endParaRPr>
            </a:p>
            <a:p>
              <a:pPr indent="0" lvl="0" marL="0" rtl="0" algn="l">
                <a:spcBef>
                  <a:spcPts val="450"/>
                </a:spcBef>
                <a:spcAft>
                  <a:spcPts val="0"/>
                </a:spcAft>
                <a:buNone/>
              </a:pPr>
              <a:r>
                <a:rPr b="0" lang="en" sz="1000">
                  <a:solidFill>
                    <a:srgbClr val="E2E8F0"/>
                  </a:solidFill>
                  <a:latin typeface="Poppins"/>
                  <a:ea typeface="Poppins"/>
                  <a:cs typeface="Poppins"/>
                  <a:sym typeface="Poppins"/>
                </a:rPr>
                <a:t>Education property tax paid on homestead property. FY27 gross homestead education property tax revenue is $789.4M, with a $134.2M property-tax credit reflected in the Education Fund calculation.</a:t>
              </a:r>
              <a:endParaRPr b="0" sz="1000">
                <a:solidFill>
                  <a:srgbClr val="E2E8F0"/>
                </a:solidFill>
                <a:latin typeface="Poppins"/>
                <a:ea typeface="Poppins"/>
                <a:cs typeface="Poppins"/>
                <a:sym typeface="Poppins"/>
              </a:endParaRPr>
            </a:p>
          </p:txBody>
        </p:sp>
      </p:grpSp>
      <p:grpSp>
        <p:nvGrpSpPr>
          <p:cNvPr id="197" name="Google Shape;197;p23"/>
          <p:cNvGrpSpPr/>
          <p:nvPr/>
        </p:nvGrpSpPr>
        <p:grpSpPr>
          <a:xfrm>
            <a:off x="381000" y="3467100"/>
            <a:ext cx="5238900" cy="1095300"/>
            <a:chOff x="0" y="0"/>
            <a:chExt cx="5238900" cy="1095300"/>
          </a:xfrm>
        </p:grpSpPr>
        <p:sp>
          <p:nvSpPr>
            <p:cNvPr id="198" name="Google Shape;198;p23"/>
            <p:cNvSpPr/>
            <p:nvPr/>
          </p:nvSpPr>
          <p:spPr>
            <a:xfrm>
              <a:off x="0" y="0"/>
              <a:ext cx="5238900" cy="1095300"/>
            </a:xfrm>
            <a:prstGeom prst="roundRect">
              <a:avLst>
                <a:gd fmla="val 8695"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3"/>
            <p:cNvSpPr/>
            <p:nvPr/>
          </p:nvSpPr>
          <p:spPr>
            <a:xfrm>
              <a:off x="0" y="0"/>
              <a:ext cx="57300" cy="1095300"/>
            </a:xfrm>
            <a:prstGeom prst="roundRect">
              <a:avLst>
                <a:gd fmla="val 50000" name="adj"/>
              </a:avLst>
            </a:prstGeom>
            <a:solidFill>
              <a:srgbClr val="4ADE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3"/>
            <p:cNvSpPr txBox="1"/>
            <p:nvPr/>
          </p:nvSpPr>
          <p:spPr>
            <a:xfrm>
              <a:off x="238125" y="0"/>
              <a:ext cx="4857900" cy="10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4ADE80"/>
                  </a:solidFill>
                  <a:latin typeface="Poppins"/>
                  <a:ea typeface="Poppins"/>
                  <a:cs typeface="Poppins"/>
                  <a:sym typeface="Poppins"/>
                </a:rPr>
                <a:t>Sales &amp; Use Tax</a:t>
              </a:r>
              <a:r>
                <a:rPr b="0" lang="en" sz="1600">
                  <a:solidFill>
                    <a:srgbClr val="FFFFFF"/>
                  </a:solidFill>
                  <a:latin typeface="Poppins ExtraBold"/>
                  <a:ea typeface="Poppins ExtraBold"/>
                  <a:cs typeface="Poppins ExtraBold"/>
                  <a:sym typeface="Poppins ExtraBold"/>
                </a:rPr>
                <a:t>25.5% </a:t>
              </a:r>
              <a:r>
                <a:rPr b="0" lang="en" sz="1200">
                  <a:solidFill>
                    <a:srgbClr val="CBD5E1"/>
                  </a:solidFill>
                  <a:latin typeface="Poppins SemiBold"/>
                  <a:ea typeface="Poppins SemiBold"/>
                  <a:cs typeface="Poppins SemiBold"/>
                  <a:sym typeface="Poppins SemiBold"/>
                </a:rPr>
                <a:t>($640.9M)</a:t>
              </a:r>
              <a:endParaRPr>
                <a:latin typeface="Poppins"/>
                <a:ea typeface="Poppins"/>
                <a:cs typeface="Poppins"/>
                <a:sym typeface="Poppins"/>
              </a:endParaRPr>
            </a:p>
            <a:p>
              <a:pPr indent="0" lvl="0" marL="0" rtl="0" algn="l">
                <a:spcBef>
                  <a:spcPts val="450"/>
                </a:spcBef>
                <a:spcAft>
                  <a:spcPts val="0"/>
                </a:spcAft>
                <a:buNone/>
              </a:pPr>
              <a:r>
                <a:rPr b="0" lang="en" sz="1050">
                  <a:solidFill>
                    <a:srgbClr val="E2E8F0"/>
                  </a:solidFill>
                  <a:latin typeface="Poppins"/>
                  <a:ea typeface="Poppins"/>
                  <a:cs typeface="Poppins"/>
                  <a:sym typeface="Poppins"/>
                </a:rPr>
                <a:t>All sales and use tax revenue is deposited into the Education Fund.</a:t>
              </a:r>
              <a:endParaRPr b="0" sz="1050">
                <a:solidFill>
                  <a:srgbClr val="E2E8F0"/>
                </a:solidFill>
                <a:latin typeface="Poppins"/>
                <a:ea typeface="Poppins"/>
                <a:cs typeface="Poppins"/>
                <a:sym typeface="Poppins"/>
              </a:endParaRPr>
            </a:p>
          </p:txBody>
        </p:sp>
      </p:grpSp>
      <p:grpSp>
        <p:nvGrpSpPr>
          <p:cNvPr id="201" name="Google Shape;201;p23"/>
          <p:cNvGrpSpPr/>
          <p:nvPr/>
        </p:nvGrpSpPr>
        <p:grpSpPr>
          <a:xfrm>
            <a:off x="5810250" y="904875"/>
            <a:ext cx="2952900" cy="3657600"/>
            <a:chOff x="0" y="0"/>
            <a:chExt cx="2952900" cy="3657600"/>
          </a:xfrm>
        </p:grpSpPr>
        <p:sp>
          <p:nvSpPr>
            <p:cNvPr id="202" name="Google Shape;202;p23"/>
            <p:cNvSpPr/>
            <p:nvPr/>
          </p:nvSpPr>
          <p:spPr>
            <a:xfrm>
              <a:off x="0" y="0"/>
              <a:ext cx="2952900" cy="3657600"/>
            </a:xfrm>
            <a:prstGeom prst="roundRect">
              <a:avLst>
                <a:gd fmla="val 3225"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3"/>
            <p:cNvSpPr txBox="1"/>
            <p:nvPr/>
          </p:nvSpPr>
          <p:spPr>
            <a:xfrm>
              <a:off x="190500" y="142875"/>
              <a:ext cx="2571900" cy="337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94B621"/>
                  </a:solidFill>
                  <a:latin typeface="Poppins"/>
                  <a:ea typeface="Poppins"/>
                  <a:cs typeface="Poppins"/>
                  <a:sym typeface="Poppins"/>
                </a:rPr>
                <a:t>Other Revenue Sources</a:t>
              </a:r>
              <a:endParaRPr b="1" sz="1300">
                <a:solidFill>
                  <a:srgbClr val="94B621"/>
                </a:solidFill>
                <a:latin typeface="Poppins"/>
                <a:ea typeface="Poppins"/>
                <a:cs typeface="Poppins"/>
                <a:sym typeface="Poppins"/>
              </a:endParaRPr>
            </a:p>
            <a:p>
              <a:pPr indent="0" lvl="0" marL="0" rtl="0" algn="l">
                <a:spcBef>
                  <a:spcPts val="900"/>
                </a:spcBef>
                <a:spcAft>
                  <a:spcPts val="0"/>
                </a:spcAft>
                <a:buNone/>
              </a:pPr>
              <a:r>
                <a:rPr b="1" lang="en" sz="1050">
                  <a:solidFill>
                    <a:srgbClr val="FFFFFF"/>
                  </a:solidFill>
                  <a:latin typeface="Poppins"/>
                  <a:ea typeface="Poppins"/>
                  <a:cs typeface="Poppins"/>
                  <a:sym typeface="Poppins"/>
                </a:rPr>
                <a:t>One-Time GF Transfer </a:t>
              </a:r>
              <a:r>
                <a:rPr b="1" lang="en" sz="1050">
                  <a:solidFill>
                    <a:srgbClr val="56BCC7"/>
                  </a:solidFill>
                  <a:latin typeface="Poppins"/>
                  <a:ea typeface="Poppins"/>
                  <a:cs typeface="Poppins"/>
                  <a:sym typeface="Poppins"/>
                </a:rPr>
                <a:t>— 4.0%</a:t>
              </a:r>
              <a:endParaRPr b="1" sz="1050">
                <a:solidFill>
                  <a:srgbClr val="FFFFFF"/>
                </a:solidFill>
                <a:latin typeface="Poppins"/>
                <a:ea typeface="Poppins"/>
                <a:cs typeface="Poppins"/>
                <a:sym typeface="Poppins"/>
              </a:endParaRPr>
            </a:p>
            <a:p>
              <a:pPr indent="0" lvl="0" marL="0" rtl="0" algn="l">
                <a:spcBef>
                  <a:spcPts val="150"/>
                </a:spcBef>
                <a:spcAft>
                  <a:spcPts val="0"/>
                </a:spcAft>
                <a:buNone/>
              </a:pPr>
              <a:r>
                <a:rPr lang="en" sz="900">
                  <a:solidFill>
                    <a:srgbClr val="CBD5E1"/>
                  </a:solidFill>
                  <a:latin typeface="Poppins"/>
                  <a:ea typeface="Poppins"/>
                  <a:cs typeface="Poppins"/>
                  <a:sym typeface="Poppins"/>
                </a:rPr>
                <a:t>$100.9M | One-time General Fund transfer for FY27.</a:t>
              </a:r>
              <a:endParaRPr sz="900">
                <a:solidFill>
                  <a:srgbClr val="CBD5E1"/>
                </a:solidFill>
                <a:latin typeface="Poppins"/>
                <a:ea typeface="Poppins"/>
                <a:cs typeface="Poppins"/>
                <a:sym typeface="Poppins"/>
              </a:endParaRPr>
            </a:p>
            <a:p>
              <a:pPr indent="0" lvl="0" marL="0" rtl="0" algn="l">
                <a:spcBef>
                  <a:spcPts val="750"/>
                </a:spcBef>
                <a:spcAft>
                  <a:spcPts val="0"/>
                </a:spcAft>
                <a:buNone/>
              </a:pPr>
              <a:r>
                <a:rPr b="1" lang="en" sz="1050">
                  <a:solidFill>
                    <a:srgbClr val="FFFFFF"/>
                  </a:solidFill>
                  <a:latin typeface="Poppins"/>
                  <a:ea typeface="Poppins"/>
                  <a:cs typeface="Poppins"/>
                  <a:sym typeface="Poppins"/>
                </a:rPr>
                <a:t>Meals &amp; Rooms Tax </a:t>
              </a:r>
              <a:r>
                <a:rPr b="1" lang="en" sz="1050">
                  <a:solidFill>
                    <a:srgbClr val="56BCC7"/>
                  </a:solidFill>
                  <a:latin typeface="Poppins"/>
                  <a:ea typeface="Poppins"/>
                  <a:cs typeface="Poppins"/>
                  <a:sym typeface="Poppins"/>
                </a:rPr>
                <a:t>— 3.4%</a:t>
              </a:r>
              <a:endParaRPr b="1" sz="1050">
                <a:solidFill>
                  <a:srgbClr val="FFFFFF"/>
                </a:solidFill>
                <a:latin typeface="Poppins"/>
                <a:ea typeface="Poppins"/>
                <a:cs typeface="Poppins"/>
                <a:sym typeface="Poppins"/>
              </a:endParaRPr>
            </a:p>
            <a:p>
              <a:pPr indent="0" lvl="0" marL="0" rtl="0" algn="l">
                <a:spcBef>
                  <a:spcPts val="150"/>
                </a:spcBef>
                <a:spcAft>
                  <a:spcPts val="0"/>
                </a:spcAft>
                <a:buNone/>
              </a:pPr>
              <a:r>
                <a:rPr lang="en" sz="900">
                  <a:solidFill>
                    <a:srgbClr val="CBD5E1"/>
                  </a:solidFill>
                  <a:latin typeface="Poppins"/>
                  <a:ea typeface="Poppins"/>
                  <a:cs typeface="Poppins"/>
                  <a:sym typeface="Poppins"/>
                </a:rPr>
                <a:t>$86.0M | Over one-quarter of revenue deposited under FY27 changes.</a:t>
              </a:r>
              <a:endParaRPr sz="900">
                <a:solidFill>
                  <a:srgbClr val="CBD5E1"/>
                </a:solidFill>
                <a:latin typeface="Poppins"/>
                <a:ea typeface="Poppins"/>
                <a:cs typeface="Poppins"/>
                <a:sym typeface="Poppins"/>
              </a:endParaRPr>
            </a:p>
            <a:p>
              <a:pPr indent="0" lvl="0" marL="0" rtl="0" algn="l">
                <a:spcBef>
                  <a:spcPts val="750"/>
                </a:spcBef>
                <a:spcAft>
                  <a:spcPts val="0"/>
                </a:spcAft>
                <a:buNone/>
              </a:pPr>
              <a:r>
                <a:rPr b="1" lang="en" sz="1050">
                  <a:solidFill>
                    <a:srgbClr val="FFFFFF"/>
                  </a:solidFill>
                  <a:latin typeface="Poppins"/>
                  <a:ea typeface="Poppins"/>
                  <a:cs typeface="Poppins"/>
                  <a:sym typeface="Poppins"/>
                </a:rPr>
                <a:t>Purchase &amp; Use Tax </a:t>
              </a:r>
              <a:r>
                <a:rPr b="1" lang="en" sz="1050">
                  <a:solidFill>
                    <a:srgbClr val="56BCC7"/>
                  </a:solidFill>
                  <a:latin typeface="Poppins"/>
                  <a:ea typeface="Poppins"/>
                  <a:cs typeface="Poppins"/>
                  <a:sym typeface="Poppins"/>
                </a:rPr>
                <a:t>— 1.7%</a:t>
              </a:r>
              <a:endParaRPr b="1" sz="1050">
                <a:solidFill>
                  <a:srgbClr val="FFFFFF"/>
                </a:solidFill>
                <a:latin typeface="Poppins"/>
                <a:ea typeface="Poppins"/>
                <a:cs typeface="Poppins"/>
                <a:sym typeface="Poppins"/>
              </a:endParaRPr>
            </a:p>
            <a:p>
              <a:pPr indent="0" lvl="0" marL="0" rtl="0" algn="l">
                <a:spcBef>
                  <a:spcPts val="150"/>
                </a:spcBef>
                <a:spcAft>
                  <a:spcPts val="0"/>
                </a:spcAft>
                <a:buNone/>
              </a:pPr>
              <a:r>
                <a:rPr lang="en" sz="900">
                  <a:solidFill>
                    <a:srgbClr val="CBD5E1"/>
                  </a:solidFill>
                  <a:latin typeface="Poppins"/>
                  <a:ea typeface="Poppins"/>
                  <a:cs typeface="Poppins"/>
                  <a:sym typeface="Poppins"/>
                </a:rPr>
                <a:t>$41.9M | Less than one-third of revenue deposited under FY27 changes.</a:t>
              </a:r>
              <a:endParaRPr sz="900">
                <a:solidFill>
                  <a:srgbClr val="CBD5E1"/>
                </a:solidFill>
                <a:latin typeface="Poppins"/>
                <a:ea typeface="Poppins"/>
                <a:cs typeface="Poppins"/>
                <a:sym typeface="Poppins"/>
              </a:endParaRPr>
            </a:p>
            <a:p>
              <a:pPr indent="0" lvl="0" marL="0" rtl="0" algn="l">
                <a:spcBef>
                  <a:spcPts val="750"/>
                </a:spcBef>
                <a:spcAft>
                  <a:spcPts val="0"/>
                </a:spcAft>
                <a:buNone/>
              </a:pPr>
              <a:r>
                <a:rPr b="1" lang="en" sz="1050">
                  <a:solidFill>
                    <a:srgbClr val="FFFFFF"/>
                  </a:solidFill>
                  <a:latin typeface="Poppins"/>
                  <a:ea typeface="Poppins"/>
                  <a:cs typeface="Poppins"/>
                  <a:sym typeface="Poppins"/>
                </a:rPr>
                <a:t>Lottery </a:t>
              </a:r>
              <a:r>
                <a:rPr b="1" lang="en" sz="1050">
                  <a:solidFill>
                    <a:srgbClr val="56BCC7"/>
                  </a:solidFill>
                  <a:latin typeface="Poppins"/>
                  <a:ea typeface="Poppins"/>
                  <a:cs typeface="Poppins"/>
                  <a:sym typeface="Poppins"/>
                </a:rPr>
                <a:t>— 1.3%</a:t>
              </a:r>
              <a:endParaRPr b="1" sz="1050">
                <a:solidFill>
                  <a:srgbClr val="FFFFFF"/>
                </a:solidFill>
                <a:latin typeface="Poppins"/>
                <a:ea typeface="Poppins"/>
                <a:cs typeface="Poppins"/>
                <a:sym typeface="Poppins"/>
              </a:endParaRPr>
            </a:p>
            <a:p>
              <a:pPr indent="0" lvl="0" marL="0" rtl="0" algn="l">
                <a:spcBef>
                  <a:spcPts val="150"/>
                </a:spcBef>
                <a:spcAft>
                  <a:spcPts val="0"/>
                </a:spcAft>
                <a:buNone/>
              </a:pPr>
              <a:r>
                <a:rPr lang="en" sz="900">
                  <a:solidFill>
                    <a:srgbClr val="CBD5E1"/>
                  </a:solidFill>
                  <a:latin typeface="Poppins"/>
                  <a:ea typeface="Poppins"/>
                  <a:cs typeface="Poppins"/>
                  <a:sym typeface="Poppins"/>
                </a:rPr>
                <a:t>$33.4M | Lottery revenue transferred to Education Fund.</a:t>
              </a:r>
              <a:endParaRPr sz="900">
                <a:solidFill>
                  <a:srgbClr val="CBD5E1"/>
                </a:solidFill>
                <a:latin typeface="Poppins"/>
                <a:ea typeface="Poppins"/>
                <a:cs typeface="Poppins"/>
                <a:sym typeface="Poppins"/>
              </a:endParaRPr>
            </a:p>
            <a:p>
              <a:pPr indent="0" lvl="0" marL="0" rtl="0" algn="l">
                <a:spcBef>
                  <a:spcPts val="750"/>
                </a:spcBef>
                <a:spcAft>
                  <a:spcPts val="0"/>
                </a:spcAft>
                <a:buNone/>
              </a:pPr>
              <a:r>
                <a:rPr b="1" lang="en" sz="1050">
                  <a:solidFill>
                    <a:srgbClr val="FFFFFF"/>
                  </a:solidFill>
                  <a:latin typeface="Poppins"/>
                  <a:ea typeface="Poppins"/>
                  <a:cs typeface="Poppins"/>
                  <a:sym typeface="Poppins"/>
                </a:rPr>
                <a:t>Medicaid &amp; Other </a:t>
              </a:r>
              <a:r>
                <a:rPr b="1" lang="en" sz="1050">
                  <a:solidFill>
                    <a:srgbClr val="56BCC7"/>
                  </a:solidFill>
                  <a:latin typeface="Poppins"/>
                  <a:ea typeface="Poppins"/>
                  <a:cs typeface="Poppins"/>
                  <a:sym typeface="Poppins"/>
                </a:rPr>
                <a:t>— 0.6%</a:t>
              </a:r>
              <a:endParaRPr b="1" sz="1050">
                <a:solidFill>
                  <a:srgbClr val="FFFFFF"/>
                </a:solidFill>
                <a:latin typeface="Poppins"/>
                <a:ea typeface="Poppins"/>
                <a:cs typeface="Poppins"/>
                <a:sym typeface="Poppins"/>
              </a:endParaRPr>
            </a:p>
            <a:p>
              <a:pPr indent="0" lvl="0" marL="0" rtl="0" algn="l">
                <a:spcBef>
                  <a:spcPts val="150"/>
                </a:spcBef>
                <a:spcAft>
                  <a:spcPts val="0"/>
                </a:spcAft>
                <a:buNone/>
              </a:pPr>
              <a:r>
                <a:rPr lang="en" sz="900">
                  <a:solidFill>
                    <a:srgbClr val="CBD5E1"/>
                  </a:solidFill>
                  <a:latin typeface="Poppins"/>
                  <a:ea typeface="Poppins"/>
                  <a:cs typeface="Poppins"/>
                  <a:sym typeface="Poppins"/>
                </a:rPr>
                <a:t>$13.8M combined | Medicaid ($9.5M), wind/solar &amp; interest ($4.3M).</a:t>
              </a:r>
              <a:endParaRPr sz="900">
                <a:solidFill>
                  <a:srgbClr val="CBD5E1"/>
                </a:solidFill>
                <a:latin typeface="Poppins"/>
                <a:ea typeface="Poppins"/>
                <a:cs typeface="Poppins"/>
                <a:sym typeface="Poppins"/>
              </a:endParaRPr>
            </a:p>
          </p:txBody>
        </p:sp>
      </p:gr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sp>
        <p:nvSpPr>
          <p:cNvPr id="208" name="Google Shape;208;p24"/>
          <p:cNvSpPr txBox="1"/>
          <p:nvPr/>
        </p:nvSpPr>
        <p:spPr>
          <a:xfrm>
            <a:off x="381000" y="26670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FFFFFF"/>
                </a:solidFill>
                <a:latin typeface="Poppins ExtraBold"/>
                <a:ea typeface="Poppins ExtraBold"/>
                <a:cs typeface="Poppins ExtraBold"/>
                <a:sym typeface="Poppins ExtraBold"/>
              </a:rPr>
              <a:t>Education Finance Timeline</a:t>
            </a:r>
            <a:endParaRPr b="0" sz="2200">
              <a:solidFill>
                <a:srgbClr val="FFFFFF"/>
              </a:solidFill>
              <a:latin typeface="Poppins ExtraBold"/>
              <a:ea typeface="Poppins ExtraBold"/>
              <a:cs typeface="Poppins ExtraBold"/>
              <a:sym typeface="Poppins ExtraBold"/>
            </a:endParaRPr>
          </a:p>
        </p:txBody>
      </p:sp>
      <p:grpSp>
        <p:nvGrpSpPr>
          <p:cNvPr id="209" name="Google Shape;209;p24"/>
          <p:cNvGrpSpPr/>
          <p:nvPr/>
        </p:nvGrpSpPr>
        <p:grpSpPr>
          <a:xfrm>
            <a:off x="323850" y="1000125"/>
            <a:ext cx="8496300" cy="3686325"/>
            <a:chOff x="323850" y="1000125"/>
            <a:chExt cx="8496300" cy="3686325"/>
          </a:xfrm>
        </p:grpSpPr>
        <p:pic>
          <p:nvPicPr>
            <p:cNvPr id="210" name="Google Shape;210;p24"/>
            <p:cNvPicPr preferRelativeResize="0"/>
            <p:nvPr/>
          </p:nvPicPr>
          <p:blipFill rotWithShape="1">
            <a:blip r:embed="rId4">
              <a:alphaModFix/>
            </a:blip>
            <a:srcRect b="0" l="0" r="0" t="0"/>
            <a:stretch/>
          </p:blipFill>
          <p:spPr>
            <a:xfrm>
              <a:off x="323850" y="1895475"/>
              <a:ext cx="8496300" cy="971700"/>
            </a:xfrm>
            <a:prstGeom prst="rect">
              <a:avLst/>
            </a:prstGeom>
            <a:noFill/>
            <a:ln>
              <a:noFill/>
            </a:ln>
          </p:spPr>
        </p:pic>
        <p:grpSp>
          <p:nvGrpSpPr>
            <p:cNvPr id="211" name="Google Shape;211;p24"/>
            <p:cNvGrpSpPr/>
            <p:nvPr/>
          </p:nvGrpSpPr>
          <p:grpSpPr>
            <a:xfrm>
              <a:off x="381000" y="1000125"/>
              <a:ext cx="1962300" cy="1733700"/>
              <a:chOff x="0" y="0"/>
              <a:chExt cx="1962300" cy="1733700"/>
            </a:xfrm>
          </p:grpSpPr>
          <p:sp>
            <p:nvSpPr>
              <p:cNvPr id="212" name="Google Shape;212;p24"/>
              <p:cNvSpPr/>
              <p:nvPr/>
            </p:nvSpPr>
            <p:spPr>
              <a:xfrm>
                <a:off x="0" y="0"/>
                <a:ext cx="1962300" cy="1733700"/>
              </a:xfrm>
              <a:prstGeom prst="roundRect">
                <a:avLst>
                  <a:gd fmla="val 6593" name="adj"/>
                </a:avLst>
              </a:prstGeom>
              <a:solidFill>
                <a:srgbClr val="131E36"/>
              </a:solidFill>
              <a:ln cap="flat" cmpd="sng" w="14300">
                <a:solidFill>
                  <a:srgbClr val="56BC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4"/>
              <p:cNvSpPr/>
              <p:nvPr/>
            </p:nvSpPr>
            <p:spPr>
              <a:xfrm>
                <a:off x="0" y="0"/>
                <a:ext cx="1962300" cy="57300"/>
              </a:xfrm>
              <a:prstGeom prst="roundRect">
                <a:avLst>
                  <a:gd fmla="val 50000" name="adj"/>
                </a:avLst>
              </a:prstGeom>
              <a:solidFill>
                <a:srgbClr val="56BC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4"/>
              <p:cNvSpPr/>
              <p:nvPr/>
            </p:nvSpPr>
            <p:spPr>
              <a:xfrm>
                <a:off x="152400" y="171450"/>
                <a:ext cx="304800" cy="228600"/>
              </a:xfrm>
              <a:prstGeom prst="roundRect">
                <a:avLst>
                  <a:gd fmla="val 25000" name="adj"/>
                </a:avLst>
              </a:prstGeom>
              <a:solidFill>
                <a:srgbClr val="56BC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56BCC7"/>
                    </a:solidFill>
                    <a:latin typeface="Poppins ExtraBold"/>
                    <a:ea typeface="Poppins ExtraBold"/>
                    <a:cs typeface="Poppins ExtraBold"/>
                    <a:sym typeface="Poppins ExtraBold"/>
                  </a:rPr>
                  <a:t>01</a:t>
                </a:r>
                <a:endParaRPr b="0" sz="1000">
                  <a:solidFill>
                    <a:srgbClr val="56BCC7"/>
                  </a:solidFill>
                  <a:latin typeface="Poppins ExtraBold"/>
                  <a:ea typeface="Poppins ExtraBold"/>
                  <a:cs typeface="Poppins ExtraBold"/>
                  <a:sym typeface="Poppins ExtraBold"/>
                </a:endParaRPr>
              </a:p>
            </p:txBody>
          </p:sp>
          <p:sp>
            <p:nvSpPr>
              <p:cNvPr id="216" name="Google Shape;216;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800">
                    <a:solidFill>
                      <a:srgbClr val="56BCC7"/>
                    </a:solidFill>
                    <a:latin typeface="Poppins"/>
                    <a:ea typeface="Poppins"/>
                    <a:cs typeface="Poppins"/>
                    <a:sym typeface="Poppins"/>
                  </a:rPr>
                  <a:t>PHASE 1</a:t>
                </a:r>
                <a:endParaRPr b="1" sz="800">
                  <a:solidFill>
                    <a:srgbClr val="56BCC7"/>
                  </a:solidFill>
                  <a:latin typeface="Poppins"/>
                  <a:ea typeface="Poppins"/>
                  <a:cs typeface="Poppins"/>
                  <a:sym typeface="Poppins"/>
                </a:endParaRPr>
              </a:p>
            </p:txBody>
          </p:sp>
          <p:sp>
            <p:nvSpPr>
              <p:cNvPr id="217" name="Google Shape;217;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Budget Prep</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School boards begin preparing school district budgets.</a:t>
                </a:r>
                <a:endParaRPr b="0" sz="850">
                  <a:solidFill>
                    <a:srgbClr val="94A3B8"/>
                  </a:solidFill>
                  <a:latin typeface="Poppins"/>
                  <a:ea typeface="Poppins"/>
                  <a:cs typeface="Poppins"/>
                  <a:sym typeface="Poppins"/>
                </a:endParaRPr>
              </a:p>
            </p:txBody>
          </p:sp>
        </p:grpSp>
        <p:grpSp>
          <p:nvGrpSpPr>
            <p:cNvPr id="218" name="Google Shape;218;p24"/>
            <p:cNvGrpSpPr/>
            <p:nvPr/>
          </p:nvGrpSpPr>
          <p:grpSpPr>
            <a:xfrm>
              <a:off x="2495550" y="1000125"/>
              <a:ext cx="1962300" cy="1733700"/>
              <a:chOff x="0" y="0"/>
              <a:chExt cx="1962300" cy="1733700"/>
            </a:xfrm>
          </p:grpSpPr>
          <p:sp>
            <p:nvSpPr>
              <p:cNvPr id="219" name="Google Shape;219;p24"/>
              <p:cNvSpPr/>
              <p:nvPr/>
            </p:nvSpPr>
            <p:spPr>
              <a:xfrm>
                <a:off x="0" y="0"/>
                <a:ext cx="1962300" cy="1733700"/>
              </a:xfrm>
              <a:prstGeom prst="roundRect">
                <a:avLst>
                  <a:gd fmla="val 6593" name="adj"/>
                </a:avLst>
              </a:prstGeom>
              <a:solidFill>
                <a:srgbClr val="131E36"/>
              </a:solidFill>
              <a:ln cap="flat" cmpd="sng" w="14300">
                <a:solidFill>
                  <a:srgbClr val="FFAB4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4"/>
              <p:cNvSpPr/>
              <p:nvPr/>
            </p:nvSpPr>
            <p:spPr>
              <a:xfrm>
                <a:off x="0" y="0"/>
                <a:ext cx="1962300" cy="57300"/>
              </a:xfrm>
              <a:prstGeom prst="roundRect">
                <a:avLst>
                  <a:gd fmla="val 50000"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4"/>
              <p:cNvSpPr/>
              <p:nvPr/>
            </p:nvSpPr>
            <p:spPr>
              <a:xfrm>
                <a:off x="152400" y="171450"/>
                <a:ext cx="304800" cy="228600"/>
              </a:xfrm>
              <a:prstGeom prst="roundRect">
                <a:avLst>
                  <a:gd fmla="val 25000" name="adj"/>
                </a:avLst>
              </a:prstGeom>
              <a:solidFill>
                <a:srgbClr val="FFAB4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AB40"/>
                    </a:solidFill>
                    <a:latin typeface="Poppins ExtraBold"/>
                    <a:ea typeface="Poppins ExtraBold"/>
                    <a:cs typeface="Poppins ExtraBold"/>
                    <a:sym typeface="Poppins ExtraBold"/>
                  </a:rPr>
                  <a:t>02</a:t>
                </a:r>
                <a:endParaRPr b="0" sz="1000">
                  <a:solidFill>
                    <a:srgbClr val="FFAB40"/>
                  </a:solidFill>
                  <a:latin typeface="Poppins ExtraBold"/>
                  <a:ea typeface="Poppins ExtraBold"/>
                  <a:cs typeface="Poppins ExtraBold"/>
                  <a:sym typeface="Poppins ExtraBold"/>
                </a:endParaRPr>
              </a:p>
            </p:txBody>
          </p:sp>
          <p:sp>
            <p:nvSpPr>
              <p:cNvPr id="223" name="Google Shape;223;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800">
                    <a:solidFill>
                      <a:srgbClr val="FFAB40"/>
                    </a:solidFill>
                    <a:latin typeface="Poppins"/>
                    <a:ea typeface="Poppins"/>
                    <a:cs typeface="Poppins"/>
                    <a:sym typeface="Poppins"/>
                  </a:rPr>
                  <a:t>DECEMBER 1</a:t>
                </a:r>
                <a:endParaRPr b="1" sz="800">
                  <a:solidFill>
                    <a:srgbClr val="FFAB40"/>
                  </a:solidFill>
                  <a:latin typeface="Poppins"/>
                  <a:ea typeface="Poppins"/>
                  <a:cs typeface="Poppins"/>
                  <a:sym typeface="Poppins"/>
                </a:endParaRPr>
              </a:p>
            </p:txBody>
          </p:sp>
          <p:sp>
            <p:nvSpPr>
              <p:cNvPr id="224" name="Google Shape;224;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December 1 Letter</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Commissioner of Taxes publishes forecasting rates for the next fiscal year.</a:t>
                </a:r>
                <a:endParaRPr b="0" sz="850">
                  <a:solidFill>
                    <a:srgbClr val="94A3B8"/>
                  </a:solidFill>
                  <a:latin typeface="Poppins"/>
                  <a:ea typeface="Poppins"/>
                  <a:cs typeface="Poppins"/>
                  <a:sym typeface="Poppins"/>
                </a:endParaRPr>
              </a:p>
            </p:txBody>
          </p:sp>
        </p:grpSp>
        <p:grpSp>
          <p:nvGrpSpPr>
            <p:cNvPr id="225" name="Google Shape;225;p24"/>
            <p:cNvGrpSpPr/>
            <p:nvPr/>
          </p:nvGrpSpPr>
          <p:grpSpPr>
            <a:xfrm>
              <a:off x="4610100" y="1000125"/>
              <a:ext cx="1962300" cy="1733700"/>
              <a:chOff x="0" y="0"/>
              <a:chExt cx="1962300" cy="1733700"/>
            </a:xfrm>
          </p:grpSpPr>
          <p:sp>
            <p:nvSpPr>
              <p:cNvPr id="226" name="Google Shape;226;p24"/>
              <p:cNvSpPr/>
              <p:nvPr/>
            </p:nvSpPr>
            <p:spPr>
              <a:xfrm>
                <a:off x="0" y="0"/>
                <a:ext cx="1962300" cy="1733700"/>
              </a:xfrm>
              <a:prstGeom prst="roundRect">
                <a:avLst>
                  <a:gd fmla="val 6593" name="adj"/>
                </a:avLst>
              </a:prstGeom>
              <a:solidFill>
                <a:srgbClr val="131E36"/>
              </a:solidFill>
              <a:ln cap="flat" cmpd="sng" w="14300">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4"/>
              <p:cNvSpPr/>
              <p:nvPr/>
            </p:nvSpPr>
            <p:spPr>
              <a:xfrm>
                <a:off x="0" y="0"/>
                <a:ext cx="1962300" cy="57300"/>
              </a:xfrm>
              <a:prstGeom prst="roundRect">
                <a:avLst>
                  <a:gd fmla="val 50000" name="adj"/>
                </a:avLst>
              </a:prstGeom>
              <a:solidFill>
                <a:srgbClr val="4ADE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4"/>
              <p:cNvSpPr/>
              <p:nvPr/>
            </p:nvSpPr>
            <p:spPr>
              <a:xfrm>
                <a:off x="152400" y="171450"/>
                <a:ext cx="304800" cy="228600"/>
              </a:xfrm>
              <a:prstGeom prst="roundRect">
                <a:avLst>
                  <a:gd fmla="val 25000" name="adj"/>
                </a:avLst>
              </a:prstGeom>
              <a:solidFill>
                <a:srgbClr val="4ADE8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ADE80"/>
                    </a:solidFill>
                    <a:latin typeface="Poppins ExtraBold"/>
                    <a:ea typeface="Poppins ExtraBold"/>
                    <a:cs typeface="Poppins ExtraBold"/>
                    <a:sym typeface="Poppins ExtraBold"/>
                  </a:rPr>
                  <a:t>03</a:t>
                </a:r>
                <a:endParaRPr b="0" sz="1000">
                  <a:solidFill>
                    <a:srgbClr val="4ADE80"/>
                  </a:solidFill>
                  <a:latin typeface="Poppins ExtraBold"/>
                  <a:ea typeface="Poppins ExtraBold"/>
                  <a:cs typeface="Poppins ExtraBold"/>
                  <a:sym typeface="Poppins ExtraBold"/>
                </a:endParaRPr>
              </a:p>
            </p:txBody>
          </p:sp>
          <p:sp>
            <p:nvSpPr>
              <p:cNvPr id="230" name="Google Shape;230;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800">
                    <a:solidFill>
                      <a:srgbClr val="4ADE80"/>
                    </a:solidFill>
                    <a:latin typeface="Poppins"/>
                    <a:ea typeface="Poppins"/>
                    <a:cs typeface="Poppins"/>
                    <a:sym typeface="Poppins"/>
                  </a:rPr>
                  <a:t>January</a:t>
                </a:r>
                <a:endParaRPr b="1" sz="800">
                  <a:solidFill>
                    <a:srgbClr val="4ADE80"/>
                  </a:solidFill>
                  <a:latin typeface="Poppins"/>
                  <a:ea typeface="Poppins"/>
                  <a:cs typeface="Poppins"/>
                  <a:sym typeface="Poppins"/>
                </a:endParaRPr>
              </a:p>
            </p:txBody>
          </p:sp>
          <p:sp>
            <p:nvSpPr>
              <p:cNvPr id="231" name="Google Shape;231;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Budgets Warned</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Boards prepare budgets and warn for voters, informed by the Dec 1 letter.</a:t>
                </a:r>
                <a:endParaRPr b="0" sz="850">
                  <a:solidFill>
                    <a:srgbClr val="94A3B8"/>
                  </a:solidFill>
                  <a:latin typeface="Poppins"/>
                  <a:ea typeface="Poppins"/>
                  <a:cs typeface="Poppins"/>
                  <a:sym typeface="Poppins"/>
                </a:endParaRPr>
              </a:p>
            </p:txBody>
          </p:sp>
        </p:grpSp>
        <p:grpSp>
          <p:nvGrpSpPr>
            <p:cNvPr id="232" name="Google Shape;232;p24"/>
            <p:cNvGrpSpPr/>
            <p:nvPr/>
          </p:nvGrpSpPr>
          <p:grpSpPr>
            <a:xfrm>
              <a:off x="6724650" y="1000125"/>
              <a:ext cx="1962300" cy="1733700"/>
              <a:chOff x="0" y="0"/>
              <a:chExt cx="1962300" cy="1733700"/>
            </a:xfrm>
          </p:grpSpPr>
          <p:sp>
            <p:nvSpPr>
              <p:cNvPr id="233" name="Google Shape;233;p24"/>
              <p:cNvSpPr/>
              <p:nvPr/>
            </p:nvSpPr>
            <p:spPr>
              <a:xfrm>
                <a:off x="0" y="0"/>
                <a:ext cx="1962300" cy="1733700"/>
              </a:xfrm>
              <a:prstGeom prst="roundRect">
                <a:avLst>
                  <a:gd fmla="val 6593" name="adj"/>
                </a:avLst>
              </a:prstGeom>
              <a:solidFill>
                <a:srgbClr val="131E36"/>
              </a:solidFill>
              <a:ln cap="flat" cmpd="sng" w="14300">
                <a:solidFill>
                  <a:srgbClr val="FFEB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24"/>
              <p:cNvSpPr/>
              <p:nvPr/>
            </p:nvSpPr>
            <p:spPr>
              <a:xfrm>
                <a:off x="0" y="0"/>
                <a:ext cx="1962300" cy="57300"/>
              </a:xfrm>
              <a:prstGeom prst="roundRect">
                <a:avLst>
                  <a:gd fmla="val 50000" name="adj"/>
                </a:avLst>
              </a:prstGeom>
              <a:solidFill>
                <a:srgbClr val="FFEB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4"/>
              <p:cNvSpPr/>
              <p:nvPr/>
            </p:nvSpPr>
            <p:spPr>
              <a:xfrm>
                <a:off x="152400" y="171450"/>
                <a:ext cx="304800" cy="228600"/>
              </a:xfrm>
              <a:prstGeom prst="roundRect">
                <a:avLst>
                  <a:gd fmla="val 25000" name="adj"/>
                </a:avLst>
              </a:prstGeom>
              <a:solidFill>
                <a:srgbClr val="FFEB3B">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EB3B"/>
                    </a:solidFill>
                    <a:latin typeface="Poppins ExtraBold"/>
                    <a:ea typeface="Poppins ExtraBold"/>
                    <a:cs typeface="Poppins ExtraBold"/>
                    <a:sym typeface="Poppins ExtraBold"/>
                  </a:rPr>
                  <a:t>04</a:t>
                </a:r>
                <a:endParaRPr b="0" sz="1000">
                  <a:solidFill>
                    <a:srgbClr val="FFEB3B"/>
                  </a:solidFill>
                  <a:latin typeface="Poppins ExtraBold"/>
                  <a:ea typeface="Poppins ExtraBold"/>
                  <a:cs typeface="Poppins ExtraBold"/>
                  <a:sym typeface="Poppins ExtraBold"/>
                </a:endParaRPr>
              </a:p>
            </p:txBody>
          </p:sp>
          <p:sp>
            <p:nvSpPr>
              <p:cNvPr id="237" name="Google Shape;237;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800">
                    <a:solidFill>
                      <a:srgbClr val="FFEB3B"/>
                    </a:solidFill>
                    <a:latin typeface="Poppins"/>
                    <a:ea typeface="Poppins"/>
                    <a:cs typeface="Poppins"/>
                    <a:sym typeface="Poppins"/>
                  </a:rPr>
                  <a:t>MARCH</a:t>
                </a:r>
                <a:endParaRPr b="1" sz="800">
                  <a:solidFill>
                    <a:srgbClr val="FFEB3B"/>
                  </a:solidFill>
                  <a:latin typeface="Poppins"/>
                  <a:ea typeface="Poppins"/>
                  <a:cs typeface="Poppins"/>
                  <a:sym typeface="Poppins"/>
                </a:endParaRPr>
              </a:p>
            </p:txBody>
          </p:sp>
          <p:sp>
            <p:nvSpPr>
              <p:cNvPr id="238" name="Google Shape;238;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Voter Approval</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Vermonters vote on school district budgets (usually at annual town meetings).</a:t>
                </a:r>
                <a:endParaRPr b="0" sz="850">
                  <a:solidFill>
                    <a:srgbClr val="94A3B8"/>
                  </a:solidFill>
                  <a:latin typeface="Poppins"/>
                  <a:ea typeface="Poppins"/>
                  <a:cs typeface="Poppins"/>
                  <a:sym typeface="Poppins"/>
                </a:endParaRPr>
              </a:p>
            </p:txBody>
          </p:sp>
        </p:grpSp>
        <p:grpSp>
          <p:nvGrpSpPr>
            <p:cNvPr id="239" name="Google Shape;239;p24"/>
            <p:cNvGrpSpPr/>
            <p:nvPr/>
          </p:nvGrpSpPr>
          <p:grpSpPr>
            <a:xfrm>
              <a:off x="381000" y="2952750"/>
              <a:ext cx="1962300" cy="1733700"/>
              <a:chOff x="0" y="0"/>
              <a:chExt cx="1962300" cy="1733700"/>
            </a:xfrm>
          </p:grpSpPr>
          <p:sp>
            <p:nvSpPr>
              <p:cNvPr id="240" name="Google Shape;240;p24"/>
              <p:cNvSpPr/>
              <p:nvPr/>
            </p:nvSpPr>
            <p:spPr>
              <a:xfrm>
                <a:off x="0" y="0"/>
                <a:ext cx="1962300" cy="1733700"/>
              </a:xfrm>
              <a:prstGeom prst="roundRect">
                <a:avLst>
                  <a:gd fmla="val 6593" name="adj"/>
                </a:avLst>
              </a:prstGeom>
              <a:solidFill>
                <a:srgbClr val="131E36"/>
              </a:solidFill>
              <a:ln cap="flat" cmpd="sng" w="14300">
                <a:solidFill>
                  <a:srgbClr val="56BC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4"/>
              <p:cNvSpPr/>
              <p:nvPr/>
            </p:nvSpPr>
            <p:spPr>
              <a:xfrm>
                <a:off x="0" y="0"/>
                <a:ext cx="1962300" cy="57300"/>
              </a:xfrm>
              <a:prstGeom prst="roundRect">
                <a:avLst>
                  <a:gd fmla="val 50000" name="adj"/>
                </a:avLst>
              </a:prstGeom>
              <a:solidFill>
                <a:srgbClr val="56BC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4"/>
              <p:cNvSpPr/>
              <p:nvPr/>
            </p:nvSpPr>
            <p:spPr>
              <a:xfrm>
                <a:off x="152400" y="171450"/>
                <a:ext cx="304800" cy="228600"/>
              </a:xfrm>
              <a:prstGeom prst="roundRect">
                <a:avLst>
                  <a:gd fmla="val 25000" name="adj"/>
                </a:avLst>
              </a:prstGeom>
              <a:solidFill>
                <a:srgbClr val="56BC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56BCC7"/>
                    </a:solidFill>
                    <a:latin typeface="Poppins ExtraBold"/>
                    <a:ea typeface="Poppins ExtraBold"/>
                    <a:cs typeface="Poppins ExtraBold"/>
                    <a:sym typeface="Poppins ExtraBold"/>
                  </a:rPr>
                  <a:t>05</a:t>
                </a:r>
                <a:endParaRPr b="0" sz="1000">
                  <a:solidFill>
                    <a:srgbClr val="56BCC7"/>
                  </a:solidFill>
                  <a:latin typeface="Poppins ExtraBold"/>
                  <a:ea typeface="Poppins ExtraBold"/>
                  <a:cs typeface="Poppins ExtraBold"/>
                  <a:sym typeface="Poppins ExtraBold"/>
                </a:endParaRPr>
              </a:p>
            </p:txBody>
          </p:sp>
          <p:sp>
            <p:nvSpPr>
              <p:cNvPr id="244" name="Google Shape;244;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800">
                    <a:solidFill>
                      <a:srgbClr val="56BCC7"/>
                    </a:solidFill>
                    <a:latin typeface="Poppins"/>
                    <a:ea typeface="Poppins"/>
                    <a:cs typeface="Poppins"/>
                    <a:sym typeface="Poppins"/>
                  </a:rPr>
                  <a:t>April/May</a:t>
                </a:r>
                <a:endParaRPr b="1" sz="800">
                  <a:solidFill>
                    <a:srgbClr val="56BCC7"/>
                  </a:solidFill>
                  <a:latin typeface="Poppins"/>
                  <a:ea typeface="Poppins"/>
                  <a:cs typeface="Poppins"/>
                  <a:sym typeface="Poppins"/>
                </a:endParaRPr>
              </a:p>
            </p:txBody>
          </p:sp>
          <p:sp>
            <p:nvSpPr>
              <p:cNvPr id="245" name="Google Shape;245;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Yield Bill Set</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General Assembly sets property taxes at level necessary to fund approved budgets.</a:t>
                </a:r>
                <a:endParaRPr b="0" sz="850">
                  <a:solidFill>
                    <a:srgbClr val="94A3B8"/>
                  </a:solidFill>
                  <a:latin typeface="Poppins"/>
                  <a:ea typeface="Poppins"/>
                  <a:cs typeface="Poppins"/>
                  <a:sym typeface="Poppins"/>
                </a:endParaRPr>
              </a:p>
            </p:txBody>
          </p:sp>
        </p:grpSp>
        <p:grpSp>
          <p:nvGrpSpPr>
            <p:cNvPr id="246" name="Google Shape;246;p24"/>
            <p:cNvGrpSpPr/>
            <p:nvPr/>
          </p:nvGrpSpPr>
          <p:grpSpPr>
            <a:xfrm>
              <a:off x="2495550" y="2952750"/>
              <a:ext cx="1962300" cy="1733700"/>
              <a:chOff x="0" y="0"/>
              <a:chExt cx="1962300" cy="1733700"/>
            </a:xfrm>
          </p:grpSpPr>
          <p:sp>
            <p:nvSpPr>
              <p:cNvPr id="247" name="Google Shape;247;p24"/>
              <p:cNvSpPr/>
              <p:nvPr/>
            </p:nvSpPr>
            <p:spPr>
              <a:xfrm>
                <a:off x="0" y="0"/>
                <a:ext cx="1962300" cy="1733700"/>
              </a:xfrm>
              <a:prstGeom prst="roundRect">
                <a:avLst>
                  <a:gd fmla="val 6593" name="adj"/>
                </a:avLst>
              </a:prstGeom>
              <a:solidFill>
                <a:srgbClr val="131E36"/>
              </a:solidFill>
              <a:ln cap="flat" cmpd="sng" w="14300">
                <a:solidFill>
                  <a:srgbClr val="FFAB4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4"/>
              <p:cNvSpPr/>
              <p:nvPr/>
            </p:nvSpPr>
            <p:spPr>
              <a:xfrm>
                <a:off x="0" y="0"/>
                <a:ext cx="1962300" cy="57300"/>
              </a:xfrm>
              <a:prstGeom prst="roundRect">
                <a:avLst>
                  <a:gd fmla="val 50000"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4"/>
              <p:cNvSpPr/>
              <p:nvPr/>
            </p:nvSpPr>
            <p:spPr>
              <a:xfrm>
                <a:off x="152400" y="171450"/>
                <a:ext cx="304800" cy="228600"/>
              </a:xfrm>
              <a:prstGeom prst="roundRect">
                <a:avLst>
                  <a:gd fmla="val 25000" name="adj"/>
                </a:avLst>
              </a:prstGeom>
              <a:solidFill>
                <a:srgbClr val="FFAB4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AB40"/>
                    </a:solidFill>
                    <a:latin typeface="Poppins ExtraBold"/>
                    <a:ea typeface="Poppins ExtraBold"/>
                    <a:cs typeface="Poppins ExtraBold"/>
                    <a:sym typeface="Poppins ExtraBold"/>
                  </a:rPr>
                  <a:t>06</a:t>
                </a:r>
                <a:endParaRPr b="0" sz="1000">
                  <a:solidFill>
                    <a:srgbClr val="FFAB40"/>
                  </a:solidFill>
                  <a:latin typeface="Poppins ExtraBold"/>
                  <a:ea typeface="Poppins ExtraBold"/>
                  <a:cs typeface="Poppins ExtraBold"/>
                  <a:sym typeface="Poppins ExtraBold"/>
                </a:endParaRPr>
              </a:p>
            </p:txBody>
          </p:sp>
          <p:sp>
            <p:nvSpPr>
              <p:cNvPr id="251" name="Google Shape;251;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750">
                    <a:solidFill>
                      <a:srgbClr val="FFAB40"/>
                    </a:solidFill>
                    <a:latin typeface="Poppins"/>
                    <a:ea typeface="Poppins"/>
                    <a:cs typeface="Poppins"/>
                    <a:sym typeface="Poppins"/>
                  </a:rPr>
                  <a:t>ON/BEFORE JUNE 30</a:t>
                </a:r>
                <a:endParaRPr b="1" sz="750">
                  <a:solidFill>
                    <a:srgbClr val="FFAB40"/>
                  </a:solidFill>
                  <a:latin typeface="Poppins"/>
                  <a:ea typeface="Poppins"/>
                  <a:cs typeface="Poppins"/>
                  <a:sym typeface="Poppins"/>
                </a:endParaRPr>
              </a:p>
            </p:txBody>
          </p:sp>
          <p:sp>
            <p:nvSpPr>
              <p:cNvPr id="252" name="Google Shape;252;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Tax Rates Set</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Department of Taxes sets spending-adjusted homestead tax rates for towns.</a:t>
                </a:r>
                <a:endParaRPr b="0" sz="850">
                  <a:solidFill>
                    <a:srgbClr val="94A3B8"/>
                  </a:solidFill>
                  <a:latin typeface="Poppins"/>
                  <a:ea typeface="Poppins"/>
                  <a:cs typeface="Poppins"/>
                  <a:sym typeface="Poppins"/>
                </a:endParaRPr>
              </a:p>
            </p:txBody>
          </p:sp>
        </p:grpSp>
        <p:grpSp>
          <p:nvGrpSpPr>
            <p:cNvPr id="253" name="Google Shape;253;p24"/>
            <p:cNvGrpSpPr/>
            <p:nvPr/>
          </p:nvGrpSpPr>
          <p:grpSpPr>
            <a:xfrm>
              <a:off x="4610100" y="2952750"/>
              <a:ext cx="1962300" cy="1733700"/>
              <a:chOff x="0" y="0"/>
              <a:chExt cx="1962300" cy="1733700"/>
            </a:xfrm>
          </p:grpSpPr>
          <p:sp>
            <p:nvSpPr>
              <p:cNvPr id="254" name="Google Shape;254;p24"/>
              <p:cNvSpPr/>
              <p:nvPr/>
            </p:nvSpPr>
            <p:spPr>
              <a:xfrm>
                <a:off x="0" y="0"/>
                <a:ext cx="1962300" cy="1733700"/>
              </a:xfrm>
              <a:prstGeom prst="roundRect">
                <a:avLst>
                  <a:gd fmla="val 6593" name="adj"/>
                </a:avLst>
              </a:prstGeom>
              <a:solidFill>
                <a:srgbClr val="131E36"/>
              </a:solidFill>
              <a:ln cap="flat" cmpd="sng" w="14300">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4"/>
              <p:cNvSpPr/>
              <p:nvPr/>
            </p:nvSpPr>
            <p:spPr>
              <a:xfrm>
                <a:off x="0" y="0"/>
                <a:ext cx="1962300" cy="57300"/>
              </a:xfrm>
              <a:prstGeom prst="roundRect">
                <a:avLst>
                  <a:gd fmla="val 50000" name="adj"/>
                </a:avLst>
              </a:prstGeom>
              <a:solidFill>
                <a:srgbClr val="4ADE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4"/>
              <p:cNvSpPr/>
              <p:nvPr/>
            </p:nvSpPr>
            <p:spPr>
              <a:xfrm>
                <a:off x="152400" y="171450"/>
                <a:ext cx="304800" cy="228600"/>
              </a:xfrm>
              <a:prstGeom prst="roundRect">
                <a:avLst>
                  <a:gd fmla="val 25000" name="adj"/>
                </a:avLst>
              </a:prstGeom>
              <a:solidFill>
                <a:srgbClr val="4ADE8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ADE80"/>
                    </a:solidFill>
                    <a:latin typeface="Poppins ExtraBold"/>
                    <a:ea typeface="Poppins ExtraBold"/>
                    <a:cs typeface="Poppins ExtraBold"/>
                    <a:sym typeface="Poppins ExtraBold"/>
                  </a:rPr>
                  <a:t>07</a:t>
                </a:r>
                <a:endParaRPr b="0" sz="1000">
                  <a:solidFill>
                    <a:srgbClr val="4ADE80"/>
                  </a:solidFill>
                  <a:latin typeface="Poppins ExtraBold"/>
                  <a:ea typeface="Poppins ExtraBold"/>
                  <a:cs typeface="Poppins ExtraBold"/>
                  <a:sym typeface="Poppins ExtraBold"/>
                </a:endParaRPr>
              </a:p>
            </p:txBody>
          </p:sp>
          <p:sp>
            <p:nvSpPr>
              <p:cNvPr id="258" name="Google Shape;258;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750">
                    <a:solidFill>
                      <a:srgbClr val="4ADE80"/>
                    </a:solidFill>
                    <a:latin typeface="Poppins"/>
                    <a:ea typeface="Poppins"/>
                    <a:cs typeface="Poppins"/>
                    <a:sym typeface="Poppins"/>
                  </a:rPr>
                  <a:t>LATE SUMMER/FALL</a:t>
                </a:r>
                <a:endParaRPr b="1" sz="750">
                  <a:solidFill>
                    <a:srgbClr val="4ADE80"/>
                  </a:solidFill>
                  <a:latin typeface="Poppins"/>
                  <a:ea typeface="Poppins"/>
                  <a:cs typeface="Poppins"/>
                  <a:sym typeface="Poppins"/>
                </a:endParaRPr>
              </a:p>
            </p:txBody>
          </p:sp>
          <p:sp>
            <p:nvSpPr>
              <p:cNvPr id="259" name="Google Shape;259;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Administration</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Town officials formally administer education property taxes to taxpayers.</a:t>
                </a:r>
                <a:endParaRPr b="0" sz="850">
                  <a:solidFill>
                    <a:srgbClr val="94A3B8"/>
                  </a:solidFill>
                  <a:latin typeface="Poppins"/>
                  <a:ea typeface="Poppins"/>
                  <a:cs typeface="Poppins"/>
                  <a:sym typeface="Poppins"/>
                </a:endParaRPr>
              </a:p>
            </p:txBody>
          </p:sp>
        </p:grpSp>
        <p:grpSp>
          <p:nvGrpSpPr>
            <p:cNvPr id="260" name="Google Shape;260;p24"/>
            <p:cNvGrpSpPr/>
            <p:nvPr/>
          </p:nvGrpSpPr>
          <p:grpSpPr>
            <a:xfrm>
              <a:off x="6724650" y="2952750"/>
              <a:ext cx="1962300" cy="1733700"/>
              <a:chOff x="0" y="0"/>
              <a:chExt cx="1962300" cy="1733700"/>
            </a:xfrm>
          </p:grpSpPr>
          <p:sp>
            <p:nvSpPr>
              <p:cNvPr id="261" name="Google Shape;261;p24"/>
              <p:cNvSpPr/>
              <p:nvPr/>
            </p:nvSpPr>
            <p:spPr>
              <a:xfrm>
                <a:off x="0" y="0"/>
                <a:ext cx="1962300" cy="1733700"/>
              </a:xfrm>
              <a:prstGeom prst="roundRect">
                <a:avLst>
                  <a:gd fmla="val 6593" name="adj"/>
                </a:avLst>
              </a:prstGeom>
              <a:solidFill>
                <a:srgbClr val="131E36"/>
              </a:solidFill>
              <a:ln cap="flat" cmpd="sng" w="14300">
                <a:solidFill>
                  <a:srgbClr val="FFEB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4"/>
              <p:cNvSpPr/>
              <p:nvPr/>
            </p:nvSpPr>
            <p:spPr>
              <a:xfrm>
                <a:off x="0" y="0"/>
                <a:ext cx="1962300" cy="57300"/>
              </a:xfrm>
              <a:prstGeom prst="roundRect">
                <a:avLst>
                  <a:gd fmla="val 50000" name="adj"/>
                </a:avLst>
              </a:prstGeom>
              <a:solidFill>
                <a:srgbClr val="FFEB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4"/>
              <p:cNvSpPr/>
              <p:nvPr/>
            </p:nvSpPr>
            <p:spPr>
              <a:xfrm>
                <a:off x="152400" y="171450"/>
                <a:ext cx="304800" cy="228600"/>
              </a:xfrm>
              <a:prstGeom prst="roundRect">
                <a:avLst>
                  <a:gd fmla="val 25000" name="adj"/>
                </a:avLst>
              </a:prstGeom>
              <a:solidFill>
                <a:srgbClr val="FFEB3B">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24"/>
              <p:cNvSpPr txBox="1"/>
              <p:nvPr/>
            </p:nvSpPr>
            <p:spPr>
              <a:xfrm>
                <a:off x="152400" y="17145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EB3B"/>
                    </a:solidFill>
                    <a:latin typeface="Poppins ExtraBold"/>
                    <a:ea typeface="Poppins ExtraBold"/>
                    <a:cs typeface="Poppins ExtraBold"/>
                    <a:sym typeface="Poppins ExtraBold"/>
                  </a:rPr>
                  <a:t>08</a:t>
                </a:r>
                <a:endParaRPr b="0" sz="1000">
                  <a:solidFill>
                    <a:srgbClr val="FFEB3B"/>
                  </a:solidFill>
                  <a:latin typeface="Poppins ExtraBold"/>
                  <a:ea typeface="Poppins ExtraBold"/>
                  <a:cs typeface="Poppins ExtraBold"/>
                  <a:sym typeface="Poppins ExtraBold"/>
                </a:endParaRPr>
              </a:p>
            </p:txBody>
          </p:sp>
          <p:sp>
            <p:nvSpPr>
              <p:cNvPr id="265" name="Google Shape;265;p24"/>
              <p:cNvSpPr txBox="1"/>
              <p:nvPr/>
            </p:nvSpPr>
            <p:spPr>
              <a:xfrm>
                <a:off x="533400" y="171450"/>
                <a:ext cx="12765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750">
                    <a:solidFill>
                      <a:srgbClr val="FFEB3B"/>
                    </a:solidFill>
                    <a:latin typeface="Poppins"/>
                    <a:ea typeface="Poppins"/>
                    <a:cs typeface="Poppins"/>
                    <a:sym typeface="Poppins"/>
                  </a:rPr>
                  <a:t>FALL &amp; BEYOND</a:t>
                </a:r>
                <a:endParaRPr b="1" sz="750">
                  <a:solidFill>
                    <a:srgbClr val="FFEB3B"/>
                  </a:solidFill>
                  <a:latin typeface="Poppins"/>
                  <a:ea typeface="Poppins"/>
                  <a:cs typeface="Poppins"/>
                  <a:sym typeface="Poppins"/>
                </a:endParaRPr>
              </a:p>
            </p:txBody>
          </p:sp>
          <p:sp>
            <p:nvSpPr>
              <p:cNvPr id="266" name="Google Shape;266;p24"/>
              <p:cNvSpPr txBox="1"/>
              <p:nvPr/>
            </p:nvSpPr>
            <p:spPr>
              <a:xfrm>
                <a:off x="152400" y="495300"/>
                <a:ext cx="16575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FFFF"/>
                    </a:solidFill>
                    <a:latin typeface="Poppins"/>
                    <a:ea typeface="Poppins"/>
                    <a:cs typeface="Poppins"/>
                    <a:sym typeface="Poppins"/>
                  </a:rPr>
                  <a:t>Implementation</a:t>
                </a:r>
                <a:endParaRPr b="1" sz="1100">
                  <a:solidFill>
                    <a:srgbClr val="FFFFFF"/>
                  </a:solidFill>
                  <a:latin typeface="Poppins"/>
                  <a:ea typeface="Poppins"/>
                  <a:cs typeface="Poppins"/>
                  <a:sym typeface="Poppins"/>
                </a:endParaRPr>
              </a:p>
              <a:p>
                <a:pPr indent="0" lvl="0" marL="0" rtl="0" algn="l">
                  <a:spcBef>
                    <a:spcPts val="450"/>
                  </a:spcBef>
                  <a:spcAft>
                    <a:spcPts val="0"/>
                  </a:spcAft>
                  <a:buNone/>
                </a:pPr>
                <a:r>
                  <a:rPr b="0" lang="en" sz="850">
                    <a:solidFill>
                      <a:srgbClr val="94A3B8"/>
                    </a:solidFill>
                    <a:latin typeface="Poppins"/>
                    <a:ea typeface="Poppins"/>
                    <a:cs typeface="Poppins"/>
                    <a:sym typeface="Poppins"/>
                  </a:rPr>
                  <a:t>Taxpayers pay taxes, and school districts implement their operating budgets.</a:t>
                </a:r>
                <a:endParaRPr b="0" sz="850">
                  <a:solidFill>
                    <a:srgbClr val="94A3B8"/>
                  </a:solidFill>
                  <a:latin typeface="Poppins"/>
                  <a:ea typeface="Poppins"/>
                  <a:cs typeface="Poppins"/>
                  <a:sym typeface="Poppins"/>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nvSpPr>
        <p:spPr>
          <a:xfrm>
            <a:off x="3469050" y="3298964"/>
            <a:ext cx="5655000" cy="14913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0"/>
              </a:spcBef>
              <a:spcAft>
                <a:spcPts val="0"/>
              </a:spcAft>
              <a:buClr>
                <a:srgbClr val="000000"/>
              </a:buClr>
              <a:buSzPts val="1800"/>
              <a:buFont typeface="Arial"/>
              <a:buNone/>
            </a:pPr>
            <a:r>
              <a:rPr i="0" lang="en" sz="1600" u="none" cap="none" strike="noStrike">
                <a:solidFill>
                  <a:schemeClr val="dk1"/>
                </a:solidFill>
                <a:latin typeface="Poppins Black"/>
                <a:ea typeface="Poppins Black"/>
                <a:cs typeface="Poppins Black"/>
                <a:sym typeface="Poppins Black"/>
              </a:rPr>
              <a:t>Offsetting Revenues</a:t>
            </a:r>
            <a:endParaRPr i="0" sz="900" u="none" cap="none" strike="noStrike">
              <a:solidFill>
                <a:schemeClr val="dk1"/>
              </a:solidFill>
              <a:latin typeface="Poppins Black"/>
              <a:ea typeface="Poppins Black"/>
              <a:cs typeface="Poppins Black"/>
              <a:sym typeface="Poppins Black"/>
            </a:endParaRPr>
          </a:p>
          <a:p>
            <a:pPr indent="-241300" lvl="0" marL="254000" marR="0" rtl="0" algn="l">
              <a:lnSpc>
                <a:spcPct val="95000"/>
              </a:lnSpc>
              <a:spcBef>
                <a:spcPts val="0"/>
              </a:spcBef>
              <a:spcAft>
                <a:spcPts val="0"/>
              </a:spcAft>
              <a:buClr>
                <a:schemeClr val="dk1"/>
              </a:buClr>
              <a:buSzPts val="1600"/>
              <a:buFont typeface="Poppins"/>
              <a:buChar char="•"/>
            </a:pPr>
            <a:r>
              <a:rPr i="0" lang="en" sz="1600" u="none" cap="none" strike="noStrike">
                <a:solidFill>
                  <a:schemeClr val="dk1"/>
                </a:solidFill>
                <a:latin typeface="Poppins"/>
                <a:ea typeface="Poppins"/>
                <a:cs typeface="Poppins"/>
                <a:sym typeface="Poppins"/>
              </a:rPr>
              <a:t>Local Revenues (i.e. tuition collected)</a:t>
            </a:r>
            <a:endParaRPr i="0" sz="900" u="none" cap="none" strike="noStrike">
              <a:solidFill>
                <a:srgbClr val="000000"/>
              </a:solidFill>
              <a:latin typeface="Poppins"/>
              <a:ea typeface="Poppins"/>
              <a:cs typeface="Poppins"/>
              <a:sym typeface="Poppins"/>
            </a:endParaRPr>
          </a:p>
          <a:p>
            <a:pPr indent="-241300" lvl="0" marL="254000" marR="0" rtl="0" algn="l">
              <a:lnSpc>
                <a:spcPct val="95000"/>
              </a:lnSpc>
              <a:spcBef>
                <a:spcPts val="0"/>
              </a:spcBef>
              <a:spcAft>
                <a:spcPts val="0"/>
              </a:spcAft>
              <a:buClr>
                <a:schemeClr val="dk1"/>
              </a:buClr>
              <a:buSzPts val="1600"/>
              <a:buFont typeface="Poppins"/>
              <a:buChar char="•"/>
            </a:pPr>
            <a:r>
              <a:rPr i="0" lang="en" sz="1600" u="none" cap="none" strike="noStrike">
                <a:solidFill>
                  <a:schemeClr val="dk1"/>
                </a:solidFill>
                <a:latin typeface="Poppins"/>
                <a:ea typeface="Poppins"/>
                <a:cs typeface="Poppins"/>
                <a:sym typeface="Poppins"/>
              </a:rPr>
              <a:t>State &amp; Federal Grants Such as:</a:t>
            </a:r>
            <a:endParaRPr i="0" sz="900" u="none" cap="none" strike="noStrike">
              <a:solidFill>
                <a:srgbClr val="000000"/>
              </a:solidFill>
              <a:latin typeface="Poppins"/>
              <a:ea typeface="Poppins"/>
              <a:cs typeface="Poppins"/>
              <a:sym typeface="Poppins"/>
            </a:endParaRPr>
          </a:p>
          <a:p>
            <a:pPr indent="-241300" lvl="1" marL="711200" marR="0" rtl="0" algn="l">
              <a:lnSpc>
                <a:spcPct val="95000"/>
              </a:lnSpc>
              <a:spcBef>
                <a:spcPts val="0"/>
              </a:spcBef>
              <a:spcAft>
                <a:spcPts val="0"/>
              </a:spcAft>
              <a:buClr>
                <a:schemeClr val="dk1"/>
              </a:buClr>
              <a:buSzPts val="1600"/>
              <a:buFont typeface="Poppins"/>
              <a:buChar char="o"/>
            </a:pPr>
            <a:r>
              <a:rPr i="0" lang="en" sz="1600" u="none" cap="none" strike="noStrike">
                <a:solidFill>
                  <a:schemeClr val="dk1"/>
                </a:solidFill>
                <a:latin typeface="Poppins"/>
                <a:ea typeface="Poppins"/>
                <a:cs typeface="Poppins"/>
                <a:sym typeface="Poppins"/>
              </a:rPr>
              <a:t>Special Education Reimbursement</a:t>
            </a:r>
            <a:endParaRPr i="0" sz="900" u="none" cap="none" strike="noStrike">
              <a:solidFill>
                <a:srgbClr val="000000"/>
              </a:solidFill>
              <a:latin typeface="Poppins"/>
              <a:ea typeface="Poppins"/>
              <a:cs typeface="Poppins"/>
              <a:sym typeface="Poppins"/>
            </a:endParaRPr>
          </a:p>
          <a:p>
            <a:pPr indent="-254000" lvl="1" marL="711200" marR="0" rtl="0" algn="l">
              <a:lnSpc>
                <a:spcPct val="95000"/>
              </a:lnSpc>
              <a:spcBef>
                <a:spcPts val="0"/>
              </a:spcBef>
              <a:spcAft>
                <a:spcPts val="0"/>
              </a:spcAft>
              <a:buClr>
                <a:schemeClr val="dk1"/>
              </a:buClr>
              <a:buSzPts val="1800"/>
              <a:buFont typeface="Poppins"/>
              <a:buChar char="o"/>
            </a:pPr>
            <a:r>
              <a:rPr i="0" lang="en" sz="1600" u="none" cap="none" strike="noStrike">
                <a:solidFill>
                  <a:schemeClr val="dk1"/>
                </a:solidFill>
                <a:latin typeface="Poppins"/>
                <a:ea typeface="Poppins"/>
                <a:cs typeface="Poppins"/>
                <a:sym typeface="Poppins"/>
              </a:rPr>
              <a:t>Merger Support Grant </a:t>
            </a:r>
            <a:r>
              <a:rPr i="0" lang="en" sz="1000" u="none" cap="none" strike="noStrike">
                <a:solidFill>
                  <a:schemeClr val="dk1"/>
                </a:solidFill>
                <a:latin typeface="Poppins"/>
                <a:ea typeface="Poppins"/>
                <a:cs typeface="Poppins"/>
                <a:sym typeface="Poppins"/>
              </a:rPr>
              <a:t>(formerly </a:t>
            </a:r>
            <a:r>
              <a:rPr lang="en" sz="1000">
                <a:solidFill>
                  <a:schemeClr val="dk1"/>
                </a:solidFill>
                <a:latin typeface="Poppins"/>
                <a:ea typeface="Poppins"/>
                <a:cs typeface="Poppins"/>
                <a:sym typeface="Poppins"/>
              </a:rPr>
              <a:t>S</a:t>
            </a:r>
            <a:r>
              <a:rPr i="0" lang="en" sz="1000" u="none" cap="none" strike="noStrike">
                <a:solidFill>
                  <a:schemeClr val="dk1"/>
                </a:solidFill>
                <a:latin typeface="Poppins"/>
                <a:ea typeface="Poppins"/>
                <a:cs typeface="Poppins"/>
                <a:sym typeface="Poppins"/>
              </a:rPr>
              <a:t>mall </a:t>
            </a:r>
            <a:r>
              <a:rPr lang="en" sz="1000">
                <a:solidFill>
                  <a:schemeClr val="dk1"/>
                </a:solidFill>
                <a:latin typeface="Poppins"/>
                <a:ea typeface="Poppins"/>
                <a:cs typeface="Poppins"/>
                <a:sym typeface="Poppins"/>
              </a:rPr>
              <a:t>S</a:t>
            </a:r>
            <a:r>
              <a:rPr i="0" lang="en" sz="1000" u="none" cap="none" strike="noStrike">
                <a:solidFill>
                  <a:schemeClr val="dk1"/>
                </a:solidFill>
                <a:latin typeface="Poppins"/>
                <a:ea typeface="Poppins"/>
                <a:cs typeface="Poppins"/>
                <a:sym typeface="Poppins"/>
              </a:rPr>
              <a:t>chools </a:t>
            </a:r>
            <a:r>
              <a:rPr lang="en" sz="1000">
                <a:solidFill>
                  <a:schemeClr val="dk1"/>
                </a:solidFill>
                <a:latin typeface="Poppins"/>
                <a:ea typeface="Poppins"/>
                <a:cs typeface="Poppins"/>
                <a:sym typeface="Poppins"/>
              </a:rPr>
              <a:t>G</a:t>
            </a:r>
            <a:r>
              <a:rPr i="0" lang="en" sz="1000" u="none" cap="none" strike="noStrike">
                <a:solidFill>
                  <a:schemeClr val="dk1"/>
                </a:solidFill>
                <a:latin typeface="Poppins"/>
                <a:ea typeface="Poppins"/>
                <a:cs typeface="Poppins"/>
                <a:sym typeface="Poppins"/>
              </a:rPr>
              <a:t>rant)</a:t>
            </a:r>
            <a:endParaRPr i="0" sz="1000" u="none" cap="none" strike="noStrike">
              <a:solidFill>
                <a:srgbClr val="000000"/>
              </a:solidFill>
              <a:latin typeface="Poppins"/>
              <a:ea typeface="Poppins"/>
              <a:cs typeface="Poppins"/>
              <a:sym typeface="Poppins"/>
            </a:endParaRPr>
          </a:p>
          <a:p>
            <a:pPr indent="-241300" lvl="1" marL="711200" marR="0" rtl="0" algn="l">
              <a:lnSpc>
                <a:spcPct val="95000"/>
              </a:lnSpc>
              <a:spcBef>
                <a:spcPts val="0"/>
              </a:spcBef>
              <a:spcAft>
                <a:spcPts val="0"/>
              </a:spcAft>
              <a:buClr>
                <a:schemeClr val="dk1"/>
              </a:buClr>
              <a:buSzPts val="1600"/>
              <a:buFont typeface="Poppins"/>
              <a:buChar char="o"/>
            </a:pPr>
            <a:r>
              <a:rPr i="0" lang="en" sz="1600" u="none" cap="none" strike="noStrike">
                <a:solidFill>
                  <a:schemeClr val="dk1"/>
                </a:solidFill>
                <a:latin typeface="Poppins"/>
                <a:ea typeface="Poppins"/>
                <a:cs typeface="Poppins"/>
                <a:sym typeface="Poppins"/>
              </a:rPr>
              <a:t>Transportation Aid</a:t>
            </a:r>
            <a:endParaRPr i="0" sz="900" u="none" cap="none" strike="noStrike">
              <a:solidFill>
                <a:srgbClr val="000000"/>
              </a:solidFill>
              <a:latin typeface="Poppins"/>
              <a:ea typeface="Poppins"/>
              <a:cs typeface="Poppins"/>
              <a:sym typeface="Poppins"/>
            </a:endParaRPr>
          </a:p>
        </p:txBody>
      </p:sp>
      <p:sp>
        <p:nvSpPr>
          <p:cNvPr id="272" name="Google Shape;272;p25"/>
          <p:cNvSpPr txBox="1"/>
          <p:nvPr/>
        </p:nvSpPr>
        <p:spPr>
          <a:xfrm>
            <a:off x="-19800" y="1045900"/>
            <a:ext cx="9144000" cy="595500"/>
          </a:xfrm>
          <a:prstGeom prst="rect">
            <a:avLst/>
          </a:prstGeom>
          <a:noFill/>
          <a:ln>
            <a:noFill/>
          </a:ln>
        </p:spPr>
        <p:txBody>
          <a:bodyPr anchorCtr="0" anchor="t" bIns="34275" lIns="68575" spcFirstLastPara="1" rIns="68575" wrap="square" tIns="34275">
            <a:noAutofit/>
          </a:bodyPr>
          <a:lstStyle/>
          <a:p>
            <a:pPr indent="0" lvl="0" marL="0" marR="0" rtl="0" algn="ctr">
              <a:lnSpc>
                <a:spcPct val="95000"/>
              </a:lnSpc>
              <a:spcBef>
                <a:spcPts val="0"/>
              </a:spcBef>
              <a:spcAft>
                <a:spcPts val="0"/>
              </a:spcAft>
              <a:buClr>
                <a:srgbClr val="000000"/>
              </a:buClr>
              <a:buSzPts val="1800"/>
              <a:buFont typeface="Arial"/>
              <a:buNone/>
            </a:pPr>
            <a:r>
              <a:rPr i="0" lang="en" sz="2100" u="none" cap="none" strike="noStrike">
                <a:solidFill>
                  <a:schemeClr val="dk1"/>
                </a:solidFill>
                <a:latin typeface="Poppins"/>
                <a:ea typeface="Poppins"/>
                <a:cs typeface="Poppins"/>
                <a:sym typeface="Poppins"/>
              </a:rPr>
              <a:t>Once a budget is approved, the state is obligated to fund the district’s education spending from the </a:t>
            </a:r>
            <a:r>
              <a:rPr b="1" i="0" lang="en" sz="2100" u="none" cap="none" strike="noStrike">
                <a:solidFill>
                  <a:schemeClr val="dk1"/>
                </a:solidFill>
                <a:latin typeface="Poppins"/>
                <a:ea typeface="Poppins"/>
                <a:cs typeface="Poppins"/>
                <a:sym typeface="Poppins"/>
              </a:rPr>
              <a:t>Vermont Education Fund</a:t>
            </a:r>
            <a:r>
              <a:rPr i="0" lang="en" sz="2100" u="none" cap="none" strike="noStrike">
                <a:solidFill>
                  <a:schemeClr val="dk1"/>
                </a:solidFill>
                <a:latin typeface="Poppins"/>
                <a:ea typeface="Poppins"/>
                <a:cs typeface="Poppins"/>
                <a:sym typeface="Poppins"/>
              </a:rPr>
              <a:t>. </a:t>
            </a:r>
            <a:endParaRPr i="0" u="none" cap="none" strike="noStrike">
              <a:solidFill>
                <a:srgbClr val="000000"/>
              </a:solidFill>
              <a:latin typeface="Poppins"/>
              <a:ea typeface="Poppins"/>
              <a:cs typeface="Poppins"/>
              <a:sym typeface="Poppins"/>
            </a:endParaRPr>
          </a:p>
        </p:txBody>
      </p:sp>
      <p:pic>
        <p:nvPicPr>
          <p:cNvPr id="273" name="Google Shape;273;p25"/>
          <p:cNvPicPr preferRelativeResize="0"/>
          <p:nvPr/>
        </p:nvPicPr>
        <p:blipFill rotWithShape="1">
          <a:blip r:embed="rId3">
            <a:alphaModFix/>
          </a:blip>
          <a:srcRect b="72125" l="0" r="0" t="0"/>
          <a:stretch/>
        </p:blipFill>
        <p:spPr>
          <a:xfrm>
            <a:off x="190500" y="1931075"/>
            <a:ext cx="8774198" cy="1327601"/>
          </a:xfrm>
          <a:prstGeom prst="rect">
            <a:avLst/>
          </a:prstGeom>
          <a:noFill/>
          <a:ln>
            <a:noFill/>
          </a:ln>
        </p:spPr>
      </p:pic>
      <p:sp>
        <p:nvSpPr>
          <p:cNvPr id="274" name="Google Shape;274;p25"/>
          <p:cNvSpPr txBox="1"/>
          <p:nvPr>
            <p:ph type="title"/>
          </p:nvPr>
        </p:nvSpPr>
        <p:spPr>
          <a:xfrm>
            <a:off x="457617" y="1987860"/>
            <a:ext cx="1958700" cy="11622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833C0B"/>
              </a:buClr>
              <a:buSzPts val="2970"/>
              <a:buFont typeface="Century Gothic"/>
              <a:buNone/>
            </a:pPr>
            <a:r>
              <a:rPr lang="en" sz="2100">
                <a:solidFill>
                  <a:srgbClr val="56BCC7"/>
                </a:solidFill>
                <a:latin typeface="Poppins Black"/>
                <a:ea typeface="Poppins Black"/>
                <a:cs typeface="Poppins Black"/>
                <a:sym typeface="Poppins Black"/>
              </a:rPr>
              <a:t>BUDGET</a:t>
            </a:r>
            <a:endParaRPr sz="2100">
              <a:solidFill>
                <a:srgbClr val="56BCC7"/>
              </a:solidFill>
              <a:latin typeface="Poppins Black"/>
              <a:ea typeface="Poppins Black"/>
              <a:cs typeface="Poppins Black"/>
              <a:sym typeface="Poppins Black"/>
            </a:endParaRPr>
          </a:p>
          <a:p>
            <a:pPr indent="0" lvl="0" marL="0" marR="0" rtl="0" algn="ctr">
              <a:lnSpc>
                <a:spcPct val="85000"/>
              </a:lnSpc>
              <a:spcBef>
                <a:spcPts val="0"/>
              </a:spcBef>
              <a:spcAft>
                <a:spcPts val="0"/>
              </a:spcAft>
              <a:buClr>
                <a:srgbClr val="833C0B"/>
              </a:buClr>
              <a:buSzPts val="2970"/>
              <a:buFont typeface="Century Gothic"/>
              <a:buNone/>
            </a:pPr>
            <a:r>
              <a:rPr lang="en" sz="2100">
                <a:solidFill>
                  <a:srgbClr val="56BCC7"/>
                </a:solidFill>
                <a:latin typeface="Poppins Black"/>
                <a:ea typeface="Poppins Black"/>
                <a:cs typeface="Poppins Black"/>
                <a:sym typeface="Poppins Black"/>
              </a:rPr>
              <a:t>APPROVED</a:t>
            </a:r>
            <a:endParaRPr sz="2100">
              <a:solidFill>
                <a:srgbClr val="56BCC7"/>
              </a:solidFill>
              <a:latin typeface="Poppins Black"/>
              <a:ea typeface="Poppins Black"/>
              <a:cs typeface="Poppins Black"/>
              <a:sym typeface="Poppins Black"/>
            </a:endParaRPr>
          </a:p>
          <a:p>
            <a:pPr indent="0" lvl="0" marL="0" marR="0" rtl="0" algn="ctr">
              <a:lnSpc>
                <a:spcPct val="85000"/>
              </a:lnSpc>
              <a:spcBef>
                <a:spcPts val="0"/>
              </a:spcBef>
              <a:spcAft>
                <a:spcPts val="0"/>
              </a:spcAft>
              <a:buClr>
                <a:srgbClr val="833C0B"/>
              </a:buClr>
              <a:buSzPts val="2970"/>
              <a:buFont typeface="Century Gothic"/>
              <a:buNone/>
            </a:pPr>
            <a:r>
              <a:rPr lang="en" sz="2100">
                <a:solidFill>
                  <a:srgbClr val="56BCC7"/>
                </a:solidFill>
                <a:latin typeface="Poppins Black"/>
                <a:ea typeface="Poppins Black"/>
                <a:cs typeface="Poppins Black"/>
                <a:sym typeface="Poppins Black"/>
              </a:rPr>
              <a:t>BY VOTERS</a:t>
            </a:r>
            <a:endParaRPr sz="2100">
              <a:solidFill>
                <a:srgbClr val="56BCC7"/>
              </a:solidFill>
              <a:latin typeface="Poppins Black"/>
              <a:ea typeface="Poppins Black"/>
              <a:cs typeface="Poppins Black"/>
              <a:sym typeface="Poppins Black"/>
            </a:endParaRPr>
          </a:p>
        </p:txBody>
      </p:sp>
      <p:sp>
        <p:nvSpPr>
          <p:cNvPr id="275" name="Google Shape;275;p25"/>
          <p:cNvSpPr txBox="1"/>
          <p:nvPr>
            <p:ph type="title"/>
          </p:nvPr>
        </p:nvSpPr>
        <p:spPr>
          <a:xfrm>
            <a:off x="3519256" y="1977535"/>
            <a:ext cx="1958700" cy="11622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833C0B"/>
              </a:buClr>
              <a:buSzPts val="2970"/>
              <a:buFont typeface="Century Gothic"/>
              <a:buNone/>
            </a:pPr>
            <a:r>
              <a:rPr lang="en" sz="2100">
                <a:solidFill>
                  <a:srgbClr val="95B721"/>
                </a:solidFill>
                <a:latin typeface="Poppins Black"/>
                <a:ea typeface="Poppins Black"/>
                <a:cs typeface="Poppins Black"/>
                <a:sym typeface="Poppins Black"/>
              </a:rPr>
              <a:t>OFFSETTING REVENUES</a:t>
            </a:r>
            <a:endParaRPr sz="2100">
              <a:solidFill>
                <a:srgbClr val="95B721"/>
              </a:solidFill>
              <a:latin typeface="Poppins Black"/>
              <a:ea typeface="Poppins Black"/>
              <a:cs typeface="Poppins Black"/>
              <a:sym typeface="Poppins Black"/>
            </a:endParaRPr>
          </a:p>
        </p:txBody>
      </p:sp>
      <p:sp>
        <p:nvSpPr>
          <p:cNvPr id="276" name="Google Shape;276;p25"/>
          <p:cNvSpPr txBox="1"/>
          <p:nvPr>
            <p:ph type="title"/>
          </p:nvPr>
        </p:nvSpPr>
        <p:spPr>
          <a:xfrm>
            <a:off x="6719263" y="1977535"/>
            <a:ext cx="1958700" cy="1162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100">
                <a:solidFill>
                  <a:schemeClr val="accent4"/>
                </a:solidFill>
                <a:latin typeface="Poppins Black"/>
                <a:ea typeface="Poppins Black"/>
                <a:cs typeface="Poppins Black"/>
                <a:sym typeface="Poppins Black"/>
              </a:rPr>
              <a:t>DISTRICT EDUCATION SPENDING</a:t>
            </a:r>
            <a:endParaRPr sz="2100">
              <a:solidFill>
                <a:schemeClr val="accent4"/>
              </a:solidFill>
              <a:latin typeface="Poppins Black"/>
              <a:ea typeface="Poppins Black"/>
              <a:cs typeface="Poppins Black"/>
              <a:sym typeface="Poppins Black"/>
            </a:endParaRPr>
          </a:p>
        </p:txBody>
      </p:sp>
      <p:sp>
        <p:nvSpPr>
          <p:cNvPr id="277" name="Google Shape;277;p25"/>
          <p:cNvSpPr/>
          <p:nvPr/>
        </p:nvSpPr>
        <p:spPr>
          <a:xfrm>
            <a:off x="3227300" y="-1176625"/>
            <a:ext cx="7950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25"/>
          <p:cNvSpPr/>
          <p:nvPr/>
        </p:nvSpPr>
        <p:spPr>
          <a:xfrm>
            <a:off x="5600" y="0"/>
            <a:ext cx="9144000" cy="896400"/>
          </a:xfrm>
          <a:prstGeom prst="rect">
            <a:avLst/>
          </a:prstGeom>
          <a:solidFill>
            <a:srgbClr val="1B3859"/>
          </a:solidFill>
          <a:ln cap="flat" cmpd="sng" w="9525">
            <a:solidFill>
              <a:srgbClr val="1B38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25"/>
          <p:cNvSpPr txBox="1"/>
          <p:nvPr>
            <p:ph type="title"/>
          </p:nvPr>
        </p:nvSpPr>
        <p:spPr>
          <a:xfrm>
            <a:off x="0" y="79100"/>
            <a:ext cx="9144000" cy="660600"/>
          </a:xfrm>
          <a:prstGeom prst="rect">
            <a:avLst/>
          </a:prstGeom>
          <a:noFill/>
          <a:ln>
            <a:noFill/>
          </a:ln>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833C0B"/>
              </a:buClr>
              <a:buSzPts val="3300"/>
              <a:buFont typeface="Century Gothic"/>
              <a:buNone/>
            </a:pPr>
            <a:r>
              <a:rPr lang="en">
                <a:solidFill>
                  <a:schemeClr val="lt1"/>
                </a:solidFill>
                <a:latin typeface="Poppins Black"/>
                <a:ea typeface="Poppins Black"/>
                <a:cs typeface="Poppins Black"/>
                <a:sym typeface="Poppins Black"/>
              </a:rPr>
              <a:t>HUUSD</a:t>
            </a:r>
            <a:r>
              <a:rPr i="0" lang="en" u="none" cap="none" strike="noStrike">
                <a:solidFill>
                  <a:schemeClr val="lt1"/>
                </a:solidFill>
                <a:latin typeface="Poppins Black"/>
                <a:ea typeface="Poppins Black"/>
                <a:cs typeface="Poppins Black"/>
                <a:sym typeface="Poppins Black"/>
              </a:rPr>
              <a:t> Education Spending</a:t>
            </a:r>
            <a:endParaRPr>
              <a:solidFill>
                <a:schemeClr val="lt1"/>
              </a:solidFill>
              <a:latin typeface="Poppins Black"/>
              <a:ea typeface="Poppins Black"/>
              <a:cs typeface="Poppins Black"/>
              <a:sym typeface="Poppins Black"/>
            </a:endParaRPr>
          </a:p>
        </p:txBody>
      </p:sp>
      <p:sp>
        <p:nvSpPr>
          <p:cNvPr id="280" name="Google Shape;280;p25"/>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6"/>
          <p:cNvSpPr/>
          <p:nvPr/>
        </p:nvSpPr>
        <p:spPr>
          <a:xfrm>
            <a:off x="5600" y="0"/>
            <a:ext cx="9144000" cy="800100"/>
          </a:xfrm>
          <a:prstGeom prst="rect">
            <a:avLst/>
          </a:prstGeom>
          <a:solidFill>
            <a:srgbClr val="1B3859"/>
          </a:solidFill>
          <a:ln cap="flat" cmpd="sng" w="9525">
            <a:solidFill>
              <a:srgbClr val="1B38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txBox="1"/>
          <p:nvPr>
            <p:ph type="title"/>
          </p:nvPr>
        </p:nvSpPr>
        <p:spPr>
          <a:xfrm>
            <a:off x="-100" y="6650"/>
            <a:ext cx="9144000" cy="8001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85000"/>
              </a:lnSpc>
              <a:spcBef>
                <a:spcPts val="0"/>
              </a:spcBef>
              <a:spcAft>
                <a:spcPts val="0"/>
              </a:spcAft>
              <a:buClr>
                <a:srgbClr val="833C0B"/>
              </a:buClr>
              <a:buSzPct val="93104"/>
              <a:buFont typeface="Century Gothic"/>
              <a:buNone/>
            </a:pPr>
            <a:r>
              <a:rPr i="0" lang="en" sz="3222" u="none" cap="none" strike="noStrike">
                <a:solidFill>
                  <a:schemeClr val="lt1"/>
                </a:solidFill>
                <a:latin typeface="Poppins Black"/>
                <a:ea typeface="Poppins Black"/>
                <a:cs typeface="Poppins Black"/>
                <a:sym typeface="Poppins Black"/>
              </a:rPr>
              <a:t>Calculation for </a:t>
            </a:r>
            <a:r>
              <a:rPr i="0" lang="en" sz="3222" u="sng" cap="none" strike="noStrike">
                <a:solidFill>
                  <a:schemeClr val="lt1"/>
                </a:solidFill>
                <a:latin typeface="Poppins Black"/>
                <a:ea typeface="Poppins Black"/>
                <a:cs typeface="Poppins Black"/>
                <a:sym typeface="Poppins Black"/>
              </a:rPr>
              <a:t>District</a:t>
            </a:r>
            <a:r>
              <a:rPr i="0" lang="en" sz="3222" u="none" cap="none" strike="noStrike">
                <a:solidFill>
                  <a:schemeClr val="lt1"/>
                </a:solidFill>
                <a:latin typeface="Poppins Black"/>
                <a:ea typeface="Poppins Black"/>
                <a:cs typeface="Poppins Black"/>
                <a:sym typeface="Poppins Black"/>
              </a:rPr>
              <a:t> Homestead Tax Rate</a:t>
            </a:r>
            <a:endParaRPr sz="3522">
              <a:solidFill>
                <a:schemeClr val="lt1"/>
              </a:solidFill>
              <a:latin typeface="Poppins Black"/>
              <a:ea typeface="Poppins Black"/>
              <a:cs typeface="Poppins Black"/>
              <a:sym typeface="Poppins Black"/>
            </a:endParaRPr>
          </a:p>
        </p:txBody>
      </p:sp>
      <p:sp>
        <p:nvSpPr>
          <p:cNvPr id="287" name="Google Shape;287;p26"/>
          <p:cNvSpPr txBox="1"/>
          <p:nvPr/>
        </p:nvSpPr>
        <p:spPr>
          <a:xfrm>
            <a:off x="156875" y="4296325"/>
            <a:ext cx="8819100" cy="5925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385623"/>
              </a:buClr>
              <a:buSzPts val="1400"/>
              <a:buFont typeface="Arial"/>
              <a:buNone/>
            </a:pPr>
            <a:r>
              <a:rPr lang="en" sz="1300">
                <a:solidFill>
                  <a:schemeClr val="dk1"/>
                </a:solidFill>
                <a:latin typeface="Century Gothic"/>
                <a:ea typeface="Century Gothic"/>
                <a:cs typeface="Century Gothic"/>
                <a:sym typeface="Century Gothic"/>
              </a:rPr>
              <a:t>LTW ADM</a:t>
            </a:r>
            <a:r>
              <a:rPr b="0" i="0" lang="en" sz="1300" u="none" cap="none" strike="noStrike">
                <a:solidFill>
                  <a:schemeClr val="dk1"/>
                </a:solidFill>
                <a:latin typeface="Century Gothic"/>
                <a:ea typeface="Century Gothic"/>
                <a:cs typeface="Century Gothic"/>
                <a:sym typeface="Century Gothic"/>
              </a:rPr>
              <a:t> = Factors state assesses based upon cost to educate a student.  For example a high school student has a higher factor since they are more expensive to educate than a graded school student. </a:t>
            </a:r>
            <a:endParaRPr b="0" i="0" sz="1300" u="none" cap="none" strike="noStrike">
              <a:solidFill>
                <a:srgbClr val="000000"/>
              </a:solidFill>
              <a:latin typeface="Arial"/>
              <a:ea typeface="Arial"/>
              <a:cs typeface="Arial"/>
              <a:sym typeface="Arial"/>
            </a:endParaRPr>
          </a:p>
        </p:txBody>
      </p:sp>
      <p:pic>
        <p:nvPicPr>
          <p:cNvPr id="288" name="Google Shape;288;p26"/>
          <p:cNvPicPr preferRelativeResize="0"/>
          <p:nvPr/>
        </p:nvPicPr>
        <p:blipFill rotWithShape="1">
          <a:blip r:embed="rId3">
            <a:alphaModFix/>
          </a:blip>
          <a:srcRect b="53367" l="2811" r="5631" t="16654"/>
          <a:stretch/>
        </p:blipFill>
        <p:spPr>
          <a:xfrm>
            <a:off x="156875" y="757300"/>
            <a:ext cx="8819102" cy="1530220"/>
          </a:xfrm>
          <a:prstGeom prst="rect">
            <a:avLst/>
          </a:prstGeom>
          <a:noFill/>
          <a:ln>
            <a:noFill/>
          </a:ln>
        </p:spPr>
      </p:pic>
      <p:sp>
        <p:nvSpPr>
          <p:cNvPr id="289" name="Google Shape;289;p26"/>
          <p:cNvSpPr txBox="1"/>
          <p:nvPr/>
        </p:nvSpPr>
        <p:spPr>
          <a:xfrm>
            <a:off x="224400" y="1068600"/>
            <a:ext cx="1759500" cy="103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89723"/>
                </a:solidFill>
                <a:latin typeface="Poppins Black"/>
                <a:ea typeface="Poppins Black"/>
                <a:cs typeface="Poppins Black"/>
                <a:sym typeface="Poppins Black"/>
              </a:rPr>
              <a:t>DISTRICT</a:t>
            </a:r>
            <a:endParaRPr sz="1800">
              <a:solidFill>
                <a:srgbClr val="F89723"/>
              </a:solidFill>
              <a:latin typeface="Poppins Black"/>
              <a:ea typeface="Poppins Black"/>
              <a:cs typeface="Poppins Black"/>
              <a:sym typeface="Poppins Black"/>
            </a:endParaRPr>
          </a:p>
          <a:p>
            <a:pPr indent="0" lvl="0" marL="0" rtl="0" algn="ctr">
              <a:spcBef>
                <a:spcPts val="0"/>
              </a:spcBef>
              <a:spcAft>
                <a:spcPts val="0"/>
              </a:spcAft>
              <a:buNone/>
            </a:pPr>
            <a:r>
              <a:rPr lang="en" sz="1800">
                <a:solidFill>
                  <a:srgbClr val="F89723"/>
                </a:solidFill>
                <a:latin typeface="Poppins Black"/>
                <a:ea typeface="Poppins Black"/>
                <a:cs typeface="Poppins Black"/>
                <a:sym typeface="Poppins Black"/>
              </a:rPr>
              <a:t>EDUCATION</a:t>
            </a:r>
            <a:endParaRPr sz="1800">
              <a:solidFill>
                <a:srgbClr val="F89723"/>
              </a:solidFill>
              <a:latin typeface="Poppins Black"/>
              <a:ea typeface="Poppins Black"/>
              <a:cs typeface="Poppins Black"/>
              <a:sym typeface="Poppins Black"/>
            </a:endParaRPr>
          </a:p>
          <a:p>
            <a:pPr indent="0" lvl="0" marL="0" rtl="0" algn="ctr">
              <a:spcBef>
                <a:spcPts val="0"/>
              </a:spcBef>
              <a:spcAft>
                <a:spcPts val="0"/>
              </a:spcAft>
              <a:buNone/>
            </a:pPr>
            <a:r>
              <a:rPr lang="en" sz="1800">
                <a:solidFill>
                  <a:srgbClr val="F89723"/>
                </a:solidFill>
                <a:latin typeface="Poppins Black"/>
                <a:ea typeface="Poppins Black"/>
                <a:cs typeface="Poppins Black"/>
                <a:sym typeface="Poppins Black"/>
              </a:rPr>
              <a:t>SPENDING</a:t>
            </a:r>
            <a:endParaRPr sz="1800">
              <a:solidFill>
                <a:srgbClr val="F89723"/>
              </a:solidFill>
              <a:latin typeface="Poppins Black"/>
              <a:ea typeface="Poppins Black"/>
              <a:cs typeface="Poppins Black"/>
              <a:sym typeface="Poppins Black"/>
            </a:endParaRPr>
          </a:p>
        </p:txBody>
      </p:sp>
      <p:sp>
        <p:nvSpPr>
          <p:cNvPr id="290" name="Google Shape;290;p26"/>
          <p:cNvSpPr txBox="1"/>
          <p:nvPr/>
        </p:nvSpPr>
        <p:spPr>
          <a:xfrm>
            <a:off x="3020550" y="2287525"/>
            <a:ext cx="1938900" cy="5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Poppins Black"/>
                <a:ea typeface="Poppins Black"/>
                <a:cs typeface="Poppins Black"/>
                <a:sym typeface="Poppins Black"/>
              </a:rPr>
              <a:t>DISTRICT LTW ADM</a:t>
            </a:r>
            <a:endParaRPr sz="1300">
              <a:solidFill>
                <a:schemeClr val="dk1"/>
              </a:solidFill>
              <a:latin typeface="Poppins Black"/>
              <a:ea typeface="Poppins Black"/>
              <a:cs typeface="Poppins Black"/>
              <a:sym typeface="Poppins Black"/>
            </a:endParaRPr>
          </a:p>
          <a:p>
            <a:pPr indent="0" lvl="0" marL="0" rtl="0" algn="ctr">
              <a:spcBef>
                <a:spcPts val="0"/>
              </a:spcBef>
              <a:spcAft>
                <a:spcPts val="0"/>
              </a:spcAft>
              <a:buNone/>
            </a:pPr>
            <a:r>
              <a:rPr i="1" lang="en" sz="900">
                <a:solidFill>
                  <a:schemeClr val="dk1"/>
                </a:solidFill>
                <a:latin typeface="Poppins Black"/>
                <a:ea typeface="Poppins Black"/>
                <a:cs typeface="Poppins Black"/>
                <a:sym typeface="Poppins Black"/>
              </a:rPr>
              <a:t>(Long Term Weighted Average Daily Membership)</a:t>
            </a:r>
            <a:endParaRPr i="1" sz="900">
              <a:solidFill>
                <a:schemeClr val="dk1"/>
              </a:solidFill>
              <a:latin typeface="Poppins Black"/>
              <a:ea typeface="Poppins Black"/>
              <a:cs typeface="Poppins Black"/>
              <a:sym typeface="Poppins Black"/>
            </a:endParaRPr>
          </a:p>
        </p:txBody>
      </p:sp>
      <p:pic>
        <p:nvPicPr>
          <p:cNvPr id="291" name="Google Shape;291;p26"/>
          <p:cNvPicPr preferRelativeResize="0"/>
          <p:nvPr/>
        </p:nvPicPr>
        <p:blipFill rotWithShape="1">
          <a:blip r:embed="rId4">
            <a:alphaModFix/>
          </a:blip>
          <a:srcRect b="0" l="1534" r="1987" t="73445"/>
          <a:stretch/>
        </p:blipFill>
        <p:spPr>
          <a:xfrm>
            <a:off x="156875" y="2908200"/>
            <a:ext cx="8819102" cy="1365387"/>
          </a:xfrm>
          <a:prstGeom prst="rect">
            <a:avLst/>
          </a:prstGeom>
          <a:noFill/>
          <a:ln>
            <a:noFill/>
          </a:ln>
        </p:spPr>
      </p:pic>
      <p:sp>
        <p:nvSpPr>
          <p:cNvPr id="292" name="Google Shape;292;p26"/>
          <p:cNvSpPr txBox="1"/>
          <p:nvPr/>
        </p:nvSpPr>
        <p:spPr>
          <a:xfrm>
            <a:off x="4407225" y="3048025"/>
            <a:ext cx="1714800" cy="10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89723"/>
                </a:solidFill>
                <a:latin typeface="Poppins Black"/>
                <a:ea typeface="Poppins Black"/>
                <a:cs typeface="Poppins Black"/>
                <a:sym typeface="Poppins Black"/>
              </a:rPr>
              <a:t>STATE DOLLAR EQUIVALENT YIELD RATE</a:t>
            </a:r>
            <a:endParaRPr sz="1600">
              <a:solidFill>
                <a:srgbClr val="F89723"/>
              </a:solidFill>
              <a:latin typeface="Poppins Black"/>
              <a:ea typeface="Poppins Black"/>
              <a:cs typeface="Poppins Black"/>
              <a:sym typeface="Poppins Black"/>
            </a:endParaRPr>
          </a:p>
        </p:txBody>
      </p:sp>
      <p:sp>
        <p:nvSpPr>
          <p:cNvPr id="293" name="Google Shape;293;p26"/>
          <p:cNvSpPr txBox="1"/>
          <p:nvPr/>
        </p:nvSpPr>
        <p:spPr>
          <a:xfrm>
            <a:off x="7261175" y="3048025"/>
            <a:ext cx="1670400" cy="10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56BCC7"/>
                </a:solidFill>
                <a:latin typeface="Poppins Black"/>
                <a:ea typeface="Poppins Black"/>
                <a:cs typeface="Poppins Black"/>
                <a:sym typeface="Poppins Black"/>
              </a:rPr>
              <a:t>HUUSD</a:t>
            </a:r>
            <a:r>
              <a:rPr lang="en" sz="1600">
                <a:solidFill>
                  <a:srgbClr val="56BCC7"/>
                </a:solidFill>
                <a:latin typeface="Poppins Black"/>
                <a:ea typeface="Poppins Black"/>
                <a:cs typeface="Poppins Black"/>
                <a:sym typeface="Poppins Black"/>
              </a:rPr>
              <a:t> HOMESTEAD TAX RATE</a:t>
            </a:r>
            <a:endParaRPr sz="1600">
              <a:solidFill>
                <a:srgbClr val="56BCC7"/>
              </a:solidFill>
              <a:latin typeface="Poppins Black"/>
              <a:ea typeface="Poppins Black"/>
              <a:cs typeface="Poppins Black"/>
              <a:sym typeface="Poppins Black"/>
            </a:endParaRPr>
          </a:p>
        </p:txBody>
      </p:sp>
      <p:sp>
        <p:nvSpPr>
          <p:cNvPr id="294" name="Google Shape;294;p26"/>
          <p:cNvSpPr txBox="1"/>
          <p:nvPr/>
        </p:nvSpPr>
        <p:spPr>
          <a:xfrm>
            <a:off x="5987275" y="1032300"/>
            <a:ext cx="1822200" cy="99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500">
                <a:solidFill>
                  <a:srgbClr val="94B621"/>
                </a:solidFill>
                <a:latin typeface="Poppins Black"/>
                <a:ea typeface="Poppins Black"/>
                <a:cs typeface="Poppins Black"/>
                <a:sym typeface="Poppins Black"/>
              </a:rPr>
              <a:t>EDUCATION SPENDING PER LTW ADM </a:t>
            </a:r>
            <a:endParaRPr sz="1500">
              <a:solidFill>
                <a:srgbClr val="94B621"/>
              </a:solidFill>
              <a:latin typeface="Poppins Black"/>
              <a:ea typeface="Poppins Black"/>
              <a:cs typeface="Poppins Black"/>
              <a:sym typeface="Poppins Black"/>
            </a:endParaRPr>
          </a:p>
          <a:p>
            <a:pPr indent="0" lvl="0" marL="0" rtl="0" algn="ctr">
              <a:spcBef>
                <a:spcPts val="0"/>
              </a:spcBef>
              <a:spcAft>
                <a:spcPts val="0"/>
              </a:spcAft>
              <a:buClr>
                <a:schemeClr val="dk1"/>
              </a:buClr>
              <a:buSzPts val="1100"/>
              <a:buFont typeface="Arial"/>
              <a:buNone/>
            </a:pPr>
            <a:r>
              <a:rPr i="1" lang="en" sz="800">
                <a:solidFill>
                  <a:srgbClr val="94B621"/>
                </a:solidFill>
                <a:latin typeface="Poppins Black"/>
                <a:ea typeface="Poppins Black"/>
                <a:cs typeface="Poppins Black"/>
                <a:sym typeface="Poppins Black"/>
              </a:rPr>
              <a:t>(Long Term Weighted Average Daily Membership)</a:t>
            </a:r>
            <a:endParaRPr i="1" sz="800">
              <a:solidFill>
                <a:srgbClr val="94B621"/>
              </a:solidFill>
              <a:latin typeface="Poppins Black"/>
              <a:ea typeface="Poppins Black"/>
              <a:cs typeface="Poppins Black"/>
              <a:sym typeface="Poppins Black"/>
            </a:endParaRPr>
          </a:p>
          <a:p>
            <a:pPr indent="0" lvl="0" marL="0" rtl="0" algn="ctr">
              <a:spcBef>
                <a:spcPts val="0"/>
              </a:spcBef>
              <a:spcAft>
                <a:spcPts val="0"/>
              </a:spcAft>
              <a:buNone/>
            </a:pPr>
            <a:r>
              <a:t/>
            </a:r>
            <a:endParaRPr sz="1800">
              <a:solidFill>
                <a:srgbClr val="94B621"/>
              </a:solidFill>
              <a:latin typeface="Poppins Black"/>
              <a:ea typeface="Poppins Black"/>
              <a:cs typeface="Poppins Black"/>
              <a:sym typeface="Poppins Black"/>
            </a:endParaRPr>
          </a:p>
        </p:txBody>
      </p:sp>
      <p:sp>
        <p:nvSpPr>
          <p:cNvPr id="295" name="Google Shape;295;p26"/>
          <p:cNvSpPr txBox="1"/>
          <p:nvPr/>
        </p:nvSpPr>
        <p:spPr>
          <a:xfrm>
            <a:off x="189350" y="3011500"/>
            <a:ext cx="2037000" cy="107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94B621"/>
                </a:solidFill>
                <a:latin typeface="Poppins Black"/>
                <a:ea typeface="Poppins Black"/>
                <a:cs typeface="Poppins Black"/>
                <a:sym typeface="Poppins Black"/>
              </a:rPr>
              <a:t>EDUCATION SPENDING PER </a:t>
            </a:r>
            <a:endParaRPr sz="1500">
              <a:solidFill>
                <a:srgbClr val="94B621"/>
              </a:solidFill>
              <a:latin typeface="Poppins Black"/>
              <a:ea typeface="Poppins Black"/>
              <a:cs typeface="Poppins Black"/>
              <a:sym typeface="Poppins Black"/>
            </a:endParaRPr>
          </a:p>
          <a:p>
            <a:pPr indent="0" lvl="0" marL="0" rtl="0" algn="ctr">
              <a:spcBef>
                <a:spcPts val="0"/>
              </a:spcBef>
              <a:spcAft>
                <a:spcPts val="0"/>
              </a:spcAft>
              <a:buNone/>
            </a:pPr>
            <a:r>
              <a:rPr lang="en" sz="1500">
                <a:solidFill>
                  <a:srgbClr val="94B621"/>
                </a:solidFill>
                <a:latin typeface="Poppins Black"/>
                <a:ea typeface="Poppins Black"/>
                <a:cs typeface="Poppins Black"/>
                <a:sym typeface="Poppins Black"/>
              </a:rPr>
              <a:t>LTW ADM </a:t>
            </a:r>
            <a:endParaRPr sz="1500">
              <a:solidFill>
                <a:srgbClr val="94B621"/>
              </a:solidFill>
              <a:latin typeface="Poppins Black"/>
              <a:ea typeface="Poppins Black"/>
              <a:cs typeface="Poppins Black"/>
              <a:sym typeface="Poppins Black"/>
            </a:endParaRPr>
          </a:p>
          <a:p>
            <a:pPr indent="0" lvl="0" marL="0" rtl="0" algn="ctr">
              <a:spcBef>
                <a:spcPts val="0"/>
              </a:spcBef>
              <a:spcAft>
                <a:spcPts val="0"/>
              </a:spcAft>
              <a:buNone/>
            </a:pPr>
            <a:r>
              <a:rPr i="1" lang="en" sz="800">
                <a:solidFill>
                  <a:srgbClr val="94B621"/>
                </a:solidFill>
                <a:latin typeface="Poppins Black"/>
                <a:ea typeface="Poppins Black"/>
                <a:cs typeface="Poppins Black"/>
                <a:sym typeface="Poppins Black"/>
              </a:rPr>
              <a:t>(Long Term Weighted Average Daily Membership)</a:t>
            </a:r>
            <a:endParaRPr i="1" sz="800">
              <a:solidFill>
                <a:srgbClr val="94B621"/>
              </a:solidFill>
              <a:latin typeface="Poppins Black"/>
              <a:ea typeface="Poppins Black"/>
              <a:cs typeface="Poppins Black"/>
              <a:sym typeface="Poppins Black"/>
            </a:endParaRPr>
          </a:p>
          <a:p>
            <a:pPr indent="0" lvl="0" marL="0" rtl="0" algn="ctr">
              <a:spcBef>
                <a:spcPts val="0"/>
              </a:spcBef>
              <a:spcAft>
                <a:spcPts val="0"/>
              </a:spcAft>
              <a:buNone/>
            </a:pPr>
            <a:r>
              <a:t/>
            </a:r>
            <a:endParaRPr sz="1800">
              <a:solidFill>
                <a:srgbClr val="94B621"/>
              </a:solidFill>
              <a:latin typeface="Poppins Black"/>
              <a:ea typeface="Poppins Black"/>
              <a:cs typeface="Poppins Black"/>
              <a:sym typeface="Poppins Black"/>
            </a:endParaRPr>
          </a:p>
        </p:txBody>
      </p:sp>
      <p:sp>
        <p:nvSpPr>
          <p:cNvPr id="296" name="Google Shape;296;p26"/>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0" name="Shape 300"/>
        <p:cNvGrpSpPr/>
        <p:nvPr/>
      </p:nvGrpSpPr>
      <p:grpSpPr>
        <a:xfrm>
          <a:off x="0" y="0"/>
          <a:ext cx="0" cy="0"/>
          <a:chOff x="0" y="0"/>
          <a:chExt cx="0" cy="0"/>
        </a:xfrm>
      </p:grpSpPr>
      <p:grpSp>
        <p:nvGrpSpPr>
          <p:cNvPr id="301" name="Google Shape;301;p27"/>
          <p:cNvGrpSpPr/>
          <p:nvPr/>
        </p:nvGrpSpPr>
        <p:grpSpPr>
          <a:xfrm>
            <a:off x="381000" y="285750"/>
            <a:ext cx="8382000" cy="476400"/>
            <a:chOff x="0" y="0"/>
            <a:chExt cx="8382000" cy="476400"/>
          </a:xfrm>
        </p:grpSpPr>
        <p:sp>
          <p:nvSpPr>
            <p:cNvPr id="302" name="Google Shape;302;p27"/>
            <p:cNvSpPr/>
            <p:nvPr/>
          </p:nvSpPr>
          <p:spPr>
            <a:xfrm>
              <a:off x="0" y="0"/>
              <a:ext cx="8382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7"/>
            <p:cNvSpPr txBox="1"/>
            <p:nvPr/>
          </p:nvSpPr>
          <p:spPr>
            <a:xfrm>
              <a:off x="0" y="0"/>
              <a:ext cx="8382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FFFFFF"/>
                  </a:solidFill>
                  <a:latin typeface="Poppins ExtraBold"/>
                  <a:ea typeface="Poppins ExtraBold"/>
                  <a:cs typeface="Poppins ExtraBold"/>
                  <a:sym typeface="Poppins ExtraBold"/>
                </a:rPr>
                <a:t>What is the Yield?</a:t>
              </a:r>
              <a:endParaRPr b="0" sz="2600">
                <a:solidFill>
                  <a:srgbClr val="FFFFFF"/>
                </a:solidFill>
                <a:latin typeface="Poppins ExtraBold"/>
                <a:ea typeface="Poppins ExtraBold"/>
                <a:cs typeface="Poppins ExtraBold"/>
                <a:sym typeface="Poppins ExtraBold"/>
              </a:endParaRPr>
            </a:p>
          </p:txBody>
        </p:sp>
      </p:grpSp>
      <p:grpSp>
        <p:nvGrpSpPr>
          <p:cNvPr id="304" name="Google Shape;304;p27"/>
          <p:cNvGrpSpPr/>
          <p:nvPr/>
        </p:nvGrpSpPr>
        <p:grpSpPr>
          <a:xfrm>
            <a:off x="381000" y="904875"/>
            <a:ext cx="8382000" cy="952500"/>
            <a:chOff x="0" y="0"/>
            <a:chExt cx="8382000" cy="952500"/>
          </a:xfrm>
        </p:grpSpPr>
        <p:sp>
          <p:nvSpPr>
            <p:cNvPr id="305" name="Google Shape;305;p27"/>
            <p:cNvSpPr/>
            <p:nvPr/>
          </p:nvSpPr>
          <p:spPr>
            <a:xfrm>
              <a:off x="0" y="0"/>
              <a:ext cx="8382000" cy="952500"/>
            </a:xfrm>
            <a:prstGeom prst="roundRect">
              <a:avLst>
                <a:gd fmla="val 12000" name="adj"/>
              </a:avLst>
            </a:prstGeom>
            <a:solidFill>
              <a:srgbClr val="131E36"/>
            </a:solidFill>
            <a:ln cap="flat" cmpd="sng" w="14300">
              <a:solidFill>
                <a:srgbClr val="2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7"/>
            <p:cNvSpPr/>
            <p:nvPr/>
          </p:nvSpPr>
          <p:spPr>
            <a:xfrm>
              <a:off x="0" y="0"/>
              <a:ext cx="57300" cy="952500"/>
            </a:xfrm>
            <a:prstGeom prst="roundRect">
              <a:avLst>
                <a:gd fmla="val 50000" name="adj"/>
              </a:avLst>
            </a:prstGeom>
            <a:solidFill>
              <a:srgbClr val="56BC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7"/>
            <p:cNvSpPr txBox="1"/>
            <p:nvPr/>
          </p:nvSpPr>
          <p:spPr>
            <a:xfrm>
              <a:off x="228600" y="114300"/>
              <a:ext cx="7924800" cy="723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56BCC7"/>
                  </a:solidFill>
                  <a:latin typeface="Poppins"/>
                  <a:ea typeface="Poppins"/>
                  <a:cs typeface="Poppins"/>
                  <a:sym typeface="Poppins"/>
                </a:rPr>
                <a:t>DEFINITION</a:t>
              </a:r>
              <a:endParaRPr b="1" sz="950">
                <a:solidFill>
                  <a:srgbClr val="56BCC7"/>
                </a:solidFill>
                <a:latin typeface="Poppins"/>
                <a:ea typeface="Poppins"/>
                <a:cs typeface="Poppins"/>
                <a:sym typeface="Poppins"/>
              </a:endParaRPr>
            </a:p>
            <a:p>
              <a:pPr indent="0" lvl="0" marL="0" rtl="0" algn="l">
                <a:spcBef>
                  <a:spcPts val="300"/>
                </a:spcBef>
                <a:spcAft>
                  <a:spcPts val="0"/>
                </a:spcAft>
                <a:buNone/>
              </a:pPr>
              <a:r>
                <a:rPr b="0" lang="en" sz="1250">
                  <a:solidFill>
                    <a:srgbClr val="FFFFFF"/>
                  </a:solidFill>
                  <a:latin typeface="Poppins Medium"/>
                  <a:ea typeface="Poppins Medium"/>
                  <a:cs typeface="Poppins Medium"/>
                  <a:sym typeface="Poppins Medium"/>
                </a:rPr>
                <a:t>"The yield is the statewide benchmark used to translate a district's education spending per weighted pupil into a homestead education tax rate."</a:t>
              </a:r>
              <a:endParaRPr b="0" sz="1250">
                <a:solidFill>
                  <a:srgbClr val="FFFFFF"/>
                </a:solidFill>
                <a:latin typeface="Poppins Medium"/>
                <a:ea typeface="Poppins Medium"/>
                <a:cs typeface="Poppins Medium"/>
                <a:sym typeface="Poppins Medium"/>
              </a:endParaRPr>
            </a:p>
          </p:txBody>
        </p:sp>
      </p:grpSp>
      <p:grpSp>
        <p:nvGrpSpPr>
          <p:cNvPr id="308" name="Google Shape;308;p27"/>
          <p:cNvGrpSpPr/>
          <p:nvPr/>
        </p:nvGrpSpPr>
        <p:grpSpPr>
          <a:xfrm>
            <a:off x="381000" y="2047875"/>
            <a:ext cx="4048200" cy="1714500"/>
            <a:chOff x="0" y="0"/>
            <a:chExt cx="4048200" cy="1714500"/>
          </a:xfrm>
        </p:grpSpPr>
        <p:sp>
          <p:nvSpPr>
            <p:cNvPr id="309" name="Google Shape;309;p27"/>
            <p:cNvSpPr/>
            <p:nvPr/>
          </p:nvSpPr>
          <p:spPr>
            <a:xfrm>
              <a:off x="0" y="0"/>
              <a:ext cx="4048200" cy="1714500"/>
            </a:xfrm>
            <a:prstGeom prst="roundRect">
              <a:avLst>
                <a:gd fmla="val 6666" name="adj"/>
              </a:avLst>
            </a:prstGeom>
            <a:solidFill>
              <a:srgbClr val="131E36"/>
            </a:solidFill>
            <a:ln cap="flat" cmpd="sng" w="14300">
              <a:solidFill>
                <a:srgbClr val="2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7"/>
            <p:cNvSpPr/>
            <p:nvPr/>
          </p:nvSpPr>
          <p:spPr>
            <a:xfrm>
              <a:off x="0" y="0"/>
              <a:ext cx="4048200" cy="47700"/>
            </a:xfrm>
            <a:prstGeom prst="roundRect">
              <a:avLst>
                <a:gd fmla="val 50000"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7"/>
            <p:cNvSpPr txBox="1"/>
            <p:nvPr/>
          </p:nvSpPr>
          <p:spPr>
            <a:xfrm>
              <a:off x="228600" y="190500"/>
              <a:ext cx="35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950">
                  <a:solidFill>
                    <a:srgbClr val="FFAB40"/>
                  </a:solidFill>
                  <a:latin typeface="Poppins ExtraBold"/>
                  <a:ea typeface="Poppins ExtraBold"/>
                  <a:cs typeface="Poppins ExtraBold"/>
                  <a:sym typeface="Poppins ExtraBold"/>
                </a:rPr>
                <a:t>FY2027 BENCHMARK</a:t>
              </a:r>
              <a:endParaRPr b="0" sz="950">
                <a:solidFill>
                  <a:srgbClr val="FFAB40"/>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3400">
                  <a:solidFill>
                    <a:srgbClr val="FFFFFF"/>
                  </a:solidFill>
                  <a:latin typeface="Poppins ExtraBold"/>
                  <a:ea typeface="Poppins ExtraBold"/>
                  <a:cs typeface="Poppins ExtraBold"/>
                  <a:sym typeface="Poppins ExtraBold"/>
                </a:rPr>
                <a:t>$9,401</a:t>
              </a:r>
              <a:endParaRPr b="0" sz="3400">
                <a:solidFill>
                  <a:srgbClr val="FFFFFF"/>
                </a:solidFill>
                <a:latin typeface="Poppins ExtraBold"/>
                <a:ea typeface="Poppins ExtraBold"/>
                <a:cs typeface="Poppins ExtraBold"/>
                <a:sym typeface="Poppins ExtraBold"/>
              </a:endParaRPr>
            </a:p>
            <a:p>
              <a:pPr indent="0" lvl="0" marL="0" rtl="0" algn="l">
                <a:spcBef>
                  <a:spcPts val="450"/>
                </a:spcBef>
                <a:spcAft>
                  <a:spcPts val="0"/>
                </a:spcAft>
                <a:buNone/>
              </a:pPr>
              <a:r>
                <a:rPr b="0" lang="en" sz="1050">
                  <a:solidFill>
                    <a:srgbClr val="94A3B8"/>
                  </a:solidFill>
                  <a:latin typeface="Poppins"/>
                  <a:ea typeface="Poppins"/>
                  <a:cs typeface="Poppins"/>
                  <a:sym typeface="Poppins"/>
                </a:rPr>
                <a:t>For </a:t>
              </a:r>
              <a:r>
                <a:rPr b="1" lang="en" sz="1050">
                  <a:solidFill>
                    <a:srgbClr val="FFFFFF"/>
                  </a:solidFill>
                  <a:latin typeface="Poppins"/>
                  <a:ea typeface="Poppins"/>
                  <a:cs typeface="Poppins"/>
                  <a:sym typeface="Poppins"/>
                </a:rPr>
                <a:t>FY2027, the property yield is $9,401</a:t>
              </a:r>
              <a:r>
                <a:rPr b="0" lang="en" sz="1050">
                  <a:solidFill>
                    <a:srgbClr val="94A3B8"/>
                  </a:solidFill>
                  <a:latin typeface="Poppins"/>
                  <a:ea typeface="Poppins"/>
                  <a:cs typeface="Poppins"/>
                  <a:sym typeface="Poppins"/>
                </a:rPr>
                <a:t>.</a:t>
              </a:r>
              <a:endParaRPr b="0" sz="1050">
                <a:solidFill>
                  <a:srgbClr val="94A3B8"/>
                </a:solidFill>
                <a:latin typeface="Poppins"/>
                <a:ea typeface="Poppins"/>
                <a:cs typeface="Poppins"/>
                <a:sym typeface="Poppins"/>
              </a:endParaRPr>
            </a:p>
          </p:txBody>
        </p:sp>
      </p:grpSp>
      <p:grpSp>
        <p:nvGrpSpPr>
          <p:cNvPr id="312" name="Google Shape;312;p27"/>
          <p:cNvGrpSpPr/>
          <p:nvPr/>
        </p:nvGrpSpPr>
        <p:grpSpPr>
          <a:xfrm>
            <a:off x="4714875" y="2047875"/>
            <a:ext cx="4048200" cy="1714500"/>
            <a:chOff x="0" y="0"/>
            <a:chExt cx="4048200" cy="1714500"/>
          </a:xfrm>
        </p:grpSpPr>
        <p:sp>
          <p:nvSpPr>
            <p:cNvPr id="313" name="Google Shape;313;p27"/>
            <p:cNvSpPr/>
            <p:nvPr/>
          </p:nvSpPr>
          <p:spPr>
            <a:xfrm>
              <a:off x="0" y="0"/>
              <a:ext cx="4048200" cy="1714500"/>
            </a:xfrm>
            <a:prstGeom prst="roundRect">
              <a:avLst>
                <a:gd fmla="val 6666" name="adj"/>
              </a:avLst>
            </a:prstGeom>
            <a:solidFill>
              <a:srgbClr val="131E36"/>
            </a:solidFill>
            <a:ln cap="flat" cmpd="sng" w="14300">
              <a:solidFill>
                <a:srgbClr val="2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7"/>
            <p:cNvSpPr/>
            <p:nvPr/>
          </p:nvSpPr>
          <p:spPr>
            <a:xfrm>
              <a:off x="0" y="0"/>
              <a:ext cx="4048200" cy="47700"/>
            </a:xfrm>
            <a:prstGeom prst="roundRect">
              <a:avLst>
                <a:gd fmla="val 50000" name="adj"/>
              </a:avLst>
            </a:prstGeom>
            <a:solidFill>
              <a:srgbClr val="94B6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7"/>
            <p:cNvSpPr txBox="1"/>
            <p:nvPr/>
          </p:nvSpPr>
          <p:spPr>
            <a:xfrm>
              <a:off x="228600" y="190500"/>
              <a:ext cx="35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950">
                  <a:solidFill>
                    <a:srgbClr val="94B621"/>
                  </a:solidFill>
                  <a:latin typeface="Poppins ExtraBold"/>
                  <a:ea typeface="Poppins ExtraBold"/>
                  <a:cs typeface="Poppins ExtraBold"/>
                  <a:sym typeface="Poppins ExtraBold"/>
                </a:rPr>
                <a:t>VERMONT LAW DEFINITION</a:t>
              </a:r>
              <a:endParaRPr b="0" sz="950">
                <a:solidFill>
                  <a:srgbClr val="94B621"/>
                </a:solidFill>
                <a:latin typeface="Poppins ExtraBold"/>
                <a:ea typeface="Poppins ExtraBold"/>
                <a:cs typeface="Poppins ExtraBold"/>
                <a:sym typeface="Poppins ExtraBold"/>
              </a:endParaRPr>
            </a:p>
            <a:p>
              <a:pPr indent="0" lvl="0" marL="0" rtl="0" algn="l">
                <a:spcBef>
                  <a:spcPts val="600"/>
                </a:spcBef>
                <a:spcAft>
                  <a:spcPts val="0"/>
                </a:spcAft>
                <a:buNone/>
              </a:pPr>
              <a:r>
                <a:rPr b="0" lang="en" sz="1050">
                  <a:solidFill>
                    <a:srgbClr val="E2E8F0"/>
                  </a:solidFill>
                  <a:latin typeface="Poppins"/>
                  <a:ea typeface="Poppins"/>
                  <a:cs typeface="Poppins"/>
                  <a:sym typeface="Poppins"/>
                </a:rPr>
                <a:t>Vermont law defines the property yield as the amount of per-pupil education spending that would produce a </a:t>
              </a:r>
              <a:r>
                <a:rPr b="1" lang="en" sz="1050">
                  <a:solidFill>
                    <a:srgbClr val="FFFFFF"/>
                  </a:solidFill>
                  <a:latin typeface="Poppins"/>
                  <a:ea typeface="Poppins"/>
                  <a:cs typeface="Poppins"/>
                  <a:sym typeface="Poppins"/>
                </a:rPr>
                <a:t>$1.00 homestead tax rate per $100 of equalized education property value</a:t>
              </a:r>
              <a:r>
                <a:rPr b="0" lang="en" sz="1050">
                  <a:solidFill>
                    <a:srgbClr val="E2E8F0"/>
                  </a:solidFill>
                  <a:latin typeface="Poppins"/>
                  <a:ea typeface="Poppins"/>
                  <a:cs typeface="Poppins"/>
                  <a:sym typeface="Poppins"/>
                </a:rPr>
                <a:t>.</a:t>
              </a:r>
              <a:endParaRPr b="0" sz="1050">
                <a:solidFill>
                  <a:srgbClr val="E2E8F0"/>
                </a:solidFill>
                <a:latin typeface="Poppins"/>
                <a:ea typeface="Poppins"/>
                <a:cs typeface="Poppins"/>
                <a:sym typeface="Poppins"/>
              </a:endParaRPr>
            </a:p>
          </p:txBody>
        </p:sp>
      </p:grpSp>
      <p:grpSp>
        <p:nvGrpSpPr>
          <p:cNvPr id="316" name="Google Shape;316;p27"/>
          <p:cNvGrpSpPr/>
          <p:nvPr/>
        </p:nvGrpSpPr>
        <p:grpSpPr>
          <a:xfrm>
            <a:off x="381000" y="3857625"/>
            <a:ext cx="8382000" cy="904800"/>
            <a:chOff x="0" y="0"/>
            <a:chExt cx="8382000" cy="904800"/>
          </a:xfrm>
        </p:grpSpPr>
        <p:sp>
          <p:nvSpPr>
            <p:cNvPr id="317" name="Google Shape;317;p27"/>
            <p:cNvSpPr/>
            <p:nvPr/>
          </p:nvSpPr>
          <p:spPr>
            <a:xfrm>
              <a:off x="0" y="0"/>
              <a:ext cx="8382000" cy="904800"/>
            </a:xfrm>
            <a:prstGeom prst="roundRect">
              <a:avLst>
                <a:gd fmla="val 12631" name="adj"/>
              </a:avLst>
            </a:prstGeom>
            <a:solidFill>
              <a:srgbClr val="113023"/>
            </a:solidFill>
            <a:ln cap="flat" cmpd="sng" w="14300">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7"/>
            <p:cNvSpPr txBox="1"/>
            <p:nvPr/>
          </p:nvSpPr>
          <p:spPr>
            <a:xfrm>
              <a:off x="190500" y="114300"/>
              <a:ext cx="8001000" cy="676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4ADE80"/>
                  </a:solidFill>
                  <a:latin typeface="Poppins ExtraBold"/>
                  <a:ea typeface="Poppins ExtraBold"/>
                  <a:cs typeface="Poppins ExtraBold"/>
                  <a:sym typeface="Poppins ExtraBold"/>
                </a:rPr>
                <a:t>KEY EQUIVALENCE</a:t>
              </a:r>
              <a:endParaRPr b="0" sz="950">
                <a:solidFill>
                  <a:srgbClr val="4ADE80"/>
                </a:solidFill>
                <a:latin typeface="Poppins ExtraBold"/>
                <a:ea typeface="Poppins ExtraBold"/>
                <a:cs typeface="Poppins ExtraBold"/>
                <a:sym typeface="Poppins ExtraBold"/>
              </a:endParaRPr>
            </a:p>
            <a:p>
              <a:pPr indent="0" lvl="0" marL="0" rtl="0" algn="ctr">
                <a:spcBef>
                  <a:spcPts val="450"/>
                </a:spcBef>
                <a:spcAft>
                  <a:spcPts val="0"/>
                </a:spcAft>
                <a:buNone/>
              </a:pPr>
              <a:r>
                <a:rPr b="0" lang="en" sz="1700">
                  <a:solidFill>
                    <a:srgbClr val="4ADE80"/>
                  </a:solidFill>
                  <a:latin typeface="Poppins ExtraBold"/>
                  <a:ea typeface="Poppins ExtraBold"/>
                  <a:cs typeface="Poppins ExtraBold"/>
                  <a:sym typeface="Poppins ExtraBold"/>
                </a:rPr>
                <a:t>$9,401</a:t>
              </a:r>
              <a:r>
                <a:rPr b="1" lang="en" sz="1400">
                  <a:solidFill>
                    <a:srgbClr val="FFFFFF"/>
                  </a:solidFill>
                  <a:latin typeface="Poppins"/>
                  <a:ea typeface="Poppins"/>
                  <a:cs typeface="Poppins"/>
                  <a:sym typeface="Poppins"/>
                </a:rPr>
                <a:t> of education spending per weighted pupil  =  </a:t>
              </a:r>
              <a:r>
                <a:rPr b="0" lang="en" sz="1700">
                  <a:solidFill>
                    <a:srgbClr val="4ADE80"/>
                  </a:solidFill>
                  <a:latin typeface="Poppins ExtraBold"/>
                  <a:ea typeface="Poppins ExtraBold"/>
                  <a:cs typeface="Poppins ExtraBold"/>
                  <a:sym typeface="Poppins ExtraBold"/>
                </a:rPr>
                <a:t>$1.00</a:t>
              </a:r>
              <a:r>
                <a:rPr b="1" lang="en" sz="1400">
                  <a:solidFill>
                    <a:srgbClr val="FFFFFF"/>
                  </a:solidFill>
                  <a:latin typeface="Poppins"/>
                  <a:ea typeface="Poppins"/>
                  <a:cs typeface="Poppins"/>
                  <a:sym typeface="Poppins"/>
                </a:rPr>
                <a:t> tax rate</a:t>
              </a:r>
              <a:endParaRPr b="0" sz="950">
                <a:solidFill>
                  <a:srgbClr val="4ADE80"/>
                </a:solidFill>
                <a:latin typeface="Poppins ExtraBold"/>
                <a:ea typeface="Poppins ExtraBold"/>
                <a:cs typeface="Poppins ExtraBold"/>
                <a:sym typeface="Poppins ExtraBol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2" name="Shape 322"/>
        <p:cNvGrpSpPr/>
        <p:nvPr/>
      </p:nvGrpSpPr>
      <p:grpSpPr>
        <a:xfrm>
          <a:off x="0" y="0"/>
          <a:ext cx="0" cy="0"/>
          <a:chOff x="0" y="0"/>
          <a:chExt cx="0" cy="0"/>
        </a:xfrm>
      </p:grpSpPr>
      <p:sp>
        <p:nvSpPr>
          <p:cNvPr id="323" name="Google Shape;323;p28"/>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FFFFFF"/>
                </a:solidFill>
                <a:latin typeface="Poppins ExtraBold"/>
                <a:ea typeface="Poppins ExtraBold"/>
                <a:cs typeface="Poppins ExtraBold"/>
                <a:sym typeface="Poppins ExtraBold"/>
              </a:rPr>
              <a:t>What is the</a:t>
            </a:r>
            <a:r>
              <a:rPr lang="en" sz="2600">
                <a:solidFill>
                  <a:srgbClr val="FFFFFF"/>
                </a:solidFill>
                <a:latin typeface="Poppins ExtraBold"/>
                <a:ea typeface="Poppins ExtraBold"/>
                <a:cs typeface="Poppins ExtraBold"/>
                <a:sym typeface="Poppins ExtraBold"/>
              </a:rPr>
              <a:t> Purpose of the </a:t>
            </a:r>
            <a:r>
              <a:rPr b="0" lang="en" sz="2600">
                <a:solidFill>
                  <a:srgbClr val="FFFFFF"/>
                </a:solidFill>
                <a:latin typeface="Poppins ExtraBold"/>
                <a:ea typeface="Poppins ExtraBold"/>
                <a:cs typeface="Poppins ExtraBold"/>
                <a:sym typeface="Poppins ExtraBold"/>
              </a:rPr>
              <a:t>Dollar Yield?</a:t>
            </a:r>
            <a:endParaRPr b="0" sz="2600">
              <a:solidFill>
                <a:srgbClr val="FFFFFF"/>
              </a:solidFill>
              <a:latin typeface="Poppins ExtraBold"/>
              <a:ea typeface="Poppins ExtraBold"/>
              <a:cs typeface="Poppins ExtraBold"/>
              <a:sym typeface="Poppins ExtraBold"/>
            </a:endParaRPr>
          </a:p>
        </p:txBody>
      </p:sp>
      <p:grpSp>
        <p:nvGrpSpPr>
          <p:cNvPr id="324" name="Google Shape;324;p28"/>
          <p:cNvGrpSpPr/>
          <p:nvPr/>
        </p:nvGrpSpPr>
        <p:grpSpPr>
          <a:xfrm>
            <a:off x="381000" y="904875"/>
            <a:ext cx="2600400" cy="2095500"/>
            <a:chOff x="0" y="0"/>
            <a:chExt cx="2600400" cy="2095500"/>
          </a:xfrm>
        </p:grpSpPr>
        <p:sp>
          <p:nvSpPr>
            <p:cNvPr id="325" name="Google Shape;325;p28"/>
            <p:cNvSpPr/>
            <p:nvPr/>
          </p:nvSpPr>
          <p:spPr>
            <a:xfrm>
              <a:off x="0" y="0"/>
              <a:ext cx="2600400" cy="2095500"/>
            </a:xfrm>
            <a:prstGeom prst="roundRect">
              <a:avLst>
                <a:gd fmla="val 5454"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8"/>
            <p:cNvSpPr txBox="1"/>
            <p:nvPr/>
          </p:nvSpPr>
          <p:spPr>
            <a:xfrm>
              <a:off x="190500" y="238125"/>
              <a:ext cx="22194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94B621"/>
                  </a:solidFill>
                  <a:latin typeface="Poppins"/>
                  <a:ea typeface="Poppins"/>
                  <a:cs typeface="Poppins"/>
                  <a:sym typeface="Poppins"/>
                </a:rPr>
                <a:t>Purpose &amp; Scope</a:t>
              </a:r>
              <a:endParaRPr b="1" sz="1300">
                <a:solidFill>
                  <a:srgbClr val="94B621"/>
                </a:solidFill>
                <a:latin typeface="Poppins"/>
                <a:ea typeface="Poppins"/>
                <a:cs typeface="Poppins"/>
                <a:sym typeface="Poppins"/>
              </a:endParaRPr>
            </a:p>
            <a:p>
              <a:pPr indent="0" lvl="0" marL="0" rtl="0" algn="l">
                <a:spcBef>
                  <a:spcPts val="600"/>
                </a:spcBef>
                <a:spcAft>
                  <a:spcPts val="600"/>
                </a:spcAft>
                <a:buNone/>
              </a:pPr>
              <a:r>
                <a:rPr b="0" lang="en" sz="1050">
                  <a:solidFill>
                    <a:srgbClr val="E2E8F0"/>
                  </a:solidFill>
                  <a:latin typeface="Poppins"/>
                  <a:ea typeface="Poppins"/>
                  <a:cs typeface="Poppins"/>
                  <a:sym typeface="Poppins"/>
                </a:rPr>
                <a:t>Ensures there is enough money in the State Education Fund to fund all school district budgets (Education Spending portion).</a:t>
              </a:r>
              <a:endParaRPr b="1" sz="1050">
                <a:solidFill>
                  <a:srgbClr val="94B621"/>
                </a:solidFill>
                <a:latin typeface="Poppins"/>
                <a:ea typeface="Poppins"/>
                <a:cs typeface="Poppins"/>
                <a:sym typeface="Poppins"/>
              </a:endParaRPr>
            </a:p>
          </p:txBody>
        </p:sp>
      </p:grpSp>
      <p:sp>
        <p:nvSpPr>
          <p:cNvPr id="327" name="Google Shape;327;p28"/>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grpSp>
        <p:nvGrpSpPr>
          <p:cNvPr id="328" name="Google Shape;328;p28"/>
          <p:cNvGrpSpPr/>
          <p:nvPr/>
        </p:nvGrpSpPr>
        <p:grpSpPr>
          <a:xfrm>
            <a:off x="3267075" y="904875"/>
            <a:ext cx="2600400" cy="2095500"/>
            <a:chOff x="0" y="0"/>
            <a:chExt cx="2600400" cy="2095500"/>
          </a:xfrm>
        </p:grpSpPr>
        <p:sp>
          <p:nvSpPr>
            <p:cNvPr id="329" name="Google Shape;329;p28"/>
            <p:cNvSpPr/>
            <p:nvPr/>
          </p:nvSpPr>
          <p:spPr>
            <a:xfrm>
              <a:off x="0" y="0"/>
              <a:ext cx="2600400" cy="2095500"/>
            </a:xfrm>
            <a:prstGeom prst="roundRect">
              <a:avLst>
                <a:gd fmla="val 5454"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8"/>
            <p:cNvSpPr txBox="1"/>
            <p:nvPr/>
          </p:nvSpPr>
          <p:spPr>
            <a:xfrm>
              <a:off x="190500" y="238125"/>
              <a:ext cx="22194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56BCC7"/>
                  </a:solidFill>
                  <a:latin typeface="Poppins"/>
                  <a:ea typeface="Poppins"/>
                  <a:cs typeface="Poppins"/>
                  <a:sym typeface="Poppins"/>
                </a:rPr>
                <a:t>Calculation</a:t>
              </a:r>
              <a:endParaRPr b="1" sz="1300">
                <a:solidFill>
                  <a:srgbClr val="56BCC7"/>
                </a:solidFill>
                <a:latin typeface="Poppins"/>
                <a:ea typeface="Poppins"/>
                <a:cs typeface="Poppins"/>
                <a:sym typeface="Poppins"/>
              </a:endParaRPr>
            </a:p>
            <a:p>
              <a:pPr indent="0" lvl="0" marL="0" rtl="0" algn="l">
                <a:spcBef>
                  <a:spcPts val="600"/>
                </a:spcBef>
                <a:spcAft>
                  <a:spcPts val="600"/>
                </a:spcAft>
                <a:buNone/>
              </a:pPr>
              <a:r>
                <a:rPr b="0" lang="en" sz="1050">
                  <a:solidFill>
                    <a:srgbClr val="E2E8F0"/>
                  </a:solidFill>
                  <a:latin typeface="Poppins"/>
                  <a:ea typeface="Poppins"/>
                  <a:cs typeface="Poppins"/>
                  <a:sym typeface="Poppins"/>
                </a:rPr>
                <a:t>Calculated jointly by the Vermont Agency of Education working in coordination with the VT Department of Taxes.</a:t>
              </a:r>
              <a:endParaRPr b="1" sz="1050">
                <a:solidFill>
                  <a:srgbClr val="56BCC7"/>
                </a:solidFill>
                <a:latin typeface="Poppins"/>
                <a:ea typeface="Poppins"/>
                <a:cs typeface="Poppins"/>
                <a:sym typeface="Poppins"/>
              </a:endParaRPr>
            </a:p>
          </p:txBody>
        </p:sp>
      </p:grpSp>
      <p:grpSp>
        <p:nvGrpSpPr>
          <p:cNvPr id="331" name="Google Shape;331;p28"/>
          <p:cNvGrpSpPr/>
          <p:nvPr/>
        </p:nvGrpSpPr>
        <p:grpSpPr>
          <a:xfrm>
            <a:off x="6153150" y="904875"/>
            <a:ext cx="2610000" cy="2095500"/>
            <a:chOff x="0" y="0"/>
            <a:chExt cx="2610000" cy="2095500"/>
          </a:xfrm>
        </p:grpSpPr>
        <p:sp>
          <p:nvSpPr>
            <p:cNvPr id="332" name="Google Shape;332;p28"/>
            <p:cNvSpPr/>
            <p:nvPr/>
          </p:nvSpPr>
          <p:spPr>
            <a:xfrm>
              <a:off x="0" y="0"/>
              <a:ext cx="2610000" cy="2095500"/>
            </a:xfrm>
            <a:prstGeom prst="roundRect">
              <a:avLst>
                <a:gd fmla="val 5454"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8"/>
            <p:cNvSpPr txBox="1"/>
            <p:nvPr/>
          </p:nvSpPr>
          <p:spPr>
            <a:xfrm>
              <a:off x="190500" y="238125"/>
              <a:ext cx="22290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FFAB40"/>
                  </a:solidFill>
                  <a:latin typeface="Poppins"/>
                  <a:ea typeface="Poppins"/>
                  <a:cs typeface="Poppins"/>
                  <a:sym typeface="Poppins"/>
                </a:rPr>
                <a:t>Timeline</a:t>
              </a:r>
              <a:endParaRPr b="1" sz="1300">
                <a:solidFill>
                  <a:srgbClr val="FFAB40"/>
                </a:solidFill>
                <a:latin typeface="Poppins"/>
                <a:ea typeface="Poppins"/>
                <a:cs typeface="Poppins"/>
                <a:sym typeface="Poppins"/>
              </a:endParaRPr>
            </a:p>
            <a:p>
              <a:pPr indent="0" lvl="0" marL="0" rtl="0" algn="l">
                <a:spcBef>
                  <a:spcPts val="600"/>
                </a:spcBef>
                <a:spcAft>
                  <a:spcPts val="0"/>
                </a:spcAft>
                <a:buNone/>
              </a:pPr>
              <a:r>
                <a:rPr b="1" lang="en" sz="1050">
                  <a:solidFill>
                    <a:srgbClr val="FFFFFF"/>
                  </a:solidFill>
                  <a:latin typeface="Poppins"/>
                  <a:ea typeface="Poppins"/>
                  <a:cs typeface="Poppins"/>
                  <a:sym typeface="Poppins"/>
                </a:rPr>
                <a:t>Dec 1:</a:t>
              </a:r>
              <a:r>
                <a:rPr b="0" lang="en" sz="1050">
                  <a:solidFill>
                    <a:srgbClr val="E2E8F0"/>
                  </a:solidFill>
                  <a:latin typeface="Poppins"/>
                  <a:ea typeface="Poppins"/>
                  <a:cs typeface="Poppins"/>
                  <a:sym typeface="Poppins"/>
                </a:rPr>
                <a:t> Commissioner announces estimated yield.</a:t>
              </a:r>
              <a:endParaRPr b="1" sz="1050">
                <a:solidFill>
                  <a:srgbClr val="FFAB40"/>
                </a:solidFill>
                <a:latin typeface="Poppins"/>
                <a:ea typeface="Poppins"/>
                <a:cs typeface="Poppins"/>
                <a:sym typeface="Poppins"/>
              </a:endParaRPr>
            </a:p>
            <a:p>
              <a:pPr indent="0" lvl="0" marL="0" rtl="0" algn="l">
                <a:spcBef>
                  <a:spcPts val="450"/>
                </a:spcBef>
                <a:spcAft>
                  <a:spcPts val="600"/>
                </a:spcAft>
                <a:buNone/>
              </a:pPr>
              <a:r>
                <a:rPr b="1" lang="en" sz="1050">
                  <a:solidFill>
                    <a:srgbClr val="FFFFFF"/>
                  </a:solidFill>
                  <a:latin typeface="Poppins"/>
                  <a:ea typeface="Poppins"/>
                  <a:cs typeface="Poppins"/>
                  <a:sym typeface="Poppins"/>
                </a:rPr>
                <a:t>Final:</a:t>
              </a:r>
              <a:r>
                <a:rPr b="0" lang="en" sz="1050">
                  <a:solidFill>
                    <a:srgbClr val="E2E8F0"/>
                  </a:solidFill>
                  <a:latin typeface="Poppins"/>
                  <a:ea typeface="Poppins"/>
                  <a:cs typeface="Poppins"/>
                  <a:sym typeface="Poppins"/>
                </a:rPr>
                <a:t> Set by State Legislature once school budgets pass.</a:t>
              </a:r>
              <a:endParaRPr b="1" sz="1050">
                <a:solidFill>
                  <a:srgbClr val="FFAB40"/>
                </a:solidFill>
                <a:latin typeface="Poppins"/>
                <a:ea typeface="Poppins"/>
                <a:cs typeface="Poppins"/>
                <a:sym typeface="Poppins"/>
              </a:endParaRPr>
            </a:p>
          </p:txBody>
        </p:sp>
      </p:grpSp>
      <p:grpSp>
        <p:nvGrpSpPr>
          <p:cNvPr id="334" name="Google Shape;334;p28"/>
          <p:cNvGrpSpPr/>
          <p:nvPr/>
        </p:nvGrpSpPr>
        <p:grpSpPr>
          <a:xfrm>
            <a:off x="381000" y="3190875"/>
            <a:ext cx="8382000" cy="1571700"/>
            <a:chOff x="0" y="0"/>
            <a:chExt cx="8382000" cy="1571700"/>
          </a:xfrm>
        </p:grpSpPr>
        <p:sp>
          <p:nvSpPr>
            <p:cNvPr id="335" name="Google Shape;335;p28"/>
            <p:cNvSpPr/>
            <p:nvPr/>
          </p:nvSpPr>
          <p:spPr>
            <a:xfrm>
              <a:off x="0" y="0"/>
              <a:ext cx="8382000" cy="1571700"/>
            </a:xfrm>
            <a:prstGeom prst="roundRect">
              <a:avLst>
                <a:gd fmla="val 8484" name="adj"/>
              </a:avLst>
            </a:prstGeom>
            <a:solidFill>
              <a:srgbClr val="0F172A"/>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8"/>
            <p:cNvSpPr txBox="1"/>
            <p:nvPr/>
          </p:nvSpPr>
          <p:spPr>
            <a:xfrm>
              <a:off x="190500" y="133350"/>
              <a:ext cx="8001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94B621"/>
                  </a:solidFill>
                  <a:latin typeface="Poppins"/>
                  <a:ea typeface="Poppins"/>
                  <a:cs typeface="Poppins"/>
                  <a:sym typeface="Poppins"/>
                </a:rPr>
                <a:t>HOMESTEAD TAX RATE FORMULA</a:t>
              </a:r>
              <a:endParaRPr b="1" sz="1100">
                <a:solidFill>
                  <a:srgbClr val="94B621"/>
                </a:solidFill>
                <a:latin typeface="Poppins"/>
                <a:ea typeface="Poppins"/>
                <a:cs typeface="Poppins"/>
                <a:sym typeface="Poppins"/>
              </a:endParaRPr>
            </a:p>
          </p:txBody>
        </p:sp>
        <p:grpSp>
          <p:nvGrpSpPr>
            <p:cNvPr id="337" name="Google Shape;337;p28"/>
            <p:cNvGrpSpPr/>
            <p:nvPr/>
          </p:nvGrpSpPr>
          <p:grpSpPr>
            <a:xfrm>
              <a:off x="238125" y="495300"/>
              <a:ext cx="2190900" cy="800100"/>
              <a:chOff x="0" y="0"/>
              <a:chExt cx="2190900" cy="800100"/>
            </a:xfrm>
          </p:grpSpPr>
          <p:sp>
            <p:nvSpPr>
              <p:cNvPr id="338" name="Google Shape;338;p28"/>
              <p:cNvSpPr/>
              <p:nvPr/>
            </p:nvSpPr>
            <p:spPr>
              <a:xfrm>
                <a:off x="0" y="0"/>
                <a:ext cx="2190900" cy="800100"/>
              </a:xfrm>
              <a:prstGeom prst="roundRect">
                <a:avLst>
                  <a:gd fmla="val 11904" name="adj"/>
                </a:avLst>
              </a:prstGeom>
              <a:solidFill>
                <a:srgbClr val="182238"/>
              </a:solidFill>
              <a:ln cap="flat" cmpd="sng" w="9525">
                <a:solidFill>
                  <a:srgbClr val="2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8"/>
              <p:cNvSpPr txBox="1"/>
              <p:nvPr/>
            </p:nvSpPr>
            <p:spPr>
              <a:xfrm>
                <a:off x="0" y="0"/>
                <a:ext cx="2190900" cy="800100"/>
              </a:xfrm>
              <a:prstGeom prst="rect">
                <a:avLst/>
              </a:prstGeom>
              <a:noFill/>
              <a:ln>
                <a:noFill/>
              </a:ln>
            </p:spPr>
            <p:txBody>
              <a:bodyPr anchorCtr="0" anchor="ctr" bIns="0" lIns="95250" spcFirstLastPara="1" rIns="9525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Education Spending</a:t>
                </a:r>
                <a:endParaRPr b="1" sz="1150">
                  <a:solidFill>
                    <a:srgbClr val="FFFFFF"/>
                  </a:solidFill>
                  <a:latin typeface="Poppins"/>
                  <a:ea typeface="Poppins"/>
                  <a:cs typeface="Poppins"/>
                  <a:sym typeface="Poppins"/>
                </a:endParaRPr>
              </a:p>
              <a:p>
                <a:pPr indent="0" lvl="0" marL="0" rtl="0" algn="ctr">
                  <a:spcBef>
                    <a:spcPts val="150"/>
                  </a:spcBef>
                  <a:spcAft>
                    <a:spcPts val="0"/>
                  </a:spcAft>
                  <a:buNone/>
                </a:pPr>
                <a:r>
                  <a:rPr b="0" lang="en" sz="1000">
                    <a:solidFill>
                      <a:srgbClr val="94B621"/>
                    </a:solidFill>
                    <a:latin typeface="Poppins SemiBold"/>
                    <a:ea typeface="Poppins SemiBold"/>
                    <a:cs typeface="Poppins SemiBold"/>
                    <a:sym typeface="Poppins SemiBold"/>
                  </a:rPr>
                  <a:t>Per LTW ADM</a:t>
                </a:r>
                <a:endParaRPr b="0" sz="1000">
                  <a:solidFill>
                    <a:srgbClr val="94B621"/>
                  </a:solidFill>
                  <a:latin typeface="Poppins SemiBold"/>
                  <a:ea typeface="Poppins SemiBold"/>
                  <a:cs typeface="Poppins SemiBold"/>
                  <a:sym typeface="Poppins SemiBold"/>
                </a:endParaRPr>
              </a:p>
            </p:txBody>
          </p:sp>
        </p:grpSp>
        <p:sp>
          <p:nvSpPr>
            <p:cNvPr id="340" name="Google Shape;340;p28"/>
            <p:cNvSpPr txBox="1"/>
            <p:nvPr/>
          </p:nvSpPr>
          <p:spPr>
            <a:xfrm>
              <a:off x="2571750" y="495300"/>
              <a:ext cx="428700" cy="8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94B621"/>
                  </a:solidFill>
                  <a:latin typeface="Poppins"/>
                  <a:ea typeface="Poppins"/>
                  <a:cs typeface="Poppins"/>
                  <a:sym typeface="Poppins"/>
                </a:rPr>
                <a:t>÷</a:t>
              </a:r>
              <a:endParaRPr b="1" sz="2400">
                <a:solidFill>
                  <a:srgbClr val="94B621"/>
                </a:solidFill>
                <a:latin typeface="Poppins"/>
                <a:ea typeface="Poppins"/>
                <a:cs typeface="Poppins"/>
                <a:sym typeface="Poppins"/>
              </a:endParaRPr>
            </a:p>
          </p:txBody>
        </p:sp>
        <p:grpSp>
          <p:nvGrpSpPr>
            <p:cNvPr id="341" name="Google Shape;341;p28"/>
            <p:cNvGrpSpPr/>
            <p:nvPr/>
          </p:nvGrpSpPr>
          <p:grpSpPr>
            <a:xfrm>
              <a:off x="3143250" y="495300"/>
              <a:ext cx="2095500" cy="800100"/>
              <a:chOff x="0" y="0"/>
              <a:chExt cx="2095500" cy="800100"/>
            </a:xfrm>
          </p:grpSpPr>
          <p:sp>
            <p:nvSpPr>
              <p:cNvPr id="342" name="Google Shape;342;p28"/>
              <p:cNvSpPr/>
              <p:nvPr/>
            </p:nvSpPr>
            <p:spPr>
              <a:xfrm>
                <a:off x="0" y="0"/>
                <a:ext cx="2095500" cy="800100"/>
              </a:xfrm>
              <a:prstGeom prst="roundRect">
                <a:avLst>
                  <a:gd fmla="val 11904" name="adj"/>
                </a:avLst>
              </a:prstGeom>
              <a:solidFill>
                <a:srgbClr val="182238"/>
              </a:solidFill>
              <a:ln cap="flat" cmpd="sng" w="9525">
                <a:solidFill>
                  <a:srgbClr val="2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8"/>
              <p:cNvSpPr txBox="1"/>
              <p:nvPr/>
            </p:nvSpPr>
            <p:spPr>
              <a:xfrm>
                <a:off x="0" y="0"/>
                <a:ext cx="2095500" cy="800100"/>
              </a:xfrm>
              <a:prstGeom prst="rect">
                <a:avLst/>
              </a:prstGeom>
              <a:noFill/>
              <a:ln>
                <a:noFill/>
              </a:ln>
            </p:spPr>
            <p:txBody>
              <a:bodyPr anchorCtr="0" anchor="ctr" bIns="0" lIns="95250" spcFirstLastPara="1" rIns="95250" wrap="square" tIns="0">
                <a:noAutofit/>
              </a:bodyPr>
              <a:lstStyle/>
              <a:p>
                <a:pPr indent="0" lvl="0" marL="0" rtl="0" algn="ctr">
                  <a:spcBef>
                    <a:spcPts val="0"/>
                  </a:spcBef>
                  <a:spcAft>
                    <a:spcPts val="0"/>
                  </a:spcAft>
                  <a:buNone/>
                </a:pPr>
                <a:r>
                  <a:rPr b="1" lang="en" sz="1300">
                    <a:solidFill>
                      <a:srgbClr val="56BCC7"/>
                    </a:solidFill>
                    <a:latin typeface="Poppins"/>
                    <a:ea typeface="Poppins"/>
                    <a:cs typeface="Poppins"/>
                    <a:sym typeface="Poppins"/>
                  </a:rPr>
                  <a:t>Dollar Yield</a:t>
                </a:r>
                <a:endParaRPr b="1" sz="1300">
                  <a:solidFill>
                    <a:srgbClr val="56BCC7"/>
                  </a:solidFill>
                  <a:latin typeface="Poppins"/>
                  <a:ea typeface="Poppins"/>
                  <a:cs typeface="Poppins"/>
                  <a:sym typeface="Poppins"/>
                </a:endParaRPr>
              </a:p>
            </p:txBody>
          </p:sp>
        </p:grpSp>
        <p:sp>
          <p:nvSpPr>
            <p:cNvPr id="344" name="Google Shape;344;p28"/>
            <p:cNvSpPr txBox="1"/>
            <p:nvPr/>
          </p:nvSpPr>
          <p:spPr>
            <a:xfrm>
              <a:off x="5381625" y="495300"/>
              <a:ext cx="428700" cy="8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94B621"/>
                  </a:solidFill>
                  <a:latin typeface="Poppins"/>
                  <a:ea typeface="Poppins"/>
                  <a:cs typeface="Poppins"/>
                  <a:sym typeface="Poppins"/>
                </a:rPr>
                <a:t>=</a:t>
              </a:r>
              <a:endParaRPr b="1" sz="2400">
                <a:solidFill>
                  <a:srgbClr val="94B621"/>
                </a:solidFill>
                <a:latin typeface="Poppins"/>
                <a:ea typeface="Poppins"/>
                <a:cs typeface="Poppins"/>
                <a:sym typeface="Poppins"/>
              </a:endParaRPr>
            </a:p>
          </p:txBody>
        </p:sp>
        <p:grpSp>
          <p:nvGrpSpPr>
            <p:cNvPr id="345" name="Google Shape;345;p28"/>
            <p:cNvGrpSpPr/>
            <p:nvPr/>
          </p:nvGrpSpPr>
          <p:grpSpPr>
            <a:xfrm>
              <a:off x="5953125" y="495300"/>
              <a:ext cx="2190900" cy="800100"/>
              <a:chOff x="0" y="0"/>
              <a:chExt cx="2190900" cy="800100"/>
            </a:xfrm>
          </p:grpSpPr>
          <p:sp>
            <p:nvSpPr>
              <p:cNvPr id="346" name="Google Shape;346;p28"/>
              <p:cNvSpPr/>
              <p:nvPr/>
            </p:nvSpPr>
            <p:spPr>
              <a:xfrm>
                <a:off x="0" y="0"/>
                <a:ext cx="2190900" cy="800100"/>
              </a:xfrm>
              <a:prstGeom prst="roundRect">
                <a:avLst>
                  <a:gd fmla="val 11904" name="adj"/>
                </a:avLst>
              </a:prstGeom>
              <a:solidFill>
                <a:srgbClr val="16382B"/>
              </a:solidFill>
              <a:ln cap="flat" cmpd="sng" w="14300">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8"/>
              <p:cNvSpPr txBox="1"/>
              <p:nvPr/>
            </p:nvSpPr>
            <p:spPr>
              <a:xfrm>
                <a:off x="0" y="0"/>
                <a:ext cx="2190900" cy="800100"/>
              </a:xfrm>
              <a:prstGeom prst="rect">
                <a:avLst/>
              </a:prstGeom>
              <a:noFill/>
              <a:ln>
                <a:noFill/>
              </a:ln>
            </p:spPr>
            <p:txBody>
              <a:bodyPr anchorCtr="0" anchor="ctr" bIns="0" lIns="95250" spcFirstLastPara="1" rIns="9525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HUUSD Homestead</a:t>
                </a:r>
                <a:endParaRPr b="1" sz="1150">
                  <a:solidFill>
                    <a:srgbClr val="FFFFFF"/>
                  </a:solidFill>
                  <a:latin typeface="Poppins"/>
                  <a:ea typeface="Poppins"/>
                  <a:cs typeface="Poppins"/>
                  <a:sym typeface="Poppins"/>
                </a:endParaRPr>
              </a:p>
              <a:p>
                <a:pPr indent="0" lvl="0" marL="0" rtl="0" algn="ctr">
                  <a:spcBef>
                    <a:spcPts val="150"/>
                  </a:spcBef>
                  <a:spcAft>
                    <a:spcPts val="0"/>
                  </a:spcAft>
                  <a:buNone/>
                </a:pPr>
                <a:r>
                  <a:rPr b="1" lang="en" sz="1150">
                    <a:solidFill>
                      <a:srgbClr val="4ADE80"/>
                    </a:solidFill>
                    <a:latin typeface="Poppins"/>
                    <a:ea typeface="Poppins"/>
                    <a:cs typeface="Poppins"/>
                    <a:sym typeface="Poppins"/>
                  </a:rPr>
                  <a:t>Tax Rate</a:t>
                </a:r>
                <a:endParaRPr b="1" sz="1150">
                  <a:solidFill>
                    <a:srgbClr val="4ADE80"/>
                  </a:solidFill>
                  <a:latin typeface="Poppins"/>
                  <a:ea typeface="Poppins"/>
                  <a:cs typeface="Poppins"/>
                  <a:sym typeface="Poppins"/>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1" name="Shape 351"/>
        <p:cNvGrpSpPr/>
        <p:nvPr/>
      </p:nvGrpSpPr>
      <p:grpSpPr>
        <a:xfrm>
          <a:off x="0" y="0"/>
          <a:ext cx="0" cy="0"/>
          <a:chOff x="0" y="0"/>
          <a:chExt cx="0" cy="0"/>
        </a:xfrm>
      </p:grpSpPr>
      <p:grpSp>
        <p:nvGrpSpPr>
          <p:cNvPr id="352" name="Google Shape;352;p29"/>
          <p:cNvGrpSpPr/>
          <p:nvPr/>
        </p:nvGrpSpPr>
        <p:grpSpPr>
          <a:xfrm>
            <a:off x="0" y="0"/>
            <a:ext cx="9144000" cy="705000"/>
            <a:chOff x="0" y="0"/>
            <a:chExt cx="9144000" cy="705000"/>
          </a:xfrm>
        </p:grpSpPr>
        <p:sp>
          <p:nvSpPr>
            <p:cNvPr id="353" name="Google Shape;353;p29"/>
            <p:cNvSpPr/>
            <p:nvPr/>
          </p:nvSpPr>
          <p:spPr>
            <a:xfrm>
              <a:off x="0" y="0"/>
              <a:ext cx="9144000" cy="7050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9"/>
            <p:cNvSpPr txBox="1"/>
            <p:nvPr/>
          </p:nvSpPr>
          <p:spPr>
            <a:xfrm>
              <a:off x="285750" y="0"/>
              <a:ext cx="8572500" cy="7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FFFFFF"/>
                  </a:solidFill>
                  <a:latin typeface="Poppins"/>
                  <a:ea typeface="Poppins"/>
                  <a:cs typeface="Poppins"/>
                  <a:sym typeface="Poppins"/>
                </a:rPr>
                <a:t>The Multiple Components That Determine the Homestead Tax Rate and Town property Tax Rates</a:t>
              </a:r>
              <a:endParaRPr b="1" sz="2000">
                <a:solidFill>
                  <a:srgbClr val="FFFFFF"/>
                </a:solidFill>
                <a:latin typeface="Poppins"/>
                <a:ea typeface="Poppins"/>
                <a:cs typeface="Poppins"/>
                <a:sym typeface="Poppins"/>
              </a:endParaRPr>
            </a:p>
          </p:txBody>
        </p:sp>
      </p:grpSp>
      <p:grpSp>
        <p:nvGrpSpPr>
          <p:cNvPr id="355" name="Google Shape;355;p29"/>
          <p:cNvGrpSpPr/>
          <p:nvPr/>
        </p:nvGrpSpPr>
        <p:grpSpPr>
          <a:xfrm>
            <a:off x="381000" y="904875"/>
            <a:ext cx="4048200" cy="1714500"/>
            <a:chOff x="0" y="0"/>
            <a:chExt cx="4048200" cy="1714500"/>
          </a:xfrm>
        </p:grpSpPr>
        <p:sp>
          <p:nvSpPr>
            <p:cNvPr id="356" name="Google Shape;356;p29"/>
            <p:cNvSpPr/>
            <p:nvPr/>
          </p:nvSpPr>
          <p:spPr>
            <a:xfrm>
              <a:off x="0" y="0"/>
              <a:ext cx="4048200" cy="1714500"/>
            </a:xfrm>
            <a:prstGeom prst="roundRect">
              <a:avLst>
                <a:gd fmla="val 5555" name="adj"/>
              </a:avLst>
            </a:prstGeom>
            <a:solidFill>
              <a:srgbClr val="FFFFFF"/>
            </a:solidFill>
            <a:ln cap="flat" cmpd="sng" w="19050">
              <a:solidFill>
                <a:srgbClr val="94B62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9"/>
            <p:cNvSpPr/>
            <p:nvPr/>
          </p:nvSpPr>
          <p:spPr>
            <a:xfrm>
              <a:off x="142875" y="142875"/>
              <a:ext cx="1333500" cy="247800"/>
            </a:xfrm>
            <a:prstGeom prst="roundRect">
              <a:avLst>
                <a:gd fmla="val 50000" name="adj"/>
              </a:avLst>
            </a:prstGeom>
            <a:solidFill>
              <a:srgbClr val="94B6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9"/>
            <p:cNvSpPr txBox="1"/>
            <p:nvPr/>
          </p:nvSpPr>
          <p:spPr>
            <a:xfrm>
              <a:off x="238125" y="142875"/>
              <a:ext cx="11430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79">
                  <a:solidFill>
                    <a:srgbClr val="FFFFFF"/>
                  </a:solidFill>
                  <a:latin typeface="Poppins"/>
                  <a:ea typeface="Poppins"/>
                  <a:cs typeface="Poppins"/>
                  <a:sym typeface="Poppins"/>
                </a:rPr>
                <a:t>✓ IN OUR CONTROL</a:t>
              </a:r>
              <a:endParaRPr b="1" sz="879">
                <a:solidFill>
                  <a:srgbClr val="FFFFFF"/>
                </a:solidFill>
                <a:latin typeface="Poppins"/>
                <a:ea typeface="Poppins"/>
                <a:cs typeface="Poppins"/>
                <a:sym typeface="Poppins"/>
              </a:endParaRPr>
            </a:p>
          </p:txBody>
        </p:sp>
        <p:sp>
          <p:nvSpPr>
            <p:cNvPr id="359" name="Google Shape;359;p29"/>
            <p:cNvSpPr txBox="1"/>
            <p:nvPr/>
          </p:nvSpPr>
          <p:spPr>
            <a:xfrm>
              <a:off x="190500" y="457200"/>
              <a:ext cx="36672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1. District Spending </a:t>
              </a:r>
              <a:endParaRPr b="1" sz="1300">
                <a:solidFill>
                  <a:srgbClr val="1B3859"/>
                </a:solidFill>
                <a:latin typeface="Poppins"/>
                <a:ea typeface="Poppins"/>
                <a:cs typeface="Poppins"/>
                <a:sym typeface="Poppins"/>
              </a:endParaRPr>
            </a:p>
            <a:p>
              <a:pPr indent="-288925" lvl="0" marL="457200" rtl="0" algn="l">
                <a:spcBef>
                  <a:spcPts val="450"/>
                </a:spcBef>
                <a:spcAft>
                  <a:spcPts val="0"/>
                </a:spcAft>
                <a:buClr>
                  <a:srgbClr val="64748B"/>
                </a:buClr>
                <a:buSzPts val="950"/>
                <a:buFont typeface="Poppins"/>
                <a:buChar char="●"/>
              </a:pPr>
              <a:r>
                <a:rPr b="1" lang="en" sz="1050">
                  <a:solidFill>
                    <a:srgbClr val="334155"/>
                  </a:solidFill>
                  <a:latin typeface="Poppins"/>
                  <a:ea typeface="Poppins"/>
                  <a:cs typeface="Poppins"/>
                  <a:sym typeface="Poppins"/>
                </a:rPr>
                <a:t>Proposed Expenditures:</a:t>
              </a:r>
              <a:r>
                <a:rPr lang="en" sz="1050">
                  <a:solidFill>
                    <a:srgbClr val="334155"/>
                  </a:solidFill>
                  <a:latin typeface="Poppins"/>
                  <a:ea typeface="Poppins"/>
                  <a:cs typeface="Poppins"/>
                  <a:sym typeface="Poppins"/>
                </a:rPr>
                <a:t> District operating budget</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64748B"/>
                </a:buClr>
                <a:buSzPts val="950"/>
                <a:buFont typeface="Poppins"/>
                <a:buChar char="●"/>
              </a:pPr>
              <a:r>
                <a:rPr b="1" lang="en" sz="1050">
                  <a:solidFill>
                    <a:srgbClr val="334155"/>
                  </a:solidFill>
                  <a:latin typeface="Poppins"/>
                  <a:ea typeface="Poppins"/>
                  <a:cs typeface="Poppins"/>
                  <a:sym typeface="Poppins"/>
                </a:rPr>
                <a:t>Estimated Revenues:</a:t>
              </a:r>
              <a:r>
                <a:rPr lang="en" sz="1050">
                  <a:solidFill>
                    <a:srgbClr val="334155"/>
                  </a:solidFill>
                  <a:latin typeface="Poppins"/>
                  <a:ea typeface="Poppins"/>
                  <a:cs typeface="Poppins"/>
                  <a:sym typeface="Poppins"/>
                </a:rPr>
                <a:t> Grants, tuition &amp; local aid</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64748B"/>
                </a:buClr>
                <a:buSzPts val="950"/>
                <a:buFont typeface="Poppins"/>
                <a:buChar char="●"/>
              </a:pPr>
              <a:r>
                <a:rPr lang="en" sz="950">
                  <a:solidFill>
                    <a:srgbClr val="64748B"/>
                  </a:solidFill>
                  <a:latin typeface="Poppins"/>
                  <a:ea typeface="Poppins"/>
                  <a:cs typeface="Poppins"/>
                  <a:sym typeface="Poppins"/>
                </a:rPr>
                <a:t>Net result is District Education Spending</a:t>
              </a:r>
              <a:endParaRPr sz="950">
                <a:solidFill>
                  <a:srgbClr val="64748B"/>
                </a:solidFill>
                <a:latin typeface="Poppins"/>
                <a:ea typeface="Poppins"/>
                <a:cs typeface="Poppins"/>
                <a:sym typeface="Poppins"/>
              </a:endParaRPr>
            </a:p>
          </p:txBody>
        </p:sp>
      </p:grpSp>
      <p:grpSp>
        <p:nvGrpSpPr>
          <p:cNvPr id="360" name="Google Shape;360;p29"/>
          <p:cNvGrpSpPr/>
          <p:nvPr/>
        </p:nvGrpSpPr>
        <p:grpSpPr>
          <a:xfrm>
            <a:off x="4714875" y="904875"/>
            <a:ext cx="4048200" cy="1714500"/>
            <a:chOff x="0" y="0"/>
            <a:chExt cx="4048200" cy="1714500"/>
          </a:xfrm>
        </p:grpSpPr>
        <p:sp>
          <p:nvSpPr>
            <p:cNvPr id="361" name="Google Shape;361;p29"/>
            <p:cNvSpPr/>
            <p:nvPr/>
          </p:nvSpPr>
          <p:spPr>
            <a:xfrm>
              <a:off x="0" y="0"/>
              <a:ext cx="4048200" cy="1714500"/>
            </a:xfrm>
            <a:prstGeom prst="roundRect">
              <a:avLst>
                <a:gd fmla="val 5555" name="adj"/>
              </a:avLst>
            </a:prstGeom>
            <a:solidFill>
              <a:srgbClr val="FFFFFF"/>
            </a:solidFill>
            <a:ln cap="flat" cmpd="sng" w="19050">
              <a:solidFill>
                <a:srgbClr val="1B385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9"/>
            <p:cNvSpPr/>
            <p:nvPr/>
          </p:nvSpPr>
          <p:spPr>
            <a:xfrm>
              <a:off x="142875" y="142875"/>
              <a:ext cx="1238400" cy="247800"/>
            </a:xfrm>
            <a:prstGeom prst="roundRect">
              <a:avLst>
                <a:gd fmla="val 50000"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9"/>
            <p:cNvSpPr txBox="1"/>
            <p:nvPr/>
          </p:nvSpPr>
          <p:spPr>
            <a:xfrm>
              <a:off x="238125" y="142875"/>
              <a:ext cx="10479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1B3859"/>
                  </a:solidFill>
                  <a:latin typeface="Poppins"/>
                  <a:ea typeface="Poppins"/>
                  <a:cs typeface="Poppins"/>
                  <a:sym typeface="Poppins"/>
                </a:rPr>
                <a:t>STATE FORMULA</a:t>
              </a:r>
              <a:endParaRPr b="1" sz="950">
                <a:solidFill>
                  <a:srgbClr val="1B3859"/>
                </a:solidFill>
                <a:latin typeface="Poppins"/>
                <a:ea typeface="Poppins"/>
                <a:cs typeface="Poppins"/>
                <a:sym typeface="Poppins"/>
              </a:endParaRPr>
            </a:p>
          </p:txBody>
        </p:sp>
        <p:sp>
          <p:nvSpPr>
            <p:cNvPr id="364" name="Google Shape;364;p29"/>
            <p:cNvSpPr txBox="1"/>
            <p:nvPr/>
          </p:nvSpPr>
          <p:spPr>
            <a:xfrm>
              <a:off x="190500" y="457200"/>
              <a:ext cx="36672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2. District LTWADM</a:t>
              </a:r>
              <a:endParaRPr b="1" sz="1300">
                <a:solidFill>
                  <a:srgbClr val="1B3859"/>
                </a:solidFill>
                <a:latin typeface="Poppins"/>
                <a:ea typeface="Poppins"/>
                <a:cs typeface="Poppins"/>
                <a:sym typeface="Poppins"/>
              </a:endParaRPr>
            </a:p>
            <a:p>
              <a:pPr indent="-288925" lvl="0" marL="457200" rtl="0" algn="l">
                <a:spcBef>
                  <a:spcPts val="450"/>
                </a:spcBef>
                <a:spcAft>
                  <a:spcPts val="0"/>
                </a:spcAft>
                <a:buClr>
                  <a:srgbClr val="64748B"/>
                </a:buClr>
                <a:buSzPts val="950"/>
                <a:buFont typeface="Poppins"/>
                <a:buChar char="●"/>
              </a:pPr>
              <a:r>
                <a:rPr b="1" lang="en" sz="1050">
                  <a:solidFill>
                    <a:srgbClr val="334155"/>
                  </a:solidFill>
                  <a:latin typeface="Poppins"/>
                  <a:ea typeface="Poppins"/>
                  <a:cs typeface="Poppins"/>
                  <a:sym typeface="Poppins"/>
                </a:rPr>
                <a:t>Long Term Weighted Average Daily Membership</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64748B"/>
                </a:buClr>
                <a:buSzPts val="950"/>
                <a:buFont typeface="Poppins"/>
                <a:buChar char="●"/>
              </a:pPr>
              <a:r>
                <a:rPr lang="en" sz="1050">
                  <a:solidFill>
                    <a:srgbClr val="334155"/>
                  </a:solidFill>
                  <a:latin typeface="Poppins"/>
                  <a:ea typeface="Poppins"/>
                  <a:cs typeface="Poppins"/>
                  <a:sym typeface="Poppins"/>
                </a:rPr>
                <a:t>Weighted factors for grade levels &amp; demographics</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64748B"/>
                </a:buClr>
                <a:buSzPts val="950"/>
                <a:buFont typeface="Poppins"/>
                <a:buChar char="●"/>
              </a:pPr>
              <a:r>
                <a:rPr lang="en" sz="950">
                  <a:solidFill>
                    <a:srgbClr val="64748B"/>
                  </a:solidFill>
                  <a:latin typeface="Poppins"/>
                  <a:ea typeface="Poppins"/>
                  <a:cs typeface="Poppins"/>
                  <a:sym typeface="Poppins"/>
                </a:rPr>
                <a:t>Determines spending per weighted student</a:t>
              </a:r>
              <a:endParaRPr sz="950">
                <a:solidFill>
                  <a:srgbClr val="64748B"/>
                </a:solidFill>
                <a:latin typeface="Poppins"/>
                <a:ea typeface="Poppins"/>
                <a:cs typeface="Poppins"/>
                <a:sym typeface="Poppins"/>
              </a:endParaRPr>
            </a:p>
          </p:txBody>
        </p:sp>
      </p:grpSp>
      <p:grpSp>
        <p:nvGrpSpPr>
          <p:cNvPr id="365" name="Google Shape;365;p29"/>
          <p:cNvGrpSpPr/>
          <p:nvPr/>
        </p:nvGrpSpPr>
        <p:grpSpPr>
          <a:xfrm>
            <a:off x="381000" y="2762250"/>
            <a:ext cx="4048200" cy="1666800"/>
            <a:chOff x="0" y="0"/>
            <a:chExt cx="4048200" cy="1666800"/>
          </a:xfrm>
        </p:grpSpPr>
        <p:sp>
          <p:nvSpPr>
            <p:cNvPr id="366" name="Google Shape;366;p29"/>
            <p:cNvSpPr/>
            <p:nvPr/>
          </p:nvSpPr>
          <p:spPr>
            <a:xfrm>
              <a:off x="0" y="0"/>
              <a:ext cx="4048200" cy="1666800"/>
            </a:xfrm>
            <a:prstGeom prst="roundRect">
              <a:avLst>
                <a:gd fmla="val 5714" name="adj"/>
              </a:avLst>
            </a:prstGeom>
            <a:solidFill>
              <a:srgbClr val="FFFFFF"/>
            </a:solidFill>
            <a:ln cap="flat" cmpd="sng" w="19050">
              <a:solidFill>
                <a:srgbClr val="56BC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29"/>
            <p:cNvSpPr/>
            <p:nvPr/>
          </p:nvSpPr>
          <p:spPr>
            <a:xfrm>
              <a:off x="142875" y="142875"/>
              <a:ext cx="1333500" cy="247800"/>
            </a:xfrm>
            <a:prstGeom prst="roundRect">
              <a:avLst>
                <a:gd fmla="val 50000" name="adj"/>
              </a:avLst>
            </a:prstGeom>
            <a:solidFill>
              <a:srgbClr val="E0F7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9"/>
            <p:cNvSpPr txBox="1"/>
            <p:nvPr/>
          </p:nvSpPr>
          <p:spPr>
            <a:xfrm>
              <a:off x="238125" y="142875"/>
              <a:ext cx="11430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00838F"/>
                  </a:solidFill>
                  <a:latin typeface="Poppins"/>
                  <a:ea typeface="Poppins"/>
                  <a:cs typeface="Poppins"/>
                  <a:sym typeface="Poppins"/>
                </a:rPr>
                <a:t>LEGISLATURE SET</a:t>
              </a:r>
              <a:endParaRPr b="1" sz="950">
                <a:solidFill>
                  <a:srgbClr val="00838F"/>
                </a:solidFill>
                <a:latin typeface="Poppins"/>
                <a:ea typeface="Poppins"/>
                <a:cs typeface="Poppins"/>
                <a:sym typeface="Poppins"/>
              </a:endParaRPr>
            </a:p>
          </p:txBody>
        </p:sp>
        <p:sp>
          <p:nvSpPr>
            <p:cNvPr id="369" name="Google Shape;369;p29"/>
            <p:cNvSpPr txBox="1"/>
            <p:nvPr/>
          </p:nvSpPr>
          <p:spPr>
            <a:xfrm>
              <a:off x="190500" y="457200"/>
              <a:ext cx="36672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3. State Dollar Yield Rate</a:t>
              </a:r>
              <a:endParaRPr b="1" sz="1300">
                <a:solidFill>
                  <a:srgbClr val="1B3859"/>
                </a:solidFill>
                <a:latin typeface="Poppins"/>
                <a:ea typeface="Poppins"/>
                <a:cs typeface="Poppins"/>
                <a:sym typeface="Poppins"/>
              </a:endParaRPr>
            </a:p>
            <a:p>
              <a:pPr indent="-288925" lvl="0" marL="457200" rtl="0" algn="l">
                <a:spcBef>
                  <a:spcPts val="450"/>
                </a:spcBef>
                <a:spcAft>
                  <a:spcPts val="0"/>
                </a:spcAft>
                <a:buClr>
                  <a:srgbClr val="64748B"/>
                </a:buClr>
                <a:buSzPts val="950"/>
                <a:buFont typeface="Poppins"/>
                <a:buChar char="●"/>
              </a:pPr>
              <a:r>
                <a:rPr lang="en" sz="1050">
                  <a:solidFill>
                    <a:srgbClr val="334155"/>
                  </a:solidFill>
                  <a:latin typeface="Poppins"/>
                  <a:ea typeface="Poppins"/>
                  <a:cs typeface="Poppins"/>
                  <a:sym typeface="Poppins"/>
                </a:rPr>
                <a:t>Set annually by the VT State Legislature</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64748B"/>
                </a:buClr>
                <a:buSzPts val="950"/>
                <a:buFont typeface="Poppins"/>
                <a:buChar char="●"/>
              </a:pPr>
              <a:r>
                <a:rPr lang="en" sz="1050">
                  <a:solidFill>
                    <a:srgbClr val="334155"/>
                  </a:solidFill>
                  <a:latin typeface="Poppins"/>
                  <a:ea typeface="Poppins"/>
                  <a:cs typeface="Poppins"/>
                  <a:sym typeface="Poppins"/>
                </a:rPr>
                <a:t>Statewide benchmark for yield rate</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64748B"/>
                </a:buClr>
                <a:buSzPts val="950"/>
                <a:buFont typeface="Poppins"/>
                <a:buChar char="●"/>
              </a:pPr>
              <a:r>
                <a:rPr lang="en" sz="950">
                  <a:solidFill>
                    <a:srgbClr val="64748B"/>
                  </a:solidFill>
                  <a:latin typeface="Poppins"/>
                  <a:ea typeface="Poppins"/>
                  <a:cs typeface="Poppins"/>
                  <a:sym typeface="Poppins"/>
                </a:rPr>
                <a:t>Establishes standard baseline tax rate</a:t>
              </a:r>
              <a:endParaRPr sz="950">
                <a:solidFill>
                  <a:srgbClr val="64748B"/>
                </a:solidFill>
                <a:latin typeface="Poppins"/>
                <a:ea typeface="Poppins"/>
                <a:cs typeface="Poppins"/>
                <a:sym typeface="Poppins"/>
              </a:endParaRPr>
            </a:p>
          </p:txBody>
        </p:sp>
      </p:grpSp>
      <p:grpSp>
        <p:nvGrpSpPr>
          <p:cNvPr id="370" name="Google Shape;370;p29"/>
          <p:cNvGrpSpPr/>
          <p:nvPr/>
        </p:nvGrpSpPr>
        <p:grpSpPr>
          <a:xfrm>
            <a:off x="4714875" y="2762250"/>
            <a:ext cx="4048200" cy="1666800"/>
            <a:chOff x="0" y="0"/>
            <a:chExt cx="4048200" cy="1666800"/>
          </a:xfrm>
        </p:grpSpPr>
        <p:sp>
          <p:nvSpPr>
            <p:cNvPr id="371" name="Google Shape;371;p29"/>
            <p:cNvSpPr/>
            <p:nvPr/>
          </p:nvSpPr>
          <p:spPr>
            <a:xfrm>
              <a:off x="0" y="0"/>
              <a:ext cx="4048200" cy="1666800"/>
            </a:xfrm>
            <a:prstGeom prst="roundRect">
              <a:avLst>
                <a:gd fmla="val 5714" name="adj"/>
              </a:avLst>
            </a:prstGeom>
            <a:solidFill>
              <a:srgbClr val="FFFFFF"/>
            </a:solidFill>
            <a:ln cap="flat" cmpd="sng" w="19050">
              <a:solidFill>
                <a:srgbClr val="FFAB4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9"/>
            <p:cNvSpPr/>
            <p:nvPr/>
          </p:nvSpPr>
          <p:spPr>
            <a:xfrm>
              <a:off x="142875" y="142875"/>
              <a:ext cx="1143000" cy="247800"/>
            </a:xfrm>
            <a:prstGeom prst="roundRect">
              <a:avLst>
                <a:gd fmla="val 50000" name="adj"/>
              </a:avLst>
            </a:prstGeom>
            <a:solidFill>
              <a:srgbClr val="FFF3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9"/>
            <p:cNvSpPr txBox="1"/>
            <p:nvPr/>
          </p:nvSpPr>
          <p:spPr>
            <a:xfrm>
              <a:off x="238125" y="142875"/>
              <a:ext cx="9525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E65100"/>
                  </a:solidFill>
                  <a:latin typeface="Poppins"/>
                  <a:ea typeface="Poppins"/>
                  <a:cs typeface="Poppins"/>
                  <a:sym typeface="Poppins"/>
                </a:rPr>
                <a:t>TOWN LEVEL</a:t>
              </a:r>
              <a:endParaRPr b="1" sz="950">
                <a:solidFill>
                  <a:srgbClr val="E65100"/>
                </a:solidFill>
                <a:latin typeface="Poppins"/>
                <a:ea typeface="Poppins"/>
                <a:cs typeface="Poppins"/>
                <a:sym typeface="Poppins"/>
              </a:endParaRPr>
            </a:p>
          </p:txBody>
        </p:sp>
        <p:sp>
          <p:nvSpPr>
            <p:cNvPr id="374" name="Google Shape;374;p29"/>
            <p:cNvSpPr txBox="1"/>
            <p:nvPr/>
          </p:nvSpPr>
          <p:spPr>
            <a:xfrm>
              <a:off x="190500" y="457200"/>
              <a:ext cx="36672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4. Common Level of Appraisal (CLA)</a:t>
              </a:r>
              <a:endParaRPr b="1" sz="1300">
                <a:solidFill>
                  <a:srgbClr val="1B3859"/>
                </a:solidFill>
                <a:latin typeface="Poppins"/>
                <a:ea typeface="Poppins"/>
                <a:cs typeface="Poppins"/>
                <a:sym typeface="Poppins"/>
              </a:endParaRPr>
            </a:p>
            <a:p>
              <a:pPr indent="-288925" lvl="0" marL="457200" rtl="0" algn="l">
                <a:spcBef>
                  <a:spcPts val="450"/>
                </a:spcBef>
                <a:spcAft>
                  <a:spcPts val="0"/>
                </a:spcAft>
                <a:buClr>
                  <a:srgbClr val="E65100"/>
                </a:buClr>
                <a:buSzPts val="950"/>
                <a:buFont typeface="Poppins"/>
                <a:buChar char="●"/>
              </a:pPr>
              <a:r>
                <a:rPr lang="en" sz="1050">
                  <a:solidFill>
                    <a:srgbClr val="334155"/>
                  </a:solidFill>
                  <a:latin typeface="Poppins"/>
                  <a:ea typeface="Poppins"/>
                  <a:cs typeface="Poppins"/>
                  <a:sym typeface="Poppins"/>
                </a:rPr>
                <a:t>Calculated individually for each town</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E65100"/>
                </a:buClr>
                <a:buSzPts val="950"/>
                <a:buFont typeface="Poppins"/>
                <a:buChar char="●"/>
              </a:pPr>
              <a:r>
                <a:rPr lang="en" sz="1050">
                  <a:solidFill>
                    <a:srgbClr val="334155"/>
                  </a:solidFill>
                  <a:latin typeface="Poppins"/>
                  <a:ea typeface="Poppins"/>
                  <a:cs typeface="Poppins"/>
                  <a:sym typeface="Poppins"/>
                </a:rPr>
                <a:t>Adjusts for fair market property values</a:t>
              </a:r>
              <a:endParaRPr sz="1050">
                <a:solidFill>
                  <a:srgbClr val="334155"/>
                </a:solidFill>
                <a:latin typeface="Poppins"/>
                <a:ea typeface="Poppins"/>
                <a:cs typeface="Poppins"/>
                <a:sym typeface="Poppins"/>
              </a:endParaRPr>
            </a:p>
            <a:p>
              <a:pPr indent="-288925" lvl="0" marL="457200" rtl="0" algn="l">
                <a:spcBef>
                  <a:spcPts val="300"/>
                </a:spcBef>
                <a:spcAft>
                  <a:spcPts val="0"/>
                </a:spcAft>
                <a:buClr>
                  <a:srgbClr val="E65100"/>
                </a:buClr>
                <a:buSzPts val="950"/>
                <a:buFont typeface="Poppins"/>
                <a:buChar char="●"/>
              </a:pPr>
              <a:r>
                <a:rPr b="0" lang="en" sz="950">
                  <a:solidFill>
                    <a:srgbClr val="E65100"/>
                  </a:solidFill>
                  <a:latin typeface="Poppins SemiBold"/>
                  <a:ea typeface="Poppins SemiBold"/>
                  <a:cs typeface="Poppins SemiBold"/>
                  <a:sym typeface="Poppins SemiBold"/>
                </a:rPr>
                <a:t>Directly determines Actual Tax Rate Increase</a:t>
              </a:r>
              <a:endParaRPr b="0" sz="950">
                <a:solidFill>
                  <a:srgbClr val="E65100"/>
                </a:solidFill>
                <a:latin typeface="Poppins SemiBold"/>
                <a:ea typeface="Poppins SemiBold"/>
                <a:cs typeface="Poppins SemiBold"/>
                <a:sym typeface="Poppins SemiBold"/>
              </a:endParaRPr>
            </a:p>
          </p:txBody>
        </p:sp>
      </p:grpSp>
      <p:grpSp>
        <p:nvGrpSpPr>
          <p:cNvPr id="375" name="Google Shape;375;p29"/>
          <p:cNvGrpSpPr/>
          <p:nvPr/>
        </p:nvGrpSpPr>
        <p:grpSpPr>
          <a:xfrm>
            <a:off x="381000" y="4572000"/>
            <a:ext cx="8382000" cy="400200"/>
            <a:chOff x="0" y="0"/>
            <a:chExt cx="8382000" cy="400200"/>
          </a:xfrm>
        </p:grpSpPr>
        <p:sp>
          <p:nvSpPr>
            <p:cNvPr id="376" name="Google Shape;376;p29"/>
            <p:cNvSpPr/>
            <p:nvPr/>
          </p:nvSpPr>
          <p:spPr>
            <a:xfrm>
              <a:off x="0" y="0"/>
              <a:ext cx="8382000" cy="400200"/>
            </a:xfrm>
            <a:prstGeom prst="roundRect">
              <a:avLst>
                <a:gd fmla="val 19047"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9"/>
            <p:cNvSpPr txBox="1"/>
            <p:nvPr/>
          </p:nvSpPr>
          <p:spPr>
            <a:xfrm>
              <a:off x="142875" y="0"/>
              <a:ext cx="80964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50">
                  <a:solidFill>
                    <a:srgbClr val="FFFFFF"/>
                  </a:solidFill>
                  <a:latin typeface="Poppins"/>
                  <a:ea typeface="Poppins"/>
                  <a:cs typeface="Poppins"/>
                  <a:sym typeface="Poppins"/>
                </a:rPr>
                <a:t>Homestead Tax Rate</a:t>
              </a:r>
              <a:r>
                <a:rPr lang="en" sz="1050">
                  <a:solidFill>
                    <a:srgbClr val="FFFFFF"/>
                  </a:solidFill>
                  <a:latin typeface="Poppins"/>
                  <a:ea typeface="Poppins"/>
                  <a:cs typeface="Poppins"/>
                  <a:sym typeface="Poppins"/>
                </a:rPr>
                <a:t> = (Net Education Spending ÷ LTWADM) ÷ State Yield Rate ÷ Town CLA</a:t>
              </a:r>
              <a:endParaRPr sz="1050">
                <a:solidFill>
                  <a:srgbClr val="FFFFFF"/>
                </a:solidFill>
                <a:latin typeface="Poppins"/>
                <a:ea typeface="Poppins"/>
                <a:cs typeface="Poppins"/>
                <a:sym typeface="Poppi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1" name="Shape 381"/>
        <p:cNvGrpSpPr/>
        <p:nvPr/>
      </p:nvGrpSpPr>
      <p:grpSpPr>
        <a:xfrm>
          <a:off x="0" y="0"/>
          <a:ext cx="0" cy="0"/>
          <a:chOff x="0" y="0"/>
          <a:chExt cx="0" cy="0"/>
        </a:xfrm>
      </p:grpSpPr>
      <p:sp>
        <p:nvSpPr>
          <p:cNvPr id="382" name="Google Shape;382;p30"/>
          <p:cNvSpPr txBox="1"/>
          <p:nvPr/>
        </p:nvSpPr>
        <p:spPr>
          <a:xfrm>
            <a:off x="381000" y="285750"/>
            <a:ext cx="8382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035">
                <a:solidFill>
                  <a:srgbClr val="FFFFFF"/>
                </a:solidFill>
                <a:latin typeface="Poppins ExtraBold"/>
                <a:ea typeface="Poppins ExtraBold"/>
                <a:cs typeface="Poppins ExtraBold"/>
                <a:sym typeface="Poppins ExtraBold"/>
              </a:rPr>
              <a:t>Long Term Weighted Average Daily Membership (LTWADM)</a:t>
            </a:r>
            <a:endParaRPr b="0" sz="2035">
              <a:solidFill>
                <a:srgbClr val="FFFFFF"/>
              </a:solidFill>
              <a:latin typeface="Poppins ExtraBold"/>
              <a:ea typeface="Poppins ExtraBold"/>
              <a:cs typeface="Poppins ExtraBold"/>
              <a:sym typeface="Poppins ExtraBold"/>
            </a:endParaRPr>
          </a:p>
        </p:txBody>
      </p:sp>
      <p:grpSp>
        <p:nvGrpSpPr>
          <p:cNvPr id="383" name="Google Shape;383;p30"/>
          <p:cNvGrpSpPr/>
          <p:nvPr/>
        </p:nvGrpSpPr>
        <p:grpSpPr>
          <a:xfrm>
            <a:off x="381000" y="1000125"/>
            <a:ext cx="4048200" cy="3667200"/>
            <a:chOff x="0" y="0"/>
            <a:chExt cx="4048200" cy="3667200"/>
          </a:xfrm>
        </p:grpSpPr>
        <p:sp>
          <p:nvSpPr>
            <p:cNvPr id="384" name="Google Shape;384;p30"/>
            <p:cNvSpPr/>
            <p:nvPr/>
          </p:nvSpPr>
          <p:spPr>
            <a:xfrm>
              <a:off x="0" y="0"/>
              <a:ext cx="4048200" cy="3667200"/>
            </a:xfrm>
            <a:prstGeom prst="roundRect">
              <a:avLst>
                <a:gd fmla="val 3636"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30"/>
            <p:cNvSpPr txBox="1"/>
            <p:nvPr/>
          </p:nvSpPr>
          <p:spPr>
            <a:xfrm>
              <a:off x="228600" y="209550"/>
              <a:ext cx="35910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94B621"/>
                  </a:solidFill>
                  <a:latin typeface="Poppins"/>
                  <a:ea typeface="Poppins"/>
                  <a:cs typeface="Poppins"/>
                  <a:sym typeface="Poppins"/>
                </a:rPr>
                <a:t>What is LTWADM?</a:t>
              </a:r>
              <a:endParaRPr b="1" sz="1600">
                <a:solidFill>
                  <a:srgbClr val="94B621"/>
                </a:solidFill>
                <a:latin typeface="Poppins"/>
                <a:ea typeface="Poppins"/>
                <a:cs typeface="Poppins"/>
                <a:sym typeface="Poppins"/>
              </a:endParaRPr>
            </a:p>
          </p:txBody>
        </p:sp>
        <p:sp>
          <p:nvSpPr>
            <p:cNvPr id="386" name="Google Shape;386;p30"/>
            <p:cNvSpPr/>
            <p:nvPr/>
          </p:nvSpPr>
          <p:spPr>
            <a:xfrm>
              <a:off x="228600" y="762000"/>
              <a:ext cx="3591000" cy="609600"/>
            </a:xfrm>
            <a:prstGeom prst="roundRect">
              <a:avLst>
                <a:gd fmla="val 12500" name="adj"/>
              </a:avLst>
            </a:prstGeom>
            <a:solidFill>
              <a:srgbClr val="1E2D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30"/>
            <p:cNvSpPr txBox="1"/>
            <p:nvPr/>
          </p:nvSpPr>
          <p:spPr>
            <a:xfrm>
              <a:off x="342900" y="762000"/>
              <a:ext cx="3362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E2E8F0"/>
                  </a:solidFill>
                  <a:latin typeface="Poppins SemiBold"/>
                  <a:ea typeface="Poppins SemiBold"/>
                  <a:cs typeface="Poppins SemiBold"/>
                  <a:sym typeface="Poppins SemiBold"/>
                </a:rPr>
                <a:t>Student Count Adjusted for Need &amp; Time</a:t>
              </a:r>
              <a:endParaRPr b="0" sz="1100">
                <a:solidFill>
                  <a:srgbClr val="E2E8F0"/>
                </a:solidFill>
                <a:latin typeface="Poppins SemiBold"/>
                <a:ea typeface="Poppins SemiBold"/>
                <a:cs typeface="Poppins SemiBold"/>
                <a:sym typeface="Poppins SemiBold"/>
              </a:endParaRPr>
            </a:p>
          </p:txBody>
        </p:sp>
        <p:sp>
          <p:nvSpPr>
            <p:cNvPr id="388" name="Google Shape;388;p30"/>
            <p:cNvSpPr txBox="1"/>
            <p:nvPr/>
          </p:nvSpPr>
          <p:spPr>
            <a:xfrm>
              <a:off x="228600" y="1524000"/>
              <a:ext cx="3591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FFFFFF"/>
                  </a:solidFill>
                  <a:latin typeface="Poppins"/>
                  <a:ea typeface="Poppins"/>
                  <a:cs typeface="Poppins"/>
                  <a:sym typeface="Poppins"/>
                </a:rPr>
                <a:t>Core Definition:</a:t>
              </a:r>
              <a:r>
                <a:rPr lang="en" sz="1150">
                  <a:solidFill>
                    <a:srgbClr val="CBD5E1"/>
                  </a:solidFill>
                  <a:latin typeface="Poppins"/>
                  <a:ea typeface="Poppins"/>
                  <a:cs typeface="Poppins"/>
                  <a:sym typeface="Poppins"/>
                </a:rPr>
                <a:t> LTWADM is essentially the district’s student count, averaged over a two-year period.</a:t>
              </a:r>
              <a:endParaRPr sz="1150">
                <a:solidFill>
                  <a:srgbClr val="CBD5E1"/>
                </a:solidFill>
                <a:latin typeface="Poppins"/>
                <a:ea typeface="Poppins"/>
                <a:cs typeface="Poppins"/>
                <a:sym typeface="Poppins"/>
              </a:endParaRPr>
            </a:p>
            <a:p>
              <a:pPr indent="0" lvl="0" marL="0" rtl="0" algn="l">
                <a:spcBef>
                  <a:spcPts val="900"/>
                </a:spcBef>
                <a:spcAft>
                  <a:spcPts val="0"/>
                </a:spcAft>
                <a:buNone/>
              </a:pPr>
              <a:r>
                <a:rPr b="1" lang="en" sz="1150">
                  <a:solidFill>
                    <a:srgbClr val="FFFFFF"/>
                  </a:solidFill>
                  <a:latin typeface="Poppins"/>
                  <a:ea typeface="Poppins"/>
                  <a:cs typeface="Poppins"/>
                  <a:sym typeface="Poppins"/>
                </a:rPr>
                <a:t>Weighting Factors:</a:t>
              </a:r>
              <a:r>
                <a:rPr lang="en" sz="1150">
                  <a:solidFill>
                    <a:srgbClr val="CBD5E1"/>
                  </a:solidFill>
                  <a:latin typeface="Poppins"/>
                  <a:ea typeface="Poppins"/>
                  <a:cs typeface="Poppins"/>
                  <a:sym typeface="Poppins"/>
                </a:rPr>
                <a:t> It is adjusted to account for the additional costs associated with serving specific student populations and demographics.</a:t>
              </a:r>
              <a:endParaRPr sz="1150">
                <a:solidFill>
                  <a:srgbClr val="CBD5E1"/>
                </a:solidFill>
                <a:latin typeface="Poppins"/>
                <a:ea typeface="Poppins"/>
                <a:cs typeface="Poppins"/>
                <a:sym typeface="Poppins"/>
              </a:endParaRPr>
            </a:p>
          </p:txBody>
        </p:sp>
      </p:grpSp>
      <p:grpSp>
        <p:nvGrpSpPr>
          <p:cNvPr id="389" name="Google Shape;389;p30"/>
          <p:cNvGrpSpPr/>
          <p:nvPr/>
        </p:nvGrpSpPr>
        <p:grpSpPr>
          <a:xfrm>
            <a:off x="4714875" y="1000125"/>
            <a:ext cx="4048200" cy="3667200"/>
            <a:chOff x="0" y="0"/>
            <a:chExt cx="4048200" cy="3667200"/>
          </a:xfrm>
        </p:grpSpPr>
        <p:sp>
          <p:nvSpPr>
            <p:cNvPr id="390" name="Google Shape;390;p30"/>
            <p:cNvSpPr/>
            <p:nvPr/>
          </p:nvSpPr>
          <p:spPr>
            <a:xfrm>
              <a:off x="0" y="0"/>
              <a:ext cx="4048200" cy="3667200"/>
            </a:xfrm>
            <a:prstGeom prst="roundRect">
              <a:avLst>
                <a:gd fmla="val 3636" name="adj"/>
              </a:avLst>
            </a:prstGeom>
            <a:solidFill>
              <a:srgbClr val="131E36"/>
            </a:solidFill>
            <a:ln cap="flat" cmpd="sng" w="14300">
              <a:solidFill>
                <a:srgbClr val="1E2D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30"/>
            <p:cNvSpPr txBox="1"/>
            <p:nvPr/>
          </p:nvSpPr>
          <p:spPr>
            <a:xfrm>
              <a:off x="228600" y="209550"/>
              <a:ext cx="35910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56BCC7"/>
                  </a:solidFill>
                  <a:latin typeface="Poppins"/>
                  <a:ea typeface="Poppins"/>
                  <a:cs typeface="Poppins"/>
                  <a:sym typeface="Poppins"/>
                </a:rPr>
                <a:t>Why LTWADM Matters?</a:t>
              </a:r>
              <a:endParaRPr b="1" sz="1600">
                <a:solidFill>
                  <a:srgbClr val="56BCC7"/>
                </a:solidFill>
                <a:latin typeface="Poppins"/>
                <a:ea typeface="Poppins"/>
                <a:cs typeface="Poppins"/>
                <a:sym typeface="Poppins"/>
              </a:endParaRPr>
            </a:p>
          </p:txBody>
        </p:sp>
        <p:sp>
          <p:nvSpPr>
            <p:cNvPr id="392" name="Google Shape;392;p30"/>
            <p:cNvSpPr/>
            <p:nvPr/>
          </p:nvSpPr>
          <p:spPr>
            <a:xfrm>
              <a:off x="228600" y="762000"/>
              <a:ext cx="3591000" cy="609600"/>
            </a:xfrm>
            <a:prstGeom prst="roundRect">
              <a:avLst>
                <a:gd fmla="val 12500" name="adj"/>
              </a:avLst>
            </a:prstGeom>
            <a:solidFill>
              <a:srgbClr val="1E2D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30"/>
            <p:cNvSpPr txBox="1"/>
            <p:nvPr/>
          </p:nvSpPr>
          <p:spPr>
            <a:xfrm>
              <a:off x="342900" y="762000"/>
              <a:ext cx="3362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E2E8F0"/>
                  </a:solidFill>
                  <a:latin typeface="Poppins SemiBold"/>
                  <a:ea typeface="Poppins SemiBold"/>
                  <a:cs typeface="Poppins SemiBold"/>
                  <a:sym typeface="Poppins SemiBold"/>
                </a:rPr>
                <a:t>Tax-Capacity &amp; Funding Formula Metric</a:t>
              </a:r>
              <a:endParaRPr b="0" sz="1100">
                <a:solidFill>
                  <a:srgbClr val="E2E8F0"/>
                </a:solidFill>
                <a:latin typeface="Poppins SemiBold"/>
                <a:ea typeface="Poppins SemiBold"/>
                <a:cs typeface="Poppins SemiBold"/>
                <a:sym typeface="Poppins SemiBold"/>
              </a:endParaRPr>
            </a:p>
          </p:txBody>
        </p:sp>
        <p:sp>
          <p:nvSpPr>
            <p:cNvPr id="394" name="Google Shape;394;p30"/>
            <p:cNvSpPr txBox="1"/>
            <p:nvPr/>
          </p:nvSpPr>
          <p:spPr>
            <a:xfrm>
              <a:off x="228600" y="1524000"/>
              <a:ext cx="3591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FFFFFF"/>
                  </a:solidFill>
                  <a:latin typeface="Poppins"/>
                  <a:ea typeface="Poppins"/>
                  <a:cs typeface="Poppins"/>
                  <a:sym typeface="Poppins"/>
                </a:rPr>
                <a:t>Beyond Headcount:</a:t>
              </a:r>
              <a:r>
                <a:rPr lang="en" sz="1150">
                  <a:solidFill>
                    <a:srgbClr val="CBD5E1"/>
                  </a:solidFill>
                  <a:latin typeface="Poppins"/>
                  <a:ea typeface="Poppins"/>
                  <a:cs typeface="Poppins"/>
                  <a:sym typeface="Poppins"/>
                </a:rPr>
                <a:t> LTWADM is not simply a raw enrollment number.</a:t>
              </a:r>
              <a:endParaRPr sz="1150">
                <a:solidFill>
                  <a:srgbClr val="CBD5E1"/>
                </a:solidFill>
                <a:latin typeface="Poppins"/>
                <a:ea typeface="Poppins"/>
                <a:cs typeface="Poppins"/>
                <a:sym typeface="Poppins"/>
              </a:endParaRPr>
            </a:p>
            <a:p>
              <a:pPr indent="0" lvl="0" marL="0" rtl="0" algn="l">
                <a:spcBef>
                  <a:spcPts val="900"/>
                </a:spcBef>
                <a:spcAft>
                  <a:spcPts val="0"/>
                </a:spcAft>
                <a:buNone/>
              </a:pPr>
              <a:r>
                <a:rPr b="1" lang="en" sz="1150">
                  <a:solidFill>
                    <a:srgbClr val="FFFFFF"/>
                  </a:solidFill>
                  <a:latin typeface="Poppins"/>
                  <a:ea typeface="Poppins"/>
                  <a:cs typeface="Poppins"/>
                  <a:sym typeface="Poppins"/>
                </a:rPr>
                <a:t>Financial Impact:</a:t>
              </a:r>
              <a:r>
                <a:rPr lang="en" sz="1150">
                  <a:solidFill>
                    <a:srgbClr val="CBD5E1"/>
                  </a:solidFill>
                  <a:latin typeface="Poppins"/>
                  <a:ea typeface="Poppins"/>
                  <a:cs typeface="Poppins"/>
                  <a:sym typeface="Poppins"/>
                </a:rPr>
                <a:t> It serves as a key tax-capacity and funding-formula metric that directly determines district spending capacity and property tax calculations.</a:t>
              </a:r>
              <a:endParaRPr sz="1150">
                <a:solidFill>
                  <a:srgbClr val="CBD5E1"/>
                </a:solidFill>
                <a:latin typeface="Poppins"/>
                <a:ea typeface="Poppins"/>
                <a:cs typeface="Poppins"/>
                <a:sym typeface="Poppi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8" name="Shape 398"/>
        <p:cNvGrpSpPr/>
        <p:nvPr/>
      </p:nvGrpSpPr>
      <p:grpSpPr>
        <a:xfrm>
          <a:off x="0" y="0"/>
          <a:ext cx="0" cy="0"/>
          <a:chOff x="0" y="0"/>
          <a:chExt cx="0" cy="0"/>
        </a:xfrm>
      </p:grpSpPr>
      <p:sp>
        <p:nvSpPr>
          <p:cNvPr id="399" name="Google Shape;399;p31"/>
          <p:cNvSpPr/>
          <p:nvPr/>
        </p:nvSpPr>
        <p:spPr>
          <a:xfrm>
            <a:off x="0" y="0"/>
            <a:ext cx="9144000" cy="9525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31"/>
          <p:cNvSpPr txBox="1"/>
          <p:nvPr/>
        </p:nvSpPr>
        <p:spPr>
          <a:xfrm>
            <a:off x="333375" y="0"/>
            <a:ext cx="84774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FFFFFF"/>
                </a:solidFill>
                <a:latin typeface="Poppins"/>
                <a:ea typeface="Poppins"/>
                <a:cs typeface="Poppins"/>
                <a:sym typeface="Poppins"/>
              </a:rPr>
              <a:t>Long Term Weighted Average Daily Membership (LTWADM)</a:t>
            </a:r>
            <a:endParaRPr b="1" sz="1800">
              <a:solidFill>
                <a:srgbClr val="FFFFFF"/>
              </a:solidFill>
              <a:latin typeface="Poppins"/>
              <a:ea typeface="Poppins"/>
              <a:cs typeface="Poppins"/>
              <a:sym typeface="Poppins"/>
            </a:endParaRPr>
          </a:p>
          <a:p>
            <a:pPr indent="0" lvl="0" marL="0" rtl="0" algn="l">
              <a:spcBef>
                <a:spcPts val="300"/>
              </a:spcBef>
              <a:spcAft>
                <a:spcPts val="0"/>
              </a:spcAft>
              <a:buNone/>
            </a:pPr>
            <a:r>
              <a:rPr b="0" lang="en" sz="1050">
                <a:solidFill>
                  <a:srgbClr val="CBD5E1"/>
                </a:solidFill>
                <a:latin typeface="Poppins"/>
                <a:ea typeface="Poppins"/>
                <a:cs typeface="Poppins"/>
                <a:sym typeface="Poppins"/>
              </a:rPr>
              <a:t>Students who incur higher education costs are weighted to count for more.</a:t>
            </a:r>
            <a:endParaRPr b="0" sz="1050">
              <a:solidFill>
                <a:srgbClr val="CBD5E1"/>
              </a:solidFill>
              <a:latin typeface="Poppins"/>
              <a:ea typeface="Poppins"/>
              <a:cs typeface="Poppins"/>
              <a:sym typeface="Poppins"/>
            </a:endParaRPr>
          </a:p>
        </p:txBody>
      </p:sp>
      <p:grpSp>
        <p:nvGrpSpPr>
          <p:cNvPr id="401" name="Google Shape;401;p31"/>
          <p:cNvGrpSpPr/>
          <p:nvPr/>
        </p:nvGrpSpPr>
        <p:grpSpPr>
          <a:xfrm>
            <a:off x="333375" y="1095375"/>
            <a:ext cx="4095900" cy="3762300"/>
            <a:chOff x="0" y="0"/>
            <a:chExt cx="4095900" cy="3762300"/>
          </a:xfrm>
        </p:grpSpPr>
        <p:sp>
          <p:nvSpPr>
            <p:cNvPr id="402" name="Google Shape;402;p31"/>
            <p:cNvSpPr/>
            <p:nvPr/>
          </p:nvSpPr>
          <p:spPr>
            <a:xfrm>
              <a:off x="0" y="0"/>
              <a:ext cx="4095900" cy="3762300"/>
            </a:xfrm>
            <a:prstGeom prst="roundRect">
              <a:avLst>
                <a:gd fmla="val 3037"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31"/>
            <p:cNvSpPr txBox="1"/>
            <p:nvPr/>
          </p:nvSpPr>
          <p:spPr>
            <a:xfrm>
              <a:off x="190500" y="152400"/>
              <a:ext cx="3714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Grade &amp; Student Demographics</a:t>
              </a:r>
              <a:endParaRPr b="1" sz="1300">
                <a:solidFill>
                  <a:srgbClr val="1B3859"/>
                </a:solidFill>
                <a:latin typeface="Poppins"/>
                <a:ea typeface="Poppins"/>
                <a:cs typeface="Poppins"/>
                <a:sym typeface="Poppins"/>
              </a:endParaRPr>
            </a:p>
          </p:txBody>
        </p:sp>
        <p:grpSp>
          <p:nvGrpSpPr>
            <p:cNvPr id="404" name="Google Shape;404;p31"/>
            <p:cNvGrpSpPr/>
            <p:nvPr/>
          </p:nvGrpSpPr>
          <p:grpSpPr>
            <a:xfrm>
              <a:off x="190500" y="571500"/>
              <a:ext cx="3714900" cy="533400"/>
              <a:chOff x="0" y="0"/>
              <a:chExt cx="3714900" cy="533400"/>
            </a:xfrm>
          </p:grpSpPr>
          <p:sp>
            <p:nvSpPr>
              <p:cNvPr id="405" name="Google Shape;405;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1E293B"/>
                    </a:solidFill>
                    <a:latin typeface="Poppins SemiBold"/>
                    <a:ea typeface="Poppins SemiBold"/>
                    <a:cs typeface="Poppins SemiBold"/>
                    <a:sym typeface="Poppins SemiBold"/>
                  </a:rPr>
                  <a:t>EEE / PreK</a:t>
                </a:r>
                <a:endParaRPr b="0" sz="1100">
                  <a:solidFill>
                    <a:srgbClr val="1E293B"/>
                  </a:solidFill>
                  <a:latin typeface="Poppins SemiBold"/>
                  <a:ea typeface="Poppins SemiBold"/>
                  <a:cs typeface="Poppins SemiBold"/>
                  <a:sym typeface="Poppins SemiBold"/>
                </a:endParaRPr>
              </a:p>
            </p:txBody>
          </p:sp>
          <p:sp>
            <p:nvSpPr>
              <p:cNvPr id="407" name="Google Shape;407;p31"/>
              <p:cNvSpPr/>
              <p:nvPr/>
            </p:nvSpPr>
            <p:spPr>
              <a:xfrm>
                <a:off x="2847975" y="104775"/>
                <a:ext cx="723900" cy="324000"/>
              </a:xfrm>
              <a:prstGeom prst="roundRect">
                <a:avLst>
                  <a:gd fmla="val 17646"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-0.54</a:t>
                </a:r>
                <a:endParaRPr b="1" sz="1150">
                  <a:solidFill>
                    <a:srgbClr val="FFFFFF"/>
                  </a:solidFill>
                  <a:latin typeface="Poppins"/>
                  <a:ea typeface="Poppins"/>
                  <a:cs typeface="Poppins"/>
                  <a:sym typeface="Poppins"/>
                </a:endParaRPr>
              </a:p>
            </p:txBody>
          </p:sp>
        </p:grpSp>
        <p:grpSp>
          <p:nvGrpSpPr>
            <p:cNvPr id="409" name="Google Shape;409;p31"/>
            <p:cNvGrpSpPr/>
            <p:nvPr/>
          </p:nvGrpSpPr>
          <p:grpSpPr>
            <a:xfrm>
              <a:off x="190500" y="1200150"/>
              <a:ext cx="3714900" cy="533400"/>
              <a:chOff x="0" y="0"/>
              <a:chExt cx="3714900" cy="533400"/>
            </a:xfrm>
          </p:grpSpPr>
          <p:sp>
            <p:nvSpPr>
              <p:cNvPr id="410" name="Google Shape;410;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1E293B"/>
                    </a:solidFill>
                    <a:latin typeface="Poppins SemiBold"/>
                    <a:ea typeface="Poppins SemiBold"/>
                    <a:cs typeface="Poppins SemiBold"/>
                    <a:sym typeface="Poppins SemiBold"/>
                  </a:rPr>
                  <a:t>Middle (6-8)</a:t>
                </a:r>
                <a:endParaRPr b="0" sz="1100">
                  <a:solidFill>
                    <a:srgbClr val="1E293B"/>
                  </a:solidFill>
                  <a:latin typeface="Poppins SemiBold"/>
                  <a:ea typeface="Poppins SemiBold"/>
                  <a:cs typeface="Poppins SemiBold"/>
                  <a:sym typeface="Poppins SemiBold"/>
                </a:endParaRPr>
              </a:p>
            </p:txBody>
          </p:sp>
          <p:sp>
            <p:nvSpPr>
              <p:cNvPr id="412" name="Google Shape;412;p31"/>
              <p:cNvSpPr/>
              <p:nvPr/>
            </p:nvSpPr>
            <p:spPr>
              <a:xfrm>
                <a:off x="2847975" y="104775"/>
                <a:ext cx="723900" cy="324000"/>
              </a:xfrm>
              <a:prstGeom prst="roundRect">
                <a:avLst>
                  <a:gd fmla="val 17646"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0.36</a:t>
                </a:r>
                <a:endParaRPr b="1" sz="1150">
                  <a:solidFill>
                    <a:srgbClr val="FFFFFF"/>
                  </a:solidFill>
                  <a:latin typeface="Poppins"/>
                  <a:ea typeface="Poppins"/>
                  <a:cs typeface="Poppins"/>
                  <a:sym typeface="Poppins"/>
                </a:endParaRPr>
              </a:p>
            </p:txBody>
          </p:sp>
        </p:grpSp>
        <p:grpSp>
          <p:nvGrpSpPr>
            <p:cNvPr id="414" name="Google Shape;414;p31"/>
            <p:cNvGrpSpPr/>
            <p:nvPr/>
          </p:nvGrpSpPr>
          <p:grpSpPr>
            <a:xfrm>
              <a:off x="190500" y="1828800"/>
              <a:ext cx="3714900" cy="533400"/>
              <a:chOff x="0" y="0"/>
              <a:chExt cx="3714900" cy="533400"/>
            </a:xfrm>
          </p:grpSpPr>
          <p:sp>
            <p:nvSpPr>
              <p:cNvPr id="415" name="Google Shape;415;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1E293B"/>
                    </a:solidFill>
                    <a:latin typeface="Poppins SemiBold"/>
                    <a:ea typeface="Poppins SemiBold"/>
                    <a:cs typeface="Poppins SemiBold"/>
                    <a:sym typeface="Poppins SemiBold"/>
                  </a:rPr>
                  <a:t>Secondary (9-12)</a:t>
                </a:r>
                <a:endParaRPr b="0" sz="1100">
                  <a:solidFill>
                    <a:srgbClr val="1E293B"/>
                  </a:solidFill>
                  <a:latin typeface="Poppins SemiBold"/>
                  <a:ea typeface="Poppins SemiBold"/>
                  <a:cs typeface="Poppins SemiBold"/>
                  <a:sym typeface="Poppins SemiBold"/>
                </a:endParaRPr>
              </a:p>
            </p:txBody>
          </p:sp>
          <p:sp>
            <p:nvSpPr>
              <p:cNvPr id="417" name="Google Shape;417;p31"/>
              <p:cNvSpPr/>
              <p:nvPr/>
            </p:nvSpPr>
            <p:spPr>
              <a:xfrm>
                <a:off x="2847975" y="104775"/>
                <a:ext cx="723900" cy="324000"/>
              </a:xfrm>
              <a:prstGeom prst="roundRect">
                <a:avLst>
                  <a:gd fmla="val 17646"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0.39</a:t>
                </a:r>
                <a:endParaRPr b="1" sz="1150">
                  <a:solidFill>
                    <a:srgbClr val="FFFFFF"/>
                  </a:solidFill>
                  <a:latin typeface="Poppins"/>
                  <a:ea typeface="Poppins"/>
                  <a:cs typeface="Poppins"/>
                  <a:sym typeface="Poppins"/>
                </a:endParaRPr>
              </a:p>
            </p:txBody>
          </p:sp>
        </p:grpSp>
        <p:grpSp>
          <p:nvGrpSpPr>
            <p:cNvPr id="419" name="Google Shape;419;p31"/>
            <p:cNvGrpSpPr/>
            <p:nvPr/>
          </p:nvGrpSpPr>
          <p:grpSpPr>
            <a:xfrm>
              <a:off x="190500" y="2457450"/>
              <a:ext cx="3714900" cy="533400"/>
              <a:chOff x="0" y="0"/>
              <a:chExt cx="3714900" cy="533400"/>
            </a:xfrm>
          </p:grpSpPr>
          <p:sp>
            <p:nvSpPr>
              <p:cNvPr id="420" name="Google Shape;420;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1E293B"/>
                    </a:solidFill>
                    <a:latin typeface="Poppins SemiBold"/>
                    <a:ea typeface="Poppins SemiBold"/>
                    <a:cs typeface="Poppins SemiBold"/>
                    <a:sym typeface="Poppins SemiBold"/>
                  </a:rPr>
                  <a:t>Poverty</a:t>
                </a:r>
                <a:endParaRPr b="0" sz="1100">
                  <a:solidFill>
                    <a:srgbClr val="1E293B"/>
                  </a:solidFill>
                  <a:latin typeface="Poppins SemiBold"/>
                  <a:ea typeface="Poppins SemiBold"/>
                  <a:cs typeface="Poppins SemiBold"/>
                  <a:sym typeface="Poppins SemiBold"/>
                </a:endParaRPr>
              </a:p>
            </p:txBody>
          </p:sp>
          <p:sp>
            <p:nvSpPr>
              <p:cNvPr id="422" name="Google Shape;422;p31"/>
              <p:cNvSpPr/>
              <p:nvPr/>
            </p:nvSpPr>
            <p:spPr>
              <a:xfrm>
                <a:off x="2847975" y="104775"/>
                <a:ext cx="723900" cy="324000"/>
              </a:xfrm>
              <a:prstGeom prst="roundRect">
                <a:avLst>
                  <a:gd fmla="val 17646" name="adj"/>
                </a:avLst>
              </a:prstGeom>
              <a:solidFill>
                <a:srgbClr val="94B6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1.03</a:t>
                </a:r>
                <a:endParaRPr b="1" sz="1150">
                  <a:solidFill>
                    <a:srgbClr val="FFFFFF"/>
                  </a:solidFill>
                  <a:latin typeface="Poppins"/>
                  <a:ea typeface="Poppins"/>
                  <a:cs typeface="Poppins"/>
                  <a:sym typeface="Poppins"/>
                </a:endParaRPr>
              </a:p>
            </p:txBody>
          </p:sp>
        </p:grpSp>
        <p:grpSp>
          <p:nvGrpSpPr>
            <p:cNvPr id="424" name="Google Shape;424;p31"/>
            <p:cNvGrpSpPr/>
            <p:nvPr/>
          </p:nvGrpSpPr>
          <p:grpSpPr>
            <a:xfrm>
              <a:off x="190500" y="3086100"/>
              <a:ext cx="3714900" cy="533400"/>
              <a:chOff x="0" y="0"/>
              <a:chExt cx="3714900" cy="533400"/>
            </a:xfrm>
          </p:grpSpPr>
          <p:sp>
            <p:nvSpPr>
              <p:cNvPr id="425" name="Google Shape;425;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1E293B"/>
                    </a:solidFill>
                    <a:latin typeface="Poppins SemiBold"/>
                    <a:ea typeface="Poppins SemiBold"/>
                    <a:cs typeface="Poppins SemiBold"/>
                    <a:sym typeface="Poppins SemiBold"/>
                  </a:rPr>
                  <a:t>English Language Learners (ELL)</a:t>
                </a:r>
                <a:endParaRPr b="0" sz="1050">
                  <a:solidFill>
                    <a:srgbClr val="1E293B"/>
                  </a:solidFill>
                  <a:latin typeface="Poppins SemiBold"/>
                  <a:ea typeface="Poppins SemiBold"/>
                  <a:cs typeface="Poppins SemiBold"/>
                  <a:sym typeface="Poppins SemiBold"/>
                </a:endParaRPr>
              </a:p>
            </p:txBody>
          </p:sp>
          <p:sp>
            <p:nvSpPr>
              <p:cNvPr id="427" name="Google Shape;427;p31"/>
              <p:cNvSpPr/>
              <p:nvPr/>
            </p:nvSpPr>
            <p:spPr>
              <a:xfrm>
                <a:off x="2847975" y="104775"/>
                <a:ext cx="723900" cy="324000"/>
              </a:xfrm>
              <a:prstGeom prst="roundRect">
                <a:avLst>
                  <a:gd fmla="val 17646" name="adj"/>
                </a:avLst>
              </a:prstGeom>
              <a:solidFill>
                <a:srgbClr val="94B6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2.49</a:t>
                </a:r>
                <a:endParaRPr b="1" sz="1150">
                  <a:solidFill>
                    <a:srgbClr val="FFFFFF"/>
                  </a:solidFill>
                  <a:latin typeface="Poppins"/>
                  <a:ea typeface="Poppins"/>
                  <a:cs typeface="Poppins"/>
                  <a:sym typeface="Poppins"/>
                </a:endParaRPr>
              </a:p>
            </p:txBody>
          </p:sp>
        </p:grpSp>
      </p:grpSp>
      <p:grpSp>
        <p:nvGrpSpPr>
          <p:cNvPr id="429" name="Google Shape;429;p31"/>
          <p:cNvGrpSpPr/>
          <p:nvPr/>
        </p:nvGrpSpPr>
        <p:grpSpPr>
          <a:xfrm>
            <a:off x="4714875" y="1095375"/>
            <a:ext cx="4095900" cy="3762300"/>
            <a:chOff x="0" y="0"/>
            <a:chExt cx="4095900" cy="3762300"/>
          </a:xfrm>
        </p:grpSpPr>
        <p:sp>
          <p:nvSpPr>
            <p:cNvPr id="430" name="Google Shape;430;p31"/>
            <p:cNvSpPr/>
            <p:nvPr/>
          </p:nvSpPr>
          <p:spPr>
            <a:xfrm>
              <a:off x="0" y="0"/>
              <a:ext cx="4095900" cy="3762300"/>
            </a:xfrm>
            <a:prstGeom prst="roundRect">
              <a:avLst>
                <a:gd fmla="val 3037"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31"/>
            <p:cNvSpPr txBox="1"/>
            <p:nvPr/>
          </p:nvSpPr>
          <p:spPr>
            <a:xfrm>
              <a:off x="190500" y="152400"/>
              <a:ext cx="3714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Sparsity &amp; Small School Factors</a:t>
              </a:r>
              <a:endParaRPr b="1" sz="1300">
                <a:solidFill>
                  <a:srgbClr val="1B3859"/>
                </a:solidFill>
                <a:latin typeface="Poppins"/>
                <a:ea typeface="Poppins"/>
                <a:cs typeface="Poppins"/>
                <a:sym typeface="Poppins"/>
              </a:endParaRPr>
            </a:p>
          </p:txBody>
        </p:sp>
        <p:grpSp>
          <p:nvGrpSpPr>
            <p:cNvPr id="432" name="Google Shape;432;p31"/>
            <p:cNvGrpSpPr/>
            <p:nvPr/>
          </p:nvGrpSpPr>
          <p:grpSpPr>
            <a:xfrm>
              <a:off x="190500" y="571500"/>
              <a:ext cx="3714900" cy="533400"/>
              <a:chOff x="0" y="0"/>
              <a:chExt cx="3714900" cy="533400"/>
            </a:xfrm>
          </p:grpSpPr>
          <p:sp>
            <p:nvSpPr>
              <p:cNvPr id="433" name="Google Shape;433;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1E293B"/>
                    </a:solidFill>
                    <a:latin typeface="Poppins SemiBold"/>
                    <a:ea typeface="Poppins SemiBold"/>
                    <a:cs typeface="Poppins SemiBold"/>
                    <a:sym typeface="Poppins SemiBold"/>
                  </a:rPr>
                  <a:t>Sparsity</a:t>
                </a:r>
                <a:endParaRPr b="0" sz="1050">
                  <a:solidFill>
                    <a:srgbClr val="1E293B"/>
                  </a:solidFill>
                  <a:latin typeface="Poppins SemiBold"/>
                  <a:ea typeface="Poppins SemiBold"/>
                  <a:cs typeface="Poppins SemiBold"/>
                  <a:sym typeface="Poppins SemiBold"/>
                </a:endParaRPr>
              </a:p>
              <a:p>
                <a:pPr indent="0" lvl="0" marL="0" rtl="0" algn="l">
                  <a:spcBef>
                    <a:spcPts val="75"/>
                  </a:spcBef>
                  <a:spcAft>
                    <a:spcPts val="0"/>
                  </a:spcAft>
                  <a:buNone/>
                </a:pPr>
                <a:r>
                  <a:rPr b="0" lang="en" sz="850">
                    <a:solidFill>
                      <a:srgbClr val="64748B"/>
                    </a:solidFill>
                    <a:latin typeface="Poppins"/>
                    <a:ea typeface="Poppins"/>
                    <a:cs typeface="Poppins"/>
                    <a:sym typeface="Poppins"/>
                  </a:rPr>
                  <a:t>&lt; 36 pop/sq. mile</a:t>
                </a:r>
                <a:endParaRPr b="0" sz="850">
                  <a:solidFill>
                    <a:srgbClr val="64748B"/>
                  </a:solidFill>
                  <a:latin typeface="Poppins"/>
                  <a:ea typeface="Poppins"/>
                  <a:cs typeface="Poppins"/>
                  <a:sym typeface="Poppins"/>
                </a:endParaRPr>
              </a:p>
            </p:txBody>
          </p:sp>
          <p:sp>
            <p:nvSpPr>
              <p:cNvPr id="435" name="Google Shape;435;p31"/>
              <p:cNvSpPr/>
              <p:nvPr/>
            </p:nvSpPr>
            <p:spPr>
              <a:xfrm>
                <a:off x="2847975" y="104775"/>
                <a:ext cx="723900" cy="324000"/>
              </a:xfrm>
              <a:prstGeom prst="roundRect">
                <a:avLst>
                  <a:gd fmla="val 17646"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0.15</a:t>
                </a:r>
                <a:endParaRPr b="1" sz="1150">
                  <a:solidFill>
                    <a:srgbClr val="FFFFFF"/>
                  </a:solidFill>
                  <a:latin typeface="Poppins"/>
                  <a:ea typeface="Poppins"/>
                  <a:cs typeface="Poppins"/>
                  <a:sym typeface="Poppins"/>
                </a:endParaRPr>
              </a:p>
            </p:txBody>
          </p:sp>
        </p:grpSp>
        <p:grpSp>
          <p:nvGrpSpPr>
            <p:cNvPr id="437" name="Google Shape;437;p31"/>
            <p:cNvGrpSpPr/>
            <p:nvPr/>
          </p:nvGrpSpPr>
          <p:grpSpPr>
            <a:xfrm>
              <a:off x="190500" y="1200150"/>
              <a:ext cx="3714900" cy="533400"/>
              <a:chOff x="0" y="0"/>
              <a:chExt cx="3714900" cy="533400"/>
            </a:xfrm>
          </p:grpSpPr>
          <p:sp>
            <p:nvSpPr>
              <p:cNvPr id="438" name="Google Shape;438;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1E293B"/>
                    </a:solidFill>
                    <a:latin typeface="Poppins SemiBold"/>
                    <a:ea typeface="Poppins SemiBold"/>
                    <a:cs typeface="Poppins SemiBold"/>
                    <a:sym typeface="Poppins SemiBold"/>
                  </a:rPr>
                  <a:t>Sparsity</a:t>
                </a:r>
                <a:endParaRPr b="0" sz="1050">
                  <a:solidFill>
                    <a:srgbClr val="1E293B"/>
                  </a:solidFill>
                  <a:latin typeface="Poppins SemiBold"/>
                  <a:ea typeface="Poppins SemiBold"/>
                  <a:cs typeface="Poppins SemiBold"/>
                  <a:sym typeface="Poppins SemiBold"/>
                </a:endParaRPr>
              </a:p>
              <a:p>
                <a:pPr indent="0" lvl="0" marL="0" rtl="0" algn="l">
                  <a:spcBef>
                    <a:spcPts val="75"/>
                  </a:spcBef>
                  <a:spcAft>
                    <a:spcPts val="0"/>
                  </a:spcAft>
                  <a:buNone/>
                </a:pPr>
                <a:r>
                  <a:rPr b="0" lang="en" sz="850">
                    <a:solidFill>
                      <a:srgbClr val="64748B"/>
                    </a:solidFill>
                    <a:latin typeface="Poppins"/>
                    <a:ea typeface="Poppins"/>
                    <a:cs typeface="Poppins"/>
                    <a:sym typeface="Poppins"/>
                  </a:rPr>
                  <a:t>36 ≤ pop/sq. mile &lt; 55</a:t>
                </a:r>
                <a:endParaRPr b="0" sz="850">
                  <a:solidFill>
                    <a:srgbClr val="64748B"/>
                  </a:solidFill>
                  <a:latin typeface="Poppins"/>
                  <a:ea typeface="Poppins"/>
                  <a:cs typeface="Poppins"/>
                  <a:sym typeface="Poppins"/>
                </a:endParaRPr>
              </a:p>
            </p:txBody>
          </p:sp>
          <p:sp>
            <p:nvSpPr>
              <p:cNvPr id="440" name="Google Shape;440;p31"/>
              <p:cNvSpPr/>
              <p:nvPr/>
            </p:nvSpPr>
            <p:spPr>
              <a:xfrm>
                <a:off x="2847975" y="104775"/>
                <a:ext cx="723900" cy="324000"/>
              </a:xfrm>
              <a:prstGeom prst="roundRect">
                <a:avLst>
                  <a:gd fmla="val 17646"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0.12</a:t>
                </a:r>
                <a:endParaRPr b="1" sz="1150">
                  <a:solidFill>
                    <a:srgbClr val="FFFFFF"/>
                  </a:solidFill>
                  <a:latin typeface="Poppins"/>
                  <a:ea typeface="Poppins"/>
                  <a:cs typeface="Poppins"/>
                  <a:sym typeface="Poppins"/>
                </a:endParaRPr>
              </a:p>
            </p:txBody>
          </p:sp>
        </p:grpSp>
        <p:grpSp>
          <p:nvGrpSpPr>
            <p:cNvPr id="442" name="Google Shape;442;p31"/>
            <p:cNvGrpSpPr/>
            <p:nvPr/>
          </p:nvGrpSpPr>
          <p:grpSpPr>
            <a:xfrm>
              <a:off x="190500" y="1828800"/>
              <a:ext cx="3714900" cy="533400"/>
              <a:chOff x="0" y="0"/>
              <a:chExt cx="3714900" cy="533400"/>
            </a:xfrm>
          </p:grpSpPr>
          <p:sp>
            <p:nvSpPr>
              <p:cNvPr id="443" name="Google Shape;443;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1E293B"/>
                    </a:solidFill>
                    <a:latin typeface="Poppins SemiBold"/>
                    <a:ea typeface="Poppins SemiBold"/>
                    <a:cs typeface="Poppins SemiBold"/>
                    <a:sym typeface="Poppins SemiBold"/>
                  </a:rPr>
                  <a:t>Sparsity</a:t>
                </a:r>
                <a:endParaRPr b="0" sz="1050">
                  <a:solidFill>
                    <a:srgbClr val="1E293B"/>
                  </a:solidFill>
                  <a:latin typeface="Poppins SemiBold"/>
                  <a:ea typeface="Poppins SemiBold"/>
                  <a:cs typeface="Poppins SemiBold"/>
                  <a:sym typeface="Poppins SemiBold"/>
                </a:endParaRPr>
              </a:p>
              <a:p>
                <a:pPr indent="0" lvl="0" marL="0" rtl="0" algn="l">
                  <a:spcBef>
                    <a:spcPts val="75"/>
                  </a:spcBef>
                  <a:spcAft>
                    <a:spcPts val="0"/>
                  </a:spcAft>
                  <a:buNone/>
                </a:pPr>
                <a:r>
                  <a:rPr b="0" lang="en" sz="850">
                    <a:solidFill>
                      <a:srgbClr val="64748B"/>
                    </a:solidFill>
                    <a:latin typeface="Poppins"/>
                    <a:ea typeface="Poppins"/>
                    <a:cs typeface="Poppins"/>
                    <a:sym typeface="Poppins"/>
                  </a:rPr>
                  <a:t>55 ≤ pop/sq. mile &lt; 100</a:t>
                </a:r>
                <a:endParaRPr b="0" sz="850">
                  <a:solidFill>
                    <a:srgbClr val="64748B"/>
                  </a:solidFill>
                  <a:latin typeface="Poppins"/>
                  <a:ea typeface="Poppins"/>
                  <a:cs typeface="Poppins"/>
                  <a:sym typeface="Poppins"/>
                </a:endParaRPr>
              </a:p>
            </p:txBody>
          </p:sp>
          <p:sp>
            <p:nvSpPr>
              <p:cNvPr id="445" name="Google Shape;445;p31"/>
              <p:cNvSpPr/>
              <p:nvPr/>
            </p:nvSpPr>
            <p:spPr>
              <a:xfrm>
                <a:off x="2847975" y="104775"/>
                <a:ext cx="723900" cy="324000"/>
              </a:xfrm>
              <a:prstGeom prst="roundRect">
                <a:avLst>
                  <a:gd fmla="val 17646"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0.07</a:t>
                </a:r>
                <a:endParaRPr b="1" sz="1150">
                  <a:solidFill>
                    <a:srgbClr val="FFFFFF"/>
                  </a:solidFill>
                  <a:latin typeface="Poppins"/>
                  <a:ea typeface="Poppins"/>
                  <a:cs typeface="Poppins"/>
                  <a:sym typeface="Poppins"/>
                </a:endParaRPr>
              </a:p>
            </p:txBody>
          </p:sp>
        </p:grpSp>
        <p:grpSp>
          <p:nvGrpSpPr>
            <p:cNvPr id="447" name="Google Shape;447;p31"/>
            <p:cNvGrpSpPr/>
            <p:nvPr/>
          </p:nvGrpSpPr>
          <p:grpSpPr>
            <a:xfrm>
              <a:off x="190500" y="2457450"/>
              <a:ext cx="3714900" cy="533400"/>
              <a:chOff x="0" y="0"/>
              <a:chExt cx="3714900" cy="533400"/>
            </a:xfrm>
          </p:grpSpPr>
          <p:sp>
            <p:nvSpPr>
              <p:cNvPr id="448" name="Google Shape;448;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1E293B"/>
                    </a:solidFill>
                    <a:latin typeface="Poppins SemiBold"/>
                    <a:ea typeface="Poppins SemiBold"/>
                    <a:cs typeface="Poppins SemiBold"/>
                    <a:sym typeface="Poppins SemiBold"/>
                  </a:rPr>
                  <a:t>Small School</a:t>
                </a:r>
                <a:endParaRPr b="0" sz="1050">
                  <a:solidFill>
                    <a:srgbClr val="1E293B"/>
                  </a:solidFill>
                  <a:latin typeface="Poppins SemiBold"/>
                  <a:ea typeface="Poppins SemiBold"/>
                  <a:cs typeface="Poppins SemiBold"/>
                  <a:sym typeface="Poppins SemiBold"/>
                </a:endParaRPr>
              </a:p>
              <a:p>
                <a:pPr indent="0" lvl="0" marL="0" rtl="0" algn="l">
                  <a:spcBef>
                    <a:spcPts val="75"/>
                  </a:spcBef>
                  <a:spcAft>
                    <a:spcPts val="0"/>
                  </a:spcAft>
                  <a:buNone/>
                </a:pPr>
                <a:r>
                  <a:rPr b="0" lang="en" sz="850">
                    <a:solidFill>
                      <a:srgbClr val="64748B"/>
                    </a:solidFill>
                    <a:latin typeface="Poppins"/>
                    <a:ea typeface="Poppins"/>
                    <a:cs typeface="Poppins"/>
                    <a:sym typeface="Poppins"/>
                  </a:rPr>
                  <a:t>≤ 55 pop/sq. mile, enrollment ≤ 100</a:t>
                </a:r>
                <a:endParaRPr b="0" sz="850">
                  <a:solidFill>
                    <a:srgbClr val="64748B"/>
                  </a:solidFill>
                  <a:latin typeface="Poppins"/>
                  <a:ea typeface="Poppins"/>
                  <a:cs typeface="Poppins"/>
                  <a:sym typeface="Poppins"/>
                </a:endParaRPr>
              </a:p>
            </p:txBody>
          </p:sp>
          <p:sp>
            <p:nvSpPr>
              <p:cNvPr id="450" name="Google Shape;450;p31"/>
              <p:cNvSpPr/>
              <p:nvPr/>
            </p:nvSpPr>
            <p:spPr>
              <a:xfrm>
                <a:off x="2847975" y="104775"/>
                <a:ext cx="723900" cy="324000"/>
              </a:xfrm>
              <a:prstGeom prst="roundRect">
                <a:avLst>
                  <a:gd fmla="val 17646"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0.21</a:t>
                </a:r>
                <a:endParaRPr b="1" sz="1150">
                  <a:solidFill>
                    <a:srgbClr val="FFFFFF"/>
                  </a:solidFill>
                  <a:latin typeface="Poppins"/>
                  <a:ea typeface="Poppins"/>
                  <a:cs typeface="Poppins"/>
                  <a:sym typeface="Poppins"/>
                </a:endParaRPr>
              </a:p>
            </p:txBody>
          </p:sp>
        </p:grpSp>
        <p:grpSp>
          <p:nvGrpSpPr>
            <p:cNvPr id="452" name="Google Shape;452;p31"/>
            <p:cNvGrpSpPr/>
            <p:nvPr/>
          </p:nvGrpSpPr>
          <p:grpSpPr>
            <a:xfrm>
              <a:off x="190500" y="3086100"/>
              <a:ext cx="3714900" cy="533400"/>
              <a:chOff x="0" y="0"/>
              <a:chExt cx="3714900" cy="533400"/>
            </a:xfrm>
          </p:grpSpPr>
          <p:sp>
            <p:nvSpPr>
              <p:cNvPr id="453" name="Google Shape;453;p31"/>
              <p:cNvSpPr/>
              <p:nvPr/>
            </p:nvSpPr>
            <p:spPr>
              <a:xfrm>
                <a:off x="0" y="0"/>
                <a:ext cx="3714900" cy="533400"/>
              </a:xfrm>
              <a:prstGeom prst="roundRect">
                <a:avLst>
                  <a:gd fmla="val 1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31"/>
              <p:cNvSpPr txBox="1"/>
              <p:nvPr/>
            </p:nvSpPr>
            <p:spPr>
              <a:xfrm>
                <a:off x="171450" y="0"/>
                <a:ext cx="24765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1E293B"/>
                    </a:solidFill>
                    <a:latin typeface="Poppins SemiBold"/>
                    <a:ea typeface="Poppins SemiBold"/>
                    <a:cs typeface="Poppins SemiBold"/>
                    <a:sym typeface="Poppins SemiBold"/>
                  </a:rPr>
                  <a:t>Small School</a:t>
                </a:r>
                <a:endParaRPr b="0" sz="1050">
                  <a:solidFill>
                    <a:srgbClr val="1E293B"/>
                  </a:solidFill>
                  <a:latin typeface="Poppins SemiBold"/>
                  <a:ea typeface="Poppins SemiBold"/>
                  <a:cs typeface="Poppins SemiBold"/>
                  <a:sym typeface="Poppins SemiBold"/>
                </a:endParaRPr>
              </a:p>
              <a:p>
                <a:pPr indent="0" lvl="0" marL="0" rtl="0" algn="l">
                  <a:spcBef>
                    <a:spcPts val="75"/>
                  </a:spcBef>
                  <a:spcAft>
                    <a:spcPts val="0"/>
                  </a:spcAft>
                  <a:buNone/>
                </a:pPr>
                <a:r>
                  <a:rPr b="0" lang="en" sz="850">
                    <a:solidFill>
                      <a:srgbClr val="64748B"/>
                    </a:solidFill>
                    <a:latin typeface="Poppins"/>
                    <a:ea typeface="Poppins"/>
                    <a:cs typeface="Poppins"/>
                    <a:sym typeface="Poppins"/>
                  </a:rPr>
                  <a:t>≤ 55 pop/sq. mile, enrollment 101–250</a:t>
                </a:r>
                <a:endParaRPr b="0" sz="850">
                  <a:solidFill>
                    <a:srgbClr val="64748B"/>
                  </a:solidFill>
                  <a:latin typeface="Poppins"/>
                  <a:ea typeface="Poppins"/>
                  <a:cs typeface="Poppins"/>
                  <a:sym typeface="Poppins"/>
                </a:endParaRPr>
              </a:p>
            </p:txBody>
          </p:sp>
          <p:sp>
            <p:nvSpPr>
              <p:cNvPr id="455" name="Google Shape;455;p31"/>
              <p:cNvSpPr/>
              <p:nvPr/>
            </p:nvSpPr>
            <p:spPr>
              <a:xfrm>
                <a:off x="2847975" y="104775"/>
                <a:ext cx="723900" cy="324000"/>
              </a:xfrm>
              <a:prstGeom prst="roundRect">
                <a:avLst>
                  <a:gd fmla="val 17646" name="adj"/>
                </a:avLst>
              </a:prstGeom>
              <a:solidFill>
                <a:srgbClr val="FFAB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31"/>
              <p:cNvSpPr txBox="1"/>
              <p:nvPr/>
            </p:nvSpPr>
            <p:spPr>
              <a:xfrm>
                <a:off x="2847975" y="104775"/>
                <a:ext cx="7239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Poppins"/>
                    <a:ea typeface="Poppins"/>
                    <a:cs typeface="Poppins"/>
                    <a:sym typeface="Poppins"/>
                  </a:rPr>
                  <a:t>0.07</a:t>
                </a:r>
                <a:endParaRPr b="1" sz="1150">
                  <a:solidFill>
                    <a:srgbClr val="FFFFFF"/>
                  </a:solidFill>
                  <a:latin typeface="Poppins"/>
                  <a:ea typeface="Poppins"/>
                  <a:cs typeface="Poppins"/>
                  <a:sym typeface="Poppins"/>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32"/>
          <p:cNvSpPr/>
          <p:nvPr/>
        </p:nvSpPr>
        <p:spPr>
          <a:xfrm>
            <a:off x="0" y="0"/>
            <a:ext cx="8122333" cy="876300"/>
          </a:xfrm>
          <a:custGeom>
            <a:rect b="b" l="l" r="r" t="t"/>
            <a:pathLst>
              <a:path extrusionOk="0" h="876300" w="8122333">
                <a:moveTo>
                  <a:pt x="0" y="0"/>
                </a:moveTo>
                <a:lnTo>
                  <a:pt x="6785369" y="0"/>
                </a:lnTo>
                <a:lnTo>
                  <a:pt x="7021002" y="0"/>
                </a:lnTo>
                <a:lnTo>
                  <a:pt x="8122333" y="0"/>
                </a:lnTo>
                <a:lnTo>
                  <a:pt x="7820133" y="876299"/>
                </a:lnTo>
                <a:lnTo>
                  <a:pt x="7021002" y="876299"/>
                </a:lnTo>
                <a:lnTo>
                  <a:pt x="7021002" y="876300"/>
                </a:lnTo>
                <a:lnTo>
                  <a:pt x="0" y="876300"/>
                </a:lnTo>
                <a:close/>
              </a:path>
            </a:pathLst>
          </a:custGeom>
          <a:solidFill>
            <a:schemeClr val="dk1"/>
          </a:solidFill>
          <a:ln>
            <a:noFill/>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2" name="Google Shape;462;p32"/>
          <p:cNvSpPr txBox="1"/>
          <p:nvPr/>
        </p:nvSpPr>
        <p:spPr>
          <a:xfrm>
            <a:off x="381000" y="2286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000">
                <a:solidFill>
                  <a:schemeClr val="lt1"/>
                </a:solidFill>
                <a:latin typeface="Poppins ExtraBold"/>
                <a:ea typeface="Poppins ExtraBold"/>
                <a:cs typeface="Poppins ExtraBold"/>
                <a:sym typeface="Poppins ExtraBold"/>
              </a:rPr>
              <a:t>Unfunded Mandates &amp; Federal Requirements</a:t>
            </a:r>
            <a:endParaRPr b="0" sz="2000">
              <a:solidFill>
                <a:schemeClr val="lt1"/>
              </a:solidFill>
              <a:latin typeface="Poppins ExtraBold"/>
              <a:ea typeface="Poppins ExtraBold"/>
              <a:cs typeface="Poppins ExtraBold"/>
              <a:sym typeface="Poppins ExtraBold"/>
            </a:endParaRPr>
          </a:p>
          <a:p>
            <a:pPr indent="0" lvl="0" marL="0" rtl="0" algn="l">
              <a:spcBef>
                <a:spcPts val="150"/>
              </a:spcBef>
              <a:spcAft>
                <a:spcPts val="0"/>
              </a:spcAft>
              <a:buNone/>
            </a:pPr>
            <a:r>
              <a:rPr b="1" lang="en" sz="1050" u="sng">
                <a:solidFill>
                  <a:schemeClr val="lt1"/>
                </a:solidFill>
                <a:latin typeface="Poppins"/>
                <a:ea typeface="Poppins"/>
                <a:cs typeface="Poppins"/>
                <a:sym typeface="Poppins"/>
              </a:rPr>
              <a:t>A few </a:t>
            </a:r>
            <a:r>
              <a:rPr lang="en" sz="1050">
                <a:solidFill>
                  <a:schemeClr val="lt1"/>
                </a:solidFill>
                <a:latin typeface="Poppins"/>
                <a:ea typeface="Poppins"/>
                <a:cs typeface="Poppins"/>
                <a:sym typeface="Poppins"/>
              </a:rPr>
              <a:t>L</a:t>
            </a:r>
            <a:r>
              <a:rPr b="0" lang="en" sz="1050">
                <a:solidFill>
                  <a:schemeClr val="lt1"/>
                </a:solidFill>
                <a:latin typeface="Poppins"/>
                <a:ea typeface="Poppins"/>
                <a:cs typeface="Poppins"/>
                <a:sym typeface="Poppins"/>
              </a:rPr>
              <a:t>egislative acts and state/federal mandates impacting school district operations and budget.</a:t>
            </a:r>
            <a:endParaRPr b="0" sz="1050">
              <a:solidFill>
                <a:schemeClr val="lt1"/>
              </a:solidFill>
              <a:latin typeface="Poppins"/>
              <a:ea typeface="Poppins"/>
              <a:cs typeface="Poppins"/>
              <a:sym typeface="Poppins"/>
            </a:endParaRPr>
          </a:p>
        </p:txBody>
      </p:sp>
      <p:grpSp>
        <p:nvGrpSpPr>
          <p:cNvPr id="463" name="Google Shape;463;p32"/>
          <p:cNvGrpSpPr/>
          <p:nvPr/>
        </p:nvGrpSpPr>
        <p:grpSpPr>
          <a:xfrm>
            <a:off x="381000" y="904875"/>
            <a:ext cx="4048200" cy="3571800"/>
            <a:chOff x="0" y="0"/>
            <a:chExt cx="4048200" cy="3571800"/>
          </a:xfrm>
        </p:grpSpPr>
        <p:sp>
          <p:nvSpPr>
            <p:cNvPr id="464" name="Google Shape;464;p32"/>
            <p:cNvSpPr/>
            <p:nvPr/>
          </p:nvSpPr>
          <p:spPr>
            <a:xfrm>
              <a:off x="0" y="0"/>
              <a:ext cx="4048200" cy="35718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32"/>
            <p:cNvSpPr/>
            <p:nvPr/>
          </p:nvSpPr>
          <p:spPr>
            <a:xfrm>
              <a:off x="0" y="0"/>
              <a:ext cx="4048200" cy="362100"/>
            </a:xfrm>
            <a:prstGeom prst="roundRect">
              <a:avLst>
                <a:gd fmla="val 31578"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32"/>
            <p:cNvSpPr/>
            <p:nvPr/>
          </p:nvSpPr>
          <p:spPr>
            <a:xfrm>
              <a:off x="0" y="190500"/>
              <a:ext cx="4048200" cy="1716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32"/>
            <p:cNvSpPr txBox="1"/>
            <p:nvPr/>
          </p:nvSpPr>
          <p:spPr>
            <a:xfrm>
              <a:off x="152400" y="76200"/>
              <a:ext cx="37434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Legislative Acts &amp; Compliance Standards</a:t>
              </a:r>
              <a:endParaRPr b="1" sz="1100">
                <a:solidFill>
                  <a:srgbClr val="FFFFFF"/>
                </a:solidFill>
                <a:latin typeface="Poppins"/>
                <a:ea typeface="Poppins"/>
                <a:cs typeface="Poppins"/>
                <a:sym typeface="Poppins"/>
              </a:endParaRPr>
            </a:p>
          </p:txBody>
        </p:sp>
        <p:sp>
          <p:nvSpPr>
            <p:cNvPr id="468" name="Google Shape;468;p32"/>
            <p:cNvSpPr txBox="1"/>
            <p:nvPr/>
          </p:nvSpPr>
          <p:spPr>
            <a:xfrm>
              <a:off x="152400" y="457200"/>
              <a:ext cx="3743400" cy="3000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2018 Act 11:</a:t>
              </a:r>
              <a:r>
                <a:rPr lang="en" sz="950">
                  <a:solidFill>
                    <a:srgbClr val="1E293B"/>
                  </a:solidFill>
                  <a:latin typeface="Poppins"/>
                  <a:ea typeface="Poppins"/>
                  <a:cs typeface="Poppins"/>
                  <a:sym typeface="Poppins"/>
                </a:rPr>
                <a:t> Commission on Public School Employee Health Benefits. </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2021-Act 172:</a:t>
              </a:r>
              <a:r>
                <a:rPr lang="en" sz="950">
                  <a:solidFill>
                    <a:srgbClr val="1E293B"/>
                  </a:solidFill>
                  <a:latin typeface="Poppins"/>
                  <a:ea typeface="Poppins"/>
                  <a:cs typeface="Poppins"/>
                  <a:sym typeface="Poppins"/>
                </a:rPr>
                <a:t> Radon Testing</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2022-Act 29:</a:t>
              </a:r>
              <a:r>
                <a:rPr lang="en" sz="950">
                  <a:solidFill>
                    <a:srgbClr val="1E293B"/>
                  </a:solidFill>
                  <a:latin typeface="Poppins"/>
                  <a:ea typeface="Poppins"/>
                  <a:cs typeface="Poppins"/>
                  <a:sym typeface="Poppins"/>
                </a:rPr>
                <a:t> Access Control, Emergency Operations &amp; Threat Assessment</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2022-Act 127:</a:t>
              </a:r>
              <a:r>
                <a:rPr lang="en" sz="950">
                  <a:solidFill>
                    <a:srgbClr val="1E293B"/>
                  </a:solidFill>
                  <a:latin typeface="Poppins"/>
                  <a:ea typeface="Poppins"/>
                  <a:cs typeface="Poppins"/>
                  <a:sym typeface="Poppins"/>
                </a:rPr>
                <a:t> Improving student equity by adjusting the school funding formula</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2021-Act 72:</a:t>
              </a:r>
              <a:r>
                <a:rPr lang="en" sz="950">
                  <a:solidFill>
                    <a:srgbClr val="1E293B"/>
                  </a:solidFill>
                  <a:latin typeface="Poppins"/>
                  <a:ea typeface="Poppins"/>
                  <a:cs typeface="Poppins"/>
                  <a:sym typeface="Poppins"/>
                </a:rPr>
                <a:t> Requirement to Employ a Facilities Director</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2021-Act 74:</a:t>
              </a:r>
              <a:r>
                <a:rPr lang="en" sz="950">
                  <a:solidFill>
                    <a:srgbClr val="1E293B"/>
                  </a:solidFill>
                  <a:latin typeface="Poppins"/>
                  <a:ea typeface="Poppins"/>
                  <a:cs typeface="Poppins"/>
                  <a:sym typeface="Poppins"/>
                </a:rPr>
                <a:t> PCB Testing and Remediation Program</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Act 35:</a:t>
              </a:r>
              <a:r>
                <a:rPr lang="en" sz="950">
                  <a:solidFill>
                    <a:srgbClr val="1E293B"/>
                  </a:solidFill>
                  <a:latin typeface="Poppins"/>
                  <a:ea typeface="Poppins"/>
                  <a:cs typeface="Poppins"/>
                  <a:sym typeface="Poppins"/>
                </a:rPr>
                <a:t> Ban on Suspension or Expulsion for Under 8</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Hazing, Harassment and Bullying Legislation</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Title IX Requirements</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Act 166:</a:t>
              </a:r>
              <a:r>
                <a:rPr lang="en" sz="950">
                  <a:solidFill>
                    <a:srgbClr val="1E293B"/>
                  </a:solidFill>
                  <a:latin typeface="Poppins"/>
                  <a:ea typeface="Poppins"/>
                  <a:cs typeface="Poppins"/>
                  <a:sym typeface="Poppins"/>
                </a:rPr>
                <a:t> Universal PreK</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Act 76:</a:t>
              </a:r>
              <a:r>
                <a:rPr lang="en" sz="950">
                  <a:solidFill>
                    <a:srgbClr val="1E293B"/>
                  </a:solidFill>
                  <a:latin typeface="Poppins"/>
                  <a:ea typeface="Poppins"/>
                  <a:cs typeface="Poppins"/>
                  <a:sym typeface="Poppins"/>
                </a:rPr>
                <a:t> Child Care Contribution</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3 Acre Storm Water Project (Clean Water Act 2015)</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Act 139:</a:t>
              </a:r>
              <a:r>
                <a:rPr lang="en" sz="950">
                  <a:solidFill>
                    <a:srgbClr val="1E293B"/>
                  </a:solidFill>
                  <a:latin typeface="Poppins"/>
                  <a:ea typeface="Poppins"/>
                  <a:cs typeface="Poppins"/>
                  <a:sym typeface="Poppins"/>
                </a:rPr>
                <a:t> Evidence-based Literacy Instruction</a:t>
              </a:r>
              <a:endParaRPr sz="950">
                <a:solidFill>
                  <a:srgbClr val="1E293B"/>
                </a:solidFill>
                <a:latin typeface="Poppins"/>
                <a:ea typeface="Poppins"/>
                <a:cs typeface="Poppins"/>
                <a:sym typeface="Poppins"/>
              </a:endParaRPr>
            </a:p>
            <a:p>
              <a:pPr indent="0" lvl="0" marL="0" rtl="0" algn="l">
                <a:spcBef>
                  <a:spcPts val="300"/>
                </a:spcBef>
                <a:spcAft>
                  <a:spcPts val="0"/>
                </a:spcAft>
                <a:buNone/>
              </a:pPr>
              <a:r>
                <a:rPr lang="en" sz="950">
                  <a:solidFill>
                    <a:srgbClr val="1E293B"/>
                  </a:solidFill>
                  <a:latin typeface="Poppins"/>
                  <a:ea typeface="Poppins"/>
                  <a:cs typeface="Poppins"/>
                  <a:sym typeface="Poppins"/>
                </a:rPr>
                <a:t>• </a:t>
              </a:r>
              <a:r>
                <a:rPr b="1" lang="en" sz="950">
                  <a:solidFill>
                    <a:srgbClr val="1E293B"/>
                  </a:solidFill>
                  <a:latin typeface="Poppins"/>
                  <a:ea typeface="Poppins"/>
                  <a:cs typeface="Poppins"/>
                  <a:sym typeface="Poppins"/>
                </a:rPr>
                <a:t>Act 64:</a:t>
              </a:r>
              <a:r>
                <a:rPr lang="en" sz="950">
                  <a:solidFill>
                    <a:srgbClr val="1E293B"/>
                  </a:solidFill>
                  <a:latin typeface="Poppins"/>
                  <a:ea typeface="Poppins"/>
                  <a:cs typeface="Poppins"/>
                  <a:sym typeface="Poppins"/>
                </a:rPr>
                <a:t> Universal Meals</a:t>
              </a:r>
              <a:endParaRPr sz="950">
                <a:solidFill>
                  <a:srgbClr val="1E293B"/>
                </a:solidFill>
                <a:latin typeface="Poppins"/>
                <a:ea typeface="Poppins"/>
                <a:cs typeface="Poppins"/>
                <a:sym typeface="Poppins"/>
              </a:endParaRPr>
            </a:p>
          </p:txBody>
        </p:sp>
      </p:grpSp>
      <p:grpSp>
        <p:nvGrpSpPr>
          <p:cNvPr id="469" name="Google Shape;469;p32"/>
          <p:cNvGrpSpPr/>
          <p:nvPr/>
        </p:nvGrpSpPr>
        <p:grpSpPr>
          <a:xfrm>
            <a:off x="4714875" y="904875"/>
            <a:ext cx="4048200" cy="3571800"/>
            <a:chOff x="0" y="0"/>
            <a:chExt cx="4048200" cy="3571800"/>
          </a:xfrm>
        </p:grpSpPr>
        <p:sp>
          <p:nvSpPr>
            <p:cNvPr id="470" name="Google Shape;470;p32"/>
            <p:cNvSpPr/>
            <p:nvPr/>
          </p:nvSpPr>
          <p:spPr>
            <a:xfrm>
              <a:off x="0" y="0"/>
              <a:ext cx="4048200" cy="35718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32"/>
            <p:cNvSpPr/>
            <p:nvPr/>
          </p:nvSpPr>
          <p:spPr>
            <a:xfrm>
              <a:off x="0" y="0"/>
              <a:ext cx="4048200" cy="362100"/>
            </a:xfrm>
            <a:prstGeom prst="roundRect">
              <a:avLst>
                <a:gd fmla="val 31578"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32"/>
            <p:cNvSpPr/>
            <p:nvPr/>
          </p:nvSpPr>
          <p:spPr>
            <a:xfrm>
              <a:off x="0" y="190500"/>
              <a:ext cx="4048200" cy="171600"/>
            </a:xfrm>
            <a:prstGeom prst="rect">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32"/>
            <p:cNvSpPr txBox="1"/>
            <p:nvPr/>
          </p:nvSpPr>
          <p:spPr>
            <a:xfrm>
              <a:off x="152400" y="76200"/>
              <a:ext cx="37434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Operational &amp; District Mandates</a:t>
              </a:r>
              <a:endParaRPr b="1" sz="1100">
                <a:solidFill>
                  <a:srgbClr val="FFFFFF"/>
                </a:solidFill>
                <a:latin typeface="Poppins"/>
                <a:ea typeface="Poppins"/>
                <a:cs typeface="Poppins"/>
                <a:sym typeface="Poppins"/>
              </a:endParaRPr>
            </a:p>
          </p:txBody>
        </p:sp>
        <p:sp>
          <p:nvSpPr>
            <p:cNvPr id="474" name="Google Shape;474;p32"/>
            <p:cNvSpPr txBox="1"/>
            <p:nvPr/>
          </p:nvSpPr>
          <p:spPr>
            <a:xfrm>
              <a:off x="152400" y="457200"/>
              <a:ext cx="3743400" cy="30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950">
                  <a:solidFill>
                    <a:srgbClr val="1E293B"/>
                  </a:solidFill>
                </a:rPr>
                <a:t>• </a:t>
              </a:r>
              <a:r>
                <a:rPr b="1" lang="en" sz="950">
                  <a:solidFill>
                    <a:srgbClr val="1E293B"/>
                  </a:solidFill>
                </a:rPr>
                <a:t>Act 77:</a:t>
              </a:r>
              <a:r>
                <a:rPr lang="en" sz="950">
                  <a:solidFill>
                    <a:srgbClr val="1E293B"/>
                  </a:solidFill>
                </a:rPr>
                <a:t> Flexible Pathways</a:t>
              </a:r>
              <a:endParaRPr sz="950">
                <a:solidFill>
                  <a:srgbClr val="1E293B"/>
                </a:solidFill>
              </a:endParaRPr>
            </a:p>
            <a:p>
              <a:pPr indent="0" lvl="0" marL="0" rtl="0" algn="l">
                <a:spcBef>
                  <a:spcPts val="300"/>
                </a:spcBef>
                <a:spcAft>
                  <a:spcPts val="0"/>
                </a:spcAft>
                <a:buNone/>
              </a:pPr>
              <a:r>
                <a:rPr lang="en" sz="950">
                  <a:solidFill>
                    <a:srgbClr val="1E293B"/>
                  </a:solidFill>
                </a:rPr>
                <a:t>• </a:t>
              </a:r>
              <a:r>
                <a:rPr b="1" lang="en" sz="950">
                  <a:solidFill>
                    <a:srgbClr val="1E293B"/>
                  </a:solidFill>
                </a:rPr>
                <a:t>Act 66:</a:t>
              </a:r>
              <a:r>
                <a:rPr lang="en" sz="950">
                  <a:solidFill>
                    <a:srgbClr val="1E293B"/>
                  </a:solidFill>
                </a:rPr>
                <a:t> Lead in Water Testing &amp; Remediation</a:t>
              </a:r>
              <a:endParaRPr sz="950">
                <a:solidFill>
                  <a:srgbClr val="1E293B"/>
                </a:solidFill>
              </a:endParaRPr>
            </a:p>
            <a:p>
              <a:pPr indent="0" lvl="0" marL="0" rtl="0" algn="l">
                <a:spcBef>
                  <a:spcPts val="300"/>
                </a:spcBef>
                <a:spcAft>
                  <a:spcPts val="0"/>
                </a:spcAft>
                <a:buNone/>
              </a:pPr>
              <a:r>
                <a:rPr lang="en" sz="950">
                  <a:solidFill>
                    <a:srgbClr val="1E293B"/>
                  </a:solidFill>
                </a:rPr>
                <a:t>• </a:t>
              </a:r>
              <a:r>
                <a:rPr b="1" lang="en" sz="950">
                  <a:solidFill>
                    <a:srgbClr val="1E293B"/>
                  </a:solidFill>
                </a:rPr>
                <a:t>Act 173:</a:t>
              </a:r>
              <a:r>
                <a:rPr lang="en" sz="950">
                  <a:solidFill>
                    <a:srgbClr val="1E293B"/>
                  </a:solidFill>
                </a:rPr>
                <a:t> MTSS and Special Education Funding</a:t>
              </a:r>
              <a:endParaRPr sz="950">
                <a:solidFill>
                  <a:srgbClr val="1E293B"/>
                </a:solidFill>
              </a:endParaRPr>
            </a:p>
            <a:p>
              <a:pPr indent="0" lvl="0" marL="0" rtl="0" algn="l">
                <a:spcBef>
                  <a:spcPts val="300"/>
                </a:spcBef>
                <a:spcAft>
                  <a:spcPts val="0"/>
                </a:spcAft>
                <a:buNone/>
              </a:pPr>
              <a:r>
                <a:rPr lang="en" sz="950">
                  <a:solidFill>
                    <a:srgbClr val="1E293B"/>
                  </a:solidFill>
                </a:rPr>
                <a:t>• </a:t>
              </a:r>
              <a:r>
                <a:rPr b="1" lang="en" sz="950">
                  <a:solidFill>
                    <a:srgbClr val="1E293B"/>
                  </a:solidFill>
                </a:rPr>
                <a:t>Act 114:</a:t>
              </a:r>
              <a:r>
                <a:rPr lang="en" sz="950">
                  <a:solidFill>
                    <a:srgbClr val="1E293B"/>
                  </a:solidFill>
                </a:rPr>
                <a:t> Pension Costs (In Appropriations Bill)</a:t>
              </a:r>
              <a:endParaRPr sz="950">
                <a:solidFill>
                  <a:srgbClr val="1E293B"/>
                </a:solidFill>
              </a:endParaRPr>
            </a:p>
            <a:p>
              <a:pPr indent="0" lvl="0" marL="0" rtl="0" algn="l">
                <a:spcBef>
                  <a:spcPts val="300"/>
                </a:spcBef>
                <a:spcAft>
                  <a:spcPts val="0"/>
                </a:spcAft>
                <a:buNone/>
              </a:pPr>
              <a:r>
                <a:rPr lang="en" sz="950">
                  <a:solidFill>
                    <a:srgbClr val="1E293B"/>
                  </a:solidFill>
                </a:rPr>
                <a:t>• </a:t>
              </a:r>
              <a:r>
                <a:rPr b="1" lang="en" sz="950">
                  <a:solidFill>
                    <a:srgbClr val="1E293B"/>
                  </a:solidFill>
                </a:rPr>
                <a:t>Act 66:</a:t>
              </a:r>
              <a:r>
                <a:rPr lang="en" sz="950">
                  <a:solidFill>
                    <a:srgbClr val="1E293B"/>
                  </a:solidFill>
                </a:rPr>
                <a:t> Access to Menstrual Products</a:t>
              </a:r>
              <a:endParaRPr sz="950">
                <a:solidFill>
                  <a:srgbClr val="1E293B"/>
                </a:solidFill>
              </a:endParaRPr>
            </a:p>
            <a:p>
              <a:pPr indent="0" lvl="0" marL="0" rtl="0" algn="l">
                <a:spcBef>
                  <a:spcPts val="300"/>
                </a:spcBef>
                <a:spcAft>
                  <a:spcPts val="0"/>
                </a:spcAft>
                <a:buNone/>
              </a:pPr>
              <a:r>
                <a:rPr lang="en" sz="950">
                  <a:solidFill>
                    <a:srgbClr val="1E293B"/>
                  </a:solidFill>
                </a:rPr>
                <a:t>• </a:t>
              </a:r>
              <a:r>
                <a:rPr b="1" lang="en" sz="950">
                  <a:solidFill>
                    <a:srgbClr val="1E293B"/>
                  </a:solidFill>
                </a:rPr>
                <a:t>Act 157:</a:t>
              </a:r>
              <a:r>
                <a:rPr lang="en" sz="950">
                  <a:solidFill>
                    <a:srgbClr val="1E293B"/>
                  </a:solidFill>
                </a:rPr>
                <a:t> Access to Contraceptives</a:t>
              </a:r>
              <a:endParaRPr sz="950">
                <a:solidFill>
                  <a:srgbClr val="1E293B"/>
                </a:solidFill>
              </a:endParaRPr>
            </a:p>
            <a:p>
              <a:pPr indent="0" lvl="0" marL="0" rtl="0" algn="l">
                <a:spcBef>
                  <a:spcPts val="300"/>
                </a:spcBef>
                <a:spcAft>
                  <a:spcPts val="0"/>
                </a:spcAft>
                <a:buNone/>
              </a:pPr>
              <a:r>
                <a:rPr lang="en" sz="950">
                  <a:solidFill>
                    <a:srgbClr val="1E293B"/>
                  </a:solidFill>
                </a:rPr>
                <a:t>• Uniform Chart of Accounts</a:t>
              </a:r>
              <a:endParaRPr sz="950">
                <a:solidFill>
                  <a:srgbClr val="1E293B"/>
                </a:solidFill>
              </a:endParaRPr>
            </a:p>
            <a:p>
              <a:pPr indent="0" lvl="0" marL="0" rtl="0" algn="l">
                <a:spcBef>
                  <a:spcPts val="300"/>
                </a:spcBef>
                <a:spcAft>
                  <a:spcPts val="0"/>
                </a:spcAft>
                <a:buNone/>
              </a:pPr>
              <a:r>
                <a:rPr lang="en" sz="950">
                  <a:solidFill>
                    <a:srgbClr val="1E293B"/>
                  </a:solidFill>
                </a:rPr>
                <a:t>• Shared School District Data Management System</a:t>
              </a:r>
              <a:endParaRPr sz="950">
                <a:solidFill>
                  <a:srgbClr val="1E293B"/>
                </a:solidFill>
              </a:endParaRPr>
            </a:p>
            <a:p>
              <a:pPr indent="0" lvl="0" marL="0" rtl="0" algn="l">
                <a:spcBef>
                  <a:spcPts val="300"/>
                </a:spcBef>
                <a:spcAft>
                  <a:spcPts val="0"/>
                </a:spcAft>
                <a:buNone/>
              </a:pPr>
              <a:r>
                <a:rPr lang="en" sz="950">
                  <a:solidFill>
                    <a:srgbClr val="1E293B"/>
                  </a:solidFill>
                </a:rPr>
                <a:t>• Continuous Improvement Planning</a:t>
              </a:r>
              <a:endParaRPr sz="950">
                <a:solidFill>
                  <a:srgbClr val="1E293B"/>
                </a:solidFill>
              </a:endParaRPr>
            </a:p>
            <a:p>
              <a:pPr indent="0" lvl="0" marL="0" rtl="0" algn="l">
                <a:spcBef>
                  <a:spcPts val="300"/>
                </a:spcBef>
                <a:spcAft>
                  <a:spcPts val="0"/>
                </a:spcAft>
                <a:buNone/>
              </a:pPr>
              <a:r>
                <a:rPr lang="en" sz="950">
                  <a:solidFill>
                    <a:srgbClr val="1E293B"/>
                  </a:solidFill>
                </a:rPr>
                <a:t>• Resource Allocation Reviews (RAR)</a:t>
              </a:r>
              <a:endParaRPr sz="950">
                <a:solidFill>
                  <a:srgbClr val="1E293B"/>
                </a:solidFill>
              </a:endParaRPr>
            </a:p>
            <a:p>
              <a:pPr indent="0" lvl="0" marL="0" rtl="0" algn="l">
                <a:spcBef>
                  <a:spcPts val="300"/>
                </a:spcBef>
                <a:spcAft>
                  <a:spcPts val="0"/>
                </a:spcAft>
                <a:buNone/>
              </a:pPr>
              <a:r>
                <a:rPr lang="en" sz="950">
                  <a:solidFill>
                    <a:srgbClr val="1E293B"/>
                  </a:solidFill>
                </a:rPr>
                <a:t>• Requirement to Have a Food Service Director</a:t>
              </a:r>
              <a:endParaRPr sz="950">
                <a:solidFill>
                  <a:srgbClr val="1E293B"/>
                </a:solidFill>
              </a:endParaRPr>
            </a:p>
            <a:p>
              <a:pPr indent="0" lvl="0" marL="0" rtl="0" algn="l">
                <a:spcBef>
                  <a:spcPts val="300"/>
                </a:spcBef>
                <a:spcAft>
                  <a:spcPts val="0"/>
                </a:spcAft>
                <a:buNone/>
              </a:pPr>
              <a:r>
                <a:rPr lang="en" sz="950">
                  <a:solidFill>
                    <a:srgbClr val="1E293B"/>
                  </a:solidFill>
                </a:rPr>
                <a:t>• Shared District Administrative Reporting Standards</a:t>
              </a:r>
              <a:endParaRPr sz="950">
                <a:solidFill>
                  <a:srgbClr val="1E293B"/>
                </a:solidFill>
              </a:endParaRPr>
            </a:p>
          </p:txBody>
        </p:sp>
      </p:grpSp>
      <p:grpSp>
        <p:nvGrpSpPr>
          <p:cNvPr id="475" name="Google Shape;475;p32"/>
          <p:cNvGrpSpPr/>
          <p:nvPr/>
        </p:nvGrpSpPr>
        <p:grpSpPr>
          <a:xfrm>
            <a:off x="0" y="4667250"/>
            <a:ext cx="9144000" cy="476400"/>
            <a:chOff x="0" y="0"/>
            <a:chExt cx="9144000" cy="476400"/>
          </a:xfrm>
        </p:grpSpPr>
        <p:sp>
          <p:nvSpPr>
            <p:cNvPr id="476" name="Google Shape;476;p32"/>
            <p:cNvSpPr/>
            <p:nvPr/>
          </p:nvSpPr>
          <p:spPr>
            <a:xfrm>
              <a:off x="0" y="0"/>
              <a:ext cx="9144000" cy="4764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32"/>
            <p:cNvSpPr txBox="1"/>
            <p:nvPr/>
          </p:nvSpPr>
          <p:spPr>
            <a:xfrm>
              <a:off x="0" y="0"/>
              <a:ext cx="9144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Poppins"/>
                  <a:ea typeface="Poppins"/>
                  <a:cs typeface="Poppins"/>
                  <a:sym typeface="Poppins"/>
                </a:rPr>
                <a:t>HARWOOD UNIFIED UNION SCHOOL DISTRICT</a:t>
              </a:r>
              <a:endParaRPr b="1" sz="1300">
                <a:solidFill>
                  <a:srgbClr val="FFFFFF"/>
                </a:solidFill>
                <a:latin typeface="Poppins"/>
                <a:ea typeface="Poppins"/>
                <a:cs typeface="Poppins"/>
                <a:sym typeface="Poppins"/>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1" name="Shape 481"/>
        <p:cNvGrpSpPr/>
        <p:nvPr/>
      </p:nvGrpSpPr>
      <p:grpSpPr>
        <a:xfrm>
          <a:off x="0" y="0"/>
          <a:ext cx="0" cy="0"/>
          <a:chOff x="0" y="0"/>
          <a:chExt cx="0" cy="0"/>
        </a:xfrm>
      </p:grpSpPr>
      <p:sp>
        <p:nvSpPr>
          <p:cNvPr id="482" name="Google Shape;482;p33"/>
          <p:cNvSpPr txBox="1"/>
          <p:nvPr>
            <p:ph type="title"/>
          </p:nvPr>
        </p:nvSpPr>
        <p:spPr>
          <a:xfrm>
            <a:off x="381000" y="228600"/>
            <a:ext cx="8382000" cy="762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How do town CLAs affect our town tax rates? </a:t>
            </a:r>
            <a:r>
              <a:rPr b="0" lang="en" sz="1100">
                <a:solidFill>
                  <a:srgbClr val="475569"/>
                </a:solidFill>
                <a:latin typeface="Poppins"/>
                <a:ea typeface="Poppins"/>
                <a:cs typeface="Poppins"/>
                <a:sym typeface="Poppins"/>
              </a:rPr>
              <a:t>Common Level of Appraisal (CLA) ensures each town pays its fair share of education property tax to the state's Education Fund.</a:t>
            </a:r>
            <a:endParaRPr b="0" sz="2200">
              <a:solidFill>
                <a:srgbClr val="1B3859"/>
              </a:solidFill>
              <a:latin typeface="Poppins ExtraBold"/>
              <a:ea typeface="Poppins ExtraBold"/>
              <a:cs typeface="Poppins ExtraBold"/>
              <a:sym typeface="Poppins ExtraBold"/>
            </a:endParaRPr>
          </a:p>
        </p:txBody>
      </p:sp>
      <p:grpSp>
        <p:nvGrpSpPr>
          <p:cNvPr id="483" name="Google Shape;483;p33"/>
          <p:cNvGrpSpPr/>
          <p:nvPr/>
        </p:nvGrpSpPr>
        <p:grpSpPr>
          <a:xfrm>
            <a:off x="381000" y="1095375"/>
            <a:ext cx="8382000" cy="2524200"/>
            <a:chOff x="0" y="0"/>
            <a:chExt cx="8382000" cy="2524200"/>
          </a:xfrm>
        </p:grpSpPr>
        <p:grpSp>
          <p:nvGrpSpPr>
            <p:cNvPr id="484" name="Google Shape;484;p33"/>
            <p:cNvGrpSpPr/>
            <p:nvPr/>
          </p:nvGrpSpPr>
          <p:grpSpPr>
            <a:xfrm>
              <a:off x="0" y="0"/>
              <a:ext cx="2628900" cy="2524200"/>
              <a:chOff x="0" y="0"/>
              <a:chExt cx="2628900" cy="2524200"/>
            </a:xfrm>
          </p:grpSpPr>
          <p:sp>
            <p:nvSpPr>
              <p:cNvPr id="485" name="Google Shape;485;p33"/>
              <p:cNvSpPr/>
              <p:nvPr/>
            </p:nvSpPr>
            <p:spPr>
              <a:xfrm>
                <a:off x="0" y="0"/>
                <a:ext cx="2628900" cy="2524200"/>
              </a:xfrm>
              <a:prstGeom prst="roundRect">
                <a:avLst>
                  <a:gd fmla="val 45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33"/>
              <p:cNvSpPr/>
              <p:nvPr/>
            </p:nvSpPr>
            <p:spPr>
              <a:xfrm>
                <a:off x="0" y="0"/>
                <a:ext cx="2628900" cy="381000"/>
              </a:xfrm>
              <a:prstGeom prst="roundRect">
                <a:avLst>
                  <a:gd fmla="val 3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33"/>
              <p:cNvSpPr/>
              <p:nvPr/>
            </p:nvSpPr>
            <p:spPr>
              <a:xfrm>
                <a:off x="0" y="190500"/>
                <a:ext cx="2628900" cy="1905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33"/>
              <p:cNvSpPr txBox="1"/>
              <p:nvPr/>
            </p:nvSpPr>
            <p:spPr>
              <a:xfrm>
                <a:off x="0" y="0"/>
                <a:ext cx="2628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Baseline Scenario</a:t>
                </a:r>
                <a:endParaRPr b="1" sz="1200">
                  <a:solidFill>
                    <a:srgbClr val="FFFFFF"/>
                  </a:solidFill>
                  <a:latin typeface="Poppins"/>
                  <a:ea typeface="Poppins"/>
                  <a:cs typeface="Poppins"/>
                  <a:sym typeface="Poppins"/>
                </a:endParaRPr>
              </a:p>
            </p:txBody>
          </p:sp>
          <p:sp>
            <p:nvSpPr>
              <p:cNvPr id="489" name="Google Shape;489;p33"/>
              <p:cNvSpPr txBox="1"/>
              <p:nvPr/>
            </p:nvSpPr>
            <p:spPr>
              <a:xfrm>
                <a:off x="152400" y="495300"/>
                <a:ext cx="23241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64748B"/>
                    </a:solidFill>
                    <a:latin typeface="Poppins SemiBold"/>
                    <a:ea typeface="Poppins SemiBold"/>
                    <a:cs typeface="Poppins SemiBold"/>
                    <a:sym typeface="Poppins SemiBold"/>
                  </a:rPr>
                  <a:t>SALE AMOUNT</a:t>
                </a:r>
                <a:r>
                  <a:rPr lang="en" sz="1050">
                    <a:solidFill>
                      <a:srgbClr val="1E293B"/>
                    </a:solidFill>
                    <a:latin typeface="Poppins"/>
                    <a:ea typeface="Poppins"/>
                    <a:cs typeface="Poppins"/>
                    <a:sym typeface="Poppins"/>
                  </a:rPr>
                  <a:t> </a:t>
                </a:r>
                <a:r>
                  <a:rPr b="1" lang="en" sz="1300">
                    <a:solidFill>
                      <a:srgbClr val="1B3859"/>
                    </a:solidFill>
                    <a:latin typeface="Poppins"/>
                    <a:ea typeface="Poppins"/>
                    <a:cs typeface="Poppins"/>
                    <a:sym typeface="Poppins"/>
                  </a:rPr>
                  <a:t>$150,000</a:t>
                </a:r>
                <a:endParaRPr sz="1050">
                  <a:solidFill>
                    <a:srgbClr val="1E293B"/>
                  </a:solidFill>
                  <a:latin typeface="Poppins"/>
                  <a:ea typeface="Poppins"/>
                  <a:cs typeface="Poppins"/>
                  <a:sym typeface="Poppins"/>
                </a:endParaRPr>
              </a:p>
              <a:p>
                <a:pPr indent="0" lvl="0" marL="0" rtl="0" algn="l">
                  <a:spcBef>
                    <a:spcPts val="450"/>
                  </a:spcBef>
                  <a:spcAft>
                    <a:spcPts val="0"/>
                  </a:spcAft>
                  <a:buNone/>
                </a:pPr>
                <a:r>
                  <a:rPr b="0" lang="en" sz="850">
                    <a:solidFill>
                      <a:srgbClr val="64748B"/>
                    </a:solidFill>
                    <a:latin typeface="Poppins SemiBold"/>
                    <a:ea typeface="Poppins SemiBold"/>
                    <a:cs typeface="Poppins SemiBold"/>
                    <a:sym typeface="Poppins SemiBold"/>
                  </a:rPr>
                  <a:t>ASSESSED VALUE</a:t>
                </a:r>
                <a:r>
                  <a:rPr lang="en" sz="1050">
                    <a:solidFill>
                      <a:srgbClr val="1E293B"/>
                    </a:solidFill>
                    <a:latin typeface="Poppins"/>
                    <a:ea typeface="Poppins"/>
                    <a:cs typeface="Poppins"/>
                    <a:sym typeface="Poppins"/>
                  </a:rPr>
                  <a:t> </a:t>
                </a:r>
                <a:r>
                  <a:rPr b="1" lang="en" sz="1300">
                    <a:solidFill>
                      <a:srgbClr val="1B3859"/>
                    </a:solidFill>
                    <a:latin typeface="Poppins"/>
                    <a:ea typeface="Poppins"/>
                    <a:cs typeface="Poppins"/>
                    <a:sym typeface="Poppins"/>
                  </a:rPr>
                  <a:t>$150,000</a:t>
                </a:r>
                <a:endParaRPr sz="1050">
                  <a:solidFill>
                    <a:srgbClr val="1E293B"/>
                  </a:solidFill>
                  <a:latin typeface="Poppins"/>
                  <a:ea typeface="Poppins"/>
                  <a:cs typeface="Poppins"/>
                  <a:sym typeface="Poppins"/>
                </a:endParaRPr>
              </a:p>
              <a:p>
                <a:pPr indent="0" lvl="0" marL="0" rtl="0" algn="r">
                  <a:spcBef>
                    <a:spcPts val="450"/>
                  </a:spcBef>
                  <a:spcAft>
                    <a:spcPts val="0"/>
                  </a:spcAft>
                  <a:buNone/>
                </a:pPr>
                <a:r>
                  <a:rPr b="0" lang="en" sz="850">
                    <a:solidFill>
                      <a:srgbClr val="64748B"/>
                    </a:solidFill>
                    <a:latin typeface="Poppins SemiBold"/>
                    <a:ea typeface="Poppins SemiBold"/>
                    <a:cs typeface="Poppins SemiBold"/>
                    <a:sym typeface="Poppins SemiBold"/>
                  </a:rPr>
                  <a:t>CLA</a:t>
                </a:r>
                <a:r>
                  <a:rPr lang="en" sz="1050">
                    <a:solidFill>
                      <a:srgbClr val="1E293B"/>
                    </a:solidFill>
                    <a:latin typeface="Poppins"/>
                    <a:ea typeface="Poppins"/>
                    <a:cs typeface="Poppins"/>
                    <a:sym typeface="Poppins"/>
                  </a:rPr>
                  <a:t> </a:t>
                </a:r>
                <a:r>
                  <a:rPr b="1" lang="en" sz="1200">
                    <a:solidFill>
                      <a:srgbClr val="1B3859"/>
                    </a:solidFill>
                    <a:latin typeface="Poppins"/>
                    <a:ea typeface="Poppins"/>
                    <a:cs typeface="Poppins"/>
                    <a:sym typeface="Poppins"/>
                  </a:rPr>
                  <a:t>100%</a:t>
                </a:r>
                <a:r>
                  <a:rPr lang="en" sz="1050">
                    <a:solidFill>
                      <a:srgbClr val="1E293B"/>
                    </a:solidFill>
                    <a:latin typeface="Poppins"/>
                    <a:ea typeface="Poppins"/>
                    <a:cs typeface="Poppins"/>
                    <a:sym typeface="Poppins"/>
                  </a:rPr>
                  <a:t> </a:t>
                </a:r>
                <a:r>
                  <a:rPr b="0" lang="en" sz="850">
                    <a:solidFill>
                      <a:srgbClr val="64748B"/>
                    </a:solidFill>
                    <a:latin typeface="Poppins SemiBold"/>
                    <a:ea typeface="Poppins SemiBold"/>
                    <a:cs typeface="Poppins SemiBold"/>
                    <a:sym typeface="Poppins SemiBold"/>
                  </a:rPr>
                  <a:t>TAX RATE</a:t>
                </a:r>
                <a:r>
                  <a:rPr lang="en" sz="1050">
                    <a:solidFill>
                      <a:srgbClr val="1E293B"/>
                    </a:solidFill>
                    <a:latin typeface="Poppins"/>
                    <a:ea typeface="Poppins"/>
                    <a:cs typeface="Poppins"/>
                    <a:sym typeface="Poppins"/>
                  </a:rPr>
                  <a:t> </a:t>
                </a:r>
                <a:r>
                  <a:rPr b="1" lang="en" sz="1100">
                    <a:solidFill>
                      <a:srgbClr val="475569"/>
                    </a:solidFill>
                    <a:latin typeface="Poppins"/>
                    <a:ea typeface="Poppins"/>
                    <a:cs typeface="Poppins"/>
                    <a:sym typeface="Poppins"/>
                  </a:rPr>
                  <a:t>Baseline</a:t>
                </a:r>
                <a:endParaRPr sz="1050">
                  <a:solidFill>
                    <a:srgbClr val="1E293B"/>
                  </a:solidFill>
                  <a:latin typeface="Poppins"/>
                  <a:ea typeface="Poppins"/>
                  <a:cs typeface="Poppins"/>
                  <a:sym typeface="Poppins"/>
                </a:endParaRPr>
              </a:p>
            </p:txBody>
          </p:sp>
        </p:grpSp>
        <p:grpSp>
          <p:nvGrpSpPr>
            <p:cNvPr id="490" name="Google Shape;490;p33"/>
            <p:cNvGrpSpPr/>
            <p:nvPr/>
          </p:nvGrpSpPr>
          <p:grpSpPr>
            <a:xfrm>
              <a:off x="2876550" y="0"/>
              <a:ext cx="2628900" cy="2524200"/>
              <a:chOff x="0" y="0"/>
              <a:chExt cx="2628900" cy="2524200"/>
            </a:xfrm>
          </p:grpSpPr>
          <p:sp>
            <p:nvSpPr>
              <p:cNvPr id="491" name="Google Shape;491;p33"/>
              <p:cNvSpPr/>
              <p:nvPr/>
            </p:nvSpPr>
            <p:spPr>
              <a:xfrm>
                <a:off x="0" y="0"/>
                <a:ext cx="2628900" cy="2524200"/>
              </a:xfrm>
              <a:prstGeom prst="roundRect">
                <a:avLst>
                  <a:gd fmla="val 45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33"/>
              <p:cNvSpPr/>
              <p:nvPr/>
            </p:nvSpPr>
            <p:spPr>
              <a:xfrm>
                <a:off x="0" y="0"/>
                <a:ext cx="2628900" cy="381000"/>
              </a:xfrm>
              <a:prstGeom prst="roundRect">
                <a:avLst>
                  <a:gd fmla="val 30000" name="adj"/>
                </a:avLst>
              </a:prstGeom>
              <a:solidFill>
                <a:srgbClr val="DC26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33"/>
              <p:cNvSpPr/>
              <p:nvPr/>
            </p:nvSpPr>
            <p:spPr>
              <a:xfrm>
                <a:off x="0" y="190500"/>
                <a:ext cx="2628900" cy="190500"/>
              </a:xfrm>
              <a:prstGeom prst="rect">
                <a:avLst/>
              </a:prstGeom>
              <a:solidFill>
                <a:srgbClr val="DC26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33"/>
              <p:cNvSpPr txBox="1"/>
              <p:nvPr/>
            </p:nvSpPr>
            <p:spPr>
              <a:xfrm>
                <a:off x="0" y="0"/>
                <a:ext cx="2628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Sales Higher Than Assessed</a:t>
                </a:r>
                <a:endParaRPr b="1" sz="1200">
                  <a:solidFill>
                    <a:srgbClr val="FFFFFF"/>
                  </a:solidFill>
                  <a:latin typeface="Poppins"/>
                  <a:ea typeface="Poppins"/>
                  <a:cs typeface="Poppins"/>
                  <a:sym typeface="Poppins"/>
                </a:endParaRPr>
              </a:p>
            </p:txBody>
          </p:sp>
          <p:sp>
            <p:nvSpPr>
              <p:cNvPr id="495" name="Google Shape;495;p33"/>
              <p:cNvSpPr txBox="1"/>
              <p:nvPr/>
            </p:nvSpPr>
            <p:spPr>
              <a:xfrm>
                <a:off x="152400" y="495300"/>
                <a:ext cx="23241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991B1B"/>
                    </a:solidFill>
                    <a:latin typeface="Poppins SemiBold"/>
                    <a:ea typeface="Poppins SemiBold"/>
                    <a:cs typeface="Poppins SemiBold"/>
                    <a:sym typeface="Poppins SemiBold"/>
                  </a:rPr>
                  <a:t>SALE AMOUNT</a:t>
                </a:r>
                <a:r>
                  <a:rPr lang="en" sz="1050">
                    <a:solidFill>
                      <a:srgbClr val="1E293B"/>
                    </a:solidFill>
                    <a:latin typeface="Poppins"/>
                    <a:ea typeface="Poppins"/>
                    <a:cs typeface="Poppins"/>
                    <a:sym typeface="Poppins"/>
                  </a:rPr>
                  <a:t> </a:t>
                </a:r>
                <a:r>
                  <a:rPr b="1" lang="en" sz="1300">
                    <a:solidFill>
                      <a:srgbClr val="991B1B"/>
                    </a:solidFill>
                    <a:latin typeface="Poppins"/>
                    <a:ea typeface="Poppins"/>
                    <a:cs typeface="Poppins"/>
                    <a:sym typeface="Poppins"/>
                  </a:rPr>
                  <a:t>$200,000</a:t>
                </a:r>
                <a:endParaRPr sz="1050">
                  <a:solidFill>
                    <a:srgbClr val="1E293B"/>
                  </a:solidFill>
                  <a:latin typeface="Poppins"/>
                  <a:ea typeface="Poppins"/>
                  <a:cs typeface="Poppins"/>
                  <a:sym typeface="Poppins"/>
                </a:endParaRPr>
              </a:p>
              <a:p>
                <a:pPr indent="0" lvl="0" marL="0" rtl="0" algn="l">
                  <a:spcBef>
                    <a:spcPts val="450"/>
                  </a:spcBef>
                  <a:spcAft>
                    <a:spcPts val="0"/>
                  </a:spcAft>
                  <a:buNone/>
                </a:pPr>
                <a:r>
                  <a:rPr b="0" lang="en" sz="850">
                    <a:solidFill>
                      <a:srgbClr val="64748B"/>
                    </a:solidFill>
                    <a:latin typeface="Poppins SemiBold"/>
                    <a:ea typeface="Poppins SemiBold"/>
                    <a:cs typeface="Poppins SemiBold"/>
                    <a:sym typeface="Poppins SemiBold"/>
                  </a:rPr>
                  <a:t>ASSESSED VALUE</a:t>
                </a:r>
                <a:r>
                  <a:rPr lang="en" sz="1050">
                    <a:solidFill>
                      <a:srgbClr val="1E293B"/>
                    </a:solidFill>
                    <a:latin typeface="Poppins"/>
                    <a:ea typeface="Poppins"/>
                    <a:cs typeface="Poppins"/>
                    <a:sym typeface="Poppins"/>
                  </a:rPr>
                  <a:t> </a:t>
                </a:r>
                <a:r>
                  <a:rPr b="1" lang="en" sz="1300">
                    <a:solidFill>
                      <a:srgbClr val="1B3859"/>
                    </a:solidFill>
                    <a:latin typeface="Poppins"/>
                    <a:ea typeface="Poppins"/>
                    <a:cs typeface="Poppins"/>
                    <a:sym typeface="Poppins"/>
                  </a:rPr>
                  <a:t>$150,000</a:t>
                </a:r>
                <a:endParaRPr sz="1050">
                  <a:solidFill>
                    <a:srgbClr val="1E293B"/>
                  </a:solidFill>
                  <a:latin typeface="Poppins"/>
                  <a:ea typeface="Poppins"/>
                  <a:cs typeface="Poppins"/>
                  <a:sym typeface="Poppins"/>
                </a:endParaRPr>
              </a:p>
              <a:p>
                <a:pPr indent="0" lvl="0" marL="0" rtl="0" algn="r">
                  <a:spcBef>
                    <a:spcPts val="450"/>
                  </a:spcBef>
                  <a:spcAft>
                    <a:spcPts val="0"/>
                  </a:spcAft>
                  <a:buNone/>
                </a:pPr>
                <a:r>
                  <a:rPr b="0" lang="en" sz="850">
                    <a:solidFill>
                      <a:srgbClr val="991B1B"/>
                    </a:solidFill>
                    <a:latin typeface="Poppins SemiBold"/>
                    <a:ea typeface="Poppins SemiBold"/>
                    <a:cs typeface="Poppins SemiBold"/>
                    <a:sym typeface="Poppins SemiBold"/>
                  </a:rPr>
                  <a:t>CLA</a:t>
                </a:r>
                <a:r>
                  <a:rPr lang="en" sz="1050">
                    <a:solidFill>
                      <a:srgbClr val="1E293B"/>
                    </a:solidFill>
                    <a:latin typeface="Poppins"/>
                    <a:ea typeface="Poppins"/>
                    <a:cs typeface="Poppins"/>
                    <a:sym typeface="Poppins"/>
                  </a:rPr>
                  <a:t> </a:t>
                </a:r>
                <a:r>
                  <a:rPr b="0" lang="en" sz="1300">
                    <a:solidFill>
                      <a:srgbClr val="DC2626"/>
                    </a:solidFill>
                    <a:latin typeface="Poppins ExtraBold"/>
                    <a:ea typeface="Poppins ExtraBold"/>
                    <a:cs typeface="Poppins ExtraBold"/>
                    <a:sym typeface="Poppins ExtraBold"/>
                  </a:rPr>
                  <a:t>⬇ Lower</a:t>
                </a:r>
                <a:r>
                  <a:rPr lang="en" sz="1050">
                    <a:solidFill>
                      <a:srgbClr val="1E293B"/>
                    </a:solidFill>
                    <a:latin typeface="Poppins"/>
                    <a:ea typeface="Poppins"/>
                    <a:cs typeface="Poppins"/>
                    <a:sym typeface="Poppins"/>
                  </a:rPr>
                  <a:t> </a:t>
                </a:r>
                <a:r>
                  <a:rPr b="0" lang="en" sz="850">
                    <a:solidFill>
                      <a:srgbClr val="991B1B"/>
                    </a:solidFill>
                    <a:latin typeface="Poppins SemiBold"/>
                    <a:ea typeface="Poppins SemiBold"/>
                    <a:cs typeface="Poppins SemiBold"/>
                    <a:sym typeface="Poppins SemiBold"/>
                  </a:rPr>
                  <a:t>TAX RATE</a:t>
                </a:r>
                <a:r>
                  <a:rPr lang="en" sz="1050">
                    <a:solidFill>
                      <a:srgbClr val="1E293B"/>
                    </a:solidFill>
                    <a:latin typeface="Poppins"/>
                    <a:ea typeface="Poppins"/>
                    <a:cs typeface="Poppins"/>
                    <a:sym typeface="Poppins"/>
                  </a:rPr>
                  <a:t> </a:t>
                </a:r>
                <a:r>
                  <a:rPr b="0" lang="en" sz="1300">
                    <a:solidFill>
                      <a:srgbClr val="DC2626"/>
                    </a:solidFill>
                    <a:latin typeface="Poppins ExtraBold"/>
                    <a:ea typeface="Poppins ExtraBold"/>
                    <a:cs typeface="Poppins ExtraBold"/>
                    <a:sym typeface="Poppins ExtraBold"/>
                  </a:rPr>
                  <a:t>⬆ Higher</a:t>
                </a:r>
                <a:endParaRPr sz="1050">
                  <a:solidFill>
                    <a:srgbClr val="1E293B"/>
                  </a:solidFill>
                  <a:latin typeface="Poppins"/>
                  <a:ea typeface="Poppins"/>
                  <a:cs typeface="Poppins"/>
                  <a:sym typeface="Poppins"/>
                </a:endParaRPr>
              </a:p>
            </p:txBody>
          </p:sp>
        </p:grpSp>
        <p:grpSp>
          <p:nvGrpSpPr>
            <p:cNvPr id="496" name="Google Shape;496;p33"/>
            <p:cNvGrpSpPr/>
            <p:nvPr/>
          </p:nvGrpSpPr>
          <p:grpSpPr>
            <a:xfrm>
              <a:off x="5753100" y="0"/>
              <a:ext cx="2628900" cy="2524200"/>
              <a:chOff x="0" y="0"/>
              <a:chExt cx="2628900" cy="2524200"/>
            </a:xfrm>
          </p:grpSpPr>
          <p:sp>
            <p:nvSpPr>
              <p:cNvPr id="497" name="Google Shape;497;p33"/>
              <p:cNvSpPr/>
              <p:nvPr/>
            </p:nvSpPr>
            <p:spPr>
              <a:xfrm>
                <a:off x="0" y="0"/>
                <a:ext cx="2628900" cy="2524200"/>
              </a:xfrm>
              <a:prstGeom prst="roundRect">
                <a:avLst>
                  <a:gd fmla="val 45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33"/>
              <p:cNvSpPr/>
              <p:nvPr/>
            </p:nvSpPr>
            <p:spPr>
              <a:xfrm>
                <a:off x="0" y="0"/>
                <a:ext cx="2628900" cy="381000"/>
              </a:xfrm>
              <a:prstGeom prst="roundRect">
                <a:avLst>
                  <a:gd fmla="val 3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33"/>
              <p:cNvSpPr/>
              <p:nvPr/>
            </p:nvSpPr>
            <p:spPr>
              <a:xfrm>
                <a:off x="0" y="190500"/>
                <a:ext cx="2628900" cy="190500"/>
              </a:xfrm>
              <a:prstGeom prst="rect">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33"/>
              <p:cNvSpPr txBox="1"/>
              <p:nvPr/>
            </p:nvSpPr>
            <p:spPr>
              <a:xfrm>
                <a:off x="0" y="0"/>
                <a:ext cx="2628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FFFFFF"/>
                    </a:solidFill>
                    <a:latin typeface="Poppins"/>
                    <a:ea typeface="Poppins"/>
                    <a:cs typeface="Poppins"/>
                    <a:sym typeface="Poppins"/>
                  </a:rPr>
                  <a:t>Sales Lower Than Assessed</a:t>
                </a:r>
                <a:endParaRPr b="1" sz="1200">
                  <a:solidFill>
                    <a:srgbClr val="FFFFFF"/>
                  </a:solidFill>
                  <a:latin typeface="Poppins"/>
                  <a:ea typeface="Poppins"/>
                  <a:cs typeface="Poppins"/>
                  <a:sym typeface="Poppins"/>
                </a:endParaRPr>
              </a:p>
            </p:txBody>
          </p:sp>
          <p:sp>
            <p:nvSpPr>
              <p:cNvPr id="501" name="Google Shape;501;p33"/>
              <p:cNvSpPr txBox="1"/>
              <p:nvPr/>
            </p:nvSpPr>
            <p:spPr>
              <a:xfrm>
                <a:off x="152400" y="495300"/>
                <a:ext cx="23241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64748B"/>
                    </a:solidFill>
                    <a:latin typeface="Poppins SemiBold"/>
                    <a:ea typeface="Poppins SemiBold"/>
                    <a:cs typeface="Poppins SemiBold"/>
                    <a:sym typeface="Poppins SemiBold"/>
                  </a:rPr>
                  <a:t>SALE AMOUNT</a:t>
                </a:r>
                <a:r>
                  <a:rPr lang="en" sz="1050">
                    <a:solidFill>
                      <a:srgbClr val="1E293B"/>
                    </a:solidFill>
                    <a:latin typeface="Poppins"/>
                    <a:ea typeface="Poppins"/>
                    <a:cs typeface="Poppins"/>
                    <a:sym typeface="Poppins"/>
                  </a:rPr>
                  <a:t> </a:t>
                </a:r>
                <a:r>
                  <a:rPr b="1" lang="en" sz="1300">
                    <a:solidFill>
                      <a:srgbClr val="1B3859"/>
                    </a:solidFill>
                    <a:latin typeface="Poppins"/>
                    <a:ea typeface="Poppins"/>
                    <a:cs typeface="Poppins"/>
                    <a:sym typeface="Poppins"/>
                  </a:rPr>
                  <a:t>$150,000</a:t>
                </a:r>
                <a:endParaRPr sz="1050">
                  <a:solidFill>
                    <a:srgbClr val="1E293B"/>
                  </a:solidFill>
                  <a:latin typeface="Poppins"/>
                  <a:ea typeface="Poppins"/>
                  <a:cs typeface="Poppins"/>
                  <a:sym typeface="Poppins"/>
                </a:endParaRPr>
              </a:p>
              <a:p>
                <a:pPr indent="0" lvl="0" marL="0" rtl="0" algn="l">
                  <a:spcBef>
                    <a:spcPts val="450"/>
                  </a:spcBef>
                  <a:spcAft>
                    <a:spcPts val="0"/>
                  </a:spcAft>
                  <a:buNone/>
                </a:pPr>
                <a:r>
                  <a:rPr b="0" lang="en" sz="850">
                    <a:solidFill>
                      <a:srgbClr val="166534"/>
                    </a:solidFill>
                    <a:latin typeface="Poppins SemiBold"/>
                    <a:ea typeface="Poppins SemiBold"/>
                    <a:cs typeface="Poppins SemiBold"/>
                    <a:sym typeface="Poppins SemiBold"/>
                  </a:rPr>
                  <a:t>ASSESSED VALUE</a:t>
                </a:r>
                <a:r>
                  <a:rPr lang="en" sz="1050">
                    <a:solidFill>
                      <a:srgbClr val="1E293B"/>
                    </a:solidFill>
                    <a:latin typeface="Poppins"/>
                    <a:ea typeface="Poppins"/>
                    <a:cs typeface="Poppins"/>
                    <a:sym typeface="Poppins"/>
                  </a:rPr>
                  <a:t> </a:t>
                </a:r>
                <a:r>
                  <a:rPr b="1" lang="en" sz="1300">
                    <a:solidFill>
                      <a:srgbClr val="166534"/>
                    </a:solidFill>
                    <a:latin typeface="Poppins"/>
                    <a:ea typeface="Poppins"/>
                    <a:cs typeface="Poppins"/>
                    <a:sym typeface="Poppins"/>
                  </a:rPr>
                  <a:t>$200,000</a:t>
                </a:r>
                <a:endParaRPr sz="1050">
                  <a:solidFill>
                    <a:srgbClr val="1E293B"/>
                  </a:solidFill>
                  <a:latin typeface="Poppins"/>
                  <a:ea typeface="Poppins"/>
                  <a:cs typeface="Poppins"/>
                  <a:sym typeface="Poppins"/>
                </a:endParaRPr>
              </a:p>
              <a:p>
                <a:pPr indent="0" lvl="0" marL="0" rtl="0" algn="r">
                  <a:spcBef>
                    <a:spcPts val="450"/>
                  </a:spcBef>
                  <a:spcAft>
                    <a:spcPts val="0"/>
                  </a:spcAft>
                  <a:buNone/>
                </a:pPr>
                <a:r>
                  <a:rPr b="0" lang="en" sz="850">
                    <a:solidFill>
                      <a:srgbClr val="166534"/>
                    </a:solidFill>
                    <a:latin typeface="Poppins SemiBold"/>
                    <a:ea typeface="Poppins SemiBold"/>
                    <a:cs typeface="Poppins SemiBold"/>
                    <a:sym typeface="Poppins SemiBold"/>
                  </a:rPr>
                  <a:t>CLA</a:t>
                </a:r>
                <a:r>
                  <a:rPr lang="en" sz="1050">
                    <a:solidFill>
                      <a:srgbClr val="1E293B"/>
                    </a:solidFill>
                    <a:latin typeface="Poppins"/>
                    <a:ea typeface="Poppins"/>
                    <a:cs typeface="Poppins"/>
                    <a:sym typeface="Poppins"/>
                  </a:rPr>
                  <a:t> </a:t>
                </a:r>
                <a:r>
                  <a:rPr b="0" lang="en" sz="1300">
                    <a:solidFill>
                      <a:srgbClr val="16A34A"/>
                    </a:solidFill>
                    <a:latin typeface="Poppins ExtraBold"/>
                    <a:ea typeface="Poppins ExtraBold"/>
                    <a:cs typeface="Poppins ExtraBold"/>
                    <a:sym typeface="Poppins ExtraBold"/>
                  </a:rPr>
                  <a:t>⬆ Higher</a:t>
                </a:r>
                <a:r>
                  <a:rPr lang="en" sz="1050">
                    <a:solidFill>
                      <a:srgbClr val="1E293B"/>
                    </a:solidFill>
                    <a:latin typeface="Poppins"/>
                    <a:ea typeface="Poppins"/>
                    <a:cs typeface="Poppins"/>
                    <a:sym typeface="Poppins"/>
                  </a:rPr>
                  <a:t> </a:t>
                </a:r>
                <a:r>
                  <a:rPr b="0" lang="en" sz="850">
                    <a:solidFill>
                      <a:srgbClr val="166534"/>
                    </a:solidFill>
                    <a:latin typeface="Poppins SemiBold"/>
                    <a:ea typeface="Poppins SemiBold"/>
                    <a:cs typeface="Poppins SemiBold"/>
                    <a:sym typeface="Poppins SemiBold"/>
                  </a:rPr>
                  <a:t>TAX RATE</a:t>
                </a:r>
                <a:r>
                  <a:rPr lang="en" sz="1050">
                    <a:solidFill>
                      <a:srgbClr val="1E293B"/>
                    </a:solidFill>
                    <a:latin typeface="Poppins"/>
                    <a:ea typeface="Poppins"/>
                    <a:cs typeface="Poppins"/>
                    <a:sym typeface="Poppins"/>
                  </a:rPr>
                  <a:t> </a:t>
                </a:r>
                <a:r>
                  <a:rPr b="0" lang="en" sz="1300">
                    <a:solidFill>
                      <a:srgbClr val="16A34A"/>
                    </a:solidFill>
                    <a:latin typeface="Poppins ExtraBold"/>
                    <a:ea typeface="Poppins ExtraBold"/>
                    <a:cs typeface="Poppins ExtraBold"/>
                    <a:sym typeface="Poppins ExtraBold"/>
                  </a:rPr>
                  <a:t>⬇ Lower</a:t>
                </a:r>
                <a:endParaRPr sz="1050">
                  <a:solidFill>
                    <a:srgbClr val="1E293B"/>
                  </a:solidFill>
                  <a:latin typeface="Poppins"/>
                  <a:ea typeface="Poppins"/>
                  <a:cs typeface="Poppins"/>
                  <a:sym typeface="Poppins"/>
                </a:endParaRPr>
              </a:p>
            </p:txBody>
          </p:sp>
        </p:grpSp>
      </p:grpSp>
      <p:grpSp>
        <p:nvGrpSpPr>
          <p:cNvPr id="502" name="Google Shape;502;p33"/>
          <p:cNvGrpSpPr/>
          <p:nvPr/>
        </p:nvGrpSpPr>
        <p:grpSpPr>
          <a:xfrm>
            <a:off x="381000" y="3762375"/>
            <a:ext cx="8382000" cy="552600"/>
            <a:chOff x="0" y="0"/>
            <a:chExt cx="8382000" cy="552600"/>
          </a:xfrm>
        </p:grpSpPr>
        <p:sp>
          <p:nvSpPr>
            <p:cNvPr id="503" name="Google Shape;503;p33"/>
            <p:cNvSpPr/>
            <p:nvPr/>
          </p:nvSpPr>
          <p:spPr>
            <a:xfrm>
              <a:off x="0" y="0"/>
              <a:ext cx="8382000" cy="552600"/>
            </a:xfrm>
            <a:prstGeom prst="roundRect">
              <a:avLst>
                <a:gd fmla="val 17241" name="adj"/>
              </a:avLst>
            </a:prstGeom>
            <a:solidFill>
              <a:srgbClr val="1E2D4A"/>
            </a:solidFill>
            <a:ln cap="flat" cmpd="sng" w="9525">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33"/>
            <p:cNvSpPr txBox="1"/>
            <p:nvPr/>
          </p:nvSpPr>
          <p:spPr>
            <a:xfrm>
              <a:off x="152400" y="0"/>
              <a:ext cx="80772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94B621"/>
                  </a:solidFill>
                  <a:latin typeface="Poppins"/>
                  <a:ea typeface="Poppins"/>
                  <a:cs typeface="Poppins"/>
                  <a:sym typeface="Poppins"/>
                </a:rPr>
                <a:t>New Last Year:</a:t>
              </a:r>
              <a:r>
                <a:rPr lang="en" sz="1000">
                  <a:solidFill>
                    <a:srgbClr val="FFFFFF"/>
                  </a:solidFill>
                  <a:latin typeface="Poppins"/>
                  <a:ea typeface="Poppins"/>
                  <a:cs typeface="Poppins"/>
                  <a:sym typeface="Poppins"/>
                </a:rPr>
                <a:t> There is a statewide "adjustment" of X.XX% to your CLA. It inflates your CLA, thus decreasing your town's </a:t>
              </a:r>
              <a:r>
                <a:rPr b="1" lang="en" sz="1000">
                  <a:solidFill>
                    <a:srgbClr val="F59E0B"/>
                  </a:solidFill>
                  <a:latin typeface="Poppins"/>
                  <a:ea typeface="Poppins"/>
                  <a:cs typeface="Poppins"/>
                  <a:sym typeface="Poppins"/>
                </a:rPr>
                <a:t>ESTIMATED</a:t>
              </a:r>
              <a:r>
                <a:rPr lang="en" sz="1000">
                  <a:solidFill>
                    <a:srgbClr val="FFFFFF"/>
                  </a:solidFill>
                  <a:latin typeface="Poppins"/>
                  <a:ea typeface="Poppins"/>
                  <a:cs typeface="Poppins"/>
                  <a:sym typeface="Poppins"/>
                </a:rPr>
                <a:t> tax rate.</a:t>
              </a:r>
              <a:endParaRPr sz="1000">
                <a:solidFill>
                  <a:srgbClr val="FFFFFF"/>
                </a:solidFill>
                <a:latin typeface="Poppins"/>
                <a:ea typeface="Poppins"/>
                <a:cs typeface="Poppins"/>
                <a:sym typeface="Poppins"/>
              </a:endParaRPr>
            </a:p>
          </p:txBody>
        </p:sp>
      </p:grpSp>
      <p:sp>
        <p:nvSpPr>
          <p:cNvPr id="505" name="Google Shape;505;p33"/>
          <p:cNvSpPr txBox="1"/>
          <p:nvPr/>
        </p:nvSpPr>
        <p:spPr>
          <a:xfrm>
            <a:off x="0" y="4610100"/>
            <a:ext cx="9144000" cy="533400"/>
          </a:xfrm>
          <a:prstGeom prst="rect">
            <a:avLst/>
          </a:prstGeom>
          <a:solidFill>
            <a:srgbClr val="1B3859"/>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500">
                <a:solidFill>
                  <a:srgbClr val="FFFFFF"/>
                </a:solidFill>
                <a:latin typeface="Poppins"/>
                <a:ea typeface="Poppins"/>
                <a:cs typeface="Poppins"/>
                <a:sym typeface="Poppins"/>
              </a:rPr>
              <a:t>HARWOOD UNIFIED UNION SCHOOL DISTRICT</a:t>
            </a:r>
            <a:endParaRPr b="1" sz="1500">
              <a:solidFill>
                <a:srgbClr val="FFFF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34"/>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Our Budget Planning Framework</a:t>
            </a:r>
            <a:endParaRPr b="0" sz="2200">
              <a:solidFill>
                <a:srgbClr val="1B3859"/>
              </a:solidFill>
              <a:latin typeface="Poppins ExtraBold"/>
              <a:ea typeface="Poppins ExtraBold"/>
              <a:cs typeface="Poppins ExtraBold"/>
              <a:sym typeface="Poppins ExtraBold"/>
            </a:endParaRPr>
          </a:p>
          <a:p>
            <a:pPr indent="0" lvl="0" marL="0" rtl="0" algn="l">
              <a:spcBef>
                <a:spcPts val="450"/>
              </a:spcBef>
              <a:spcAft>
                <a:spcPts val="0"/>
              </a:spcAft>
              <a:buNone/>
            </a:pPr>
            <a:r>
              <a:rPr b="0" lang="en" sz="1100">
                <a:solidFill>
                  <a:srgbClr val="475569"/>
                </a:solidFill>
                <a:latin typeface="Poppins"/>
                <a:ea typeface="Poppins"/>
                <a:cs typeface="Poppins"/>
                <a:sym typeface="Poppins"/>
              </a:rPr>
              <a:t>Five questions guide the development of the budget and the decisions that shape it.</a:t>
            </a:r>
            <a:endParaRPr b="0" sz="1100">
              <a:solidFill>
                <a:srgbClr val="475569"/>
              </a:solidFill>
              <a:latin typeface="Poppins"/>
              <a:ea typeface="Poppins"/>
              <a:cs typeface="Poppins"/>
              <a:sym typeface="Poppins"/>
            </a:endParaRPr>
          </a:p>
        </p:txBody>
      </p:sp>
      <p:grpSp>
        <p:nvGrpSpPr>
          <p:cNvPr id="511" name="Google Shape;511;p34"/>
          <p:cNvGrpSpPr/>
          <p:nvPr/>
        </p:nvGrpSpPr>
        <p:grpSpPr>
          <a:xfrm>
            <a:off x="381000" y="1238250"/>
            <a:ext cx="1562100" cy="2476500"/>
            <a:chOff x="0" y="0"/>
            <a:chExt cx="1562100" cy="2476500"/>
          </a:xfrm>
        </p:grpSpPr>
        <p:sp>
          <p:nvSpPr>
            <p:cNvPr id="512" name="Google Shape;512;p34"/>
            <p:cNvSpPr/>
            <p:nvPr/>
          </p:nvSpPr>
          <p:spPr>
            <a:xfrm>
              <a:off x="0" y="0"/>
              <a:ext cx="1562100" cy="2476500"/>
            </a:xfrm>
            <a:prstGeom prst="roundRect">
              <a:avLst>
                <a:gd fmla="val 73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3" name="Google Shape;513;p34"/>
            <p:cNvSpPr/>
            <p:nvPr/>
          </p:nvSpPr>
          <p:spPr>
            <a:xfrm>
              <a:off x="0" y="0"/>
              <a:ext cx="1562100" cy="381000"/>
            </a:xfrm>
            <a:prstGeom prst="roundRect">
              <a:avLst>
                <a:gd fmla="val 3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p34"/>
            <p:cNvSpPr/>
            <p:nvPr/>
          </p:nvSpPr>
          <p:spPr>
            <a:xfrm>
              <a:off x="0" y="190500"/>
              <a:ext cx="1562100" cy="1905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34"/>
            <p:cNvSpPr txBox="1"/>
            <p:nvPr/>
          </p:nvSpPr>
          <p:spPr>
            <a:xfrm>
              <a:off x="0" y="0"/>
              <a:ext cx="15621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Poppins"/>
                  <a:ea typeface="Poppins"/>
                  <a:cs typeface="Poppins"/>
                  <a:sym typeface="Poppins"/>
                </a:rPr>
                <a:t>1</a:t>
              </a:r>
              <a:endParaRPr b="1" sz="1400">
                <a:solidFill>
                  <a:srgbClr val="FFFFFF"/>
                </a:solidFill>
                <a:latin typeface="Poppins"/>
                <a:ea typeface="Poppins"/>
                <a:cs typeface="Poppins"/>
                <a:sym typeface="Poppins"/>
              </a:endParaRPr>
            </a:p>
          </p:txBody>
        </p:sp>
        <p:sp>
          <p:nvSpPr>
            <p:cNvPr id="516" name="Google Shape;516;p34"/>
            <p:cNvSpPr txBox="1"/>
            <p:nvPr/>
          </p:nvSpPr>
          <p:spPr>
            <a:xfrm>
              <a:off x="114300" y="523875"/>
              <a:ext cx="1333500" cy="1809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1B3859"/>
                  </a:solidFill>
                  <a:latin typeface="Poppins"/>
                  <a:ea typeface="Poppins"/>
                  <a:cs typeface="Poppins"/>
                  <a:sym typeface="Poppins"/>
                </a:rPr>
                <a:t>What do our students need?</a:t>
              </a:r>
              <a:endParaRPr b="0" sz="1000">
                <a:solidFill>
                  <a:srgbClr val="475569"/>
                </a:solidFill>
                <a:latin typeface="Poppins"/>
                <a:ea typeface="Poppins"/>
                <a:cs typeface="Poppins"/>
                <a:sym typeface="Poppins"/>
              </a:endParaRPr>
            </a:p>
            <a:p>
              <a:pPr indent="0" lvl="0" marL="0" rtl="0" algn="ctr">
                <a:spcBef>
                  <a:spcPts val="900"/>
                </a:spcBef>
                <a:spcAft>
                  <a:spcPts val="0"/>
                </a:spcAft>
                <a:buNone/>
              </a:pPr>
              <a:r>
                <a:rPr b="0" lang="en" sz="1000">
                  <a:solidFill>
                    <a:srgbClr val="475569"/>
                  </a:solidFill>
                  <a:latin typeface="Poppins"/>
                  <a:ea typeface="Poppins"/>
                  <a:cs typeface="Poppins"/>
                  <a:sym typeface="Poppins"/>
                </a:rPr>
                <a:t>Programs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Staffing</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Services</a:t>
              </a:r>
              <a:endParaRPr b="0" sz="1000">
                <a:solidFill>
                  <a:srgbClr val="475569"/>
                </a:solidFill>
                <a:latin typeface="Poppins"/>
                <a:ea typeface="Poppins"/>
                <a:cs typeface="Poppins"/>
                <a:sym typeface="Poppins"/>
              </a:endParaRPr>
            </a:p>
          </p:txBody>
        </p:sp>
      </p:grpSp>
      <p:grpSp>
        <p:nvGrpSpPr>
          <p:cNvPr id="517" name="Google Shape;517;p34"/>
          <p:cNvGrpSpPr/>
          <p:nvPr/>
        </p:nvGrpSpPr>
        <p:grpSpPr>
          <a:xfrm>
            <a:off x="2085975" y="1238250"/>
            <a:ext cx="1562100" cy="2476500"/>
            <a:chOff x="0" y="0"/>
            <a:chExt cx="1562100" cy="2476500"/>
          </a:xfrm>
        </p:grpSpPr>
        <p:sp>
          <p:nvSpPr>
            <p:cNvPr id="518" name="Google Shape;518;p34"/>
            <p:cNvSpPr/>
            <p:nvPr/>
          </p:nvSpPr>
          <p:spPr>
            <a:xfrm>
              <a:off x="0" y="0"/>
              <a:ext cx="1562100" cy="2476500"/>
            </a:xfrm>
            <a:prstGeom prst="roundRect">
              <a:avLst>
                <a:gd fmla="val 73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34"/>
            <p:cNvSpPr/>
            <p:nvPr/>
          </p:nvSpPr>
          <p:spPr>
            <a:xfrm>
              <a:off x="0" y="0"/>
              <a:ext cx="1562100" cy="381000"/>
            </a:xfrm>
            <a:prstGeom prst="roundRect">
              <a:avLst>
                <a:gd fmla="val 3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34"/>
            <p:cNvSpPr/>
            <p:nvPr/>
          </p:nvSpPr>
          <p:spPr>
            <a:xfrm>
              <a:off x="0" y="190500"/>
              <a:ext cx="1562100" cy="190500"/>
            </a:xfrm>
            <a:prstGeom prst="rect">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34"/>
            <p:cNvSpPr txBox="1"/>
            <p:nvPr/>
          </p:nvSpPr>
          <p:spPr>
            <a:xfrm>
              <a:off x="0" y="0"/>
              <a:ext cx="15621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Poppins"/>
                  <a:ea typeface="Poppins"/>
                  <a:cs typeface="Poppins"/>
                  <a:sym typeface="Poppins"/>
                </a:rPr>
                <a:t>2</a:t>
              </a:r>
              <a:endParaRPr b="1" sz="1400">
                <a:solidFill>
                  <a:srgbClr val="FFFFFF"/>
                </a:solidFill>
                <a:latin typeface="Poppins"/>
                <a:ea typeface="Poppins"/>
                <a:cs typeface="Poppins"/>
                <a:sym typeface="Poppins"/>
              </a:endParaRPr>
            </a:p>
          </p:txBody>
        </p:sp>
        <p:sp>
          <p:nvSpPr>
            <p:cNvPr id="522" name="Google Shape;522;p34"/>
            <p:cNvSpPr txBox="1"/>
            <p:nvPr/>
          </p:nvSpPr>
          <p:spPr>
            <a:xfrm>
              <a:off x="114300" y="523875"/>
              <a:ext cx="1333500" cy="1809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1B3859"/>
                  </a:solidFill>
                  <a:latin typeface="Poppins"/>
                  <a:ea typeface="Poppins"/>
                  <a:cs typeface="Poppins"/>
                  <a:sym typeface="Poppins"/>
                </a:rPr>
                <a:t>What will it cost?</a:t>
              </a:r>
              <a:endParaRPr b="1" sz="1200">
                <a:solidFill>
                  <a:srgbClr val="1B3859"/>
                </a:solidFill>
                <a:latin typeface="Poppins"/>
                <a:ea typeface="Poppins"/>
                <a:cs typeface="Poppins"/>
                <a:sym typeface="Poppins"/>
              </a:endParaRPr>
            </a:p>
            <a:p>
              <a:pPr indent="0" lvl="0" marL="0" rtl="0" algn="ctr">
                <a:spcBef>
                  <a:spcPts val="900"/>
                </a:spcBef>
                <a:spcAft>
                  <a:spcPts val="0"/>
                </a:spcAft>
                <a:buNone/>
              </a:pPr>
              <a:r>
                <a:rPr b="0" lang="en" sz="1000">
                  <a:solidFill>
                    <a:srgbClr val="475569"/>
                  </a:solidFill>
                  <a:latin typeface="Poppins"/>
                  <a:ea typeface="Poppins"/>
                  <a:cs typeface="Poppins"/>
                  <a:sym typeface="Poppins"/>
                </a:rPr>
                <a:t>Wages &amp; Benefits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Contracts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Operations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lang="en" sz="1000">
                  <a:solidFill>
                    <a:srgbClr val="475569"/>
                  </a:solidFill>
                  <a:latin typeface="Poppins"/>
                  <a:ea typeface="Poppins"/>
                  <a:cs typeface="Poppins"/>
                  <a:sym typeface="Poppins"/>
                </a:rPr>
                <a:t>Special Education</a:t>
              </a:r>
              <a:endParaRPr sz="1000">
                <a:solidFill>
                  <a:srgbClr val="475569"/>
                </a:solidFill>
                <a:latin typeface="Poppins"/>
                <a:ea typeface="Poppins"/>
                <a:cs typeface="Poppins"/>
                <a:sym typeface="Poppins"/>
              </a:endParaRPr>
            </a:p>
            <a:p>
              <a:pPr indent="0" lvl="0" marL="0" rtl="0" algn="ctr">
                <a:spcBef>
                  <a:spcPts val="0"/>
                </a:spcBef>
                <a:spcAft>
                  <a:spcPts val="0"/>
                </a:spcAft>
                <a:buNone/>
              </a:pPr>
              <a:r>
                <a:rPr lang="en" sz="1000">
                  <a:solidFill>
                    <a:srgbClr val="475569"/>
                  </a:solidFill>
                  <a:latin typeface="Poppins"/>
                  <a:ea typeface="Poppins"/>
                  <a:cs typeface="Poppins"/>
                  <a:sym typeface="Poppins"/>
                </a:rPr>
                <a:t>Transportation</a:t>
              </a:r>
              <a:endParaRPr sz="1000">
                <a:solidFill>
                  <a:srgbClr val="475569"/>
                </a:solidFill>
                <a:latin typeface="Poppins"/>
                <a:ea typeface="Poppins"/>
                <a:cs typeface="Poppins"/>
                <a:sym typeface="Poppins"/>
              </a:endParaRPr>
            </a:p>
            <a:p>
              <a:pPr indent="0" lvl="0" marL="0" rtl="0" algn="ctr">
                <a:spcBef>
                  <a:spcPts val="0"/>
                </a:spcBef>
                <a:spcAft>
                  <a:spcPts val="0"/>
                </a:spcAft>
                <a:buNone/>
              </a:pPr>
              <a:r>
                <a:rPr lang="en" sz="1000">
                  <a:solidFill>
                    <a:srgbClr val="475569"/>
                  </a:solidFill>
                  <a:latin typeface="Poppins"/>
                  <a:ea typeface="Poppins"/>
                  <a:cs typeface="Poppins"/>
                  <a:sym typeface="Poppins"/>
                </a:rPr>
                <a:t>Utilities</a:t>
              </a:r>
              <a:endParaRPr sz="1000">
                <a:solidFill>
                  <a:srgbClr val="475569"/>
                </a:solidFill>
                <a:latin typeface="Poppins"/>
                <a:ea typeface="Poppins"/>
                <a:cs typeface="Poppins"/>
                <a:sym typeface="Poppins"/>
              </a:endParaRPr>
            </a:p>
          </p:txBody>
        </p:sp>
      </p:grpSp>
      <p:grpSp>
        <p:nvGrpSpPr>
          <p:cNvPr id="523" name="Google Shape;523;p34"/>
          <p:cNvGrpSpPr/>
          <p:nvPr/>
        </p:nvGrpSpPr>
        <p:grpSpPr>
          <a:xfrm>
            <a:off x="3790950" y="1238250"/>
            <a:ext cx="1562100" cy="2476500"/>
            <a:chOff x="0" y="0"/>
            <a:chExt cx="1562100" cy="2476500"/>
          </a:xfrm>
        </p:grpSpPr>
        <p:sp>
          <p:nvSpPr>
            <p:cNvPr id="524" name="Google Shape;524;p34"/>
            <p:cNvSpPr/>
            <p:nvPr/>
          </p:nvSpPr>
          <p:spPr>
            <a:xfrm>
              <a:off x="0" y="0"/>
              <a:ext cx="1562100" cy="2476500"/>
            </a:xfrm>
            <a:prstGeom prst="roundRect">
              <a:avLst>
                <a:gd fmla="val 73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34"/>
            <p:cNvSpPr/>
            <p:nvPr/>
          </p:nvSpPr>
          <p:spPr>
            <a:xfrm>
              <a:off x="0" y="0"/>
              <a:ext cx="1562100" cy="381000"/>
            </a:xfrm>
            <a:prstGeom prst="roundRect">
              <a:avLst>
                <a:gd fmla="val 30000"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34"/>
            <p:cNvSpPr/>
            <p:nvPr/>
          </p:nvSpPr>
          <p:spPr>
            <a:xfrm>
              <a:off x="0" y="190500"/>
              <a:ext cx="1562100" cy="190500"/>
            </a:xfrm>
            <a:prstGeom prst="rect">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34"/>
            <p:cNvSpPr txBox="1"/>
            <p:nvPr/>
          </p:nvSpPr>
          <p:spPr>
            <a:xfrm>
              <a:off x="0" y="0"/>
              <a:ext cx="15621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Poppins"/>
                  <a:ea typeface="Poppins"/>
                  <a:cs typeface="Poppins"/>
                  <a:sym typeface="Poppins"/>
                </a:rPr>
                <a:t>3</a:t>
              </a:r>
              <a:endParaRPr b="1" sz="1400">
                <a:solidFill>
                  <a:srgbClr val="FFFFFF"/>
                </a:solidFill>
                <a:latin typeface="Poppins"/>
                <a:ea typeface="Poppins"/>
                <a:cs typeface="Poppins"/>
                <a:sym typeface="Poppins"/>
              </a:endParaRPr>
            </a:p>
          </p:txBody>
        </p:sp>
        <p:sp>
          <p:nvSpPr>
            <p:cNvPr id="528" name="Google Shape;528;p34"/>
            <p:cNvSpPr txBox="1"/>
            <p:nvPr/>
          </p:nvSpPr>
          <p:spPr>
            <a:xfrm>
              <a:off x="114300" y="523875"/>
              <a:ext cx="1333500" cy="1809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1B3859"/>
                  </a:solidFill>
                  <a:latin typeface="Poppins"/>
                  <a:ea typeface="Poppins"/>
                  <a:cs typeface="Poppins"/>
                  <a:sym typeface="Poppins"/>
                </a:rPr>
                <a:t>What can we expect?</a:t>
              </a:r>
              <a:endParaRPr b="1" sz="1200">
                <a:solidFill>
                  <a:srgbClr val="1B3859"/>
                </a:solidFill>
                <a:latin typeface="Poppins"/>
                <a:ea typeface="Poppins"/>
                <a:cs typeface="Poppins"/>
                <a:sym typeface="Poppins"/>
              </a:endParaRPr>
            </a:p>
            <a:p>
              <a:pPr indent="0" lvl="0" marL="0" rtl="0" algn="ctr">
                <a:spcBef>
                  <a:spcPts val="900"/>
                </a:spcBef>
                <a:spcAft>
                  <a:spcPts val="0"/>
                </a:spcAft>
                <a:buNone/>
              </a:pPr>
              <a:r>
                <a:rPr b="0" lang="en" sz="1000">
                  <a:solidFill>
                    <a:srgbClr val="475569"/>
                  </a:solidFill>
                  <a:latin typeface="Poppins"/>
                  <a:ea typeface="Poppins"/>
                  <a:cs typeface="Poppins"/>
                  <a:sym typeface="Poppins"/>
                </a:rPr>
                <a:t>Tax Revenues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lang="en" sz="1000">
                  <a:solidFill>
                    <a:srgbClr val="475569"/>
                  </a:solidFill>
                  <a:latin typeface="Poppins"/>
                  <a:ea typeface="Poppins"/>
                  <a:cs typeface="Poppins"/>
                  <a:sym typeface="Poppins"/>
                </a:rPr>
                <a:t>Educational Spending</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lang="en" sz="1000">
                  <a:solidFill>
                    <a:srgbClr val="475569"/>
                  </a:solidFill>
                  <a:latin typeface="Poppins"/>
                  <a:ea typeface="Poppins"/>
                  <a:cs typeface="Poppins"/>
                  <a:sym typeface="Poppins"/>
                </a:rPr>
                <a:t>Grant Funding</a:t>
              </a:r>
              <a:endParaRPr sz="1000">
                <a:solidFill>
                  <a:srgbClr val="475569"/>
                </a:solidFill>
                <a:latin typeface="Poppins"/>
                <a:ea typeface="Poppins"/>
                <a:cs typeface="Poppins"/>
                <a:sym typeface="Poppins"/>
              </a:endParaRPr>
            </a:p>
            <a:p>
              <a:pPr indent="0" lvl="0" marL="0" rtl="0" algn="ctr">
                <a:spcBef>
                  <a:spcPts val="0"/>
                </a:spcBef>
                <a:spcAft>
                  <a:spcPts val="0"/>
                </a:spcAft>
                <a:buNone/>
              </a:pPr>
              <a:r>
                <a:rPr lang="en" sz="1000">
                  <a:solidFill>
                    <a:srgbClr val="475569"/>
                  </a:solidFill>
                  <a:latin typeface="Poppins"/>
                  <a:ea typeface="Poppins"/>
                  <a:cs typeface="Poppins"/>
                  <a:sym typeface="Poppins"/>
                </a:rPr>
                <a:t>Other Revenues</a:t>
              </a:r>
              <a:endParaRPr sz="1000">
                <a:solidFill>
                  <a:srgbClr val="475569"/>
                </a:solidFill>
                <a:latin typeface="Poppins"/>
                <a:ea typeface="Poppins"/>
                <a:cs typeface="Poppins"/>
                <a:sym typeface="Poppins"/>
              </a:endParaRPr>
            </a:p>
          </p:txBody>
        </p:sp>
      </p:grpSp>
      <p:grpSp>
        <p:nvGrpSpPr>
          <p:cNvPr id="529" name="Google Shape;529;p34"/>
          <p:cNvGrpSpPr/>
          <p:nvPr/>
        </p:nvGrpSpPr>
        <p:grpSpPr>
          <a:xfrm>
            <a:off x="5495925" y="1238250"/>
            <a:ext cx="1562100" cy="2476500"/>
            <a:chOff x="0" y="0"/>
            <a:chExt cx="1562100" cy="2476500"/>
          </a:xfrm>
        </p:grpSpPr>
        <p:sp>
          <p:nvSpPr>
            <p:cNvPr id="530" name="Google Shape;530;p34"/>
            <p:cNvSpPr/>
            <p:nvPr/>
          </p:nvSpPr>
          <p:spPr>
            <a:xfrm>
              <a:off x="0" y="0"/>
              <a:ext cx="1562100" cy="2476500"/>
            </a:xfrm>
            <a:prstGeom prst="roundRect">
              <a:avLst>
                <a:gd fmla="val 73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34"/>
            <p:cNvSpPr/>
            <p:nvPr/>
          </p:nvSpPr>
          <p:spPr>
            <a:xfrm>
              <a:off x="0" y="0"/>
              <a:ext cx="1562100" cy="381000"/>
            </a:xfrm>
            <a:prstGeom prst="roundRect">
              <a:avLst>
                <a:gd fmla="val 30000" name="adj"/>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34"/>
            <p:cNvSpPr/>
            <p:nvPr/>
          </p:nvSpPr>
          <p:spPr>
            <a:xfrm>
              <a:off x="0" y="190500"/>
              <a:ext cx="1562100" cy="190500"/>
            </a:xfrm>
            <a:prstGeom prst="rect">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34"/>
            <p:cNvSpPr txBox="1"/>
            <p:nvPr/>
          </p:nvSpPr>
          <p:spPr>
            <a:xfrm>
              <a:off x="0" y="0"/>
              <a:ext cx="15621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Poppins"/>
                  <a:ea typeface="Poppins"/>
                  <a:cs typeface="Poppins"/>
                  <a:sym typeface="Poppins"/>
                </a:rPr>
                <a:t>4</a:t>
              </a:r>
              <a:endParaRPr b="1" sz="1400">
                <a:solidFill>
                  <a:srgbClr val="FFFFFF"/>
                </a:solidFill>
                <a:latin typeface="Poppins"/>
                <a:ea typeface="Poppins"/>
                <a:cs typeface="Poppins"/>
                <a:sym typeface="Poppins"/>
              </a:endParaRPr>
            </a:p>
          </p:txBody>
        </p:sp>
        <p:sp>
          <p:nvSpPr>
            <p:cNvPr id="534" name="Google Shape;534;p34"/>
            <p:cNvSpPr txBox="1"/>
            <p:nvPr/>
          </p:nvSpPr>
          <p:spPr>
            <a:xfrm>
              <a:off x="114300" y="523875"/>
              <a:ext cx="1333500" cy="1809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1B3859"/>
                  </a:solidFill>
                  <a:latin typeface="Poppins"/>
                  <a:ea typeface="Poppins"/>
                  <a:cs typeface="Poppins"/>
                  <a:sym typeface="Poppins"/>
                </a:rPr>
                <a:t>What can we control?</a:t>
              </a:r>
              <a:endParaRPr b="1" sz="1200">
                <a:solidFill>
                  <a:srgbClr val="1B3859"/>
                </a:solidFill>
                <a:latin typeface="Poppins"/>
                <a:ea typeface="Poppins"/>
                <a:cs typeface="Poppins"/>
                <a:sym typeface="Poppins"/>
              </a:endParaRPr>
            </a:p>
            <a:p>
              <a:pPr indent="0" lvl="0" marL="0" rtl="0" algn="ctr">
                <a:spcBef>
                  <a:spcPts val="900"/>
                </a:spcBef>
                <a:spcAft>
                  <a:spcPts val="0"/>
                </a:spcAft>
                <a:buNone/>
              </a:pPr>
              <a:r>
                <a:rPr b="0" lang="en" sz="1000">
                  <a:solidFill>
                    <a:srgbClr val="475569"/>
                  </a:solidFill>
                  <a:latin typeface="Poppins"/>
                  <a:ea typeface="Poppins"/>
                  <a:cs typeface="Poppins"/>
                  <a:sym typeface="Poppins"/>
                </a:rPr>
                <a:t>Staffing</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Programs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Contracts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Purchasing</a:t>
              </a:r>
              <a:endParaRPr b="0" sz="1000">
                <a:solidFill>
                  <a:srgbClr val="475569"/>
                </a:solidFill>
                <a:latin typeface="Poppins"/>
                <a:ea typeface="Poppins"/>
                <a:cs typeface="Poppins"/>
                <a:sym typeface="Poppins"/>
              </a:endParaRPr>
            </a:p>
          </p:txBody>
        </p:sp>
      </p:grpSp>
      <p:grpSp>
        <p:nvGrpSpPr>
          <p:cNvPr id="535" name="Google Shape;535;p34"/>
          <p:cNvGrpSpPr/>
          <p:nvPr/>
        </p:nvGrpSpPr>
        <p:grpSpPr>
          <a:xfrm>
            <a:off x="7200900" y="1238250"/>
            <a:ext cx="1562100" cy="2476500"/>
            <a:chOff x="0" y="0"/>
            <a:chExt cx="1562100" cy="2476500"/>
          </a:xfrm>
        </p:grpSpPr>
        <p:sp>
          <p:nvSpPr>
            <p:cNvPr id="536" name="Google Shape;536;p34"/>
            <p:cNvSpPr/>
            <p:nvPr/>
          </p:nvSpPr>
          <p:spPr>
            <a:xfrm>
              <a:off x="0" y="0"/>
              <a:ext cx="1562100" cy="2476500"/>
            </a:xfrm>
            <a:prstGeom prst="roundRect">
              <a:avLst>
                <a:gd fmla="val 73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34"/>
            <p:cNvSpPr/>
            <p:nvPr/>
          </p:nvSpPr>
          <p:spPr>
            <a:xfrm>
              <a:off x="0" y="0"/>
              <a:ext cx="1562100" cy="381000"/>
            </a:xfrm>
            <a:prstGeom prst="roundRect">
              <a:avLst>
                <a:gd fmla="val 30000" name="adj"/>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34"/>
            <p:cNvSpPr/>
            <p:nvPr/>
          </p:nvSpPr>
          <p:spPr>
            <a:xfrm>
              <a:off x="0" y="190500"/>
              <a:ext cx="1562100" cy="190500"/>
            </a:xfrm>
            <a:prstGeom prst="rect">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34"/>
            <p:cNvSpPr txBox="1"/>
            <p:nvPr/>
          </p:nvSpPr>
          <p:spPr>
            <a:xfrm>
              <a:off x="0" y="0"/>
              <a:ext cx="15621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Poppins"/>
                  <a:ea typeface="Poppins"/>
                  <a:cs typeface="Poppins"/>
                  <a:sym typeface="Poppins"/>
                </a:rPr>
                <a:t>5</a:t>
              </a:r>
              <a:endParaRPr b="1" sz="1400">
                <a:solidFill>
                  <a:srgbClr val="FFFFFF"/>
                </a:solidFill>
                <a:latin typeface="Poppins"/>
                <a:ea typeface="Poppins"/>
                <a:cs typeface="Poppins"/>
                <a:sym typeface="Poppins"/>
              </a:endParaRPr>
            </a:p>
          </p:txBody>
        </p:sp>
        <p:sp>
          <p:nvSpPr>
            <p:cNvPr id="540" name="Google Shape;540;p34"/>
            <p:cNvSpPr txBox="1"/>
            <p:nvPr/>
          </p:nvSpPr>
          <p:spPr>
            <a:xfrm>
              <a:off x="114300" y="523875"/>
              <a:ext cx="1333500" cy="1809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50">
                  <a:solidFill>
                    <a:srgbClr val="1B3859"/>
                  </a:solidFill>
                  <a:latin typeface="Poppins"/>
                  <a:ea typeface="Poppins"/>
                  <a:cs typeface="Poppins"/>
                  <a:sym typeface="Poppins"/>
                </a:rPr>
                <a:t>What are the implications?</a:t>
              </a:r>
              <a:endParaRPr b="1" sz="1150">
                <a:solidFill>
                  <a:srgbClr val="1B3859"/>
                </a:solidFill>
                <a:latin typeface="Poppins"/>
                <a:ea typeface="Poppins"/>
                <a:cs typeface="Poppins"/>
                <a:sym typeface="Poppins"/>
              </a:endParaRPr>
            </a:p>
            <a:p>
              <a:pPr indent="0" lvl="0" marL="0" rtl="0" algn="ctr">
                <a:spcBef>
                  <a:spcPts val="900"/>
                </a:spcBef>
                <a:spcAft>
                  <a:spcPts val="0"/>
                </a:spcAft>
                <a:buNone/>
              </a:pPr>
              <a:r>
                <a:rPr b="0" lang="en" sz="1000">
                  <a:solidFill>
                    <a:srgbClr val="475569"/>
                  </a:solidFill>
                  <a:latin typeface="Poppins"/>
                  <a:ea typeface="Poppins"/>
                  <a:cs typeface="Poppins"/>
                  <a:sym typeface="Poppins"/>
                </a:rPr>
                <a:t>Tax Impact</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Spending</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Thresholds</a:t>
              </a:r>
              <a:endParaRPr b="0" sz="1000">
                <a:solidFill>
                  <a:srgbClr val="475569"/>
                </a:solidFill>
                <a:latin typeface="Poppins"/>
                <a:ea typeface="Poppins"/>
                <a:cs typeface="Poppins"/>
                <a:sym typeface="Poppins"/>
              </a:endParaRPr>
            </a:p>
            <a:p>
              <a:pPr indent="0" lvl="0" marL="0" rtl="0" algn="ctr">
                <a:spcBef>
                  <a:spcPts val="450"/>
                </a:spcBef>
                <a:spcAft>
                  <a:spcPts val="0"/>
                </a:spcAft>
                <a:buNone/>
              </a:pPr>
              <a:r>
                <a:rPr b="0" lang="en" sz="1000">
                  <a:solidFill>
                    <a:srgbClr val="475569"/>
                  </a:solidFill>
                  <a:latin typeface="Poppins"/>
                  <a:ea typeface="Poppins"/>
                  <a:cs typeface="Poppins"/>
                  <a:sym typeface="Poppins"/>
                </a:rPr>
                <a:t>Debt Service</a:t>
              </a:r>
              <a:endParaRPr b="0" sz="1000">
                <a:solidFill>
                  <a:srgbClr val="475569"/>
                </a:solidFill>
                <a:latin typeface="Poppins"/>
                <a:ea typeface="Poppins"/>
                <a:cs typeface="Poppins"/>
                <a:sym typeface="Poppins"/>
              </a:endParaRPr>
            </a:p>
          </p:txBody>
        </p:sp>
      </p:grpSp>
      <p:grpSp>
        <p:nvGrpSpPr>
          <p:cNvPr id="541" name="Google Shape;541;p34"/>
          <p:cNvGrpSpPr/>
          <p:nvPr/>
        </p:nvGrpSpPr>
        <p:grpSpPr>
          <a:xfrm>
            <a:off x="381000" y="3905250"/>
            <a:ext cx="8382000" cy="609600"/>
            <a:chOff x="0" y="0"/>
            <a:chExt cx="8382000" cy="609600"/>
          </a:xfrm>
        </p:grpSpPr>
        <p:sp>
          <p:nvSpPr>
            <p:cNvPr id="542" name="Google Shape;542;p34"/>
            <p:cNvSpPr/>
            <p:nvPr/>
          </p:nvSpPr>
          <p:spPr>
            <a:xfrm>
              <a:off x="0" y="0"/>
              <a:ext cx="8382000" cy="609600"/>
            </a:xfrm>
            <a:prstGeom prst="roundRect">
              <a:avLst>
                <a:gd fmla="val 1875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34"/>
            <p:cNvSpPr txBox="1"/>
            <p:nvPr/>
          </p:nvSpPr>
          <p:spPr>
            <a:xfrm>
              <a:off x="190500" y="0"/>
              <a:ext cx="80010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50">
                  <a:solidFill>
                    <a:srgbClr val="1B3859"/>
                  </a:solidFill>
                  <a:latin typeface="Poppins"/>
                  <a:ea typeface="Poppins"/>
                  <a:cs typeface="Poppins"/>
                  <a:sym typeface="Poppins"/>
                </a:rPr>
                <a:t>The framework keeps the focus on both educational priorities and long-term financial sustainability.</a:t>
              </a:r>
              <a:endParaRPr b="1" sz="1250">
                <a:solidFill>
                  <a:srgbClr val="1B3859"/>
                </a:solidFill>
                <a:latin typeface="Poppins"/>
                <a:ea typeface="Poppins"/>
                <a:cs typeface="Poppins"/>
                <a:sym typeface="Poppi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7" name="Shape 547"/>
        <p:cNvGrpSpPr/>
        <p:nvPr/>
      </p:nvGrpSpPr>
      <p:grpSpPr>
        <a:xfrm>
          <a:off x="0" y="0"/>
          <a:ext cx="0" cy="0"/>
          <a:chOff x="0" y="0"/>
          <a:chExt cx="0" cy="0"/>
        </a:xfrm>
      </p:grpSpPr>
      <p:grpSp>
        <p:nvGrpSpPr>
          <p:cNvPr id="548" name="Google Shape;548;p35"/>
          <p:cNvGrpSpPr/>
          <p:nvPr/>
        </p:nvGrpSpPr>
        <p:grpSpPr>
          <a:xfrm>
            <a:off x="381000" y="381000"/>
            <a:ext cx="8382000" cy="666900"/>
            <a:chOff x="0" y="0"/>
            <a:chExt cx="8382000" cy="666900"/>
          </a:xfrm>
        </p:grpSpPr>
        <p:sp>
          <p:nvSpPr>
            <p:cNvPr id="549" name="Google Shape;549;p35"/>
            <p:cNvSpPr/>
            <p:nvPr/>
          </p:nvSpPr>
          <p:spPr>
            <a:xfrm>
              <a:off x="0" y="0"/>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35"/>
            <p:cNvSpPr txBox="1"/>
            <p:nvPr/>
          </p:nvSpPr>
          <p:spPr>
            <a:xfrm>
              <a:off x="0" y="0"/>
              <a:ext cx="8382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What Drives the Budget?</a:t>
              </a:r>
              <a:endParaRPr b="0" sz="24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475569"/>
                  </a:solidFill>
                  <a:latin typeface="Poppins"/>
                  <a:ea typeface="Poppins"/>
                  <a:cs typeface="Poppins"/>
                  <a:sym typeface="Poppins"/>
                </a:rPr>
                <a:t>Some factors are local decisions; others are influenced by contracts, markets, enrollment, or State policy.</a:t>
              </a:r>
              <a:endParaRPr b="0" sz="1100">
                <a:solidFill>
                  <a:srgbClr val="475569"/>
                </a:solidFill>
                <a:latin typeface="Poppins"/>
                <a:ea typeface="Poppins"/>
                <a:cs typeface="Poppins"/>
                <a:sym typeface="Poppins"/>
              </a:endParaRPr>
            </a:p>
          </p:txBody>
        </p:sp>
      </p:grpSp>
      <p:grpSp>
        <p:nvGrpSpPr>
          <p:cNvPr id="551" name="Google Shape;551;p35"/>
          <p:cNvGrpSpPr/>
          <p:nvPr/>
        </p:nvGrpSpPr>
        <p:grpSpPr>
          <a:xfrm>
            <a:off x="381000" y="1238250"/>
            <a:ext cx="1524000" cy="2381400"/>
            <a:chOff x="0" y="0"/>
            <a:chExt cx="1524000" cy="2381400"/>
          </a:xfrm>
        </p:grpSpPr>
        <p:sp>
          <p:nvSpPr>
            <p:cNvPr id="552" name="Google Shape;552;p35"/>
            <p:cNvSpPr/>
            <p:nvPr/>
          </p:nvSpPr>
          <p:spPr>
            <a:xfrm>
              <a:off x="0" y="0"/>
              <a:ext cx="1524000" cy="23814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35"/>
            <p:cNvSpPr/>
            <p:nvPr/>
          </p:nvSpPr>
          <p:spPr>
            <a:xfrm>
              <a:off x="0" y="0"/>
              <a:ext cx="1524000" cy="381000"/>
            </a:xfrm>
            <a:custGeom>
              <a:rect b="b" l="l" r="r" t="t"/>
              <a:pathLst>
                <a:path extrusionOk="0" h="120000" w="120000">
                  <a:moveTo>
                    <a:pt x="0" y="36000"/>
                  </a:moveTo>
                  <a:cubicBezTo>
                    <a:pt x="0" y="16118"/>
                    <a:pt x="4029" y="0"/>
                    <a:pt x="9000" y="0"/>
                  </a:cubicBezTo>
                  <a:lnTo>
                    <a:pt x="111000" y="0"/>
                  </a:lnTo>
                  <a:cubicBezTo>
                    <a:pt x="115971" y="0"/>
                    <a:pt x="120000" y="16118"/>
                    <a:pt x="120000" y="36000"/>
                  </a:cubicBezTo>
                  <a:lnTo>
                    <a:pt x="120000" y="120000"/>
                  </a:lnTo>
                  <a:lnTo>
                    <a:pt x="0" y="120000"/>
                  </a:lnTo>
                  <a:close/>
                </a:path>
              </a:pathLst>
            </a:cu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35"/>
            <p:cNvSpPr txBox="1"/>
            <p:nvPr/>
          </p:nvSpPr>
          <p:spPr>
            <a:xfrm>
              <a:off x="0" y="0"/>
              <a:ext cx="1524000" cy="381000"/>
            </a:xfrm>
            <a:prstGeom prst="rect">
              <a:avLst/>
            </a:prstGeom>
            <a:noFill/>
            <a:ln>
              <a:noFill/>
            </a:ln>
          </p:spPr>
          <p:txBody>
            <a:bodyPr anchorCtr="0" anchor="ctr" bIns="0" lIns="47625" spcFirstLastPara="1" rIns="47625"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PERSONNEL</a:t>
              </a:r>
              <a:endParaRPr b="1" sz="900">
                <a:solidFill>
                  <a:srgbClr val="FFFFFF"/>
                </a:solidFill>
                <a:latin typeface="Poppins"/>
                <a:ea typeface="Poppins"/>
                <a:cs typeface="Poppins"/>
                <a:sym typeface="Poppins"/>
              </a:endParaRPr>
            </a:p>
          </p:txBody>
        </p:sp>
        <p:sp>
          <p:nvSpPr>
            <p:cNvPr id="555" name="Google Shape;555;p35"/>
            <p:cNvSpPr txBox="1"/>
            <p:nvPr/>
          </p:nvSpPr>
          <p:spPr>
            <a:xfrm>
              <a:off x="95250" y="523875"/>
              <a:ext cx="1333500" cy="17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475569"/>
                  </a:solidFill>
                  <a:latin typeface="Poppins Medium"/>
                  <a:ea typeface="Poppins Medium"/>
                  <a:cs typeface="Poppins Medium"/>
                  <a:sym typeface="Poppins Medium"/>
                </a:rPr>
                <a:t>Wages &amp; salaries</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Collective bargaining</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Health insurance</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Retirement &amp; benefits</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Staffing levels</a:t>
              </a:r>
              <a:endParaRPr b="0" sz="950">
                <a:solidFill>
                  <a:srgbClr val="475569"/>
                </a:solidFill>
                <a:latin typeface="Poppins Medium"/>
                <a:ea typeface="Poppins Medium"/>
                <a:cs typeface="Poppins Medium"/>
                <a:sym typeface="Poppins Medium"/>
              </a:endParaRPr>
            </a:p>
          </p:txBody>
        </p:sp>
      </p:grpSp>
      <p:grpSp>
        <p:nvGrpSpPr>
          <p:cNvPr id="556" name="Google Shape;556;p35"/>
          <p:cNvGrpSpPr/>
          <p:nvPr/>
        </p:nvGrpSpPr>
        <p:grpSpPr>
          <a:xfrm>
            <a:off x="2095500" y="1238250"/>
            <a:ext cx="1524000" cy="2381400"/>
            <a:chOff x="0" y="0"/>
            <a:chExt cx="1524000" cy="2381400"/>
          </a:xfrm>
        </p:grpSpPr>
        <p:sp>
          <p:nvSpPr>
            <p:cNvPr id="557" name="Google Shape;557;p35"/>
            <p:cNvSpPr/>
            <p:nvPr/>
          </p:nvSpPr>
          <p:spPr>
            <a:xfrm>
              <a:off x="0" y="0"/>
              <a:ext cx="1524000" cy="23814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35"/>
            <p:cNvSpPr/>
            <p:nvPr/>
          </p:nvSpPr>
          <p:spPr>
            <a:xfrm>
              <a:off x="0" y="0"/>
              <a:ext cx="1524000" cy="381000"/>
            </a:xfrm>
            <a:custGeom>
              <a:rect b="b" l="l" r="r" t="t"/>
              <a:pathLst>
                <a:path extrusionOk="0" h="120000" w="120000">
                  <a:moveTo>
                    <a:pt x="0" y="36000"/>
                  </a:moveTo>
                  <a:cubicBezTo>
                    <a:pt x="0" y="16118"/>
                    <a:pt x="4029" y="0"/>
                    <a:pt x="9000" y="0"/>
                  </a:cubicBezTo>
                  <a:lnTo>
                    <a:pt x="111000" y="0"/>
                  </a:lnTo>
                  <a:cubicBezTo>
                    <a:pt x="115971" y="0"/>
                    <a:pt x="120000" y="16118"/>
                    <a:pt x="120000" y="36000"/>
                  </a:cubicBezTo>
                  <a:lnTo>
                    <a:pt x="120000" y="120000"/>
                  </a:lnTo>
                  <a:lnTo>
                    <a:pt x="0" y="120000"/>
                  </a:lnTo>
                  <a:close/>
                </a:path>
              </a:pathLst>
            </a:cu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9" name="Google Shape;559;p35"/>
            <p:cNvSpPr txBox="1"/>
            <p:nvPr/>
          </p:nvSpPr>
          <p:spPr>
            <a:xfrm>
              <a:off x="0" y="0"/>
              <a:ext cx="1524000" cy="381000"/>
            </a:xfrm>
            <a:prstGeom prst="rect">
              <a:avLst/>
            </a:prstGeom>
            <a:noFill/>
            <a:ln>
              <a:noFill/>
            </a:ln>
          </p:spPr>
          <p:txBody>
            <a:bodyPr anchorCtr="0" anchor="ctr" bIns="0" lIns="47625" spcFirstLastPara="1" rIns="47625"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STUDENT &amp; PROGRAM NEEDS</a:t>
              </a:r>
              <a:endParaRPr b="1" sz="900">
                <a:solidFill>
                  <a:srgbClr val="FFFFFF"/>
                </a:solidFill>
                <a:latin typeface="Poppins"/>
                <a:ea typeface="Poppins"/>
                <a:cs typeface="Poppins"/>
                <a:sym typeface="Poppins"/>
              </a:endParaRPr>
            </a:p>
          </p:txBody>
        </p:sp>
        <p:sp>
          <p:nvSpPr>
            <p:cNvPr id="560" name="Google Shape;560;p35"/>
            <p:cNvSpPr txBox="1"/>
            <p:nvPr/>
          </p:nvSpPr>
          <p:spPr>
            <a:xfrm>
              <a:off x="95250" y="523875"/>
              <a:ext cx="1333500" cy="17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475569"/>
                  </a:solidFill>
                  <a:latin typeface="Poppins Medium"/>
                  <a:ea typeface="Poppins Medium"/>
                  <a:cs typeface="Poppins Medium"/>
                  <a:sym typeface="Poppins Medium"/>
                </a:rPr>
                <a:t>Enrollment</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Special education</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Student support</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PreK</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Transportation</a:t>
              </a:r>
              <a:endParaRPr b="0" sz="950">
                <a:solidFill>
                  <a:srgbClr val="475569"/>
                </a:solidFill>
                <a:latin typeface="Poppins Medium"/>
                <a:ea typeface="Poppins Medium"/>
                <a:cs typeface="Poppins Medium"/>
                <a:sym typeface="Poppins Medium"/>
              </a:endParaRPr>
            </a:p>
          </p:txBody>
        </p:sp>
      </p:grpSp>
      <p:grpSp>
        <p:nvGrpSpPr>
          <p:cNvPr id="561" name="Google Shape;561;p35"/>
          <p:cNvGrpSpPr/>
          <p:nvPr/>
        </p:nvGrpSpPr>
        <p:grpSpPr>
          <a:xfrm>
            <a:off x="3810000" y="1238250"/>
            <a:ext cx="1524000" cy="2381400"/>
            <a:chOff x="0" y="0"/>
            <a:chExt cx="1524000" cy="2381400"/>
          </a:xfrm>
        </p:grpSpPr>
        <p:sp>
          <p:nvSpPr>
            <p:cNvPr id="562" name="Google Shape;562;p35"/>
            <p:cNvSpPr/>
            <p:nvPr/>
          </p:nvSpPr>
          <p:spPr>
            <a:xfrm>
              <a:off x="0" y="0"/>
              <a:ext cx="1524000" cy="23814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p35"/>
            <p:cNvSpPr/>
            <p:nvPr/>
          </p:nvSpPr>
          <p:spPr>
            <a:xfrm>
              <a:off x="0" y="0"/>
              <a:ext cx="1524000" cy="381000"/>
            </a:xfrm>
            <a:custGeom>
              <a:rect b="b" l="l" r="r" t="t"/>
              <a:pathLst>
                <a:path extrusionOk="0" h="120000" w="120000">
                  <a:moveTo>
                    <a:pt x="0" y="36000"/>
                  </a:moveTo>
                  <a:cubicBezTo>
                    <a:pt x="0" y="16118"/>
                    <a:pt x="4029" y="0"/>
                    <a:pt x="9000" y="0"/>
                  </a:cubicBezTo>
                  <a:lnTo>
                    <a:pt x="111000" y="0"/>
                  </a:lnTo>
                  <a:cubicBezTo>
                    <a:pt x="115971" y="0"/>
                    <a:pt x="120000" y="16118"/>
                    <a:pt x="120000" y="36000"/>
                  </a:cubicBezTo>
                  <a:lnTo>
                    <a:pt x="120000" y="120000"/>
                  </a:lnTo>
                  <a:lnTo>
                    <a:pt x="0" y="120000"/>
                  </a:lnTo>
                  <a:close/>
                </a:path>
              </a:pathLst>
            </a:cu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p35"/>
            <p:cNvSpPr txBox="1"/>
            <p:nvPr/>
          </p:nvSpPr>
          <p:spPr>
            <a:xfrm>
              <a:off x="0" y="0"/>
              <a:ext cx="1524000" cy="381000"/>
            </a:xfrm>
            <a:prstGeom prst="rect">
              <a:avLst/>
            </a:prstGeom>
            <a:noFill/>
            <a:ln>
              <a:noFill/>
            </a:ln>
          </p:spPr>
          <p:txBody>
            <a:bodyPr anchorCtr="0" anchor="ctr" bIns="0" lIns="47625" spcFirstLastPara="1" rIns="47625"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OPERATIONS</a:t>
              </a:r>
              <a:endParaRPr b="1" sz="900">
                <a:solidFill>
                  <a:srgbClr val="FFFFFF"/>
                </a:solidFill>
                <a:latin typeface="Poppins"/>
                <a:ea typeface="Poppins"/>
                <a:cs typeface="Poppins"/>
                <a:sym typeface="Poppins"/>
              </a:endParaRPr>
            </a:p>
          </p:txBody>
        </p:sp>
        <p:sp>
          <p:nvSpPr>
            <p:cNvPr id="565" name="Google Shape;565;p35"/>
            <p:cNvSpPr txBox="1"/>
            <p:nvPr/>
          </p:nvSpPr>
          <p:spPr>
            <a:xfrm>
              <a:off x="95250" y="523875"/>
              <a:ext cx="1333500" cy="17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475569"/>
                  </a:solidFill>
                  <a:latin typeface="Poppins Medium"/>
                  <a:ea typeface="Poppins Medium"/>
                  <a:cs typeface="Poppins Medium"/>
                  <a:sym typeface="Poppins Medium"/>
                </a:rPr>
                <a:t>Fuel &amp; utilities</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Technology</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Maintenance</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Insurance</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Supplies &amp; services</a:t>
              </a:r>
              <a:endParaRPr b="0" sz="950">
                <a:solidFill>
                  <a:srgbClr val="475569"/>
                </a:solidFill>
                <a:latin typeface="Poppins Medium"/>
                <a:ea typeface="Poppins Medium"/>
                <a:cs typeface="Poppins Medium"/>
                <a:sym typeface="Poppins Medium"/>
              </a:endParaRPr>
            </a:p>
          </p:txBody>
        </p:sp>
      </p:grpSp>
      <p:grpSp>
        <p:nvGrpSpPr>
          <p:cNvPr id="566" name="Google Shape;566;p35"/>
          <p:cNvGrpSpPr/>
          <p:nvPr/>
        </p:nvGrpSpPr>
        <p:grpSpPr>
          <a:xfrm>
            <a:off x="5524500" y="1238250"/>
            <a:ext cx="1524000" cy="2381400"/>
            <a:chOff x="0" y="0"/>
            <a:chExt cx="1524000" cy="2381400"/>
          </a:xfrm>
        </p:grpSpPr>
        <p:sp>
          <p:nvSpPr>
            <p:cNvPr id="567" name="Google Shape;567;p35"/>
            <p:cNvSpPr/>
            <p:nvPr/>
          </p:nvSpPr>
          <p:spPr>
            <a:xfrm>
              <a:off x="0" y="0"/>
              <a:ext cx="1524000" cy="23814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35"/>
            <p:cNvSpPr/>
            <p:nvPr/>
          </p:nvSpPr>
          <p:spPr>
            <a:xfrm>
              <a:off x="0" y="0"/>
              <a:ext cx="1524000" cy="381000"/>
            </a:xfrm>
            <a:custGeom>
              <a:rect b="b" l="l" r="r" t="t"/>
              <a:pathLst>
                <a:path extrusionOk="0" h="120000" w="120000">
                  <a:moveTo>
                    <a:pt x="0" y="36000"/>
                  </a:moveTo>
                  <a:cubicBezTo>
                    <a:pt x="0" y="16118"/>
                    <a:pt x="4029" y="0"/>
                    <a:pt x="9000" y="0"/>
                  </a:cubicBezTo>
                  <a:lnTo>
                    <a:pt x="111000" y="0"/>
                  </a:lnTo>
                  <a:cubicBezTo>
                    <a:pt x="115971" y="0"/>
                    <a:pt x="120000" y="16118"/>
                    <a:pt x="120000" y="36000"/>
                  </a:cubicBezTo>
                  <a:lnTo>
                    <a:pt x="120000" y="120000"/>
                  </a:lnTo>
                  <a:lnTo>
                    <a:pt x="0" y="120000"/>
                  </a:lnTo>
                  <a:close/>
                </a:path>
              </a:pathLst>
            </a:cu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35"/>
            <p:cNvSpPr txBox="1"/>
            <p:nvPr/>
          </p:nvSpPr>
          <p:spPr>
            <a:xfrm>
              <a:off x="0" y="0"/>
              <a:ext cx="1524000" cy="381000"/>
            </a:xfrm>
            <a:prstGeom prst="rect">
              <a:avLst/>
            </a:prstGeom>
            <a:noFill/>
            <a:ln>
              <a:noFill/>
            </a:ln>
          </p:spPr>
          <p:txBody>
            <a:bodyPr anchorCtr="0" anchor="ctr" bIns="0" lIns="47625" spcFirstLastPara="1" rIns="47625"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CAPITAL &amp; LONG-TERM</a:t>
              </a:r>
              <a:endParaRPr b="1" sz="900">
                <a:solidFill>
                  <a:srgbClr val="FFFFFF"/>
                </a:solidFill>
                <a:latin typeface="Poppins"/>
                <a:ea typeface="Poppins"/>
                <a:cs typeface="Poppins"/>
                <a:sym typeface="Poppins"/>
              </a:endParaRPr>
            </a:p>
          </p:txBody>
        </p:sp>
        <p:sp>
          <p:nvSpPr>
            <p:cNvPr id="570" name="Google Shape;570;p35"/>
            <p:cNvSpPr txBox="1"/>
            <p:nvPr/>
          </p:nvSpPr>
          <p:spPr>
            <a:xfrm>
              <a:off x="95250" y="523875"/>
              <a:ext cx="1333500" cy="17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50">
                  <a:solidFill>
                    <a:srgbClr val="475569"/>
                  </a:solidFill>
                  <a:latin typeface="Poppins Medium"/>
                  <a:ea typeface="Poppins Medium"/>
                  <a:cs typeface="Poppins Medium"/>
                  <a:sym typeface="Poppins Medium"/>
                </a:rPr>
                <a:t>Operations of </a:t>
              </a:r>
              <a:r>
                <a:rPr b="0" lang="en" sz="950">
                  <a:solidFill>
                    <a:srgbClr val="475569"/>
                  </a:solidFill>
                  <a:latin typeface="Poppins Medium"/>
                  <a:ea typeface="Poppins Medium"/>
                  <a:cs typeface="Poppins Medium"/>
                  <a:sym typeface="Poppins Medium"/>
                </a:rPr>
                <a:t>Buildings &amp; grounds</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Deferred maintenance</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Vehicles/equipment</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Debt</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Capital reserves</a:t>
              </a:r>
              <a:endParaRPr b="0" sz="950">
                <a:solidFill>
                  <a:srgbClr val="475569"/>
                </a:solidFill>
                <a:latin typeface="Poppins Medium"/>
                <a:ea typeface="Poppins Medium"/>
                <a:cs typeface="Poppins Medium"/>
                <a:sym typeface="Poppins Medium"/>
              </a:endParaRPr>
            </a:p>
          </p:txBody>
        </p:sp>
      </p:grpSp>
      <p:grpSp>
        <p:nvGrpSpPr>
          <p:cNvPr id="571" name="Google Shape;571;p35"/>
          <p:cNvGrpSpPr/>
          <p:nvPr/>
        </p:nvGrpSpPr>
        <p:grpSpPr>
          <a:xfrm>
            <a:off x="7239000" y="1238250"/>
            <a:ext cx="1524000" cy="2381400"/>
            <a:chOff x="0" y="0"/>
            <a:chExt cx="1524000" cy="2381400"/>
          </a:xfrm>
        </p:grpSpPr>
        <p:sp>
          <p:nvSpPr>
            <p:cNvPr id="572" name="Google Shape;572;p35"/>
            <p:cNvSpPr/>
            <p:nvPr/>
          </p:nvSpPr>
          <p:spPr>
            <a:xfrm>
              <a:off x="0" y="0"/>
              <a:ext cx="1524000" cy="23814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35"/>
            <p:cNvSpPr/>
            <p:nvPr/>
          </p:nvSpPr>
          <p:spPr>
            <a:xfrm>
              <a:off x="0" y="0"/>
              <a:ext cx="1524000" cy="381000"/>
            </a:xfrm>
            <a:custGeom>
              <a:rect b="b" l="l" r="r" t="t"/>
              <a:pathLst>
                <a:path extrusionOk="0" h="120000" w="120000">
                  <a:moveTo>
                    <a:pt x="0" y="36000"/>
                  </a:moveTo>
                  <a:cubicBezTo>
                    <a:pt x="0" y="16118"/>
                    <a:pt x="4029" y="0"/>
                    <a:pt x="9000" y="0"/>
                  </a:cubicBezTo>
                  <a:lnTo>
                    <a:pt x="111000" y="0"/>
                  </a:lnTo>
                  <a:cubicBezTo>
                    <a:pt x="115971" y="0"/>
                    <a:pt x="120000" y="16118"/>
                    <a:pt x="120000" y="36000"/>
                  </a:cubicBezTo>
                  <a:lnTo>
                    <a:pt x="120000" y="120000"/>
                  </a:lnTo>
                  <a:lnTo>
                    <a:pt x="0" y="120000"/>
                  </a:lnTo>
                  <a:close/>
                </a:path>
              </a:pathLst>
            </a:cu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p35"/>
            <p:cNvSpPr txBox="1"/>
            <p:nvPr/>
          </p:nvSpPr>
          <p:spPr>
            <a:xfrm>
              <a:off x="0" y="0"/>
              <a:ext cx="1524000" cy="381000"/>
            </a:xfrm>
            <a:prstGeom prst="rect">
              <a:avLst/>
            </a:prstGeom>
            <a:noFill/>
            <a:ln>
              <a:noFill/>
            </a:ln>
          </p:spPr>
          <p:txBody>
            <a:bodyPr anchorCtr="0" anchor="ctr" bIns="0" lIns="47625" spcFirstLastPara="1" rIns="47625"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STATE &amp; EXTERNAL</a:t>
              </a:r>
              <a:endParaRPr b="1" sz="900">
                <a:solidFill>
                  <a:srgbClr val="FFFFFF"/>
                </a:solidFill>
                <a:latin typeface="Poppins"/>
                <a:ea typeface="Poppins"/>
                <a:cs typeface="Poppins"/>
                <a:sym typeface="Poppins"/>
              </a:endParaRPr>
            </a:p>
          </p:txBody>
        </p:sp>
        <p:sp>
          <p:nvSpPr>
            <p:cNvPr id="575" name="Google Shape;575;p35"/>
            <p:cNvSpPr txBox="1"/>
            <p:nvPr/>
          </p:nvSpPr>
          <p:spPr>
            <a:xfrm>
              <a:off x="95250" y="523875"/>
              <a:ext cx="1333500" cy="17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475569"/>
                  </a:solidFill>
                  <a:latin typeface="Poppins Medium"/>
                  <a:ea typeface="Poppins Medium"/>
                  <a:cs typeface="Poppins Medium"/>
                  <a:sym typeface="Poppins Medium"/>
                </a:rPr>
                <a:t>Education funding formula</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Property values / CLA</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Spending thresholds</a:t>
              </a:r>
              <a:endParaRPr b="0" sz="950">
                <a:solidFill>
                  <a:srgbClr val="475569"/>
                </a:solidFill>
                <a:latin typeface="Poppins Medium"/>
                <a:ea typeface="Poppins Medium"/>
                <a:cs typeface="Poppins Medium"/>
                <a:sym typeface="Poppins Medium"/>
              </a:endParaRPr>
            </a:p>
            <a:p>
              <a:pPr indent="0" lvl="0" marL="0" rtl="0" algn="ctr">
                <a:spcBef>
                  <a:spcPts val="600"/>
                </a:spcBef>
                <a:spcAft>
                  <a:spcPts val="0"/>
                </a:spcAft>
                <a:buNone/>
              </a:pPr>
              <a:r>
                <a:rPr b="0" lang="en" sz="950">
                  <a:solidFill>
                    <a:srgbClr val="475569"/>
                  </a:solidFill>
                  <a:latin typeface="Poppins Medium"/>
                  <a:ea typeface="Poppins Medium"/>
                  <a:cs typeface="Poppins Medium"/>
                  <a:sym typeface="Poppins Medium"/>
                </a:rPr>
                <a:t>Inflat</a:t>
              </a:r>
              <a:r>
                <a:rPr b="0" lang="en" sz="950">
                  <a:solidFill>
                    <a:srgbClr val="475569"/>
                  </a:solidFill>
                  <a:latin typeface="Poppins Medium"/>
                  <a:ea typeface="Poppins Medium"/>
                  <a:cs typeface="Poppins Medium"/>
                  <a:sym typeface="Poppins Medium"/>
                </a:rPr>
                <a:t>ion &amp; economy</a:t>
              </a:r>
              <a:endParaRPr b="0" sz="950">
                <a:solidFill>
                  <a:srgbClr val="475569"/>
                </a:solidFill>
                <a:latin typeface="Poppins Medium"/>
                <a:ea typeface="Poppins Medium"/>
                <a:cs typeface="Poppins Medium"/>
                <a:sym typeface="Poppins Medium"/>
              </a:endParaRPr>
            </a:p>
            <a:p>
              <a:pPr indent="0" lvl="0" marL="0" rtl="0" algn="ctr">
                <a:spcBef>
                  <a:spcPts val="0"/>
                </a:spcBef>
                <a:spcAft>
                  <a:spcPts val="0"/>
                </a:spcAft>
                <a:buNone/>
              </a:pPr>
              <a:r>
                <a:rPr lang="en" sz="950">
                  <a:solidFill>
                    <a:srgbClr val="475569"/>
                  </a:solidFill>
                  <a:latin typeface="Poppins Medium"/>
                  <a:ea typeface="Poppins Medium"/>
                  <a:cs typeface="Poppins Medium"/>
                  <a:sym typeface="Poppins Medium"/>
                </a:rPr>
                <a:t>Under </a:t>
              </a:r>
              <a:r>
                <a:rPr lang="en" sz="950">
                  <a:solidFill>
                    <a:srgbClr val="475569"/>
                  </a:solidFill>
                  <a:latin typeface="Poppins Medium"/>
                  <a:ea typeface="Poppins Medium"/>
                  <a:cs typeface="Poppins Medium"/>
                  <a:sym typeface="Poppins Medium"/>
                </a:rPr>
                <a:t>funded</a:t>
              </a:r>
              <a:r>
                <a:rPr lang="en" sz="950">
                  <a:solidFill>
                    <a:srgbClr val="475569"/>
                  </a:solidFill>
                  <a:latin typeface="Poppins Medium"/>
                  <a:ea typeface="Poppins Medium"/>
                  <a:cs typeface="Poppins Medium"/>
                  <a:sym typeface="Poppins Medium"/>
                </a:rPr>
                <a:t> State Mandates</a:t>
              </a:r>
              <a:endParaRPr sz="950">
                <a:solidFill>
                  <a:srgbClr val="475569"/>
                </a:solidFill>
                <a:latin typeface="Poppins Medium"/>
                <a:ea typeface="Poppins Medium"/>
                <a:cs typeface="Poppins Medium"/>
                <a:sym typeface="Poppins Medium"/>
              </a:endParaRPr>
            </a:p>
          </p:txBody>
        </p:sp>
      </p:grpSp>
      <p:grpSp>
        <p:nvGrpSpPr>
          <p:cNvPr id="576" name="Google Shape;576;p35"/>
          <p:cNvGrpSpPr/>
          <p:nvPr/>
        </p:nvGrpSpPr>
        <p:grpSpPr>
          <a:xfrm>
            <a:off x="381000" y="3857625"/>
            <a:ext cx="8382000" cy="571500"/>
            <a:chOff x="0" y="0"/>
            <a:chExt cx="8382000" cy="571500"/>
          </a:xfrm>
        </p:grpSpPr>
        <p:sp>
          <p:nvSpPr>
            <p:cNvPr id="577" name="Google Shape;577;p35"/>
            <p:cNvSpPr/>
            <p:nvPr/>
          </p:nvSpPr>
          <p:spPr>
            <a:xfrm>
              <a:off x="0" y="0"/>
              <a:ext cx="8382000" cy="571500"/>
            </a:xfrm>
            <a:prstGeom prst="roundRect">
              <a:avLst>
                <a:gd fmla="val 20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35"/>
            <p:cNvSpPr txBox="1"/>
            <p:nvPr/>
          </p:nvSpPr>
          <p:spPr>
            <a:xfrm>
              <a:off x="190500" y="0"/>
              <a:ext cx="800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B3859"/>
                  </a:solidFill>
                  <a:latin typeface="Poppins"/>
                  <a:ea typeface="Poppins"/>
                  <a:cs typeface="Poppins"/>
                  <a:sym typeface="Poppins"/>
                </a:rPr>
                <a:t>The budget reflects both decisions we make locally and financial factors outside the District’s direct control.</a:t>
              </a:r>
              <a:endParaRPr b="1" sz="1100">
                <a:solidFill>
                  <a:srgbClr val="1B3859"/>
                </a:solidFill>
                <a:latin typeface="Poppins"/>
                <a:ea typeface="Poppins"/>
                <a:cs typeface="Poppins"/>
                <a:sym typeface="Poppi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2" name="Shape 582"/>
        <p:cNvGrpSpPr/>
        <p:nvPr/>
      </p:nvGrpSpPr>
      <p:grpSpPr>
        <a:xfrm>
          <a:off x="0" y="0"/>
          <a:ext cx="0" cy="0"/>
          <a:chOff x="0" y="0"/>
          <a:chExt cx="0" cy="0"/>
        </a:xfrm>
      </p:grpSpPr>
      <p:sp>
        <p:nvSpPr>
          <p:cNvPr id="583" name="Google Shape;583;p36"/>
          <p:cNvSpPr txBox="1"/>
          <p:nvPr/>
        </p:nvSpPr>
        <p:spPr>
          <a:xfrm>
            <a:off x="381000" y="63525"/>
            <a:ext cx="8382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How We Build the Budget</a:t>
            </a:r>
            <a:endParaRPr b="0" sz="2400">
              <a:solidFill>
                <a:srgbClr val="1B3859"/>
              </a:solidFill>
              <a:latin typeface="Poppins ExtraBold"/>
              <a:ea typeface="Poppins ExtraBold"/>
              <a:cs typeface="Poppins ExtraBold"/>
              <a:sym typeface="Poppins ExtraBold"/>
            </a:endParaRPr>
          </a:p>
          <a:p>
            <a:pPr indent="0" lvl="0" marL="0" rtl="0" algn="l">
              <a:spcBef>
                <a:spcPts val="450"/>
              </a:spcBef>
              <a:spcAft>
                <a:spcPts val="0"/>
              </a:spcAft>
              <a:buNone/>
            </a:pPr>
            <a:r>
              <a:t/>
            </a:r>
            <a:endParaRPr b="0" sz="1050">
              <a:solidFill>
                <a:srgbClr val="475569"/>
              </a:solidFill>
              <a:latin typeface="Poppins"/>
              <a:ea typeface="Poppins"/>
              <a:cs typeface="Poppins"/>
              <a:sym typeface="Poppins"/>
            </a:endParaRPr>
          </a:p>
        </p:txBody>
      </p:sp>
      <p:grpSp>
        <p:nvGrpSpPr>
          <p:cNvPr id="584" name="Google Shape;584;p36"/>
          <p:cNvGrpSpPr/>
          <p:nvPr/>
        </p:nvGrpSpPr>
        <p:grpSpPr>
          <a:xfrm>
            <a:off x="381000" y="1835050"/>
            <a:ext cx="1285800" cy="2381400"/>
            <a:chOff x="0" y="0"/>
            <a:chExt cx="1285800" cy="2381400"/>
          </a:xfrm>
        </p:grpSpPr>
        <p:sp>
          <p:nvSpPr>
            <p:cNvPr id="585" name="Google Shape;585;p36"/>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p36"/>
            <p:cNvSpPr/>
            <p:nvPr/>
          </p:nvSpPr>
          <p:spPr>
            <a:xfrm>
              <a:off x="0" y="0"/>
              <a:ext cx="1285800" cy="342900"/>
            </a:xfrm>
            <a:prstGeom prst="roundRect">
              <a:avLst>
                <a:gd fmla="val 27777"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36"/>
            <p:cNvSpPr/>
            <p:nvPr/>
          </p:nvSpPr>
          <p:spPr>
            <a:xfrm>
              <a:off x="0" y="247650"/>
              <a:ext cx="1285800" cy="954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36"/>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879">
                <a:solidFill>
                  <a:srgbClr val="FFFFFF"/>
                </a:solidFill>
                <a:latin typeface="Poppins"/>
                <a:ea typeface="Poppins"/>
                <a:cs typeface="Poppins"/>
                <a:sym typeface="Poppins"/>
              </a:endParaRPr>
            </a:p>
            <a:p>
              <a:pPr indent="0" lvl="0" marL="0" rtl="0" algn="ctr">
                <a:spcBef>
                  <a:spcPts val="0"/>
                </a:spcBef>
                <a:spcAft>
                  <a:spcPts val="0"/>
                </a:spcAft>
                <a:buNone/>
              </a:pPr>
              <a:r>
                <a:rPr b="1" lang="en" sz="879">
                  <a:solidFill>
                    <a:srgbClr val="FFFFFF"/>
                  </a:solidFill>
                  <a:latin typeface="Poppins"/>
                  <a:ea typeface="Poppins"/>
                  <a:cs typeface="Poppins"/>
                  <a:sym typeface="Poppins"/>
                </a:rPr>
                <a:t>SEP–OCT</a:t>
              </a:r>
              <a:endParaRPr b="1" sz="879">
                <a:solidFill>
                  <a:srgbClr val="FFFFFF"/>
                </a:solidFill>
                <a:latin typeface="Poppins"/>
                <a:ea typeface="Poppins"/>
                <a:cs typeface="Poppins"/>
                <a:sym typeface="Poppins"/>
              </a:endParaRPr>
            </a:p>
            <a:p>
              <a:pPr indent="0" lvl="0" marL="0" rtl="0" algn="ctr">
                <a:spcBef>
                  <a:spcPts val="0"/>
                </a:spcBef>
                <a:spcAft>
                  <a:spcPts val="0"/>
                </a:spcAft>
                <a:buNone/>
              </a:pPr>
              <a:r>
                <a:t/>
              </a:r>
              <a:endParaRPr b="1" sz="833">
                <a:solidFill>
                  <a:srgbClr val="1B3859"/>
                </a:solidFill>
                <a:latin typeface="Poppins"/>
                <a:ea typeface="Poppins"/>
                <a:cs typeface="Poppins"/>
                <a:sym typeface="Poppins"/>
              </a:endParaRPr>
            </a:p>
            <a:p>
              <a:pPr indent="0" lvl="0" marL="0" rtl="0" algn="ctr">
                <a:spcBef>
                  <a:spcPts val="750"/>
                </a:spcBef>
                <a:spcAft>
                  <a:spcPts val="0"/>
                </a:spcAft>
                <a:buNone/>
              </a:pPr>
              <a:r>
                <a:rPr b="1" lang="en" sz="833">
                  <a:solidFill>
                    <a:srgbClr val="1B3859"/>
                  </a:solidFill>
                  <a:latin typeface="Poppins"/>
                  <a:ea typeface="Poppins"/>
                  <a:cs typeface="Poppins"/>
                  <a:sym typeface="Poppins"/>
                </a:rPr>
                <a:t>FORECAST &amp; ASSESS</a:t>
              </a:r>
              <a:endParaRPr b="1" sz="833">
                <a:solidFill>
                  <a:srgbClr val="1B3859"/>
                </a:solidFill>
                <a:latin typeface="Poppins"/>
                <a:ea typeface="Poppins"/>
                <a:cs typeface="Poppins"/>
                <a:sym typeface="Poppins"/>
              </a:endParaRPr>
            </a:p>
            <a:p>
              <a:pPr indent="-275590" lvl="0" marL="457200" rtl="0" algn="l">
                <a:spcBef>
                  <a:spcPts val="750"/>
                </a:spcBef>
                <a:spcAft>
                  <a:spcPts val="0"/>
                </a:spcAft>
                <a:buClr>
                  <a:srgbClr val="475569"/>
                </a:buClr>
                <a:buSzPts val="740"/>
                <a:buFont typeface="Poppins"/>
                <a:buChar char="●"/>
              </a:pPr>
              <a:r>
                <a:rPr lang="en" sz="740">
                  <a:solidFill>
                    <a:srgbClr val="475569"/>
                  </a:solidFill>
                  <a:latin typeface="Poppins"/>
                  <a:ea typeface="Poppins"/>
                  <a:cs typeface="Poppins"/>
                  <a:sym typeface="Poppins"/>
                </a:rPr>
                <a:t>School Board reviews priorities </a:t>
              </a:r>
              <a:endParaRPr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lang="en" sz="740">
                  <a:solidFill>
                    <a:srgbClr val="475569"/>
                  </a:solidFill>
                  <a:latin typeface="Poppins"/>
                  <a:ea typeface="Poppins"/>
                  <a:cs typeface="Poppins"/>
                  <a:sym typeface="Poppins"/>
                </a:rPr>
                <a:t>SB sets guideline /targets</a:t>
              </a:r>
              <a:endParaRPr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Enrollment projections</a:t>
              </a:r>
              <a:endParaRPr b="0"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Revenue assumptions</a:t>
              </a:r>
              <a:endParaRPr b="0"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Staffing &amp; compensation</a:t>
              </a:r>
              <a:endParaRPr b="0"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Program/service needs</a:t>
              </a:r>
              <a:endParaRPr b="0" sz="740">
                <a:solidFill>
                  <a:srgbClr val="475569"/>
                </a:solidFill>
                <a:latin typeface="Poppins"/>
                <a:ea typeface="Poppins"/>
                <a:cs typeface="Poppins"/>
                <a:sym typeface="Poppins"/>
              </a:endParaRPr>
            </a:p>
          </p:txBody>
        </p:sp>
      </p:grpSp>
      <p:grpSp>
        <p:nvGrpSpPr>
          <p:cNvPr id="589" name="Google Shape;589;p36"/>
          <p:cNvGrpSpPr/>
          <p:nvPr/>
        </p:nvGrpSpPr>
        <p:grpSpPr>
          <a:xfrm>
            <a:off x="1748325" y="1835050"/>
            <a:ext cx="1285800" cy="2381400"/>
            <a:chOff x="0" y="0"/>
            <a:chExt cx="1285800" cy="2381400"/>
          </a:xfrm>
        </p:grpSpPr>
        <p:sp>
          <p:nvSpPr>
            <p:cNvPr id="590" name="Google Shape;590;p36"/>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36"/>
            <p:cNvSpPr/>
            <p:nvPr/>
          </p:nvSpPr>
          <p:spPr>
            <a:xfrm>
              <a:off x="0" y="0"/>
              <a:ext cx="1285800" cy="342900"/>
            </a:xfrm>
            <a:prstGeom prst="roundRect">
              <a:avLst>
                <a:gd fmla="val 27777"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2" name="Google Shape;592;p36"/>
            <p:cNvSpPr/>
            <p:nvPr/>
          </p:nvSpPr>
          <p:spPr>
            <a:xfrm>
              <a:off x="0" y="247650"/>
              <a:ext cx="1285800" cy="95400"/>
            </a:xfrm>
            <a:prstGeom prst="rect">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p36"/>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OCT–NOV</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346F90"/>
                </a:solidFill>
                <a:latin typeface="Poppins"/>
                <a:ea typeface="Poppins"/>
                <a:cs typeface="Poppins"/>
                <a:sym typeface="Poppins"/>
              </a:endParaRPr>
            </a:p>
            <a:p>
              <a:pPr indent="0" lvl="0" marL="0" rtl="0" algn="ctr">
                <a:spcBef>
                  <a:spcPts val="750"/>
                </a:spcBef>
                <a:spcAft>
                  <a:spcPts val="0"/>
                </a:spcAft>
                <a:buNone/>
              </a:pPr>
              <a:r>
                <a:rPr b="1" lang="en" sz="900">
                  <a:solidFill>
                    <a:srgbClr val="346F90"/>
                  </a:solidFill>
                  <a:latin typeface="Poppins"/>
                  <a:ea typeface="Poppins"/>
                  <a:cs typeface="Poppins"/>
                  <a:sym typeface="Poppins"/>
                </a:rPr>
                <a:t>BUILD &amp; PRIORITIZE</a:t>
              </a:r>
              <a:endParaRPr b="1" sz="900">
                <a:solidFill>
                  <a:srgbClr val="346F90"/>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School &amp; dept. requests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Contracts &amp; commitments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Capital &amp; </a:t>
              </a:r>
              <a:r>
                <a:rPr lang="en" sz="800">
                  <a:solidFill>
                    <a:srgbClr val="475569"/>
                  </a:solidFill>
                  <a:latin typeface="Poppins"/>
                  <a:ea typeface="Poppins"/>
                  <a:cs typeface="Poppins"/>
                  <a:sym typeface="Poppins"/>
                </a:rPr>
                <a:t>Operational</a:t>
              </a:r>
              <a:r>
                <a:rPr b="0" lang="en" sz="800">
                  <a:solidFill>
                    <a:srgbClr val="475569"/>
                  </a:solidFill>
                  <a:latin typeface="Poppins"/>
                  <a:ea typeface="Poppins"/>
                  <a:cs typeface="Poppins"/>
                  <a:sym typeface="Poppins"/>
                </a:rPr>
                <a:t>. needs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Potential efficiencies</a:t>
              </a:r>
              <a:endParaRPr b="0" sz="800">
                <a:solidFill>
                  <a:srgbClr val="475569"/>
                </a:solidFill>
                <a:latin typeface="Poppins"/>
                <a:ea typeface="Poppins"/>
                <a:cs typeface="Poppins"/>
                <a:sym typeface="Poppins"/>
              </a:endParaRPr>
            </a:p>
          </p:txBody>
        </p:sp>
      </p:grpSp>
      <p:grpSp>
        <p:nvGrpSpPr>
          <p:cNvPr id="594" name="Google Shape;594;p36"/>
          <p:cNvGrpSpPr/>
          <p:nvPr/>
        </p:nvGrpSpPr>
        <p:grpSpPr>
          <a:xfrm>
            <a:off x="4638688" y="1871375"/>
            <a:ext cx="1285800" cy="2381400"/>
            <a:chOff x="0" y="0"/>
            <a:chExt cx="1285800" cy="2381400"/>
          </a:xfrm>
        </p:grpSpPr>
        <p:sp>
          <p:nvSpPr>
            <p:cNvPr id="595" name="Google Shape;595;p36"/>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36"/>
            <p:cNvSpPr/>
            <p:nvPr/>
          </p:nvSpPr>
          <p:spPr>
            <a:xfrm>
              <a:off x="0" y="0"/>
              <a:ext cx="1285800" cy="342900"/>
            </a:xfrm>
            <a:prstGeom prst="roundRect">
              <a:avLst>
                <a:gd fmla="val 27777" name="adj"/>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36"/>
            <p:cNvSpPr/>
            <p:nvPr/>
          </p:nvSpPr>
          <p:spPr>
            <a:xfrm>
              <a:off x="0" y="247650"/>
              <a:ext cx="1285800" cy="95400"/>
            </a:xfrm>
            <a:prstGeom prst="rect">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36"/>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DEC–JAN</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4A8296"/>
                </a:solidFill>
                <a:latin typeface="Poppins"/>
                <a:ea typeface="Poppins"/>
                <a:cs typeface="Poppins"/>
                <a:sym typeface="Poppins"/>
              </a:endParaRPr>
            </a:p>
            <a:p>
              <a:pPr indent="0" lvl="0" marL="0" rtl="0" algn="ctr">
                <a:spcBef>
                  <a:spcPts val="750"/>
                </a:spcBef>
                <a:spcAft>
                  <a:spcPts val="0"/>
                </a:spcAft>
                <a:buNone/>
              </a:pPr>
              <a:r>
                <a:rPr b="1" lang="en" sz="900">
                  <a:solidFill>
                    <a:srgbClr val="4A8296"/>
                  </a:solidFill>
                  <a:latin typeface="Poppins"/>
                  <a:ea typeface="Poppins"/>
                  <a:cs typeface="Poppins"/>
                  <a:sym typeface="Poppins"/>
                </a:rPr>
                <a:t>BOARD REVIEW</a:t>
              </a:r>
              <a:endParaRPr b="1" sz="900">
                <a:solidFill>
                  <a:srgbClr val="4A8296"/>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Major assumptions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Priorities &amp; trade-offs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Financial outlook</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Board </a:t>
              </a:r>
              <a:r>
                <a:rPr lang="en" sz="800">
                  <a:solidFill>
                    <a:srgbClr val="475569"/>
                  </a:solidFill>
                  <a:latin typeface="Poppins"/>
                  <a:ea typeface="Poppins"/>
                  <a:cs typeface="Poppins"/>
                  <a:sym typeface="Poppins"/>
                </a:rPr>
                <a:t>reviews budget projections</a:t>
              </a:r>
              <a:endParaRPr b="0" sz="8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800">
                <a:solidFill>
                  <a:srgbClr val="475569"/>
                </a:solidFill>
                <a:latin typeface="Poppins"/>
                <a:ea typeface="Poppins"/>
                <a:cs typeface="Poppins"/>
                <a:sym typeface="Poppins"/>
              </a:endParaRPr>
            </a:p>
          </p:txBody>
        </p:sp>
      </p:grpSp>
      <p:grpSp>
        <p:nvGrpSpPr>
          <p:cNvPr id="599" name="Google Shape;599;p36"/>
          <p:cNvGrpSpPr/>
          <p:nvPr/>
        </p:nvGrpSpPr>
        <p:grpSpPr>
          <a:xfrm>
            <a:off x="6031950" y="1871375"/>
            <a:ext cx="1285800" cy="2387700"/>
            <a:chOff x="0" y="0"/>
            <a:chExt cx="1285800" cy="2387700"/>
          </a:xfrm>
        </p:grpSpPr>
        <p:sp>
          <p:nvSpPr>
            <p:cNvPr id="600" name="Google Shape;600;p36"/>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1" name="Google Shape;601;p36"/>
            <p:cNvSpPr/>
            <p:nvPr/>
          </p:nvSpPr>
          <p:spPr>
            <a:xfrm>
              <a:off x="0" y="0"/>
              <a:ext cx="1285800" cy="342900"/>
            </a:xfrm>
            <a:prstGeom prst="roundRect">
              <a:avLst>
                <a:gd fmla="val 27777"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36"/>
            <p:cNvSpPr txBox="1"/>
            <p:nvPr/>
          </p:nvSpPr>
          <p:spPr>
            <a:xfrm>
              <a:off x="0" y="630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JAN–FEB</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5A7D6B"/>
                </a:solidFill>
                <a:latin typeface="Poppins"/>
                <a:ea typeface="Poppins"/>
                <a:cs typeface="Poppins"/>
                <a:sym typeface="Poppins"/>
              </a:endParaRPr>
            </a:p>
            <a:p>
              <a:pPr indent="0" lvl="0" marL="0" rtl="0" algn="ctr">
                <a:spcBef>
                  <a:spcPts val="750"/>
                </a:spcBef>
                <a:spcAft>
                  <a:spcPts val="0"/>
                </a:spcAft>
                <a:buNone/>
              </a:pPr>
              <a:r>
                <a:rPr b="1" lang="en" sz="900">
                  <a:solidFill>
                    <a:srgbClr val="1B3859"/>
                  </a:solidFill>
                  <a:latin typeface="Poppins"/>
                  <a:ea typeface="Poppins"/>
                  <a:cs typeface="Poppins"/>
                  <a:sym typeface="Poppins"/>
                </a:rPr>
                <a:t>FINALIZE</a:t>
              </a:r>
              <a:endParaRPr b="1" sz="900">
                <a:solidFill>
                  <a:srgbClr val="1B3859"/>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Tax &amp; spending calcs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Finalize Budget</a:t>
              </a:r>
              <a:endParaRPr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Community engagement</a:t>
              </a:r>
              <a:endParaRPr sz="8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800">
                <a:solidFill>
                  <a:srgbClr val="475569"/>
                </a:solidFill>
                <a:latin typeface="Poppins"/>
                <a:ea typeface="Poppins"/>
                <a:cs typeface="Poppins"/>
                <a:sym typeface="Poppins"/>
              </a:endParaRPr>
            </a:p>
            <a:p>
              <a:pPr indent="-279400" lvl="0" marL="457200" rtl="0" algn="l">
                <a:spcBef>
                  <a:spcPts val="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Warn the budget</a:t>
              </a:r>
              <a:endParaRPr sz="8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800">
                <a:solidFill>
                  <a:srgbClr val="475569"/>
                </a:solidFill>
                <a:latin typeface="Poppins"/>
                <a:ea typeface="Poppins"/>
                <a:cs typeface="Poppins"/>
                <a:sym typeface="Poppins"/>
              </a:endParaRPr>
            </a:p>
            <a:p>
              <a:pPr indent="-279400" lvl="0" marL="457200" rtl="0" algn="l">
                <a:spcBef>
                  <a:spcPts val="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Voter materials</a:t>
              </a:r>
              <a:endParaRPr b="0" sz="800">
                <a:solidFill>
                  <a:srgbClr val="475569"/>
                </a:solidFill>
                <a:latin typeface="Poppins"/>
                <a:ea typeface="Poppins"/>
                <a:cs typeface="Poppins"/>
                <a:sym typeface="Poppins"/>
              </a:endParaRPr>
            </a:p>
          </p:txBody>
        </p:sp>
      </p:grpSp>
      <p:grpSp>
        <p:nvGrpSpPr>
          <p:cNvPr id="603" name="Google Shape;603;p36"/>
          <p:cNvGrpSpPr/>
          <p:nvPr/>
        </p:nvGrpSpPr>
        <p:grpSpPr>
          <a:xfrm>
            <a:off x="7477200" y="1871375"/>
            <a:ext cx="1285800" cy="2381400"/>
            <a:chOff x="0" y="0"/>
            <a:chExt cx="1285800" cy="2381400"/>
          </a:xfrm>
        </p:grpSpPr>
        <p:sp>
          <p:nvSpPr>
            <p:cNvPr id="604" name="Google Shape;604;p36"/>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5" name="Google Shape;605;p36"/>
            <p:cNvSpPr/>
            <p:nvPr/>
          </p:nvSpPr>
          <p:spPr>
            <a:xfrm>
              <a:off x="0" y="0"/>
              <a:ext cx="1285800" cy="342900"/>
            </a:xfrm>
            <a:prstGeom prst="roundRect">
              <a:avLst>
                <a:gd fmla="val 27777" name="adj"/>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6" name="Google Shape;606;p36"/>
            <p:cNvSpPr/>
            <p:nvPr/>
          </p:nvSpPr>
          <p:spPr>
            <a:xfrm>
              <a:off x="0" y="247650"/>
              <a:ext cx="1285800" cy="95400"/>
            </a:xfrm>
            <a:prstGeom prst="rect">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36"/>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MAR</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44AA68"/>
                </a:solidFill>
                <a:latin typeface="Poppins"/>
                <a:ea typeface="Poppins"/>
                <a:cs typeface="Poppins"/>
                <a:sym typeface="Poppins"/>
              </a:endParaRPr>
            </a:p>
            <a:p>
              <a:pPr indent="0" lvl="0" marL="0" rtl="0" algn="ctr">
                <a:spcBef>
                  <a:spcPts val="750"/>
                </a:spcBef>
                <a:spcAft>
                  <a:spcPts val="0"/>
                </a:spcAft>
                <a:buNone/>
              </a:pPr>
              <a:r>
                <a:rPr b="1" lang="en" sz="900">
                  <a:solidFill>
                    <a:srgbClr val="44AA68"/>
                  </a:solidFill>
                  <a:latin typeface="Poppins"/>
                  <a:ea typeface="Poppins"/>
                  <a:cs typeface="Poppins"/>
                  <a:sym typeface="Poppins"/>
                </a:rPr>
                <a:t>VOTE</a:t>
              </a:r>
              <a:endParaRPr b="1" sz="900">
                <a:solidFill>
                  <a:srgbClr val="44AA68"/>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Annual meeting</a:t>
              </a:r>
              <a:endParaRPr b="0" sz="800">
                <a:solidFill>
                  <a:srgbClr val="475569"/>
                </a:solidFill>
                <a:latin typeface="Poppins"/>
                <a:ea typeface="Poppins"/>
                <a:cs typeface="Poppins"/>
                <a:sym typeface="Poppins"/>
              </a:endParaRPr>
            </a:p>
            <a:p>
              <a:pPr indent="-279400" lvl="0" marL="457200" rtl="0" algn="l">
                <a:spcBef>
                  <a:spcPts val="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Budget vote</a:t>
              </a:r>
              <a:endParaRPr b="0" sz="800">
                <a:solidFill>
                  <a:srgbClr val="475569"/>
                </a:solidFill>
                <a:latin typeface="Poppins"/>
                <a:ea typeface="Poppins"/>
                <a:cs typeface="Poppins"/>
                <a:sym typeface="Poppins"/>
              </a:endParaRPr>
            </a:p>
          </p:txBody>
        </p:sp>
      </p:grpSp>
      <p:grpSp>
        <p:nvGrpSpPr>
          <p:cNvPr id="608" name="Google Shape;608;p36"/>
          <p:cNvGrpSpPr/>
          <p:nvPr/>
        </p:nvGrpSpPr>
        <p:grpSpPr>
          <a:xfrm>
            <a:off x="381000" y="4542650"/>
            <a:ext cx="8382000" cy="495300"/>
            <a:chOff x="0" y="0"/>
            <a:chExt cx="8382000" cy="495300"/>
          </a:xfrm>
        </p:grpSpPr>
        <p:sp>
          <p:nvSpPr>
            <p:cNvPr id="609" name="Google Shape;609;p36"/>
            <p:cNvSpPr/>
            <p:nvPr/>
          </p:nvSpPr>
          <p:spPr>
            <a:xfrm>
              <a:off x="0" y="0"/>
              <a:ext cx="8382000" cy="495300"/>
            </a:xfrm>
            <a:prstGeom prst="roundRect">
              <a:avLst>
                <a:gd fmla="val 19230"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36"/>
            <p:cNvSpPr txBox="1"/>
            <p:nvPr/>
          </p:nvSpPr>
          <p:spPr>
            <a:xfrm>
              <a:off x="0" y="0"/>
              <a:ext cx="83820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50">
                  <a:solidFill>
                    <a:srgbClr val="1B3859"/>
                  </a:solidFill>
                  <a:latin typeface="Poppins"/>
                  <a:ea typeface="Poppins"/>
                  <a:cs typeface="Poppins"/>
                  <a:sym typeface="Poppins"/>
                </a:rPr>
                <a:t>Throughout the process: </a:t>
              </a:r>
              <a:r>
                <a:rPr b="0" lang="en" sz="1050">
                  <a:solidFill>
                    <a:srgbClr val="475569"/>
                  </a:solidFill>
                  <a:latin typeface="Poppins"/>
                  <a:ea typeface="Poppins"/>
                  <a:cs typeface="Poppins"/>
                  <a:sym typeface="Poppins"/>
                </a:rPr>
                <a:t>update assumptions • test scenarios • identify impacts • communicate changes</a:t>
              </a:r>
              <a:endParaRPr b="1" sz="1050">
                <a:solidFill>
                  <a:srgbClr val="1B3859"/>
                </a:solidFill>
                <a:latin typeface="Poppins"/>
                <a:ea typeface="Poppins"/>
                <a:cs typeface="Poppins"/>
                <a:sym typeface="Poppins"/>
              </a:endParaRPr>
            </a:p>
          </p:txBody>
        </p:sp>
      </p:grpSp>
      <p:grpSp>
        <p:nvGrpSpPr>
          <p:cNvPr id="611" name="Google Shape;611;p36"/>
          <p:cNvGrpSpPr/>
          <p:nvPr/>
        </p:nvGrpSpPr>
        <p:grpSpPr>
          <a:xfrm>
            <a:off x="3182787" y="1835050"/>
            <a:ext cx="1333200" cy="2381400"/>
            <a:chOff x="-47376" y="0"/>
            <a:chExt cx="1333200" cy="2381400"/>
          </a:xfrm>
        </p:grpSpPr>
        <p:sp>
          <p:nvSpPr>
            <p:cNvPr id="612" name="Google Shape;612;p36"/>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36"/>
            <p:cNvSpPr/>
            <p:nvPr/>
          </p:nvSpPr>
          <p:spPr>
            <a:xfrm>
              <a:off x="0" y="0"/>
              <a:ext cx="1285800" cy="342900"/>
            </a:xfrm>
            <a:prstGeom prst="roundRect">
              <a:avLst>
                <a:gd fmla="val 27777"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4" name="Google Shape;614;p36"/>
            <p:cNvSpPr/>
            <p:nvPr/>
          </p:nvSpPr>
          <p:spPr>
            <a:xfrm>
              <a:off x="0" y="247650"/>
              <a:ext cx="1285800" cy="95400"/>
            </a:xfrm>
            <a:prstGeom prst="rect">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36"/>
            <p:cNvSpPr txBox="1"/>
            <p:nvPr/>
          </p:nvSpPr>
          <p:spPr>
            <a:xfrm>
              <a:off x="-47376" y="33200"/>
              <a:ext cx="1333200" cy="234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NOV–DEC</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BE8D26"/>
                </a:solidFill>
                <a:latin typeface="Poppins"/>
                <a:ea typeface="Poppins"/>
                <a:cs typeface="Poppins"/>
                <a:sym typeface="Poppins"/>
              </a:endParaRPr>
            </a:p>
            <a:p>
              <a:pPr indent="0" lvl="0" marL="0" rtl="0" algn="ctr">
                <a:spcBef>
                  <a:spcPts val="750"/>
                </a:spcBef>
                <a:spcAft>
                  <a:spcPts val="0"/>
                </a:spcAft>
                <a:buNone/>
              </a:pPr>
              <a:r>
                <a:rPr b="1" lang="en" sz="900">
                  <a:solidFill>
                    <a:srgbClr val="BE8D26"/>
                  </a:solidFill>
                  <a:latin typeface="Poppins"/>
                  <a:ea typeface="Poppins"/>
                  <a:cs typeface="Poppins"/>
                  <a:sym typeface="Poppins"/>
                </a:rPr>
                <a:t>ANALYZE &amp; REFINE</a:t>
              </a:r>
              <a:endParaRPr b="1" sz="900">
                <a:solidFill>
                  <a:srgbClr val="BE8D26"/>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Budget scenarios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Program &amp; staffing impacts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Tax implications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Multi-year projections</a:t>
              </a:r>
              <a:endParaRPr b="0" sz="800">
                <a:solidFill>
                  <a:srgbClr val="475569"/>
                </a:solidFill>
                <a:latin typeface="Poppins"/>
                <a:ea typeface="Poppins"/>
                <a:cs typeface="Poppins"/>
                <a:sym typeface="Poppins"/>
              </a:endParaRPr>
            </a:p>
          </p:txBody>
        </p:sp>
      </p:grpSp>
      <p:grpSp>
        <p:nvGrpSpPr>
          <p:cNvPr id="616" name="Google Shape;616;p36"/>
          <p:cNvGrpSpPr/>
          <p:nvPr/>
        </p:nvGrpSpPr>
        <p:grpSpPr>
          <a:xfrm>
            <a:off x="425870" y="641450"/>
            <a:ext cx="8337127" cy="1059775"/>
            <a:chOff x="647700" y="1428750"/>
            <a:chExt cx="6953400" cy="1059775"/>
          </a:xfrm>
        </p:grpSpPr>
        <p:grpSp>
          <p:nvGrpSpPr>
            <p:cNvPr id="617" name="Google Shape;617;p36"/>
            <p:cNvGrpSpPr/>
            <p:nvPr/>
          </p:nvGrpSpPr>
          <p:grpSpPr>
            <a:xfrm>
              <a:off x="647700" y="1428750"/>
              <a:ext cx="1047900" cy="1047900"/>
              <a:chOff x="0" y="0"/>
              <a:chExt cx="1047900" cy="1047900"/>
            </a:xfrm>
          </p:grpSpPr>
          <p:sp>
            <p:nvSpPr>
              <p:cNvPr id="618" name="Google Shape;618;p36"/>
              <p:cNvSpPr/>
              <p:nvPr/>
            </p:nvSpPr>
            <p:spPr>
              <a:xfrm>
                <a:off x="0" y="0"/>
                <a:ext cx="1047900" cy="1047900"/>
              </a:xfrm>
              <a:prstGeom prst="roundRect">
                <a:avLst>
                  <a:gd fmla="val 10909"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9" name="Google Shape;619;p36"/>
              <p:cNvSpPr txBox="1"/>
              <p:nvPr/>
            </p:nvSpPr>
            <p:spPr>
              <a:xfrm>
                <a:off x="95250" y="9525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School Board Sets Priorities &amp; Guidelines</a:t>
                </a:r>
                <a:endParaRPr b="1" sz="1100">
                  <a:solidFill>
                    <a:srgbClr val="FFFFFF"/>
                  </a:solidFill>
                  <a:latin typeface="Poppins"/>
                  <a:ea typeface="Poppins"/>
                  <a:cs typeface="Poppins"/>
                  <a:sym typeface="Poppins"/>
                </a:endParaRPr>
              </a:p>
            </p:txBody>
          </p:sp>
        </p:grpSp>
        <p:grpSp>
          <p:nvGrpSpPr>
            <p:cNvPr id="620" name="Google Shape;620;p36"/>
            <p:cNvGrpSpPr/>
            <p:nvPr/>
          </p:nvGrpSpPr>
          <p:grpSpPr>
            <a:xfrm>
              <a:off x="1819275" y="1428750"/>
              <a:ext cx="1047900" cy="1047900"/>
              <a:chOff x="0" y="0"/>
              <a:chExt cx="1047900" cy="1047900"/>
            </a:xfrm>
          </p:grpSpPr>
          <p:sp>
            <p:nvSpPr>
              <p:cNvPr id="621" name="Google Shape;621;p36"/>
              <p:cNvSpPr/>
              <p:nvPr/>
            </p:nvSpPr>
            <p:spPr>
              <a:xfrm>
                <a:off x="0" y="0"/>
                <a:ext cx="1047900" cy="1047900"/>
              </a:xfrm>
              <a:prstGeom prst="roundRect">
                <a:avLst>
                  <a:gd fmla="val 10909"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36"/>
              <p:cNvSpPr txBox="1"/>
              <p:nvPr/>
            </p:nvSpPr>
            <p:spPr>
              <a:xfrm>
                <a:off x="95250" y="9525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Student &amp; Program Needs </a:t>
                </a:r>
                <a:r>
                  <a:rPr b="1" lang="en" sz="1000">
                    <a:solidFill>
                      <a:schemeClr val="lt1"/>
                    </a:solidFill>
                    <a:latin typeface="Poppins"/>
                    <a:ea typeface="Poppins"/>
                    <a:cs typeface="Poppins"/>
                    <a:sym typeface="Poppins"/>
                  </a:rPr>
                  <a:t>Enrollment &amp; Financial Forecast</a:t>
                </a:r>
                <a:endParaRPr b="1" sz="1100">
                  <a:solidFill>
                    <a:srgbClr val="FFFFFF"/>
                  </a:solidFill>
                  <a:latin typeface="Poppins"/>
                  <a:ea typeface="Poppins"/>
                  <a:cs typeface="Poppins"/>
                  <a:sym typeface="Poppins"/>
                </a:endParaRPr>
              </a:p>
            </p:txBody>
          </p:sp>
        </p:grpSp>
        <p:sp>
          <p:nvSpPr>
            <p:cNvPr id="623" name="Google Shape;623;p36"/>
            <p:cNvSpPr txBox="1"/>
            <p:nvPr/>
          </p:nvSpPr>
          <p:spPr>
            <a:xfrm>
              <a:off x="3086100" y="15240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Poppins"/>
                  <a:ea typeface="Poppins"/>
                  <a:cs typeface="Poppins"/>
                  <a:sym typeface="Poppins"/>
                </a:rPr>
                <a:t>Enrollment &amp; Financial Forecast</a:t>
              </a:r>
              <a:endParaRPr b="1" sz="1000">
                <a:solidFill>
                  <a:srgbClr val="FFFFFF"/>
                </a:solidFill>
                <a:latin typeface="Poppins"/>
                <a:ea typeface="Poppins"/>
                <a:cs typeface="Poppins"/>
                <a:sym typeface="Poppins"/>
              </a:endParaRPr>
            </a:p>
          </p:txBody>
        </p:sp>
        <p:grpSp>
          <p:nvGrpSpPr>
            <p:cNvPr id="624" name="Google Shape;624;p36"/>
            <p:cNvGrpSpPr/>
            <p:nvPr/>
          </p:nvGrpSpPr>
          <p:grpSpPr>
            <a:xfrm>
              <a:off x="2990850" y="1428750"/>
              <a:ext cx="1047900" cy="1047900"/>
              <a:chOff x="-1171575" y="0"/>
              <a:chExt cx="1047900" cy="1047900"/>
            </a:xfrm>
          </p:grpSpPr>
          <p:sp>
            <p:nvSpPr>
              <p:cNvPr id="625" name="Google Shape;625;p36"/>
              <p:cNvSpPr/>
              <p:nvPr/>
            </p:nvSpPr>
            <p:spPr>
              <a:xfrm>
                <a:off x="-1171575" y="0"/>
                <a:ext cx="1047900" cy="1047900"/>
              </a:xfrm>
              <a:prstGeom prst="roundRect">
                <a:avLst>
                  <a:gd fmla="val 10909"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36"/>
              <p:cNvSpPr txBox="1"/>
              <p:nvPr/>
            </p:nvSpPr>
            <p:spPr>
              <a:xfrm>
                <a:off x="-1098350" y="119025"/>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Budget Scenarios</a:t>
                </a:r>
                <a:endParaRPr b="1" sz="1100">
                  <a:solidFill>
                    <a:srgbClr val="FFFFFF"/>
                  </a:solidFill>
                  <a:latin typeface="Poppins"/>
                  <a:ea typeface="Poppins"/>
                  <a:cs typeface="Poppins"/>
                  <a:sym typeface="Poppins"/>
                </a:endParaRPr>
              </a:p>
            </p:txBody>
          </p:sp>
        </p:grpSp>
        <p:grpSp>
          <p:nvGrpSpPr>
            <p:cNvPr id="627" name="Google Shape;627;p36"/>
            <p:cNvGrpSpPr/>
            <p:nvPr/>
          </p:nvGrpSpPr>
          <p:grpSpPr>
            <a:xfrm>
              <a:off x="4162425" y="1428750"/>
              <a:ext cx="1047900" cy="1047900"/>
              <a:chOff x="-1171575" y="0"/>
              <a:chExt cx="1047900" cy="1047900"/>
            </a:xfrm>
          </p:grpSpPr>
          <p:sp>
            <p:nvSpPr>
              <p:cNvPr id="628" name="Google Shape;628;p36"/>
              <p:cNvSpPr/>
              <p:nvPr/>
            </p:nvSpPr>
            <p:spPr>
              <a:xfrm>
                <a:off x="-1171575" y="0"/>
                <a:ext cx="1047900" cy="1047900"/>
              </a:xfrm>
              <a:prstGeom prst="roundRect">
                <a:avLst>
                  <a:gd fmla="val 10909"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36"/>
              <p:cNvSpPr txBox="1"/>
              <p:nvPr/>
            </p:nvSpPr>
            <p:spPr>
              <a:xfrm>
                <a:off x="-1098350" y="9525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Board Review &amp; Direction</a:t>
                </a:r>
                <a:endParaRPr b="1" sz="1100">
                  <a:solidFill>
                    <a:srgbClr val="FFFFFF"/>
                  </a:solidFill>
                  <a:latin typeface="Poppins"/>
                  <a:ea typeface="Poppins"/>
                  <a:cs typeface="Poppins"/>
                  <a:sym typeface="Poppins"/>
                </a:endParaRPr>
              </a:p>
            </p:txBody>
          </p:sp>
        </p:grpSp>
        <p:grpSp>
          <p:nvGrpSpPr>
            <p:cNvPr id="630" name="Google Shape;630;p36"/>
            <p:cNvGrpSpPr/>
            <p:nvPr/>
          </p:nvGrpSpPr>
          <p:grpSpPr>
            <a:xfrm>
              <a:off x="5297400" y="1428763"/>
              <a:ext cx="1150500" cy="1047900"/>
              <a:chOff x="-1208175" y="13"/>
              <a:chExt cx="1150500" cy="1047900"/>
            </a:xfrm>
          </p:grpSpPr>
          <p:sp>
            <p:nvSpPr>
              <p:cNvPr id="631" name="Google Shape;631;p36"/>
              <p:cNvSpPr/>
              <p:nvPr/>
            </p:nvSpPr>
            <p:spPr>
              <a:xfrm>
                <a:off x="-1208175" y="13"/>
                <a:ext cx="1150500" cy="1047900"/>
              </a:xfrm>
              <a:prstGeom prst="roundRect">
                <a:avLst>
                  <a:gd fmla="val 10909"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36"/>
              <p:cNvSpPr txBox="1"/>
              <p:nvPr/>
            </p:nvSpPr>
            <p:spPr>
              <a:xfrm>
                <a:off x="-1182587" y="107138"/>
                <a:ext cx="1047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Proposed Budget </a:t>
                </a:r>
                <a:br>
                  <a:rPr b="1" lang="en" sz="1100">
                    <a:solidFill>
                      <a:srgbClr val="FFFFFF"/>
                    </a:solidFill>
                    <a:latin typeface="Poppins"/>
                    <a:ea typeface="Poppins"/>
                    <a:cs typeface="Poppins"/>
                    <a:sym typeface="Poppins"/>
                  </a:rPr>
                </a:br>
                <a:r>
                  <a:rPr b="1" lang="en" sz="1100">
                    <a:solidFill>
                      <a:srgbClr val="FFFFFF"/>
                    </a:solidFill>
                    <a:latin typeface="Poppins"/>
                    <a:ea typeface="Poppins"/>
                    <a:cs typeface="Poppins"/>
                    <a:sym typeface="Poppins"/>
                  </a:rPr>
                  <a:t>Presentations</a:t>
                </a:r>
                <a:endParaRPr b="1" sz="1100">
                  <a:solidFill>
                    <a:srgbClr val="FFFFFF"/>
                  </a:solidFill>
                  <a:latin typeface="Poppins"/>
                  <a:ea typeface="Poppins"/>
                  <a:cs typeface="Poppins"/>
                  <a:sym typeface="Poppins"/>
                </a:endParaRPr>
              </a:p>
            </p:txBody>
          </p:sp>
        </p:grpSp>
        <p:grpSp>
          <p:nvGrpSpPr>
            <p:cNvPr id="633" name="Google Shape;633;p36"/>
            <p:cNvGrpSpPr/>
            <p:nvPr/>
          </p:nvGrpSpPr>
          <p:grpSpPr>
            <a:xfrm>
              <a:off x="6553200" y="1440625"/>
              <a:ext cx="1047900" cy="1047900"/>
              <a:chOff x="-1123950" y="11875"/>
              <a:chExt cx="1047900" cy="1047900"/>
            </a:xfrm>
          </p:grpSpPr>
          <p:sp>
            <p:nvSpPr>
              <p:cNvPr id="634" name="Google Shape;634;p36"/>
              <p:cNvSpPr/>
              <p:nvPr/>
            </p:nvSpPr>
            <p:spPr>
              <a:xfrm>
                <a:off x="-1123950" y="11875"/>
                <a:ext cx="1047900" cy="1047900"/>
              </a:xfrm>
              <a:prstGeom prst="roundRect">
                <a:avLst>
                  <a:gd fmla="val 10909" name="adj"/>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36"/>
              <p:cNvSpPr txBox="1"/>
              <p:nvPr/>
            </p:nvSpPr>
            <p:spPr>
              <a:xfrm>
                <a:off x="-1076325" y="9525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18">
                    <a:solidFill>
                      <a:srgbClr val="FFFFFF"/>
                    </a:solidFill>
                    <a:latin typeface="Poppins"/>
                    <a:ea typeface="Poppins"/>
                    <a:cs typeface="Poppins"/>
                    <a:sym typeface="Poppins"/>
                  </a:rPr>
                  <a:t>Community Vote</a:t>
                </a:r>
                <a:endParaRPr b="1" sz="1018">
                  <a:solidFill>
                    <a:srgbClr val="FFFFFF"/>
                  </a:solidFill>
                  <a:latin typeface="Poppins"/>
                  <a:ea typeface="Poppins"/>
                  <a:cs typeface="Poppins"/>
                  <a:sym typeface="Poppins"/>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9" name="Shape 639"/>
        <p:cNvGrpSpPr/>
        <p:nvPr/>
      </p:nvGrpSpPr>
      <p:grpSpPr>
        <a:xfrm>
          <a:off x="0" y="0"/>
          <a:ext cx="0" cy="0"/>
          <a:chOff x="0" y="0"/>
          <a:chExt cx="0" cy="0"/>
        </a:xfrm>
      </p:grpSpPr>
      <p:sp>
        <p:nvSpPr>
          <p:cNvPr id="640" name="Google Shape;640;p37"/>
          <p:cNvSpPr txBox="1"/>
          <p:nvPr/>
        </p:nvSpPr>
        <p:spPr>
          <a:xfrm>
            <a:off x="381000" y="333375"/>
            <a:ext cx="8382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How We Build the Budget</a:t>
            </a:r>
            <a:endParaRPr b="0" sz="2400">
              <a:solidFill>
                <a:srgbClr val="1B3859"/>
              </a:solidFill>
              <a:latin typeface="Poppins ExtraBold"/>
              <a:ea typeface="Poppins ExtraBold"/>
              <a:cs typeface="Poppins ExtraBold"/>
              <a:sym typeface="Poppins ExtraBold"/>
            </a:endParaRPr>
          </a:p>
          <a:p>
            <a:pPr indent="0" lvl="0" marL="0" rtl="0" algn="l">
              <a:spcBef>
                <a:spcPts val="450"/>
              </a:spcBef>
              <a:spcAft>
                <a:spcPts val="0"/>
              </a:spcAft>
              <a:buNone/>
            </a:pPr>
            <a:r>
              <a:rPr b="0" lang="en" sz="1050">
                <a:solidFill>
                  <a:srgbClr val="475569"/>
                </a:solidFill>
                <a:latin typeface="Poppins"/>
                <a:ea typeface="Poppins"/>
                <a:cs typeface="Poppins"/>
                <a:sym typeface="Poppins"/>
              </a:rPr>
              <a:t>The process moves from forecasting and information gathering to scenario development, Board direction, and a proposed budget.</a:t>
            </a:r>
            <a:endParaRPr b="0" sz="1050">
              <a:solidFill>
                <a:srgbClr val="475569"/>
              </a:solidFill>
              <a:latin typeface="Poppins"/>
              <a:ea typeface="Poppins"/>
              <a:cs typeface="Poppins"/>
              <a:sym typeface="Poppins"/>
            </a:endParaRPr>
          </a:p>
        </p:txBody>
      </p:sp>
      <p:grpSp>
        <p:nvGrpSpPr>
          <p:cNvPr id="641" name="Google Shape;641;p37"/>
          <p:cNvGrpSpPr/>
          <p:nvPr/>
        </p:nvGrpSpPr>
        <p:grpSpPr>
          <a:xfrm>
            <a:off x="381000" y="1238250"/>
            <a:ext cx="1285800" cy="2381400"/>
            <a:chOff x="0" y="0"/>
            <a:chExt cx="1285800" cy="2381400"/>
          </a:xfrm>
        </p:grpSpPr>
        <p:sp>
          <p:nvSpPr>
            <p:cNvPr id="642" name="Google Shape;642;p37"/>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37"/>
            <p:cNvSpPr/>
            <p:nvPr/>
          </p:nvSpPr>
          <p:spPr>
            <a:xfrm>
              <a:off x="0" y="0"/>
              <a:ext cx="1285800" cy="342900"/>
            </a:xfrm>
            <a:prstGeom prst="roundRect">
              <a:avLst>
                <a:gd fmla="val 27777"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37"/>
            <p:cNvSpPr/>
            <p:nvPr/>
          </p:nvSpPr>
          <p:spPr>
            <a:xfrm>
              <a:off x="0" y="247650"/>
              <a:ext cx="1285800" cy="954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37"/>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879">
                <a:solidFill>
                  <a:srgbClr val="FFFFFF"/>
                </a:solidFill>
                <a:latin typeface="Poppins"/>
                <a:ea typeface="Poppins"/>
                <a:cs typeface="Poppins"/>
                <a:sym typeface="Poppins"/>
              </a:endParaRPr>
            </a:p>
            <a:p>
              <a:pPr indent="0" lvl="0" marL="0" rtl="0" algn="ctr">
                <a:spcBef>
                  <a:spcPts val="0"/>
                </a:spcBef>
                <a:spcAft>
                  <a:spcPts val="0"/>
                </a:spcAft>
                <a:buNone/>
              </a:pPr>
              <a:r>
                <a:rPr b="1" lang="en" sz="879">
                  <a:solidFill>
                    <a:srgbClr val="FFFFFF"/>
                  </a:solidFill>
                  <a:latin typeface="Poppins"/>
                  <a:ea typeface="Poppins"/>
                  <a:cs typeface="Poppins"/>
                  <a:sym typeface="Poppins"/>
                </a:rPr>
                <a:t>SEP–OCT</a:t>
              </a:r>
              <a:endParaRPr b="1" sz="879">
                <a:solidFill>
                  <a:srgbClr val="FFFFFF"/>
                </a:solidFill>
                <a:latin typeface="Poppins"/>
                <a:ea typeface="Poppins"/>
                <a:cs typeface="Poppins"/>
                <a:sym typeface="Poppins"/>
              </a:endParaRPr>
            </a:p>
            <a:p>
              <a:pPr indent="0" lvl="0" marL="0" rtl="0" algn="ctr">
                <a:spcBef>
                  <a:spcPts val="0"/>
                </a:spcBef>
                <a:spcAft>
                  <a:spcPts val="0"/>
                </a:spcAft>
                <a:buNone/>
              </a:pPr>
              <a:r>
                <a:t/>
              </a:r>
              <a:endParaRPr b="1" sz="833">
                <a:solidFill>
                  <a:srgbClr val="1B3859"/>
                </a:solidFill>
                <a:latin typeface="Poppins"/>
                <a:ea typeface="Poppins"/>
                <a:cs typeface="Poppins"/>
                <a:sym typeface="Poppins"/>
              </a:endParaRPr>
            </a:p>
            <a:p>
              <a:pPr indent="0" lvl="0" marL="0" rtl="0" algn="ctr">
                <a:spcBef>
                  <a:spcPts val="750"/>
                </a:spcBef>
                <a:spcAft>
                  <a:spcPts val="0"/>
                </a:spcAft>
                <a:buNone/>
              </a:pPr>
              <a:r>
                <a:rPr b="1" lang="en" sz="833">
                  <a:solidFill>
                    <a:srgbClr val="1B3859"/>
                  </a:solidFill>
                  <a:latin typeface="Poppins"/>
                  <a:ea typeface="Poppins"/>
                  <a:cs typeface="Poppins"/>
                  <a:sym typeface="Poppins"/>
                </a:rPr>
                <a:t>FORECAST &amp; ASSESS</a:t>
              </a:r>
              <a:endParaRPr b="1" sz="833">
                <a:solidFill>
                  <a:srgbClr val="1B3859"/>
                </a:solidFill>
                <a:latin typeface="Poppins"/>
                <a:ea typeface="Poppins"/>
                <a:cs typeface="Poppins"/>
                <a:sym typeface="Poppins"/>
              </a:endParaRPr>
            </a:p>
            <a:p>
              <a:pPr indent="-275590" lvl="0" marL="457200" rtl="0" algn="l">
                <a:spcBef>
                  <a:spcPts val="750"/>
                </a:spcBef>
                <a:spcAft>
                  <a:spcPts val="0"/>
                </a:spcAft>
                <a:buClr>
                  <a:srgbClr val="475569"/>
                </a:buClr>
                <a:buSzPts val="740"/>
                <a:buFont typeface="Poppins"/>
                <a:buChar char="●"/>
              </a:pPr>
              <a:r>
                <a:rPr lang="en" sz="740">
                  <a:solidFill>
                    <a:srgbClr val="475569"/>
                  </a:solidFill>
                  <a:latin typeface="Poppins"/>
                  <a:ea typeface="Poppins"/>
                  <a:cs typeface="Poppins"/>
                  <a:sym typeface="Poppins"/>
                </a:rPr>
                <a:t>School Board reviews priorities </a:t>
              </a:r>
              <a:endParaRPr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lang="en" sz="740">
                  <a:solidFill>
                    <a:srgbClr val="475569"/>
                  </a:solidFill>
                  <a:latin typeface="Poppins"/>
                  <a:ea typeface="Poppins"/>
                  <a:cs typeface="Poppins"/>
                  <a:sym typeface="Poppins"/>
                </a:rPr>
                <a:t>SB sets </a:t>
              </a:r>
              <a:r>
                <a:rPr lang="en" sz="740">
                  <a:solidFill>
                    <a:srgbClr val="475569"/>
                  </a:solidFill>
                  <a:latin typeface="Poppins"/>
                  <a:ea typeface="Poppins"/>
                  <a:cs typeface="Poppins"/>
                  <a:sym typeface="Poppins"/>
                </a:rPr>
                <a:t>guideline</a:t>
              </a:r>
              <a:r>
                <a:rPr lang="en" sz="740">
                  <a:solidFill>
                    <a:srgbClr val="475569"/>
                  </a:solidFill>
                  <a:latin typeface="Poppins"/>
                  <a:ea typeface="Poppins"/>
                  <a:cs typeface="Poppins"/>
                  <a:sym typeface="Poppins"/>
                </a:rPr>
                <a:t> /targets</a:t>
              </a:r>
              <a:endParaRPr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Enrollment projections</a:t>
              </a:r>
              <a:endParaRPr b="0"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Revenue assumptions</a:t>
              </a:r>
              <a:endParaRPr b="0"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Staffing &amp; compensation</a:t>
              </a:r>
              <a:endParaRPr b="0" sz="740">
                <a:solidFill>
                  <a:srgbClr val="475569"/>
                </a:solidFill>
                <a:latin typeface="Poppins"/>
                <a:ea typeface="Poppins"/>
                <a:cs typeface="Poppins"/>
                <a:sym typeface="Poppins"/>
              </a:endParaRPr>
            </a:p>
            <a:p>
              <a:pPr indent="-275590" lvl="0" marL="457200" rtl="0" algn="l">
                <a:spcBef>
                  <a:spcPts val="450"/>
                </a:spcBef>
                <a:spcAft>
                  <a:spcPts val="0"/>
                </a:spcAft>
                <a:buClr>
                  <a:srgbClr val="475569"/>
                </a:buClr>
                <a:buSzPts val="740"/>
                <a:buFont typeface="Poppins"/>
                <a:buChar char="●"/>
              </a:pPr>
              <a:r>
                <a:rPr b="0" lang="en" sz="740">
                  <a:solidFill>
                    <a:srgbClr val="475569"/>
                  </a:solidFill>
                  <a:latin typeface="Poppins"/>
                  <a:ea typeface="Poppins"/>
                  <a:cs typeface="Poppins"/>
                  <a:sym typeface="Poppins"/>
                </a:rPr>
                <a:t>Program/service needs</a:t>
              </a:r>
              <a:endParaRPr b="0" sz="740">
                <a:solidFill>
                  <a:srgbClr val="475569"/>
                </a:solidFill>
                <a:latin typeface="Poppins"/>
                <a:ea typeface="Poppins"/>
                <a:cs typeface="Poppins"/>
                <a:sym typeface="Poppins"/>
              </a:endParaRPr>
            </a:p>
          </p:txBody>
        </p:sp>
      </p:grpSp>
      <p:grpSp>
        <p:nvGrpSpPr>
          <p:cNvPr id="646" name="Google Shape;646;p37"/>
          <p:cNvGrpSpPr/>
          <p:nvPr/>
        </p:nvGrpSpPr>
        <p:grpSpPr>
          <a:xfrm>
            <a:off x="1800225" y="1238250"/>
            <a:ext cx="1285800" cy="2381400"/>
            <a:chOff x="0" y="0"/>
            <a:chExt cx="1285800" cy="2381400"/>
          </a:xfrm>
        </p:grpSpPr>
        <p:sp>
          <p:nvSpPr>
            <p:cNvPr id="647" name="Google Shape;647;p37"/>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37"/>
            <p:cNvSpPr/>
            <p:nvPr/>
          </p:nvSpPr>
          <p:spPr>
            <a:xfrm>
              <a:off x="0" y="0"/>
              <a:ext cx="1285800" cy="342900"/>
            </a:xfrm>
            <a:prstGeom prst="roundRect">
              <a:avLst>
                <a:gd fmla="val 27777"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9" name="Google Shape;649;p37"/>
            <p:cNvSpPr/>
            <p:nvPr/>
          </p:nvSpPr>
          <p:spPr>
            <a:xfrm>
              <a:off x="0" y="247650"/>
              <a:ext cx="1285800" cy="95400"/>
            </a:xfrm>
            <a:prstGeom prst="rect">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37"/>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OCT–NOV</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346F90"/>
                </a:solidFill>
                <a:latin typeface="Poppins"/>
                <a:ea typeface="Poppins"/>
                <a:cs typeface="Poppins"/>
                <a:sym typeface="Poppins"/>
              </a:endParaRPr>
            </a:p>
            <a:p>
              <a:pPr indent="0" lvl="0" marL="0" rtl="0" algn="ctr">
                <a:spcBef>
                  <a:spcPts val="750"/>
                </a:spcBef>
                <a:spcAft>
                  <a:spcPts val="0"/>
                </a:spcAft>
                <a:buNone/>
              </a:pPr>
              <a:r>
                <a:rPr b="1" lang="en" sz="900">
                  <a:solidFill>
                    <a:srgbClr val="346F90"/>
                  </a:solidFill>
                  <a:latin typeface="Poppins"/>
                  <a:ea typeface="Poppins"/>
                  <a:cs typeface="Poppins"/>
                  <a:sym typeface="Poppins"/>
                </a:rPr>
                <a:t>BUILD &amp; PRIORITIZE</a:t>
              </a:r>
              <a:endParaRPr b="1" sz="900">
                <a:solidFill>
                  <a:srgbClr val="346F90"/>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School &amp; dept. requests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Contracts &amp; commitments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Capital &amp; </a:t>
              </a:r>
              <a:r>
                <a:rPr lang="en" sz="800">
                  <a:solidFill>
                    <a:srgbClr val="475569"/>
                  </a:solidFill>
                  <a:latin typeface="Poppins"/>
                  <a:ea typeface="Poppins"/>
                  <a:cs typeface="Poppins"/>
                  <a:sym typeface="Poppins"/>
                </a:rPr>
                <a:t>Operational</a:t>
              </a:r>
              <a:r>
                <a:rPr b="0" lang="en" sz="800">
                  <a:solidFill>
                    <a:srgbClr val="475569"/>
                  </a:solidFill>
                  <a:latin typeface="Poppins"/>
                  <a:ea typeface="Poppins"/>
                  <a:cs typeface="Poppins"/>
                  <a:sym typeface="Poppins"/>
                </a:rPr>
                <a:t>. needs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Potential efficiencies</a:t>
              </a:r>
              <a:endParaRPr b="0" sz="800">
                <a:solidFill>
                  <a:srgbClr val="475569"/>
                </a:solidFill>
                <a:latin typeface="Poppins"/>
                <a:ea typeface="Poppins"/>
                <a:cs typeface="Poppins"/>
                <a:sym typeface="Poppins"/>
              </a:endParaRPr>
            </a:p>
          </p:txBody>
        </p:sp>
      </p:grpSp>
      <p:grpSp>
        <p:nvGrpSpPr>
          <p:cNvPr id="651" name="Google Shape;651;p37"/>
          <p:cNvGrpSpPr/>
          <p:nvPr/>
        </p:nvGrpSpPr>
        <p:grpSpPr>
          <a:xfrm>
            <a:off x="3172063" y="1238250"/>
            <a:ext cx="1400100" cy="2381400"/>
            <a:chOff x="-47387" y="0"/>
            <a:chExt cx="1400100" cy="2381400"/>
          </a:xfrm>
        </p:grpSpPr>
        <p:sp>
          <p:nvSpPr>
            <p:cNvPr id="652" name="Google Shape;652;p37"/>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3" name="Google Shape;653;p37"/>
            <p:cNvSpPr/>
            <p:nvPr/>
          </p:nvSpPr>
          <p:spPr>
            <a:xfrm>
              <a:off x="0" y="0"/>
              <a:ext cx="1285800" cy="342900"/>
            </a:xfrm>
            <a:prstGeom prst="roundRect">
              <a:avLst>
                <a:gd fmla="val 27777"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37"/>
            <p:cNvSpPr/>
            <p:nvPr/>
          </p:nvSpPr>
          <p:spPr>
            <a:xfrm>
              <a:off x="0" y="247650"/>
              <a:ext cx="1285800" cy="95400"/>
            </a:xfrm>
            <a:prstGeom prst="rect">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37"/>
            <p:cNvSpPr txBox="1"/>
            <p:nvPr/>
          </p:nvSpPr>
          <p:spPr>
            <a:xfrm>
              <a:off x="-47387" y="0"/>
              <a:ext cx="14001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NOV–DEC</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BE8D26"/>
                </a:solidFill>
                <a:latin typeface="Poppins"/>
                <a:ea typeface="Poppins"/>
                <a:cs typeface="Poppins"/>
                <a:sym typeface="Poppins"/>
              </a:endParaRPr>
            </a:p>
            <a:p>
              <a:pPr indent="0" lvl="0" marL="0" rtl="0" algn="ctr">
                <a:spcBef>
                  <a:spcPts val="750"/>
                </a:spcBef>
                <a:spcAft>
                  <a:spcPts val="0"/>
                </a:spcAft>
                <a:buNone/>
              </a:pPr>
              <a:r>
                <a:rPr b="1" lang="en" sz="900">
                  <a:solidFill>
                    <a:srgbClr val="BE8D26"/>
                  </a:solidFill>
                  <a:latin typeface="Poppins"/>
                  <a:ea typeface="Poppins"/>
                  <a:cs typeface="Poppins"/>
                  <a:sym typeface="Poppins"/>
                </a:rPr>
                <a:t>ANALYZE &amp; REFINE</a:t>
              </a:r>
              <a:endParaRPr b="1" sz="900">
                <a:solidFill>
                  <a:srgbClr val="BE8D26"/>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Budget scenarios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Program &amp; staffing impacts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Tax implications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Multi-year projections</a:t>
              </a:r>
              <a:endParaRPr b="0" sz="800">
                <a:solidFill>
                  <a:srgbClr val="475569"/>
                </a:solidFill>
                <a:latin typeface="Poppins"/>
                <a:ea typeface="Poppins"/>
                <a:cs typeface="Poppins"/>
                <a:sym typeface="Poppins"/>
              </a:endParaRPr>
            </a:p>
          </p:txBody>
        </p:sp>
      </p:grpSp>
      <p:grpSp>
        <p:nvGrpSpPr>
          <p:cNvPr id="656" name="Google Shape;656;p37"/>
          <p:cNvGrpSpPr/>
          <p:nvPr/>
        </p:nvGrpSpPr>
        <p:grpSpPr>
          <a:xfrm>
            <a:off x="4638675" y="1238250"/>
            <a:ext cx="1285800" cy="2381400"/>
            <a:chOff x="0" y="0"/>
            <a:chExt cx="1285800" cy="2381400"/>
          </a:xfrm>
        </p:grpSpPr>
        <p:sp>
          <p:nvSpPr>
            <p:cNvPr id="657" name="Google Shape;657;p37"/>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p37"/>
            <p:cNvSpPr/>
            <p:nvPr/>
          </p:nvSpPr>
          <p:spPr>
            <a:xfrm>
              <a:off x="0" y="0"/>
              <a:ext cx="1285800" cy="342900"/>
            </a:xfrm>
            <a:prstGeom prst="roundRect">
              <a:avLst>
                <a:gd fmla="val 27777" name="adj"/>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9" name="Google Shape;659;p37"/>
            <p:cNvSpPr/>
            <p:nvPr/>
          </p:nvSpPr>
          <p:spPr>
            <a:xfrm>
              <a:off x="0" y="247650"/>
              <a:ext cx="1285800" cy="95400"/>
            </a:xfrm>
            <a:prstGeom prst="rect">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37"/>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DEC–JAN</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4A8296"/>
                </a:solidFill>
                <a:latin typeface="Poppins"/>
                <a:ea typeface="Poppins"/>
                <a:cs typeface="Poppins"/>
                <a:sym typeface="Poppins"/>
              </a:endParaRPr>
            </a:p>
            <a:p>
              <a:pPr indent="0" lvl="0" marL="0" rtl="0" algn="ctr">
                <a:spcBef>
                  <a:spcPts val="750"/>
                </a:spcBef>
                <a:spcAft>
                  <a:spcPts val="0"/>
                </a:spcAft>
                <a:buNone/>
              </a:pPr>
              <a:r>
                <a:rPr b="1" lang="en" sz="900">
                  <a:solidFill>
                    <a:srgbClr val="4A8296"/>
                  </a:solidFill>
                  <a:latin typeface="Poppins"/>
                  <a:ea typeface="Poppins"/>
                  <a:cs typeface="Poppins"/>
                  <a:sym typeface="Poppins"/>
                </a:rPr>
                <a:t>BOARD REVIEW</a:t>
              </a:r>
              <a:endParaRPr b="1" sz="900">
                <a:solidFill>
                  <a:srgbClr val="4A8296"/>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Major assumptions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Priorities &amp; trade-offs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Financial outlook</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Board </a:t>
              </a:r>
              <a:r>
                <a:rPr lang="en" sz="800">
                  <a:solidFill>
                    <a:srgbClr val="475569"/>
                  </a:solidFill>
                  <a:latin typeface="Poppins"/>
                  <a:ea typeface="Poppins"/>
                  <a:cs typeface="Poppins"/>
                  <a:sym typeface="Poppins"/>
                </a:rPr>
                <a:t>reviews budget projections</a:t>
              </a:r>
              <a:endParaRPr b="0" sz="8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800">
                <a:solidFill>
                  <a:srgbClr val="475569"/>
                </a:solidFill>
                <a:latin typeface="Poppins"/>
                <a:ea typeface="Poppins"/>
                <a:cs typeface="Poppins"/>
                <a:sym typeface="Poppins"/>
              </a:endParaRPr>
            </a:p>
          </p:txBody>
        </p:sp>
      </p:grpSp>
      <p:grpSp>
        <p:nvGrpSpPr>
          <p:cNvPr id="661" name="Google Shape;661;p37"/>
          <p:cNvGrpSpPr/>
          <p:nvPr/>
        </p:nvGrpSpPr>
        <p:grpSpPr>
          <a:xfrm>
            <a:off x="6057900" y="1238250"/>
            <a:ext cx="1285800" cy="2381400"/>
            <a:chOff x="0" y="0"/>
            <a:chExt cx="1285800" cy="2381400"/>
          </a:xfrm>
        </p:grpSpPr>
        <p:sp>
          <p:nvSpPr>
            <p:cNvPr id="662" name="Google Shape;662;p37"/>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37"/>
            <p:cNvSpPr/>
            <p:nvPr/>
          </p:nvSpPr>
          <p:spPr>
            <a:xfrm>
              <a:off x="0" y="0"/>
              <a:ext cx="1285800" cy="342900"/>
            </a:xfrm>
            <a:prstGeom prst="roundRect">
              <a:avLst>
                <a:gd fmla="val 27777" name="adj"/>
              </a:avLst>
            </a:prstGeom>
            <a:solidFill>
              <a:srgbClr val="5A7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4" name="Google Shape;664;p37"/>
            <p:cNvSpPr/>
            <p:nvPr/>
          </p:nvSpPr>
          <p:spPr>
            <a:xfrm>
              <a:off x="0" y="247650"/>
              <a:ext cx="1285800" cy="95400"/>
            </a:xfrm>
            <a:prstGeom prst="rect">
              <a:avLst/>
            </a:prstGeom>
            <a:solidFill>
              <a:srgbClr val="5A7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5" name="Google Shape;665;p37"/>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JAN–FEB</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5A7D6B"/>
                </a:solidFill>
                <a:latin typeface="Poppins"/>
                <a:ea typeface="Poppins"/>
                <a:cs typeface="Poppins"/>
                <a:sym typeface="Poppins"/>
              </a:endParaRPr>
            </a:p>
            <a:p>
              <a:pPr indent="0" lvl="0" marL="0" rtl="0" algn="ctr">
                <a:spcBef>
                  <a:spcPts val="750"/>
                </a:spcBef>
                <a:spcAft>
                  <a:spcPts val="0"/>
                </a:spcAft>
                <a:buNone/>
              </a:pPr>
              <a:r>
                <a:rPr b="1" lang="en" sz="900">
                  <a:solidFill>
                    <a:srgbClr val="5A7D6B"/>
                  </a:solidFill>
                  <a:latin typeface="Poppins"/>
                  <a:ea typeface="Poppins"/>
                  <a:cs typeface="Poppins"/>
                  <a:sym typeface="Poppins"/>
                </a:rPr>
                <a:t>FINALIZE</a:t>
              </a:r>
              <a:endParaRPr b="1" sz="900">
                <a:solidFill>
                  <a:srgbClr val="5A7D6B"/>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Tax &amp; spending calcs</a:t>
              </a:r>
              <a:endParaRPr b="0"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Finalize Budget</a:t>
              </a:r>
              <a:endParaRPr sz="800">
                <a:solidFill>
                  <a:srgbClr val="475569"/>
                </a:solidFill>
                <a:latin typeface="Poppins"/>
                <a:ea typeface="Poppins"/>
                <a:cs typeface="Poppins"/>
                <a:sym typeface="Poppins"/>
              </a:endParaRPr>
            </a:p>
            <a:p>
              <a:pPr indent="-279400" lvl="0" marL="457200" rtl="0" algn="l">
                <a:spcBef>
                  <a:spcPts val="45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Community engagement</a:t>
              </a:r>
              <a:endParaRPr sz="8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800">
                <a:solidFill>
                  <a:srgbClr val="475569"/>
                </a:solidFill>
                <a:latin typeface="Poppins"/>
                <a:ea typeface="Poppins"/>
                <a:cs typeface="Poppins"/>
                <a:sym typeface="Poppins"/>
              </a:endParaRPr>
            </a:p>
            <a:p>
              <a:pPr indent="-279400" lvl="0" marL="457200" rtl="0" algn="l">
                <a:spcBef>
                  <a:spcPts val="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Warn the budget</a:t>
              </a:r>
              <a:endParaRPr sz="8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800">
                <a:solidFill>
                  <a:srgbClr val="475569"/>
                </a:solidFill>
                <a:latin typeface="Poppins"/>
                <a:ea typeface="Poppins"/>
                <a:cs typeface="Poppins"/>
                <a:sym typeface="Poppins"/>
              </a:endParaRPr>
            </a:p>
            <a:p>
              <a:pPr indent="-279400" lvl="0" marL="457200" rtl="0" algn="l">
                <a:spcBef>
                  <a:spcPts val="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Voter materials</a:t>
              </a:r>
              <a:endParaRPr b="0" sz="800">
                <a:solidFill>
                  <a:srgbClr val="475569"/>
                </a:solidFill>
                <a:latin typeface="Poppins"/>
                <a:ea typeface="Poppins"/>
                <a:cs typeface="Poppins"/>
                <a:sym typeface="Poppins"/>
              </a:endParaRPr>
            </a:p>
          </p:txBody>
        </p:sp>
      </p:grpSp>
      <p:grpSp>
        <p:nvGrpSpPr>
          <p:cNvPr id="666" name="Google Shape;666;p37"/>
          <p:cNvGrpSpPr/>
          <p:nvPr/>
        </p:nvGrpSpPr>
        <p:grpSpPr>
          <a:xfrm>
            <a:off x="7477125" y="1238250"/>
            <a:ext cx="1285800" cy="2381400"/>
            <a:chOff x="0" y="0"/>
            <a:chExt cx="1285800" cy="2381400"/>
          </a:xfrm>
        </p:grpSpPr>
        <p:sp>
          <p:nvSpPr>
            <p:cNvPr id="667" name="Google Shape;667;p37"/>
            <p:cNvSpPr/>
            <p:nvPr/>
          </p:nvSpPr>
          <p:spPr>
            <a:xfrm>
              <a:off x="0" y="0"/>
              <a:ext cx="1285800" cy="23814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37"/>
            <p:cNvSpPr/>
            <p:nvPr/>
          </p:nvSpPr>
          <p:spPr>
            <a:xfrm>
              <a:off x="0" y="0"/>
              <a:ext cx="1285800" cy="342900"/>
            </a:xfrm>
            <a:prstGeom prst="roundRect">
              <a:avLst>
                <a:gd fmla="val 27777" name="adj"/>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37"/>
            <p:cNvSpPr/>
            <p:nvPr/>
          </p:nvSpPr>
          <p:spPr>
            <a:xfrm>
              <a:off x="0" y="247650"/>
              <a:ext cx="1285800" cy="95400"/>
            </a:xfrm>
            <a:prstGeom prst="rect">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37"/>
            <p:cNvSpPr txBox="1"/>
            <p:nvPr/>
          </p:nvSpPr>
          <p:spPr>
            <a:xfrm>
              <a:off x="0" y="0"/>
              <a:ext cx="1285800" cy="238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rPr b="1" lang="en" sz="950">
                  <a:solidFill>
                    <a:srgbClr val="FFFFFF"/>
                  </a:solidFill>
                  <a:latin typeface="Poppins"/>
                  <a:ea typeface="Poppins"/>
                  <a:cs typeface="Poppins"/>
                  <a:sym typeface="Poppins"/>
                </a:rPr>
                <a:t>MAR</a:t>
              </a:r>
              <a:endParaRPr b="1" sz="950">
                <a:solidFill>
                  <a:srgbClr val="FFFFFF"/>
                </a:solidFill>
                <a:latin typeface="Poppins"/>
                <a:ea typeface="Poppins"/>
                <a:cs typeface="Poppins"/>
                <a:sym typeface="Poppins"/>
              </a:endParaRPr>
            </a:p>
            <a:p>
              <a:pPr indent="0" lvl="0" marL="0" rtl="0" algn="ctr">
                <a:spcBef>
                  <a:spcPts val="0"/>
                </a:spcBef>
                <a:spcAft>
                  <a:spcPts val="0"/>
                </a:spcAft>
                <a:buNone/>
              </a:pPr>
              <a:r>
                <a:t/>
              </a:r>
              <a:endParaRPr b="1" sz="900">
                <a:solidFill>
                  <a:srgbClr val="44AA68"/>
                </a:solidFill>
                <a:latin typeface="Poppins"/>
                <a:ea typeface="Poppins"/>
                <a:cs typeface="Poppins"/>
                <a:sym typeface="Poppins"/>
              </a:endParaRPr>
            </a:p>
            <a:p>
              <a:pPr indent="0" lvl="0" marL="0" rtl="0" algn="ctr">
                <a:spcBef>
                  <a:spcPts val="750"/>
                </a:spcBef>
                <a:spcAft>
                  <a:spcPts val="0"/>
                </a:spcAft>
                <a:buNone/>
              </a:pPr>
              <a:r>
                <a:rPr b="1" lang="en" sz="900">
                  <a:solidFill>
                    <a:srgbClr val="44AA68"/>
                  </a:solidFill>
                  <a:latin typeface="Poppins"/>
                  <a:ea typeface="Poppins"/>
                  <a:cs typeface="Poppins"/>
                  <a:sym typeface="Poppins"/>
                </a:rPr>
                <a:t>VOTE</a:t>
              </a:r>
              <a:endParaRPr b="1" sz="900">
                <a:solidFill>
                  <a:srgbClr val="44AA68"/>
                </a:solidFill>
                <a:latin typeface="Poppins"/>
                <a:ea typeface="Poppins"/>
                <a:cs typeface="Poppins"/>
                <a:sym typeface="Poppins"/>
              </a:endParaRPr>
            </a:p>
            <a:p>
              <a:pPr indent="-279400" lvl="0" marL="457200" rtl="0" algn="l">
                <a:spcBef>
                  <a:spcPts val="750"/>
                </a:spcBef>
                <a:spcAft>
                  <a:spcPts val="0"/>
                </a:spcAft>
                <a:buClr>
                  <a:srgbClr val="475569"/>
                </a:buClr>
                <a:buSzPts val="800"/>
                <a:buFont typeface="Poppins"/>
                <a:buChar char="●"/>
              </a:pPr>
              <a:r>
                <a:rPr lang="en" sz="800">
                  <a:solidFill>
                    <a:srgbClr val="475569"/>
                  </a:solidFill>
                  <a:latin typeface="Poppins"/>
                  <a:ea typeface="Poppins"/>
                  <a:cs typeface="Poppins"/>
                  <a:sym typeface="Poppins"/>
                </a:rPr>
                <a:t>Annual meeting</a:t>
              </a:r>
              <a:endParaRPr b="0" sz="800">
                <a:solidFill>
                  <a:srgbClr val="475569"/>
                </a:solidFill>
                <a:latin typeface="Poppins"/>
                <a:ea typeface="Poppins"/>
                <a:cs typeface="Poppins"/>
                <a:sym typeface="Poppins"/>
              </a:endParaRPr>
            </a:p>
            <a:p>
              <a:pPr indent="-279400" lvl="0" marL="457200" rtl="0" algn="l">
                <a:spcBef>
                  <a:spcPts val="0"/>
                </a:spcBef>
                <a:spcAft>
                  <a:spcPts val="0"/>
                </a:spcAft>
                <a:buClr>
                  <a:srgbClr val="475569"/>
                </a:buClr>
                <a:buSzPts val="800"/>
                <a:buFont typeface="Poppins"/>
                <a:buChar char="●"/>
              </a:pPr>
              <a:r>
                <a:rPr b="0" lang="en" sz="800">
                  <a:solidFill>
                    <a:srgbClr val="475569"/>
                  </a:solidFill>
                  <a:latin typeface="Poppins"/>
                  <a:ea typeface="Poppins"/>
                  <a:cs typeface="Poppins"/>
                  <a:sym typeface="Poppins"/>
                </a:rPr>
                <a:t>Budget vote</a:t>
              </a:r>
              <a:endParaRPr b="0" sz="800">
                <a:solidFill>
                  <a:srgbClr val="475569"/>
                </a:solidFill>
                <a:latin typeface="Poppins"/>
                <a:ea typeface="Poppins"/>
                <a:cs typeface="Poppins"/>
                <a:sym typeface="Poppins"/>
              </a:endParaRPr>
            </a:p>
          </p:txBody>
        </p:sp>
      </p:grpSp>
      <p:grpSp>
        <p:nvGrpSpPr>
          <p:cNvPr id="671" name="Google Shape;671;p37"/>
          <p:cNvGrpSpPr/>
          <p:nvPr/>
        </p:nvGrpSpPr>
        <p:grpSpPr>
          <a:xfrm>
            <a:off x="381000" y="3857625"/>
            <a:ext cx="8382000" cy="495300"/>
            <a:chOff x="0" y="0"/>
            <a:chExt cx="8382000" cy="495300"/>
          </a:xfrm>
        </p:grpSpPr>
        <p:sp>
          <p:nvSpPr>
            <p:cNvPr id="672" name="Google Shape;672;p37"/>
            <p:cNvSpPr/>
            <p:nvPr/>
          </p:nvSpPr>
          <p:spPr>
            <a:xfrm>
              <a:off x="0" y="0"/>
              <a:ext cx="8382000" cy="495300"/>
            </a:xfrm>
            <a:prstGeom prst="roundRect">
              <a:avLst>
                <a:gd fmla="val 19230"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3" name="Google Shape;673;p37"/>
            <p:cNvSpPr txBox="1"/>
            <p:nvPr/>
          </p:nvSpPr>
          <p:spPr>
            <a:xfrm>
              <a:off x="0" y="0"/>
              <a:ext cx="83820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50">
                  <a:solidFill>
                    <a:srgbClr val="1B3859"/>
                  </a:solidFill>
                  <a:latin typeface="Poppins"/>
                  <a:ea typeface="Poppins"/>
                  <a:cs typeface="Poppins"/>
                  <a:sym typeface="Poppins"/>
                </a:rPr>
                <a:t>Throughout the process: </a:t>
              </a:r>
              <a:r>
                <a:rPr b="0" lang="en" sz="1050">
                  <a:solidFill>
                    <a:srgbClr val="475569"/>
                  </a:solidFill>
                  <a:latin typeface="Poppins"/>
                  <a:ea typeface="Poppins"/>
                  <a:cs typeface="Poppins"/>
                  <a:sym typeface="Poppins"/>
                </a:rPr>
                <a:t>update assumptions • test scenarios • identify impacts • communicate changes</a:t>
              </a:r>
              <a:endParaRPr b="1" sz="1050">
                <a:solidFill>
                  <a:srgbClr val="1B3859"/>
                </a:solidFill>
                <a:latin typeface="Poppins"/>
                <a:ea typeface="Poppins"/>
                <a:cs typeface="Poppins"/>
                <a:sym typeface="Poppin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7" name="Shape 677"/>
        <p:cNvGrpSpPr/>
        <p:nvPr/>
      </p:nvGrpSpPr>
      <p:grpSpPr>
        <a:xfrm>
          <a:off x="0" y="0"/>
          <a:ext cx="0" cy="0"/>
          <a:chOff x="0" y="0"/>
          <a:chExt cx="0" cy="0"/>
        </a:xfrm>
      </p:grpSpPr>
      <p:grpSp>
        <p:nvGrpSpPr>
          <p:cNvPr id="678" name="Google Shape;678;p38"/>
          <p:cNvGrpSpPr/>
          <p:nvPr/>
        </p:nvGrpSpPr>
        <p:grpSpPr>
          <a:xfrm>
            <a:off x="0" y="0"/>
            <a:ext cx="9144000" cy="533400"/>
            <a:chOff x="0" y="0"/>
            <a:chExt cx="9144000" cy="533400"/>
          </a:xfrm>
        </p:grpSpPr>
        <p:sp>
          <p:nvSpPr>
            <p:cNvPr id="679" name="Google Shape;679;p38"/>
            <p:cNvSpPr/>
            <p:nvPr/>
          </p:nvSpPr>
          <p:spPr>
            <a:xfrm>
              <a:off x="0" y="0"/>
              <a:ext cx="9144000" cy="5334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38"/>
            <p:cNvSpPr txBox="1"/>
            <p:nvPr/>
          </p:nvSpPr>
          <p:spPr>
            <a:xfrm>
              <a:off x="381000" y="0"/>
              <a:ext cx="83820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800">
                  <a:solidFill>
                    <a:srgbClr val="FFFFFF"/>
                  </a:solidFill>
                  <a:latin typeface="Poppins ExtraBold"/>
                  <a:ea typeface="Poppins ExtraBold"/>
                  <a:cs typeface="Poppins ExtraBold"/>
                  <a:sym typeface="Poppins ExtraBold"/>
                </a:rPr>
                <a:t>FY28 HUUSD Budget Development Timeline</a:t>
              </a:r>
              <a:r>
                <a:rPr lang="en">
                  <a:latin typeface="Poppins"/>
                  <a:ea typeface="Poppins"/>
                  <a:cs typeface="Poppins"/>
                  <a:sym typeface="Poppins"/>
                </a:rPr>
                <a:t> </a:t>
              </a:r>
              <a:r>
                <a:rPr b="0" lang="en" sz="900">
                  <a:solidFill>
                    <a:srgbClr val="94A3B8"/>
                  </a:solidFill>
                  <a:latin typeface="Poppins SemiBold"/>
                  <a:ea typeface="Poppins SemiBold"/>
                  <a:cs typeface="Poppins SemiBold"/>
                  <a:sym typeface="Poppins SemiBold"/>
                </a:rPr>
                <a:t>Process &amp; Milestones</a:t>
              </a:r>
              <a:endParaRPr>
                <a:latin typeface="Poppins"/>
                <a:ea typeface="Poppins"/>
                <a:cs typeface="Poppins"/>
                <a:sym typeface="Poppins"/>
              </a:endParaRPr>
            </a:p>
          </p:txBody>
        </p:sp>
      </p:grpSp>
      <p:grpSp>
        <p:nvGrpSpPr>
          <p:cNvPr id="681" name="Google Shape;681;p38"/>
          <p:cNvGrpSpPr/>
          <p:nvPr/>
        </p:nvGrpSpPr>
        <p:grpSpPr>
          <a:xfrm>
            <a:off x="381000" y="647700"/>
            <a:ext cx="1981200" cy="2019300"/>
            <a:chOff x="0" y="0"/>
            <a:chExt cx="1981200" cy="2019300"/>
          </a:xfrm>
        </p:grpSpPr>
        <p:sp>
          <p:nvSpPr>
            <p:cNvPr id="682" name="Google Shape;682;p38"/>
            <p:cNvSpPr/>
            <p:nvPr/>
          </p:nvSpPr>
          <p:spPr>
            <a:xfrm>
              <a:off x="0" y="0"/>
              <a:ext cx="1981200" cy="20193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SEPTEMBER 2026</a:t>
              </a:r>
              <a:endParaRPr b="1" sz="900">
                <a:solidFill>
                  <a:srgbClr val="FFFFFF"/>
                </a:solidFill>
                <a:latin typeface="Poppins"/>
                <a:ea typeface="Poppins"/>
                <a:cs typeface="Poppins"/>
                <a:sym typeface="Poppins"/>
              </a:endParaRPr>
            </a:p>
          </p:txBody>
        </p:sp>
        <p:sp>
          <p:nvSpPr>
            <p:cNvPr id="685" name="Google Shape;685;p38"/>
            <p:cNvSpPr txBox="1"/>
            <p:nvPr/>
          </p:nvSpPr>
          <p:spPr>
            <a:xfrm>
              <a:off x="114300" y="342900"/>
              <a:ext cx="1752600" cy="16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0284C7"/>
                  </a:solidFill>
                  <a:latin typeface="Poppins"/>
                  <a:ea typeface="Poppins"/>
                  <a:cs typeface="Poppins"/>
                  <a:sym typeface="Poppins"/>
                </a:rPr>
                <a:t>Sep 23 School Board Meeting</a:t>
              </a:r>
              <a:endParaRPr b="1" sz="750">
                <a:solidFill>
                  <a:srgbClr val="0284C7"/>
                </a:solidFill>
                <a:latin typeface="Poppins"/>
                <a:ea typeface="Poppins"/>
                <a:cs typeface="Poppins"/>
                <a:sym typeface="Poppins"/>
              </a:endParaRPr>
            </a:p>
            <a:p>
              <a:pPr indent="-276225" lvl="0" marL="457200" rtl="0" algn="l">
                <a:spcBef>
                  <a:spcPts val="225"/>
                </a:spcBef>
                <a:spcAft>
                  <a:spcPts val="0"/>
                </a:spcAft>
                <a:buClr>
                  <a:srgbClr val="475569"/>
                </a:buClr>
                <a:buSzPts val="750"/>
                <a:buFont typeface="Poppins"/>
                <a:buChar char="●"/>
              </a:pPr>
              <a:r>
                <a:rPr lang="en" sz="750">
                  <a:solidFill>
                    <a:srgbClr val="475569"/>
                  </a:solidFill>
                  <a:latin typeface="Poppins"/>
                  <a:ea typeface="Poppins"/>
                  <a:cs typeface="Poppins"/>
                  <a:sym typeface="Poppins"/>
                </a:rPr>
                <a:t>Overview of education finance &amp; budget development</a:t>
              </a:r>
              <a:endParaRPr sz="750">
                <a:solidFill>
                  <a:srgbClr val="475569"/>
                </a:solidFill>
                <a:latin typeface="Poppins"/>
                <a:ea typeface="Poppins"/>
                <a:cs typeface="Poppins"/>
                <a:sym typeface="Poppins"/>
              </a:endParaRPr>
            </a:p>
            <a:p>
              <a:pPr indent="-276225" lvl="0" marL="457200" rtl="0" algn="l">
                <a:spcBef>
                  <a:spcPts val="150"/>
                </a:spcBef>
                <a:spcAft>
                  <a:spcPts val="0"/>
                </a:spcAft>
                <a:buClr>
                  <a:srgbClr val="475569"/>
                </a:buClr>
                <a:buSzPts val="750"/>
                <a:buFont typeface="Poppins"/>
                <a:buChar char="●"/>
              </a:pPr>
              <a:r>
                <a:rPr lang="en" sz="750">
                  <a:solidFill>
                    <a:srgbClr val="475569"/>
                  </a:solidFill>
                  <a:latin typeface="Poppins"/>
                  <a:ea typeface="Poppins"/>
                  <a:cs typeface="Poppins"/>
                  <a:sym typeface="Poppins"/>
                </a:rPr>
                <a:t>Preliminary FY28 projections</a:t>
              </a:r>
              <a:endParaRPr sz="750">
                <a:solidFill>
                  <a:srgbClr val="475569"/>
                </a:solidFill>
                <a:latin typeface="Poppins"/>
                <a:ea typeface="Poppins"/>
                <a:cs typeface="Poppins"/>
                <a:sym typeface="Poppins"/>
              </a:endParaRPr>
            </a:p>
            <a:p>
              <a:pPr indent="-276225" lvl="0" marL="457200" rtl="0" algn="l">
                <a:spcBef>
                  <a:spcPts val="150"/>
                </a:spcBef>
                <a:spcAft>
                  <a:spcPts val="0"/>
                </a:spcAft>
                <a:buClr>
                  <a:srgbClr val="475569"/>
                </a:buClr>
                <a:buSzPts val="750"/>
                <a:buFont typeface="Poppins"/>
                <a:buChar char="●"/>
              </a:pPr>
              <a:r>
                <a:rPr lang="en" sz="750">
                  <a:solidFill>
                    <a:srgbClr val="475569"/>
                  </a:solidFill>
                  <a:latin typeface="Poppins"/>
                  <a:ea typeface="Poppins"/>
                  <a:cs typeface="Poppins"/>
                  <a:sym typeface="Poppins"/>
                </a:rPr>
                <a:t>Board direction &amp; targets</a:t>
              </a:r>
              <a:endParaRPr sz="750">
                <a:solidFill>
                  <a:srgbClr val="475569"/>
                </a:solidFill>
                <a:latin typeface="Poppins"/>
                <a:ea typeface="Poppins"/>
                <a:cs typeface="Poppins"/>
                <a:sym typeface="Poppins"/>
              </a:endParaRPr>
            </a:p>
          </p:txBody>
        </p:sp>
      </p:grpSp>
      <p:grpSp>
        <p:nvGrpSpPr>
          <p:cNvPr id="686" name="Google Shape;686;p38"/>
          <p:cNvGrpSpPr/>
          <p:nvPr/>
        </p:nvGrpSpPr>
        <p:grpSpPr>
          <a:xfrm>
            <a:off x="2514600" y="647700"/>
            <a:ext cx="1981200" cy="2019300"/>
            <a:chOff x="0" y="0"/>
            <a:chExt cx="1981200" cy="2019300"/>
          </a:xfrm>
        </p:grpSpPr>
        <p:sp>
          <p:nvSpPr>
            <p:cNvPr id="687" name="Google Shape;687;p38"/>
            <p:cNvSpPr/>
            <p:nvPr/>
          </p:nvSpPr>
          <p:spPr>
            <a:xfrm>
              <a:off x="0" y="0"/>
              <a:ext cx="1981200" cy="20193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OCTOBER 2026</a:t>
              </a:r>
              <a:endParaRPr b="1" sz="900">
                <a:solidFill>
                  <a:srgbClr val="FFFFFF"/>
                </a:solidFill>
                <a:latin typeface="Poppins"/>
                <a:ea typeface="Poppins"/>
                <a:cs typeface="Poppins"/>
                <a:sym typeface="Poppins"/>
              </a:endParaRPr>
            </a:p>
          </p:txBody>
        </p:sp>
        <p:sp>
          <p:nvSpPr>
            <p:cNvPr id="690" name="Google Shape;690;p38"/>
            <p:cNvSpPr txBox="1"/>
            <p:nvPr/>
          </p:nvSpPr>
          <p:spPr>
            <a:xfrm>
              <a:off x="114300" y="342900"/>
              <a:ext cx="1752600" cy="16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0EA5E9"/>
                  </a:solidFill>
                  <a:latin typeface="Poppins"/>
                  <a:ea typeface="Poppins"/>
                  <a:cs typeface="Poppins"/>
                  <a:sym typeface="Poppins"/>
                </a:rPr>
                <a:t>Oct 14 Board Meeting</a:t>
              </a:r>
              <a:endParaRPr b="1" sz="750">
                <a:solidFill>
                  <a:srgbClr val="0EA5E9"/>
                </a:solidFill>
                <a:latin typeface="Poppins"/>
                <a:ea typeface="Poppins"/>
                <a:cs typeface="Poppins"/>
                <a:sym typeface="Poppins"/>
              </a:endParaRPr>
            </a:p>
            <a:p>
              <a:pPr indent="0" lvl="0" marL="95250" marR="0" rtl="0" algn="l">
                <a:spcBef>
                  <a:spcPts val="150"/>
                </a:spcBef>
                <a:spcAft>
                  <a:spcPts val="0"/>
                </a:spcAft>
                <a:buNone/>
              </a:pPr>
              <a:r>
                <a:rPr lang="en" sz="700">
                  <a:solidFill>
                    <a:srgbClr val="475569"/>
                  </a:solidFill>
                  <a:latin typeface="Poppins"/>
                  <a:ea typeface="Poppins"/>
                  <a:cs typeface="Poppins"/>
                  <a:sym typeface="Poppins"/>
                </a:rPr>
                <a:t>FY28 projections &amp; impacts</a:t>
              </a:r>
              <a:endParaRPr sz="700">
                <a:solidFill>
                  <a:srgbClr val="475569"/>
                </a:solidFill>
                <a:latin typeface="Poppins"/>
                <a:ea typeface="Poppins"/>
                <a:cs typeface="Poppins"/>
                <a:sym typeface="Poppins"/>
              </a:endParaRPr>
            </a:p>
            <a:p>
              <a:pPr indent="0" lvl="0" marL="0" rtl="0" algn="l">
                <a:spcBef>
                  <a:spcPts val="375"/>
                </a:spcBef>
                <a:spcAft>
                  <a:spcPts val="0"/>
                </a:spcAft>
                <a:buNone/>
              </a:pPr>
              <a:r>
                <a:rPr b="1" lang="en" sz="750">
                  <a:solidFill>
                    <a:srgbClr val="0EA5E9"/>
                  </a:solidFill>
                  <a:latin typeface="Poppins"/>
                  <a:ea typeface="Poppins"/>
                  <a:cs typeface="Poppins"/>
                  <a:sym typeface="Poppins"/>
                </a:rPr>
                <a:t>Oct 28 Board Meeting</a:t>
              </a:r>
              <a:endParaRPr b="1" sz="750">
                <a:solidFill>
                  <a:srgbClr val="0EA5E9"/>
                </a:solidFill>
                <a:latin typeface="Poppins"/>
                <a:ea typeface="Poppins"/>
                <a:cs typeface="Poppins"/>
                <a:sym typeface="Poppins"/>
              </a:endParaRPr>
            </a:p>
            <a:p>
              <a:pPr indent="0" lvl="0" marL="95250" marR="0" rtl="0" algn="l">
                <a:spcBef>
                  <a:spcPts val="150"/>
                </a:spcBef>
                <a:spcAft>
                  <a:spcPts val="0"/>
                </a:spcAft>
                <a:buNone/>
              </a:pPr>
              <a:r>
                <a:rPr lang="en" sz="700">
                  <a:solidFill>
                    <a:srgbClr val="475569"/>
                  </a:solidFill>
                  <a:latin typeface="Poppins"/>
                  <a:ea typeface="Poppins"/>
                  <a:cs typeface="Poppins"/>
                  <a:sym typeface="Poppins"/>
                </a:rPr>
                <a:t>Targets, scenarios, enrollment</a:t>
              </a:r>
              <a:endParaRPr sz="700">
                <a:solidFill>
                  <a:srgbClr val="475569"/>
                </a:solidFill>
                <a:latin typeface="Poppins"/>
                <a:ea typeface="Poppins"/>
                <a:cs typeface="Poppins"/>
                <a:sym typeface="Poppins"/>
              </a:endParaRPr>
            </a:p>
            <a:p>
              <a:pPr indent="0" lvl="0" marL="0" rtl="0" algn="l">
                <a:spcBef>
                  <a:spcPts val="375"/>
                </a:spcBef>
                <a:spcAft>
                  <a:spcPts val="0"/>
                </a:spcAft>
                <a:buNone/>
              </a:pPr>
              <a:r>
                <a:rPr b="1" lang="en" sz="750">
                  <a:solidFill>
                    <a:srgbClr val="0F172A"/>
                  </a:solidFill>
                  <a:latin typeface="Poppins"/>
                  <a:ea typeface="Poppins"/>
                  <a:cs typeface="Poppins"/>
                  <a:sym typeface="Poppins"/>
                </a:rPr>
                <a:t>Oct 30 Feasibility Proposals</a:t>
              </a:r>
              <a:endParaRPr b="1" sz="750">
                <a:solidFill>
                  <a:srgbClr val="0F172A"/>
                </a:solidFill>
                <a:latin typeface="Poppins"/>
                <a:ea typeface="Poppins"/>
                <a:cs typeface="Poppins"/>
                <a:sym typeface="Poppins"/>
              </a:endParaRPr>
            </a:p>
            <a:p>
              <a:pPr indent="0" lvl="0" marL="95250" marR="0" rtl="0" algn="l">
                <a:spcBef>
                  <a:spcPts val="0"/>
                </a:spcBef>
                <a:spcAft>
                  <a:spcPts val="0"/>
                </a:spcAft>
                <a:buNone/>
              </a:pPr>
              <a:r>
                <a:rPr lang="en" sz="700">
                  <a:solidFill>
                    <a:srgbClr val="475569"/>
                  </a:solidFill>
                  <a:latin typeface="Poppins"/>
                  <a:ea typeface="Poppins"/>
                  <a:cs typeface="Poppins"/>
                  <a:sym typeface="Poppins"/>
                </a:rPr>
                <a:t>Proposals due</a:t>
              </a:r>
              <a:endParaRPr sz="700">
                <a:solidFill>
                  <a:srgbClr val="475569"/>
                </a:solidFill>
                <a:latin typeface="Poppins"/>
                <a:ea typeface="Poppins"/>
                <a:cs typeface="Poppins"/>
                <a:sym typeface="Poppins"/>
              </a:endParaRPr>
            </a:p>
          </p:txBody>
        </p:sp>
      </p:grpSp>
      <p:grpSp>
        <p:nvGrpSpPr>
          <p:cNvPr id="691" name="Google Shape;691;p38"/>
          <p:cNvGrpSpPr/>
          <p:nvPr/>
        </p:nvGrpSpPr>
        <p:grpSpPr>
          <a:xfrm>
            <a:off x="4648200" y="647700"/>
            <a:ext cx="1981200" cy="2019300"/>
            <a:chOff x="0" y="0"/>
            <a:chExt cx="1981200" cy="2019300"/>
          </a:xfrm>
        </p:grpSpPr>
        <p:sp>
          <p:nvSpPr>
            <p:cNvPr id="692" name="Google Shape;692;p38"/>
            <p:cNvSpPr/>
            <p:nvPr/>
          </p:nvSpPr>
          <p:spPr>
            <a:xfrm>
              <a:off x="0" y="0"/>
              <a:ext cx="1981200" cy="20193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6366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4" name="Google Shape;694;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NOVEMBER 2026</a:t>
              </a:r>
              <a:endParaRPr b="1" sz="900">
                <a:solidFill>
                  <a:srgbClr val="FFFFFF"/>
                </a:solidFill>
                <a:latin typeface="Poppins"/>
                <a:ea typeface="Poppins"/>
                <a:cs typeface="Poppins"/>
                <a:sym typeface="Poppins"/>
              </a:endParaRPr>
            </a:p>
          </p:txBody>
        </p:sp>
        <p:sp>
          <p:nvSpPr>
            <p:cNvPr id="695" name="Google Shape;695;p38"/>
            <p:cNvSpPr txBox="1"/>
            <p:nvPr/>
          </p:nvSpPr>
          <p:spPr>
            <a:xfrm>
              <a:off x="114300" y="342900"/>
              <a:ext cx="1752600" cy="16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
                  <a:solidFill>
                    <a:srgbClr val="6366F1"/>
                  </a:solidFill>
                  <a:latin typeface="Poppins"/>
                  <a:ea typeface="Poppins"/>
                  <a:cs typeface="Poppins"/>
                  <a:sym typeface="Poppins"/>
                </a:rPr>
                <a:t>Nov 4 Board Mtg:</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Finalize Board direction </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Wk of Nov 9:</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RFP Interviews</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6366F1"/>
                  </a:solidFill>
                  <a:latin typeface="Poppins"/>
                  <a:ea typeface="Poppins"/>
                  <a:cs typeface="Poppins"/>
                  <a:sym typeface="Poppins"/>
                </a:rPr>
                <a:t>Nov 18 Board Mtg:</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1st review FY28 expenditures</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Nov 20:</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VEHI health estimate rates </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Late Nov:</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Selection of RFP firms</a:t>
              </a:r>
              <a:endParaRPr sz="720">
                <a:solidFill>
                  <a:srgbClr val="334155"/>
                </a:solidFill>
                <a:latin typeface="Poppins"/>
                <a:ea typeface="Poppins"/>
                <a:cs typeface="Poppins"/>
                <a:sym typeface="Poppins"/>
              </a:endParaRPr>
            </a:p>
          </p:txBody>
        </p:sp>
      </p:grpSp>
      <p:grpSp>
        <p:nvGrpSpPr>
          <p:cNvPr id="696" name="Google Shape;696;p38"/>
          <p:cNvGrpSpPr/>
          <p:nvPr/>
        </p:nvGrpSpPr>
        <p:grpSpPr>
          <a:xfrm>
            <a:off x="6781800" y="647700"/>
            <a:ext cx="1981200" cy="2019300"/>
            <a:chOff x="0" y="0"/>
            <a:chExt cx="1981200" cy="2019300"/>
          </a:xfrm>
        </p:grpSpPr>
        <p:sp>
          <p:nvSpPr>
            <p:cNvPr id="697" name="Google Shape;697;p38"/>
            <p:cNvSpPr/>
            <p:nvPr/>
          </p:nvSpPr>
          <p:spPr>
            <a:xfrm>
              <a:off x="0" y="0"/>
              <a:ext cx="1981200" cy="20193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DECEMBER 2026</a:t>
              </a:r>
              <a:endParaRPr b="1" sz="900">
                <a:solidFill>
                  <a:srgbClr val="FFFFFF"/>
                </a:solidFill>
                <a:latin typeface="Poppins"/>
                <a:ea typeface="Poppins"/>
                <a:cs typeface="Poppins"/>
                <a:sym typeface="Poppins"/>
              </a:endParaRPr>
            </a:p>
          </p:txBody>
        </p:sp>
        <p:sp>
          <p:nvSpPr>
            <p:cNvPr id="700" name="Google Shape;700;p38"/>
            <p:cNvSpPr txBox="1"/>
            <p:nvPr/>
          </p:nvSpPr>
          <p:spPr>
            <a:xfrm>
              <a:off x="114300" y="342900"/>
              <a:ext cx="1752600" cy="16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
                  <a:solidFill>
                    <a:srgbClr val="D97706"/>
                  </a:solidFill>
                  <a:latin typeface="Poppins"/>
                  <a:ea typeface="Poppins"/>
                  <a:cs typeface="Poppins"/>
                  <a:sym typeface="Poppins"/>
                </a:rPr>
                <a:t>Dec 1:</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VT Tax Comm. letter</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Dec (est):</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Rates &amp; inflation index</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D97706"/>
                  </a:solidFill>
                  <a:latin typeface="Poppins"/>
                  <a:ea typeface="Poppins"/>
                  <a:cs typeface="Poppins"/>
                  <a:sym typeface="Poppins"/>
                </a:rPr>
                <a:t>Dec 2 Board Mtg:</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2nd review expenditures &amp; revenues</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D97706"/>
                  </a:solidFill>
                  <a:latin typeface="Poppins"/>
                  <a:ea typeface="Poppins"/>
                  <a:cs typeface="Poppins"/>
                  <a:sym typeface="Poppins"/>
                </a:rPr>
                <a:t>Dec 16 Board Mtg:</a:t>
              </a:r>
              <a:r>
                <a:rPr lang="en" sz="720">
                  <a:solidFill>
                    <a:srgbClr val="334155"/>
                  </a:solidFill>
                  <a:latin typeface="Poppins"/>
                  <a:ea typeface="Poppins"/>
                  <a:cs typeface="Poppins"/>
                  <a:sym typeface="Poppins"/>
                </a:rPr>
                <a:t> 3rd review of budget </a:t>
              </a:r>
              <a:endParaRPr sz="720">
                <a:solidFill>
                  <a:srgbClr val="475569"/>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Late Dec:</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RFP Notice to proceed</a:t>
              </a:r>
              <a:endParaRPr sz="720">
                <a:solidFill>
                  <a:srgbClr val="475569"/>
                </a:solidFill>
                <a:latin typeface="Poppins"/>
                <a:ea typeface="Poppins"/>
                <a:cs typeface="Poppins"/>
                <a:sym typeface="Poppins"/>
              </a:endParaRPr>
            </a:p>
            <a:p>
              <a:pPr indent="0" lvl="0" marL="0" rtl="0" algn="l">
                <a:spcBef>
                  <a:spcPts val="225"/>
                </a:spcBef>
                <a:spcAft>
                  <a:spcPts val="0"/>
                </a:spcAft>
                <a:buNone/>
              </a:pPr>
              <a:r>
                <a:rPr b="1" lang="en" sz="720">
                  <a:solidFill>
                    <a:srgbClr val="475569"/>
                  </a:solidFill>
                  <a:latin typeface="Poppins"/>
                  <a:ea typeface="Poppins"/>
                  <a:cs typeface="Poppins"/>
                  <a:sym typeface="Poppins"/>
                </a:rPr>
                <a:t>After Dec. 21: </a:t>
              </a:r>
              <a:r>
                <a:rPr lang="en" sz="720">
                  <a:solidFill>
                    <a:srgbClr val="475569"/>
                  </a:solidFill>
                  <a:latin typeface="Poppins"/>
                  <a:ea typeface="Poppins"/>
                  <a:cs typeface="Poppins"/>
                  <a:sym typeface="Poppins"/>
                </a:rPr>
                <a:t>Spec Ed &amp; Transp rev.</a:t>
              </a:r>
              <a:endParaRPr sz="720">
                <a:solidFill>
                  <a:srgbClr val="475569"/>
                </a:solidFill>
                <a:latin typeface="Poppins"/>
                <a:ea typeface="Poppins"/>
                <a:cs typeface="Poppins"/>
                <a:sym typeface="Poppins"/>
              </a:endParaRPr>
            </a:p>
          </p:txBody>
        </p:sp>
      </p:grpSp>
      <p:grpSp>
        <p:nvGrpSpPr>
          <p:cNvPr id="701" name="Google Shape;701;p38"/>
          <p:cNvGrpSpPr/>
          <p:nvPr/>
        </p:nvGrpSpPr>
        <p:grpSpPr>
          <a:xfrm>
            <a:off x="381000" y="2762250"/>
            <a:ext cx="1981200" cy="1981200"/>
            <a:chOff x="0" y="0"/>
            <a:chExt cx="1981200" cy="1981200"/>
          </a:xfrm>
        </p:grpSpPr>
        <p:sp>
          <p:nvSpPr>
            <p:cNvPr id="702" name="Google Shape;702;p38"/>
            <p:cNvSpPr/>
            <p:nvPr/>
          </p:nvSpPr>
          <p:spPr>
            <a:xfrm>
              <a:off x="0" y="0"/>
              <a:ext cx="1981200" cy="19812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JANUARY 2027</a:t>
              </a:r>
              <a:endParaRPr b="1" sz="900">
                <a:solidFill>
                  <a:srgbClr val="FFFFFF"/>
                </a:solidFill>
                <a:latin typeface="Poppins"/>
                <a:ea typeface="Poppins"/>
                <a:cs typeface="Poppins"/>
                <a:sym typeface="Poppins"/>
              </a:endParaRPr>
            </a:p>
          </p:txBody>
        </p:sp>
        <p:sp>
          <p:nvSpPr>
            <p:cNvPr id="705" name="Google Shape;705;p38"/>
            <p:cNvSpPr txBox="1"/>
            <p:nvPr/>
          </p:nvSpPr>
          <p:spPr>
            <a:xfrm>
              <a:off x="114300" y="342900"/>
              <a:ext cx="1752600" cy="1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
                  <a:solidFill>
                    <a:srgbClr val="1E293B"/>
                  </a:solidFill>
                  <a:latin typeface="Poppins"/>
                  <a:ea typeface="Poppins"/>
                  <a:cs typeface="Poppins"/>
                  <a:sym typeface="Poppins"/>
                </a:rPr>
                <a:t>Early Jan:</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LTWADMS shared</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2563EB"/>
                  </a:solidFill>
                  <a:latin typeface="Poppins"/>
                  <a:ea typeface="Poppins"/>
                  <a:cs typeface="Poppins"/>
                  <a:sym typeface="Poppins"/>
                </a:rPr>
                <a:t>Jan 6 Board Mtg:</a:t>
              </a:r>
              <a:r>
                <a:rPr lang="en" sz="720">
                  <a:solidFill>
                    <a:srgbClr val="334155"/>
                  </a:solidFill>
                  <a:latin typeface="Poppins"/>
                  <a:ea typeface="Poppins"/>
                  <a:cs typeface="Poppins"/>
                  <a:sym typeface="Poppins"/>
                </a:rPr>
                <a:t> Budget Recap, </a:t>
              </a:r>
              <a:r>
                <a:rPr lang="en" sz="720">
                  <a:solidFill>
                    <a:srgbClr val="475569"/>
                  </a:solidFill>
                  <a:latin typeface="Poppins"/>
                  <a:ea typeface="Poppins"/>
                  <a:cs typeface="Poppins"/>
                  <a:sym typeface="Poppins"/>
                </a:rPr>
                <a:t>CLA &amp; VEHI rate</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2563EB"/>
                  </a:solidFill>
                  <a:latin typeface="Poppins"/>
                  <a:ea typeface="Poppins"/>
                  <a:cs typeface="Poppins"/>
                  <a:sym typeface="Poppins"/>
                </a:rPr>
                <a:t>Jan 13 Board Mtg:</a:t>
              </a:r>
              <a:r>
                <a:rPr lang="en" sz="720">
                  <a:solidFill>
                    <a:srgbClr val="334155"/>
                  </a:solidFill>
                  <a:latin typeface="Poppins"/>
                  <a:ea typeface="Poppins"/>
                  <a:cs typeface="Poppins"/>
                  <a:sym typeface="Poppins"/>
                </a:rPr>
                <a:t> Calculation of Ed Spending and estimate of town tax rates, Finalize budget, approve </a:t>
              </a:r>
              <a:r>
                <a:rPr lang="en" sz="720">
                  <a:solidFill>
                    <a:srgbClr val="475569"/>
                  </a:solidFill>
                  <a:latin typeface="Poppins"/>
                  <a:ea typeface="Poppins"/>
                  <a:cs typeface="Poppins"/>
                  <a:sym typeface="Poppins"/>
                </a:rPr>
                <a:t>Tuition, approve warning &amp; articles</a:t>
              </a:r>
              <a:endParaRPr sz="720">
                <a:solidFill>
                  <a:srgbClr val="334155"/>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Jan 20:</a:t>
              </a:r>
              <a:r>
                <a:rPr lang="en" sz="720">
                  <a:solidFill>
                    <a:srgbClr val="334155"/>
                  </a:solidFill>
                  <a:latin typeface="Poppins"/>
                  <a:ea typeface="Poppins"/>
                  <a:cs typeface="Poppins"/>
                  <a:sym typeface="Poppins"/>
                </a:rPr>
                <a:t> </a:t>
              </a:r>
              <a:r>
                <a:rPr lang="en" sz="720">
                  <a:solidFill>
                    <a:srgbClr val="475569"/>
                  </a:solidFill>
                  <a:latin typeface="Poppins"/>
                  <a:ea typeface="Poppins"/>
                  <a:cs typeface="Poppins"/>
                  <a:sym typeface="Poppins"/>
                </a:rPr>
                <a:t>Extra mtg if needed</a:t>
              </a:r>
              <a:endParaRPr sz="720">
                <a:solidFill>
                  <a:srgbClr val="334155"/>
                </a:solidFill>
                <a:latin typeface="Poppins"/>
                <a:ea typeface="Poppins"/>
                <a:cs typeface="Poppins"/>
                <a:sym typeface="Poppins"/>
              </a:endParaRPr>
            </a:p>
          </p:txBody>
        </p:sp>
      </p:grpSp>
      <p:grpSp>
        <p:nvGrpSpPr>
          <p:cNvPr id="706" name="Google Shape;706;p38"/>
          <p:cNvGrpSpPr/>
          <p:nvPr/>
        </p:nvGrpSpPr>
        <p:grpSpPr>
          <a:xfrm>
            <a:off x="2514600" y="2762250"/>
            <a:ext cx="1981200" cy="1981200"/>
            <a:chOff x="0" y="0"/>
            <a:chExt cx="1981200" cy="1981200"/>
          </a:xfrm>
        </p:grpSpPr>
        <p:sp>
          <p:nvSpPr>
            <p:cNvPr id="707" name="Google Shape;707;p38"/>
            <p:cNvSpPr/>
            <p:nvPr/>
          </p:nvSpPr>
          <p:spPr>
            <a:xfrm>
              <a:off x="0" y="0"/>
              <a:ext cx="1981200" cy="19812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8" name="Google Shape;708;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9" name="Google Shape;709;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FEBRUARY 2027</a:t>
              </a:r>
              <a:endParaRPr b="1" sz="900">
                <a:solidFill>
                  <a:srgbClr val="FFFFFF"/>
                </a:solidFill>
                <a:latin typeface="Poppins"/>
                <a:ea typeface="Poppins"/>
                <a:cs typeface="Poppins"/>
                <a:sym typeface="Poppins"/>
              </a:endParaRPr>
            </a:p>
          </p:txBody>
        </p:sp>
        <p:sp>
          <p:nvSpPr>
            <p:cNvPr id="710" name="Google Shape;710;p38"/>
            <p:cNvSpPr txBox="1"/>
            <p:nvPr/>
          </p:nvSpPr>
          <p:spPr>
            <a:xfrm>
              <a:off x="114300" y="342900"/>
              <a:ext cx="1752600" cy="1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
                  <a:solidFill>
                    <a:srgbClr val="059669"/>
                  </a:solidFill>
                  <a:latin typeface="Poppins"/>
                  <a:ea typeface="Poppins"/>
                  <a:cs typeface="Poppins"/>
                  <a:sym typeface="Poppins"/>
                </a:rPr>
                <a:t>Feb Admin Report</a:t>
              </a:r>
              <a:endParaRPr b="1" sz="720">
                <a:solidFill>
                  <a:srgbClr val="059669"/>
                </a:solidFill>
                <a:latin typeface="Poppins"/>
                <a:ea typeface="Poppins"/>
                <a:cs typeface="Poppins"/>
                <a:sym typeface="Poppins"/>
              </a:endParaRPr>
            </a:p>
            <a:p>
              <a:pPr indent="0" lvl="0" marL="95250" marR="0" rtl="0" algn="l">
                <a:spcBef>
                  <a:spcPts val="150"/>
                </a:spcBef>
                <a:spcAft>
                  <a:spcPts val="0"/>
                </a:spcAft>
                <a:buNone/>
              </a:pPr>
              <a:r>
                <a:rPr lang="en" sz="700">
                  <a:solidFill>
                    <a:srgbClr val="475569"/>
                  </a:solidFill>
                  <a:latin typeface="Poppins"/>
                  <a:ea typeface="Poppins"/>
                  <a:cs typeface="Poppins"/>
                  <a:sym typeface="Poppins"/>
                </a:rPr>
                <a:t>FY26 Annual Report + Proposed FY28 Budget</a:t>
              </a:r>
              <a:endParaRPr sz="700">
                <a:solidFill>
                  <a:srgbClr val="475569"/>
                </a:solidFill>
                <a:latin typeface="Poppins"/>
                <a:ea typeface="Poppins"/>
                <a:cs typeface="Poppins"/>
                <a:sym typeface="Poppins"/>
              </a:endParaRPr>
            </a:p>
            <a:p>
              <a:pPr indent="0" lvl="0" marL="0" rtl="0" algn="l">
                <a:spcBef>
                  <a:spcPts val="300"/>
                </a:spcBef>
                <a:spcAft>
                  <a:spcPts val="0"/>
                </a:spcAft>
                <a:buNone/>
              </a:pPr>
              <a:r>
                <a:rPr b="1" lang="en" sz="720">
                  <a:solidFill>
                    <a:srgbClr val="059669"/>
                  </a:solidFill>
                  <a:latin typeface="Poppins"/>
                  <a:ea typeface="Poppins"/>
                  <a:cs typeface="Poppins"/>
                  <a:sym typeface="Poppins"/>
                </a:rPr>
                <a:t>Feb 3 Board Meeting</a:t>
              </a:r>
              <a:endParaRPr b="1" sz="720">
                <a:solidFill>
                  <a:srgbClr val="059669"/>
                </a:solidFill>
                <a:latin typeface="Poppins"/>
                <a:ea typeface="Poppins"/>
                <a:cs typeface="Poppins"/>
                <a:sym typeface="Poppins"/>
              </a:endParaRPr>
            </a:p>
            <a:p>
              <a:pPr indent="0" lvl="0" marL="0" rtl="0" algn="l">
                <a:spcBef>
                  <a:spcPts val="225"/>
                </a:spcBef>
                <a:spcAft>
                  <a:spcPts val="0"/>
                </a:spcAft>
                <a:buNone/>
              </a:pPr>
              <a:r>
                <a:rPr b="1" lang="en" sz="720">
                  <a:solidFill>
                    <a:srgbClr val="059669"/>
                  </a:solidFill>
                  <a:latin typeface="Poppins"/>
                  <a:ea typeface="Poppins"/>
                  <a:cs typeface="Poppins"/>
                  <a:sym typeface="Poppins"/>
                </a:rPr>
                <a:t>Feb 17 Board Meeting</a:t>
              </a:r>
              <a:endParaRPr b="1" sz="720">
                <a:solidFill>
                  <a:srgbClr val="059669"/>
                </a:solidFill>
                <a:latin typeface="Poppins"/>
                <a:ea typeface="Poppins"/>
                <a:cs typeface="Poppins"/>
                <a:sym typeface="Poppins"/>
              </a:endParaRPr>
            </a:p>
            <a:p>
              <a:pPr indent="0" lvl="0" marL="0" rtl="0" algn="l">
                <a:spcBef>
                  <a:spcPts val="225"/>
                </a:spcBef>
                <a:spcAft>
                  <a:spcPts val="0"/>
                </a:spcAft>
                <a:buNone/>
              </a:pPr>
              <a:r>
                <a:rPr b="1" lang="en" sz="720">
                  <a:solidFill>
                    <a:srgbClr val="1E293B"/>
                  </a:solidFill>
                  <a:latin typeface="Poppins"/>
                  <a:ea typeface="Poppins"/>
                  <a:cs typeface="Poppins"/>
                  <a:sym typeface="Poppins"/>
                </a:rPr>
                <a:t>Early Spring</a:t>
              </a:r>
              <a:endParaRPr b="1" sz="720">
                <a:solidFill>
                  <a:srgbClr val="1E293B"/>
                </a:solidFill>
                <a:latin typeface="Poppins"/>
                <a:ea typeface="Poppins"/>
                <a:cs typeface="Poppins"/>
                <a:sym typeface="Poppins"/>
              </a:endParaRPr>
            </a:p>
            <a:p>
              <a:pPr indent="0" lvl="0" marL="95250" marR="0" rtl="0" algn="l">
                <a:spcBef>
                  <a:spcPts val="150"/>
                </a:spcBef>
                <a:spcAft>
                  <a:spcPts val="0"/>
                </a:spcAft>
                <a:buNone/>
              </a:pPr>
              <a:r>
                <a:rPr lang="en" sz="700">
                  <a:solidFill>
                    <a:srgbClr val="475569"/>
                  </a:solidFill>
                  <a:latin typeface="Poppins"/>
                  <a:ea typeface="Poppins"/>
                  <a:cs typeface="Poppins"/>
                  <a:sym typeface="Poppins"/>
                </a:rPr>
                <a:t>Feasibility study completion</a:t>
              </a:r>
              <a:endParaRPr sz="700">
                <a:solidFill>
                  <a:srgbClr val="475569"/>
                </a:solidFill>
                <a:latin typeface="Poppins"/>
                <a:ea typeface="Poppins"/>
                <a:cs typeface="Poppins"/>
                <a:sym typeface="Poppins"/>
              </a:endParaRPr>
            </a:p>
          </p:txBody>
        </p:sp>
      </p:grpSp>
      <p:grpSp>
        <p:nvGrpSpPr>
          <p:cNvPr id="711" name="Google Shape;711;p38"/>
          <p:cNvGrpSpPr/>
          <p:nvPr/>
        </p:nvGrpSpPr>
        <p:grpSpPr>
          <a:xfrm>
            <a:off x="4648200" y="2762250"/>
            <a:ext cx="1981200" cy="1981200"/>
            <a:chOff x="0" y="0"/>
            <a:chExt cx="1981200" cy="1981200"/>
          </a:xfrm>
        </p:grpSpPr>
        <p:sp>
          <p:nvSpPr>
            <p:cNvPr id="712" name="Google Shape;712;p38"/>
            <p:cNvSpPr/>
            <p:nvPr/>
          </p:nvSpPr>
          <p:spPr>
            <a:xfrm>
              <a:off x="0" y="0"/>
              <a:ext cx="1981200" cy="19812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4" name="Google Shape;714;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MARCH – MAY 2027</a:t>
              </a:r>
              <a:endParaRPr b="1" sz="900">
                <a:solidFill>
                  <a:srgbClr val="FFFFFF"/>
                </a:solidFill>
                <a:latin typeface="Poppins"/>
                <a:ea typeface="Poppins"/>
                <a:cs typeface="Poppins"/>
                <a:sym typeface="Poppins"/>
              </a:endParaRPr>
            </a:p>
          </p:txBody>
        </p:sp>
        <p:sp>
          <p:nvSpPr>
            <p:cNvPr id="715" name="Google Shape;715;p38"/>
            <p:cNvSpPr txBox="1"/>
            <p:nvPr/>
          </p:nvSpPr>
          <p:spPr>
            <a:xfrm>
              <a:off x="114300" y="342900"/>
              <a:ext cx="1752600" cy="1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00">
                  <a:solidFill>
                    <a:srgbClr val="1E293B"/>
                  </a:solidFill>
                  <a:latin typeface="Poppins"/>
                  <a:ea typeface="Poppins"/>
                  <a:cs typeface="Poppins"/>
                  <a:sym typeface="Poppins"/>
                </a:rPr>
                <a:t>Mar 1:</a:t>
              </a:r>
              <a:r>
                <a:rPr lang="en" sz="700">
                  <a:solidFill>
                    <a:srgbClr val="334155"/>
                  </a:solidFill>
                  <a:latin typeface="Poppins"/>
                  <a:ea typeface="Poppins"/>
                  <a:cs typeface="Poppins"/>
                  <a:sym typeface="Poppins"/>
                </a:rPr>
                <a:t> </a:t>
              </a:r>
              <a:r>
                <a:rPr lang="en" sz="700">
                  <a:solidFill>
                    <a:srgbClr val="475569"/>
                  </a:solidFill>
                  <a:latin typeface="Poppins"/>
                  <a:ea typeface="Poppins"/>
                  <a:cs typeface="Poppins"/>
                  <a:sym typeface="Poppins"/>
                </a:rPr>
                <a:t>Annual Mtg Pres.</a:t>
              </a:r>
              <a:endParaRPr sz="700">
                <a:solidFill>
                  <a:srgbClr val="334155"/>
                </a:solidFill>
                <a:latin typeface="Poppins"/>
                <a:ea typeface="Poppins"/>
                <a:cs typeface="Poppins"/>
                <a:sym typeface="Poppins"/>
              </a:endParaRPr>
            </a:p>
            <a:p>
              <a:pPr indent="0" lvl="0" marL="0" rtl="0" algn="l">
                <a:spcBef>
                  <a:spcPts val="150"/>
                </a:spcBef>
                <a:spcAft>
                  <a:spcPts val="0"/>
                </a:spcAft>
                <a:buNone/>
              </a:pPr>
              <a:r>
                <a:rPr b="1" lang="en" sz="700">
                  <a:solidFill>
                    <a:srgbClr val="059669"/>
                  </a:solidFill>
                  <a:latin typeface="Poppins"/>
                  <a:ea typeface="Poppins"/>
                  <a:cs typeface="Poppins"/>
                  <a:sym typeface="Poppins"/>
                </a:rPr>
                <a:t>Mar 2:</a:t>
              </a:r>
              <a:r>
                <a:rPr lang="en" sz="700">
                  <a:solidFill>
                    <a:srgbClr val="334155"/>
                  </a:solidFill>
                  <a:latin typeface="Poppins"/>
                  <a:ea typeface="Poppins"/>
                  <a:cs typeface="Poppins"/>
                  <a:sym typeface="Poppins"/>
                </a:rPr>
                <a:t> </a:t>
              </a:r>
              <a:r>
                <a:rPr b="1" lang="en" sz="700">
                  <a:solidFill>
                    <a:srgbClr val="059669"/>
                  </a:solidFill>
                  <a:latin typeface="Poppins"/>
                  <a:ea typeface="Poppins"/>
                  <a:cs typeface="Poppins"/>
                  <a:sym typeface="Poppins"/>
                </a:rPr>
                <a:t>Town Mtg &amp; Vote</a:t>
              </a:r>
              <a:endParaRPr sz="700">
                <a:solidFill>
                  <a:srgbClr val="334155"/>
                </a:solidFill>
                <a:latin typeface="Poppins"/>
                <a:ea typeface="Poppins"/>
                <a:cs typeface="Poppins"/>
                <a:sym typeface="Poppins"/>
              </a:endParaRPr>
            </a:p>
            <a:p>
              <a:pPr indent="0" lvl="0" marL="0" rtl="0" algn="l">
                <a:spcBef>
                  <a:spcPts val="150"/>
                </a:spcBef>
                <a:spcAft>
                  <a:spcPts val="0"/>
                </a:spcAft>
                <a:buNone/>
              </a:pPr>
              <a:r>
                <a:rPr b="1" lang="en" sz="700">
                  <a:solidFill>
                    <a:srgbClr val="1E293B"/>
                  </a:solidFill>
                  <a:latin typeface="Poppins"/>
                  <a:ea typeface="Poppins"/>
                  <a:cs typeface="Poppins"/>
                  <a:sym typeface="Poppins"/>
                </a:rPr>
                <a:t>Mar 10:</a:t>
              </a:r>
              <a:r>
                <a:rPr lang="en" sz="700">
                  <a:solidFill>
                    <a:srgbClr val="334155"/>
                  </a:solidFill>
                  <a:latin typeface="Poppins"/>
                  <a:ea typeface="Poppins"/>
                  <a:cs typeface="Poppins"/>
                  <a:sym typeface="Poppins"/>
                </a:rPr>
                <a:t> </a:t>
              </a:r>
              <a:r>
                <a:rPr lang="en" sz="700">
                  <a:solidFill>
                    <a:srgbClr val="475569"/>
                  </a:solidFill>
                  <a:latin typeface="Poppins"/>
                  <a:ea typeface="Poppins"/>
                  <a:cs typeface="Poppins"/>
                  <a:sym typeface="Poppins"/>
                </a:rPr>
                <a:t>Board Reorg</a:t>
              </a:r>
              <a:endParaRPr sz="700">
                <a:solidFill>
                  <a:srgbClr val="334155"/>
                </a:solidFill>
                <a:latin typeface="Poppins"/>
                <a:ea typeface="Poppins"/>
                <a:cs typeface="Poppins"/>
                <a:sym typeface="Poppins"/>
              </a:endParaRPr>
            </a:p>
            <a:p>
              <a:pPr indent="0" lvl="0" marL="0" rtl="0" algn="l">
                <a:spcBef>
                  <a:spcPts val="150"/>
                </a:spcBef>
                <a:spcAft>
                  <a:spcPts val="0"/>
                </a:spcAft>
                <a:buNone/>
              </a:pPr>
              <a:r>
                <a:rPr b="1" lang="en" sz="700">
                  <a:solidFill>
                    <a:srgbClr val="1E293B"/>
                  </a:solidFill>
                  <a:latin typeface="Poppins"/>
                  <a:ea typeface="Poppins"/>
                  <a:cs typeface="Poppins"/>
                  <a:sym typeface="Poppins"/>
                </a:rPr>
                <a:t>Apr 1:</a:t>
              </a:r>
              <a:r>
                <a:rPr lang="en" sz="700">
                  <a:solidFill>
                    <a:srgbClr val="334155"/>
                  </a:solidFill>
                  <a:latin typeface="Poppins"/>
                  <a:ea typeface="Poppins"/>
                  <a:cs typeface="Poppins"/>
                  <a:sym typeface="Poppins"/>
                </a:rPr>
                <a:t> </a:t>
              </a:r>
              <a:r>
                <a:rPr lang="en" sz="700">
                  <a:solidFill>
                    <a:srgbClr val="475569"/>
                  </a:solidFill>
                  <a:latin typeface="Poppins"/>
                  <a:ea typeface="Poppins"/>
                  <a:cs typeface="Poppins"/>
                  <a:sym typeface="Poppins"/>
                </a:rPr>
                <a:t>Teacher contracts / LOI</a:t>
              </a:r>
              <a:endParaRPr sz="700">
                <a:solidFill>
                  <a:srgbClr val="334155"/>
                </a:solidFill>
                <a:latin typeface="Poppins"/>
                <a:ea typeface="Poppins"/>
                <a:cs typeface="Poppins"/>
                <a:sym typeface="Poppins"/>
              </a:endParaRPr>
            </a:p>
            <a:p>
              <a:pPr indent="0" lvl="0" marL="0" rtl="0" algn="l">
                <a:spcBef>
                  <a:spcPts val="150"/>
                </a:spcBef>
                <a:spcAft>
                  <a:spcPts val="0"/>
                </a:spcAft>
                <a:buNone/>
              </a:pPr>
              <a:r>
                <a:rPr b="1" lang="en" sz="700">
                  <a:solidFill>
                    <a:srgbClr val="1E293B"/>
                  </a:solidFill>
                  <a:latin typeface="Poppins"/>
                  <a:ea typeface="Poppins"/>
                  <a:cs typeface="Poppins"/>
                  <a:sym typeface="Poppins"/>
                </a:rPr>
                <a:t>Apr 7 &amp; 14:</a:t>
              </a:r>
              <a:r>
                <a:rPr lang="en" sz="700">
                  <a:solidFill>
                    <a:srgbClr val="334155"/>
                  </a:solidFill>
                  <a:latin typeface="Poppins"/>
                  <a:ea typeface="Poppins"/>
                  <a:cs typeface="Poppins"/>
                  <a:sym typeface="Poppins"/>
                </a:rPr>
                <a:t> </a:t>
              </a:r>
              <a:r>
                <a:rPr lang="en" sz="700">
                  <a:solidFill>
                    <a:srgbClr val="475569"/>
                  </a:solidFill>
                  <a:latin typeface="Poppins"/>
                  <a:ea typeface="Poppins"/>
                  <a:cs typeface="Poppins"/>
                  <a:sym typeface="Poppins"/>
                </a:rPr>
                <a:t>Board Mtgs</a:t>
              </a:r>
              <a:endParaRPr sz="700">
                <a:solidFill>
                  <a:srgbClr val="334155"/>
                </a:solidFill>
                <a:latin typeface="Poppins"/>
                <a:ea typeface="Poppins"/>
                <a:cs typeface="Poppins"/>
                <a:sym typeface="Poppins"/>
              </a:endParaRPr>
            </a:p>
            <a:p>
              <a:pPr indent="0" lvl="0" marL="0" rtl="0" algn="l">
                <a:spcBef>
                  <a:spcPts val="150"/>
                </a:spcBef>
                <a:spcAft>
                  <a:spcPts val="0"/>
                </a:spcAft>
                <a:buNone/>
              </a:pPr>
              <a:r>
                <a:rPr b="1" lang="en" sz="700">
                  <a:solidFill>
                    <a:srgbClr val="1E293B"/>
                  </a:solidFill>
                  <a:latin typeface="Poppins"/>
                  <a:ea typeface="Poppins"/>
                  <a:cs typeface="Poppins"/>
                  <a:sym typeface="Poppins"/>
                </a:rPr>
                <a:t>Apr 15:</a:t>
              </a:r>
              <a:r>
                <a:rPr lang="en" sz="700">
                  <a:solidFill>
                    <a:srgbClr val="334155"/>
                  </a:solidFill>
                  <a:latin typeface="Poppins"/>
                  <a:ea typeface="Poppins"/>
                  <a:cs typeface="Poppins"/>
                  <a:sym typeface="Poppins"/>
                </a:rPr>
                <a:t> </a:t>
              </a:r>
              <a:r>
                <a:rPr lang="en" sz="700">
                  <a:solidFill>
                    <a:srgbClr val="475569"/>
                  </a:solidFill>
                  <a:latin typeface="Poppins"/>
                  <a:ea typeface="Poppins"/>
                  <a:cs typeface="Poppins"/>
                  <a:sym typeface="Poppins"/>
                </a:rPr>
                <a:t>Union staff contracts</a:t>
              </a:r>
              <a:endParaRPr sz="700">
                <a:solidFill>
                  <a:srgbClr val="334155"/>
                </a:solidFill>
                <a:latin typeface="Poppins"/>
                <a:ea typeface="Poppins"/>
                <a:cs typeface="Poppins"/>
                <a:sym typeface="Poppins"/>
              </a:endParaRPr>
            </a:p>
            <a:p>
              <a:pPr indent="0" lvl="0" marL="0" rtl="0" algn="l">
                <a:spcBef>
                  <a:spcPts val="150"/>
                </a:spcBef>
                <a:spcAft>
                  <a:spcPts val="0"/>
                </a:spcAft>
                <a:buNone/>
              </a:pPr>
              <a:r>
                <a:rPr b="1" lang="en" sz="700">
                  <a:solidFill>
                    <a:srgbClr val="1E293B"/>
                  </a:solidFill>
                  <a:latin typeface="Poppins"/>
                  <a:ea typeface="Poppins"/>
                  <a:cs typeface="Poppins"/>
                  <a:sym typeface="Poppins"/>
                </a:rPr>
                <a:t>Apr 20 / May 1:</a:t>
              </a:r>
              <a:r>
                <a:rPr lang="en" sz="700">
                  <a:solidFill>
                    <a:srgbClr val="334155"/>
                  </a:solidFill>
                  <a:latin typeface="Poppins"/>
                  <a:ea typeface="Poppins"/>
                  <a:cs typeface="Poppins"/>
                  <a:sym typeface="Poppins"/>
                </a:rPr>
                <a:t> </a:t>
              </a:r>
              <a:r>
                <a:rPr lang="en" sz="700">
                  <a:solidFill>
                    <a:srgbClr val="475569"/>
                  </a:solidFill>
                  <a:latin typeface="Poppins"/>
                  <a:ea typeface="Poppins"/>
                  <a:cs typeface="Poppins"/>
                  <a:sym typeface="Poppins"/>
                </a:rPr>
                <a:t>Contracts due</a:t>
              </a:r>
              <a:endParaRPr sz="700">
                <a:solidFill>
                  <a:srgbClr val="334155"/>
                </a:solidFill>
                <a:latin typeface="Poppins"/>
                <a:ea typeface="Poppins"/>
                <a:cs typeface="Poppins"/>
                <a:sym typeface="Poppins"/>
              </a:endParaRPr>
            </a:p>
          </p:txBody>
        </p:sp>
      </p:grpSp>
      <p:grpSp>
        <p:nvGrpSpPr>
          <p:cNvPr id="716" name="Google Shape;716;p38"/>
          <p:cNvGrpSpPr/>
          <p:nvPr/>
        </p:nvGrpSpPr>
        <p:grpSpPr>
          <a:xfrm>
            <a:off x="6781800" y="2762250"/>
            <a:ext cx="1981200" cy="1981200"/>
            <a:chOff x="0" y="0"/>
            <a:chExt cx="1981200" cy="1981200"/>
          </a:xfrm>
        </p:grpSpPr>
        <p:sp>
          <p:nvSpPr>
            <p:cNvPr id="717" name="Google Shape;717;p38"/>
            <p:cNvSpPr/>
            <p:nvPr/>
          </p:nvSpPr>
          <p:spPr>
            <a:xfrm>
              <a:off x="0" y="0"/>
              <a:ext cx="1981200" cy="1981200"/>
            </a:xfrm>
            <a:prstGeom prst="roundRect">
              <a:avLst>
                <a:gd fmla="val 384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38"/>
            <p:cNvSpPr/>
            <p:nvPr/>
          </p:nvSpPr>
          <p:spPr>
            <a:xfrm>
              <a:off x="0" y="0"/>
              <a:ext cx="1981200" cy="285900"/>
            </a:xfrm>
            <a:custGeom>
              <a:rect b="b" l="l" r="r" t="t"/>
              <a:pathLst>
                <a:path extrusionOk="0" h="120000" w="120000">
                  <a:moveTo>
                    <a:pt x="0" y="32000"/>
                  </a:moveTo>
                  <a:cubicBezTo>
                    <a:pt x="0" y="23513"/>
                    <a:pt x="486" y="15374"/>
                    <a:pt x="1352" y="9373"/>
                  </a:cubicBezTo>
                  <a:cubicBezTo>
                    <a:pt x="2217" y="3371"/>
                    <a:pt x="3391" y="0"/>
                    <a:pt x="4615" y="0"/>
                  </a:cubicBezTo>
                  <a:lnTo>
                    <a:pt x="115385" y="0"/>
                  </a:lnTo>
                  <a:cubicBezTo>
                    <a:pt x="117934" y="1"/>
                    <a:pt x="120000" y="14328"/>
                    <a:pt x="120000" y="32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38"/>
            <p:cNvSpPr txBox="1"/>
            <p:nvPr/>
          </p:nvSpPr>
          <p:spPr>
            <a:xfrm>
              <a:off x="0" y="0"/>
              <a:ext cx="19812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ONGOING / ADDITIONAL</a:t>
              </a:r>
              <a:endParaRPr b="1" sz="900">
                <a:solidFill>
                  <a:srgbClr val="FFFFFF"/>
                </a:solidFill>
                <a:latin typeface="Poppins"/>
                <a:ea typeface="Poppins"/>
                <a:cs typeface="Poppins"/>
                <a:sym typeface="Poppins"/>
              </a:endParaRPr>
            </a:p>
          </p:txBody>
        </p:sp>
        <p:sp>
          <p:nvSpPr>
            <p:cNvPr id="720" name="Google Shape;720;p38"/>
            <p:cNvSpPr txBox="1"/>
            <p:nvPr/>
          </p:nvSpPr>
          <p:spPr>
            <a:xfrm>
              <a:off x="114300" y="342900"/>
              <a:ext cx="1752600" cy="1562100"/>
            </a:xfrm>
            <a:prstGeom prst="rect">
              <a:avLst/>
            </a:prstGeom>
            <a:noFill/>
            <a:ln>
              <a:noFill/>
            </a:ln>
          </p:spPr>
          <p:txBody>
            <a:bodyPr anchorCtr="0" anchor="t" bIns="0" lIns="0" spcFirstLastPara="1" rIns="0" wrap="square" tIns="0">
              <a:noAutofit/>
            </a:bodyPr>
            <a:lstStyle/>
            <a:p>
              <a:pPr indent="-273050" lvl="0" marL="457200" rtl="0" algn="l">
                <a:spcBef>
                  <a:spcPts val="0"/>
                </a:spcBef>
                <a:spcAft>
                  <a:spcPts val="0"/>
                </a:spcAft>
                <a:buClr>
                  <a:srgbClr val="475569"/>
                </a:buClr>
                <a:buSzPts val="700"/>
                <a:buFont typeface="Poppins"/>
                <a:buChar char="●"/>
              </a:pPr>
              <a:r>
                <a:rPr b="1" lang="en" sz="700">
                  <a:solidFill>
                    <a:srgbClr val="0F172A"/>
                  </a:solidFill>
                  <a:latin typeface="Poppins"/>
                  <a:ea typeface="Poppins"/>
                  <a:cs typeface="Poppins"/>
                  <a:sym typeface="Poppins"/>
                </a:rPr>
                <a:t>VEHI Rate Info:</a:t>
              </a:r>
              <a:r>
                <a:rPr lang="en" sz="700">
                  <a:solidFill>
                    <a:srgbClr val="475569"/>
                  </a:solidFill>
                  <a:latin typeface="Poppins"/>
                  <a:ea typeface="Poppins"/>
                  <a:cs typeface="Poppins"/>
                  <a:sym typeface="Poppins"/>
                </a:rPr>
                <a:t> Nov 20, 2026</a:t>
              </a:r>
              <a:endParaRPr sz="700">
                <a:solidFill>
                  <a:srgbClr val="475569"/>
                </a:solidFill>
                <a:latin typeface="Poppins"/>
                <a:ea typeface="Poppins"/>
                <a:cs typeface="Poppins"/>
                <a:sym typeface="Poppins"/>
              </a:endParaRPr>
            </a:p>
            <a:p>
              <a:pPr indent="-273050" lvl="0" marL="457200" rtl="0" algn="l">
                <a:spcBef>
                  <a:spcPts val="225"/>
                </a:spcBef>
                <a:spcAft>
                  <a:spcPts val="0"/>
                </a:spcAft>
                <a:buClr>
                  <a:srgbClr val="475569"/>
                </a:buClr>
                <a:buSzPts val="700"/>
                <a:buFont typeface="Poppins"/>
                <a:buChar char="●"/>
              </a:pPr>
              <a:r>
                <a:rPr b="1" lang="en" sz="700">
                  <a:solidFill>
                    <a:srgbClr val="0F172A"/>
                  </a:solidFill>
                  <a:latin typeface="Poppins"/>
                  <a:ea typeface="Poppins"/>
                  <a:cs typeface="Poppins"/>
                  <a:sym typeface="Poppins"/>
                </a:rPr>
                <a:t>RFP Selection:</a:t>
              </a:r>
              <a:r>
                <a:rPr lang="en" sz="700">
                  <a:solidFill>
                    <a:srgbClr val="475569"/>
                  </a:solidFill>
                  <a:latin typeface="Poppins"/>
                  <a:ea typeface="Poppins"/>
                  <a:cs typeface="Poppins"/>
                  <a:sym typeface="Poppins"/>
                </a:rPr>
                <a:t> Nov–Dec 2026</a:t>
              </a:r>
              <a:endParaRPr sz="700">
                <a:solidFill>
                  <a:srgbClr val="475569"/>
                </a:solidFill>
                <a:latin typeface="Poppins"/>
                <a:ea typeface="Poppins"/>
                <a:cs typeface="Poppins"/>
                <a:sym typeface="Poppins"/>
              </a:endParaRPr>
            </a:p>
            <a:p>
              <a:pPr indent="-273050" lvl="0" marL="457200" rtl="0" algn="l">
                <a:spcBef>
                  <a:spcPts val="225"/>
                </a:spcBef>
                <a:spcAft>
                  <a:spcPts val="0"/>
                </a:spcAft>
                <a:buClr>
                  <a:srgbClr val="475569"/>
                </a:buClr>
                <a:buSzPts val="700"/>
                <a:buFont typeface="Poppins"/>
                <a:buChar char="●"/>
              </a:pPr>
              <a:r>
                <a:rPr b="1" lang="en" sz="700">
                  <a:solidFill>
                    <a:srgbClr val="0F172A"/>
                  </a:solidFill>
                  <a:latin typeface="Poppins"/>
                  <a:ea typeface="Poppins"/>
                  <a:cs typeface="Poppins"/>
                  <a:sym typeface="Poppins"/>
                </a:rPr>
                <a:t>LTWADMS:</a:t>
              </a:r>
              <a:r>
                <a:rPr lang="en" sz="700">
                  <a:solidFill>
                    <a:srgbClr val="475569"/>
                  </a:solidFill>
                  <a:latin typeface="Poppins"/>
                  <a:ea typeface="Poppins"/>
                  <a:cs typeface="Poppins"/>
                  <a:sym typeface="Poppins"/>
                </a:rPr>
                <a:t> Jan 2027</a:t>
              </a:r>
              <a:endParaRPr sz="700">
                <a:solidFill>
                  <a:srgbClr val="475569"/>
                </a:solidFill>
                <a:latin typeface="Poppins"/>
                <a:ea typeface="Poppins"/>
                <a:cs typeface="Poppins"/>
                <a:sym typeface="Poppins"/>
              </a:endParaRPr>
            </a:p>
            <a:p>
              <a:pPr indent="-273050" lvl="0" marL="457200" rtl="0" algn="l">
                <a:spcBef>
                  <a:spcPts val="225"/>
                </a:spcBef>
                <a:spcAft>
                  <a:spcPts val="0"/>
                </a:spcAft>
                <a:buClr>
                  <a:srgbClr val="475569"/>
                </a:buClr>
                <a:buSzPts val="700"/>
                <a:buFont typeface="Poppins"/>
                <a:buChar char="●"/>
              </a:pPr>
              <a:r>
                <a:rPr b="1" lang="en" sz="700">
                  <a:solidFill>
                    <a:srgbClr val="0F172A"/>
                  </a:solidFill>
                  <a:latin typeface="Poppins"/>
                  <a:ea typeface="Poppins"/>
                  <a:cs typeface="Poppins"/>
                  <a:sym typeface="Poppins"/>
                </a:rPr>
                <a:t>Annual Report &amp; FY28 Budget:</a:t>
              </a:r>
              <a:r>
                <a:rPr lang="en" sz="700">
                  <a:solidFill>
                    <a:srgbClr val="475569"/>
                  </a:solidFill>
                  <a:latin typeface="Poppins"/>
                  <a:ea typeface="Poppins"/>
                  <a:cs typeface="Poppins"/>
                  <a:sym typeface="Poppins"/>
                </a:rPr>
                <a:t> Feb 2027</a:t>
              </a:r>
              <a:endParaRPr sz="700">
                <a:solidFill>
                  <a:srgbClr val="475569"/>
                </a:solidFill>
                <a:latin typeface="Poppins"/>
                <a:ea typeface="Poppins"/>
                <a:cs typeface="Poppins"/>
                <a:sym typeface="Poppins"/>
              </a:endParaRPr>
            </a:p>
            <a:p>
              <a:pPr indent="-273050" lvl="0" marL="457200" rtl="0" algn="l">
                <a:spcBef>
                  <a:spcPts val="225"/>
                </a:spcBef>
                <a:spcAft>
                  <a:spcPts val="0"/>
                </a:spcAft>
                <a:buClr>
                  <a:srgbClr val="475569"/>
                </a:buClr>
                <a:buSzPts val="700"/>
                <a:buFont typeface="Poppins"/>
                <a:buChar char="●"/>
              </a:pPr>
              <a:r>
                <a:rPr b="1" lang="en" sz="700">
                  <a:solidFill>
                    <a:srgbClr val="0F172A"/>
                  </a:solidFill>
                  <a:latin typeface="Poppins"/>
                  <a:ea typeface="Poppins"/>
                  <a:cs typeface="Poppins"/>
                  <a:sym typeface="Poppins"/>
                </a:rPr>
                <a:t>Feasibility Study:</a:t>
              </a:r>
              <a:r>
                <a:rPr lang="en" sz="700">
                  <a:solidFill>
                    <a:srgbClr val="475569"/>
                  </a:solidFill>
                  <a:latin typeface="Poppins"/>
                  <a:ea typeface="Poppins"/>
                  <a:cs typeface="Poppins"/>
                  <a:sym typeface="Poppins"/>
                </a:rPr>
                <a:t> Early Spring 2027</a:t>
              </a:r>
              <a:endParaRPr sz="700">
                <a:solidFill>
                  <a:srgbClr val="475569"/>
                </a:solidFill>
                <a:latin typeface="Poppins"/>
                <a:ea typeface="Poppins"/>
                <a:cs typeface="Poppins"/>
                <a:sym typeface="Poppins"/>
              </a:endParaRPr>
            </a:p>
            <a:p>
              <a:pPr indent="-273050" lvl="0" marL="457200" rtl="0" algn="l">
                <a:spcBef>
                  <a:spcPts val="225"/>
                </a:spcBef>
                <a:spcAft>
                  <a:spcPts val="0"/>
                </a:spcAft>
                <a:buClr>
                  <a:srgbClr val="475569"/>
                </a:buClr>
                <a:buSzPts val="700"/>
                <a:buFont typeface="Poppins"/>
                <a:buChar char="●"/>
              </a:pPr>
              <a:r>
                <a:rPr b="1" lang="en" sz="700">
                  <a:solidFill>
                    <a:srgbClr val="0F172A"/>
                  </a:solidFill>
                  <a:latin typeface="Poppins"/>
                  <a:ea typeface="Poppins"/>
                  <a:cs typeface="Poppins"/>
                  <a:sym typeface="Poppins"/>
                </a:rPr>
                <a:t>Budget Prep:</a:t>
              </a:r>
              <a:r>
                <a:rPr lang="en" sz="700">
                  <a:solidFill>
                    <a:srgbClr val="475569"/>
                  </a:solidFill>
                  <a:latin typeface="Poppins"/>
                  <a:ea typeface="Poppins"/>
                  <a:cs typeface="Poppins"/>
                  <a:sym typeface="Poppins"/>
                </a:rPr>
                <a:t> Throughout</a:t>
              </a:r>
              <a:endParaRPr sz="700">
                <a:solidFill>
                  <a:srgbClr val="475569"/>
                </a:solidFill>
                <a:latin typeface="Poppins"/>
                <a:ea typeface="Poppins"/>
                <a:cs typeface="Poppins"/>
                <a:sym typeface="Poppins"/>
              </a:endParaRPr>
            </a:p>
          </p:txBody>
        </p:sp>
      </p:grpSp>
      <p:grpSp>
        <p:nvGrpSpPr>
          <p:cNvPr id="721" name="Google Shape;721;p38"/>
          <p:cNvGrpSpPr/>
          <p:nvPr/>
        </p:nvGrpSpPr>
        <p:grpSpPr>
          <a:xfrm>
            <a:off x="381000" y="4857750"/>
            <a:ext cx="8382000" cy="228600"/>
            <a:chOff x="381000" y="0"/>
            <a:chExt cx="8382000" cy="228600"/>
          </a:xfrm>
        </p:grpSpPr>
        <p:cxnSp>
          <p:nvCxnSpPr>
            <p:cNvPr id="722" name="Google Shape;722;p38"/>
            <p:cNvCxnSpPr/>
            <p:nvPr/>
          </p:nvCxnSpPr>
          <p:spPr>
            <a:xfrm>
              <a:off x="381000" y="0"/>
              <a:ext cx="8382000" cy="0"/>
            </a:xfrm>
            <a:prstGeom prst="straightConnector1">
              <a:avLst/>
            </a:prstGeom>
            <a:solidFill>
              <a:srgbClr val="FFFFFF"/>
            </a:solidFill>
            <a:ln cap="flat" cmpd="sng" w="9525">
              <a:solidFill>
                <a:srgbClr val="CBD5E1"/>
              </a:solidFill>
              <a:prstDash val="solid"/>
              <a:round/>
              <a:headEnd len="sm" w="sm" type="none"/>
              <a:tailEnd len="sm" w="sm" type="none"/>
            </a:ln>
          </p:spPr>
        </p:cxnSp>
        <p:sp>
          <p:nvSpPr>
            <p:cNvPr id="723" name="Google Shape;723;p38"/>
            <p:cNvSpPr txBox="1"/>
            <p:nvPr/>
          </p:nvSpPr>
          <p:spPr>
            <a:xfrm>
              <a:off x="381000" y="38100"/>
              <a:ext cx="838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750" u="sng">
                  <a:solidFill>
                    <a:schemeClr val="hlink"/>
                  </a:solidFill>
                  <a:latin typeface="Poppins SemiBold"/>
                  <a:ea typeface="Poppins SemiBold"/>
                  <a:cs typeface="Poppins SemiBold"/>
                  <a:sym typeface="Poppins SemiBold"/>
                  <a:hlinkClick r:id="rId4"/>
                </a:rPr>
                <a:t>FY28 HUUSD Budget Development Timeline </a:t>
              </a:r>
              <a:endParaRPr b="0" sz="1750">
                <a:solidFill>
                  <a:srgbClr val="64748B"/>
                </a:solidFill>
                <a:latin typeface="Poppins SemiBold"/>
                <a:ea typeface="Poppins SemiBold"/>
                <a:cs typeface="Poppins SemiBold"/>
                <a:sym typeface="Poppins SemiBold"/>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7" name="Shape 727"/>
        <p:cNvGrpSpPr/>
        <p:nvPr/>
      </p:nvGrpSpPr>
      <p:grpSpPr>
        <a:xfrm>
          <a:off x="0" y="0"/>
          <a:ext cx="0" cy="0"/>
          <a:chOff x="0" y="0"/>
          <a:chExt cx="0" cy="0"/>
        </a:xfrm>
      </p:grpSpPr>
      <p:sp>
        <p:nvSpPr>
          <p:cNvPr id="728" name="Google Shape;728;p39"/>
          <p:cNvSpPr txBox="1"/>
          <p:nvPr/>
        </p:nvSpPr>
        <p:spPr>
          <a:xfrm>
            <a:off x="381000" y="285750"/>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Why We Plan Beyond One Fiscal Year</a:t>
            </a:r>
            <a:endParaRPr b="0" sz="2400">
              <a:solidFill>
                <a:srgbClr val="1B3859"/>
              </a:solidFill>
              <a:latin typeface="Poppins ExtraBold"/>
              <a:ea typeface="Poppins ExtraBold"/>
              <a:cs typeface="Poppins ExtraBold"/>
              <a:sym typeface="Poppins ExtraBold"/>
            </a:endParaRPr>
          </a:p>
          <a:p>
            <a:pPr indent="0" lvl="0" marL="0" rtl="0" algn="l">
              <a:spcBef>
                <a:spcPts val="400"/>
              </a:spcBef>
              <a:spcAft>
                <a:spcPts val="0"/>
              </a:spcAft>
              <a:buNone/>
            </a:pPr>
            <a:r>
              <a:rPr b="0" lang="en" sz="1050">
                <a:solidFill>
                  <a:srgbClr val="475569"/>
                </a:solidFill>
                <a:latin typeface="Poppins"/>
                <a:ea typeface="Poppins"/>
                <a:cs typeface="Poppins"/>
                <a:sym typeface="Poppins"/>
              </a:rPr>
              <a:t>A sustainable budget considers how today's decisions affect future years—not just whether the current year.</a:t>
            </a:r>
            <a:endParaRPr b="0" sz="1050">
              <a:solidFill>
                <a:srgbClr val="475569"/>
              </a:solidFill>
              <a:latin typeface="Poppins"/>
              <a:ea typeface="Poppins"/>
              <a:cs typeface="Poppins"/>
              <a:sym typeface="Poppins"/>
            </a:endParaRPr>
          </a:p>
        </p:txBody>
      </p:sp>
      <p:grpSp>
        <p:nvGrpSpPr>
          <p:cNvPr id="729" name="Google Shape;729;p39"/>
          <p:cNvGrpSpPr/>
          <p:nvPr/>
        </p:nvGrpSpPr>
        <p:grpSpPr>
          <a:xfrm>
            <a:off x="381000" y="1095375"/>
            <a:ext cx="8382000" cy="419100"/>
            <a:chOff x="0" y="0"/>
            <a:chExt cx="8382000" cy="419100"/>
          </a:xfrm>
        </p:grpSpPr>
        <p:grpSp>
          <p:nvGrpSpPr>
            <p:cNvPr id="730" name="Google Shape;730;p39"/>
            <p:cNvGrpSpPr/>
            <p:nvPr/>
          </p:nvGrpSpPr>
          <p:grpSpPr>
            <a:xfrm>
              <a:off x="0" y="0"/>
              <a:ext cx="1524000" cy="419100"/>
              <a:chOff x="0" y="0"/>
              <a:chExt cx="1524000" cy="419100"/>
            </a:xfrm>
          </p:grpSpPr>
          <p:sp>
            <p:nvSpPr>
              <p:cNvPr id="731" name="Google Shape;731;p39"/>
              <p:cNvSpPr/>
              <p:nvPr/>
            </p:nvSpPr>
            <p:spPr>
              <a:xfrm>
                <a:off x="0" y="0"/>
                <a:ext cx="1524000" cy="419100"/>
              </a:xfrm>
              <a:prstGeom prst="roundRect">
                <a:avLst>
                  <a:gd fmla="val 18181"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39"/>
              <p:cNvSpPr txBox="1"/>
              <p:nvPr/>
            </p:nvSpPr>
            <p:spPr>
              <a:xfrm>
                <a:off x="0" y="0"/>
                <a:ext cx="152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Poppins"/>
                    <a:ea typeface="Poppins"/>
                    <a:cs typeface="Poppins"/>
                    <a:sym typeface="Poppins"/>
                  </a:rPr>
                  <a:t>FY27</a:t>
                </a:r>
                <a:endParaRPr b="1" sz="1300">
                  <a:solidFill>
                    <a:srgbClr val="FFFFFF"/>
                  </a:solidFill>
                  <a:latin typeface="Poppins"/>
                  <a:ea typeface="Poppins"/>
                  <a:cs typeface="Poppins"/>
                  <a:sym typeface="Poppins"/>
                </a:endParaRPr>
              </a:p>
            </p:txBody>
          </p:sp>
        </p:grpSp>
        <p:pic>
          <p:nvPicPr>
            <p:cNvPr id="733" name="Google Shape;733;p39"/>
            <p:cNvPicPr preferRelativeResize="0"/>
            <p:nvPr/>
          </p:nvPicPr>
          <p:blipFill rotWithShape="1">
            <a:blip r:embed="rId4">
              <a:alphaModFix/>
            </a:blip>
            <a:srcRect b="0" l="0" r="0" t="0"/>
            <a:stretch/>
          </p:blipFill>
          <p:spPr>
            <a:xfrm>
              <a:off x="1581150" y="200025"/>
              <a:ext cx="76200" cy="19200"/>
            </a:xfrm>
            <a:prstGeom prst="rect">
              <a:avLst/>
            </a:prstGeom>
            <a:noFill/>
            <a:ln>
              <a:noFill/>
            </a:ln>
          </p:spPr>
        </p:pic>
        <p:grpSp>
          <p:nvGrpSpPr>
            <p:cNvPr id="734" name="Google Shape;734;p39"/>
            <p:cNvGrpSpPr/>
            <p:nvPr/>
          </p:nvGrpSpPr>
          <p:grpSpPr>
            <a:xfrm>
              <a:off x="1714500" y="0"/>
              <a:ext cx="1524000" cy="419100"/>
              <a:chOff x="0" y="0"/>
              <a:chExt cx="1524000" cy="419100"/>
            </a:xfrm>
          </p:grpSpPr>
          <p:sp>
            <p:nvSpPr>
              <p:cNvPr id="735" name="Google Shape;735;p39"/>
              <p:cNvSpPr/>
              <p:nvPr/>
            </p:nvSpPr>
            <p:spPr>
              <a:xfrm>
                <a:off x="0" y="0"/>
                <a:ext cx="1524000" cy="419100"/>
              </a:xfrm>
              <a:prstGeom prst="roundRect">
                <a:avLst>
                  <a:gd fmla="val 18181" name="adj"/>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6" name="Google Shape;736;p39"/>
              <p:cNvSpPr txBox="1"/>
              <p:nvPr/>
            </p:nvSpPr>
            <p:spPr>
              <a:xfrm>
                <a:off x="0" y="0"/>
                <a:ext cx="152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Poppins"/>
                    <a:ea typeface="Poppins"/>
                    <a:cs typeface="Poppins"/>
                    <a:sym typeface="Poppins"/>
                  </a:rPr>
                  <a:t>FY28</a:t>
                </a:r>
                <a:endParaRPr b="1" sz="1300">
                  <a:solidFill>
                    <a:srgbClr val="FFFFFF"/>
                  </a:solidFill>
                  <a:latin typeface="Poppins"/>
                  <a:ea typeface="Poppins"/>
                  <a:cs typeface="Poppins"/>
                  <a:sym typeface="Poppins"/>
                </a:endParaRPr>
              </a:p>
            </p:txBody>
          </p:sp>
        </p:grpSp>
        <p:pic>
          <p:nvPicPr>
            <p:cNvPr id="737" name="Google Shape;737;p39"/>
            <p:cNvPicPr preferRelativeResize="0"/>
            <p:nvPr/>
          </p:nvPicPr>
          <p:blipFill rotWithShape="1">
            <a:blip r:embed="rId4">
              <a:alphaModFix/>
            </a:blip>
            <a:srcRect b="0" l="0" r="0" t="0"/>
            <a:stretch/>
          </p:blipFill>
          <p:spPr>
            <a:xfrm>
              <a:off x="3295650" y="200025"/>
              <a:ext cx="76200" cy="19200"/>
            </a:xfrm>
            <a:prstGeom prst="rect">
              <a:avLst/>
            </a:prstGeom>
            <a:noFill/>
            <a:ln>
              <a:noFill/>
            </a:ln>
          </p:spPr>
        </p:pic>
        <p:grpSp>
          <p:nvGrpSpPr>
            <p:cNvPr id="738" name="Google Shape;738;p39"/>
            <p:cNvGrpSpPr/>
            <p:nvPr/>
          </p:nvGrpSpPr>
          <p:grpSpPr>
            <a:xfrm>
              <a:off x="3429000" y="0"/>
              <a:ext cx="1524000" cy="419100"/>
              <a:chOff x="0" y="0"/>
              <a:chExt cx="1524000" cy="419100"/>
            </a:xfrm>
          </p:grpSpPr>
          <p:sp>
            <p:nvSpPr>
              <p:cNvPr id="739" name="Google Shape;739;p39"/>
              <p:cNvSpPr/>
              <p:nvPr/>
            </p:nvSpPr>
            <p:spPr>
              <a:xfrm>
                <a:off x="0" y="0"/>
                <a:ext cx="1524000" cy="419100"/>
              </a:xfrm>
              <a:prstGeom prst="roundRect">
                <a:avLst>
                  <a:gd fmla="val 18181"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0" name="Google Shape;740;p39"/>
              <p:cNvSpPr txBox="1"/>
              <p:nvPr/>
            </p:nvSpPr>
            <p:spPr>
              <a:xfrm>
                <a:off x="0" y="0"/>
                <a:ext cx="152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Poppins"/>
                    <a:ea typeface="Poppins"/>
                    <a:cs typeface="Poppins"/>
                    <a:sym typeface="Poppins"/>
                  </a:rPr>
                  <a:t>FY29</a:t>
                </a:r>
                <a:endParaRPr b="1" sz="1300">
                  <a:solidFill>
                    <a:srgbClr val="FFFFFF"/>
                  </a:solidFill>
                  <a:latin typeface="Poppins"/>
                  <a:ea typeface="Poppins"/>
                  <a:cs typeface="Poppins"/>
                  <a:sym typeface="Poppins"/>
                </a:endParaRPr>
              </a:p>
            </p:txBody>
          </p:sp>
        </p:grpSp>
        <p:pic>
          <p:nvPicPr>
            <p:cNvPr id="741" name="Google Shape;741;p39"/>
            <p:cNvPicPr preferRelativeResize="0"/>
            <p:nvPr/>
          </p:nvPicPr>
          <p:blipFill rotWithShape="1">
            <a:blip r:embed="rId4">
              <a:alphaModFix/>
            </a:blip>
            <a:srcRect b="0" l="0" r="0" t="0"/>
            <a:stretch/>
          </p:blipFill>
          <p:spPr>
            <a:xfrm>
              <a:off x="5010150" y="200025"/>
              <a:ext cx="76200" cy="19200"/>
            </a:xfrm>
            <a:prstGeom prst="rect">
              <a:avLst/>
            </a:prstGeom>
            <a:noFill/>
            <a:ln>
              <a:noFill/>
            </a:ln>
          </p:spPr>
        </p:pic>
        <p:grpSp>
          <p:nvGrpSpPr>
            <p:cNvPr id="742" name="Google Shape;742;p39"/>
            <p:cNvGrpSpPr/>
            <p:nvPr/>
          </p:nvGrpSpPr>
          <p:grpSpPr>
            <a:xfrm>
              <a:off x="5143500" y="0"/>
              <a:ext cx="1524000" cy="419100"/>
              <a:chOff x="0" y="0"/>
              <a:chExt cx="1524000" cy="419100"/>
            </a:xfrm>
          </p:grpSpPr>
          <p:sp>
            <p:nvSpPr>
              <p:cNvPr id="743" name="Google Shape;743;p39"/>
              <p:cNvSpPr/>
              <p:nvPr/>
            </p:nvSpPr>
            <p:spPr>
              <a:xfrm>
                <a:off x="0" y="0"/>
                <a:ext cx="1524000" cy="419100"/>
              </a:xfrm>
              <a:prstGeom prst="roundRect">
                <a:avLst>
                  <a:gd fmla="val 1818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39"/>
              <p:cNvSpPr txBox="1"/>
              <p:nvPr/>
            </p:nvSpPr>
            <p:spPr>
              <a:xfrm>
                <a:off x="0" y="0"/>
                <a:ext cx="152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Poppins"/>
                    <a:ea typeface="Poppins"/>
                    <a:cs typeface="Poppins"/>
                    <a:sym typeface="Poppins"/>
                  </a:rPr>
                  <a:t>FY30</a:t>
                </a:r>
                <a:endParaRPr b="1" sz="1300">
                  <a:solidFill>
                    <a:srgbClr val="FFFFFF"/>
                  </a:solidFill>
                  <a:latin typeface="Poppins"/>
                  <a:ea typeface="Poppins"/>
                  <a:cs typeface="Poppins"/>
                  <a:sym typeface="Poppins"/>
                </a:endParaRPr>
              </a:p>
            </p:txBody>
          </p:sp>
        </p:grpSp>
        <p:pic>
          <p:nvPicPr>
            <p:cNvPr id="745" name="Google Shape;745;p39"/>
            <p:cNvPicPr preferRelativeResize="0"/>
            <p:nvPr/>
          </p:nvPicPr>
          <p:blipFill rotWithShape="1">
            <a:blip r:embed="rId4">
              <a:alphaModFix/>
            </a:blip>
            <a:srcRect b="0" l="0" r="0" t="0"/>
            <a:stretch/>
          </p:blipFill>
          <p:spPr>
            <a:xfrm>
              <a:off x="6724650" y="200025"/>
              <a:ext cx="76200" cy="19200"/>
            </a:xfrm>
            <a:prstGeom prst="rect">
              <a:avLst/>
            </a:prstGeom>
            <a:noFill/>
            <a:ln>
              <a:noFill/>
            </a:ln>
          </p:spPr>
        </p:pic>
        <p:grpSp>
          <p:nvGrpSpPr>
            <p:cNvPr id="746" name="Google Shape;746;p39"/>
            <p:cNvGrpSpPr/>
            <p:nvPr/>
          </p:nvGrpSpPr>
          <p:grpSpPr>
            <a:xfrm>
              <a:off x="6858000" y="0"/>
              <a:ext cx="1524000" cy="419100"/>
              <a:chOff x="0" y="0"/>
              <a:chExt cx="1524000" cy="419100"/>
            </a:xfrm>
          </p:grpSpPr>
          <p:sp>
            <p:nvSpPr>
              <p:cNvPr id="747" name="Google Shape;747;p39"/>
              <p:cNvSpPr/>
              <p:nvPr/>
            </p:nvSpPr>
            <p:spPr>
              <a:xfrm>
                <a:off x="0" y="0"/>
                <a:ext cx="1524000" cy="419100"/>
              </a:xfrm>
              <a:prstGeom prst="roundRect">
                <a:avLst>
                  <a:gd fmla="val 18181" name="adj"/>
                </a:avLst>
              </a:prstGeom>
              <a:solidFill>
                <a:srgbClr val="5A7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8" name="Google Shape;748;p39"/>
              <p:cNvSpPr txBox="1"/>
              <p:nvPr/>
            </p:nvSpPr>
            <p:spPr>
              <a:xfrm>
                <a:off x="0" y="0"/>
                <a:ext cx="152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Poppins"/>
                    <a:ea typeface="Poppins"/>
                    <a:cs typeface="Poppins"/>
                    <a:sym typeface="Poppins"/>
                  </a:rPr>
                  <a:t>Long-Term</a:t>
                </a:r>
                <a:endParaRPr b="1" sz="1300">
                  <a:solidFill>
                    <a:srgbClr val="FFFFFF"/>
                  </a:solidFill>
                  <a:latin typeface="Poppins"/>
                  <a:ea typeface="Poppins"/>
                  <a:cs typeface="Poppins"/>
                  <a:sym typeface="Poppins"/>
                </a:endParaRPr>
              </a:p>
            </p:txBody>
          </p:sp>
        </p:grpSp>
      </p:grpSp>
      <p:grpSp>
        <p:nvGrpSpPr>
          <p:cNvPr id="749" name="Google Shape;749;p39"/>
          <p:cNvGrpSpPr/>
          <p:nvPr/>
        </p:nvGrpSpPr>
        <p:grpSpPr>
          <a:xfrm>
            <a:off x="381000" y="1714500"/>
            <a:ext cx="8382000" cy="2238525"/>
            <a:chOff x="0" y="0"/>
            <a:chExt cx="8382000" cy="2238525"/>
          </a:xfrm>
        </p:grpSpPr>
        <p:grpSp>
          <p:nvGrpSpPr>
            <p:cNvPr id="750" name="Google Shape;750;p39"/>
            <p:cNvGrpSpPr/>
            <p:nvPr/>
          </p:nvGrpSpPr>
          <p:grpSpPr>
            <a:xfrm>
              <a:off x="0" y="0"/>
              <a:ext cx="2628900" cy="1047900"/>
              <a:chOff x="0" y="0"/>
              <a:chExt cx="2628900" cy="1047900"/>
            </a:xfrm>
          </p:grpSpPr>
          <p:sp>
            <p:nvSpPr>
              <p:cNvPr id="751" name="Google Shape;751;p39"/>
              <p:cNvSpPr/>
              <p:nvPr/>
            </p:nvSpPr>
            <p:spPr>
              <a:xfrm>
                <a:off x="0" y="0"/>
                <a:ext cx="26289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2" name="Google Shape;752;p39"/>
              <p:cNvSpPr/>
              <p:nvPr/>
            </p:nvSpPr>
            <p:spPr>
              <a:xfrm>
                <a:off x="0" y="0"/>
                <a:ext cx="47700" cy="1047900"/>
              </a:xfrm>
              <a:prstGeom prst="roundRect">
                <a:avLst>
                  <a:gd fmla="val 4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39"/>
              <p:cNvSpPr txBox="1"/>
              <p:nvPr/>
            </p:nvSpPr>
            <p:spPr>
              <a:xfrm>
                <a:off x="190500" y="0"/>
                <a:ext cx="2295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Student impact</a:t>
                </a:r>
                <a:endParaRPr b="1" sz="1100">
                  <a:solidFill>
                    <a:srgbClr val="1B3859"/>
                  </a:solidFill>
                  <a:latin typeface="Poppins"/>
                  <a:ea typeface="Poppins"/>
                  <a:cs typeface="Poppins"/>
                  <a:sym typeface="Poppins"/>
                </a:endParaRPr>
              </a:p>
              <a:p>
                <a:pPr indent="0" lvl="0" marL="0" rtl="0" algn="l">
                  <a:spcBef>
                    <a:spcPts val="400"/>
                  </a:spcBef>
                  <a:spcAft>
                    <a:spcPts val="0"/>
                  </a:spcAft>
                  <a:buNone/>
                </a:pPr>
                <a:r>
                  <a:rPr b="0" lang="en" sz="850">
                    <a:solidFill>
                      <a:srgbClr val="475569"/>
                    </a:solidFill>
                    <a:latin typeface="Poppins"/>
                    <a:ea typeface="Poppins"/>
                    <a:cs typeface="Poppins"/>
                    <a:sym typeface="Poppins"/>
                  </a:rPr>
                  <a:t>How does the decision affect students and programs?</a:t>
                </a:r>
                <a:endParaRPr b="0" sz="850">
                  <a:solidFill>
                    <a:srgbClr val="475569"/>
                  </a:solidFill>
                  <a:latin typeface="Poppins"/>
                  <a:ea typeface="Poppins"/>
                  <a:cs typeface="Poppins"/>
                  <a:sym typeface="Poppins"/>
                </a:endParaRPr>
              </a:p>
            </p:txBody>
          </p:sp>
        </p:grpSp>
        <p:grpSp>
          <p:nvGrpSpPr>
            <p:cNvPr id="754" name="Google Shape;754;p39"/>
            <p:cNvGrpSpPr/>
            <p:nvPr/>
          </p:nvGrpSpPr>
          <p:grpSpPr>
            <a:xfrm>
              <a:off x="2876550" y="0"/>
              <a:ext cx="2628900" cy="1047900"/>
              <a:chOff x="0" y="0"/>
              <a:chExt cx="2628900" cy="1047900"/>
            </a:xfrm>
          </p:grpSpPr>
          <p:sp>
            <p:nvSpPr>
              <p:cNvPr id="755" name="Google Shape;755;p39"/>
              <p:cNvSpPr/>
              <p:nvPr/>
            </p:nvSpPr>
            <p:spPr>
              <a:xfrm>
                <a:off x="0" y="0"/>
                <a:ext cx="26289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6" name="Google Shape;756;p39"/>
              <p:cNvSpPr/>
              <p:nvPr/>
            </p:nvSpPr>
            <p:spPr>
              <a:xfrm>
                <a:off x="0" y="0"/>
                <a:ext cx="47700" cy="1047900"/>
              </a:xfrm>
              <a:prstGeom prst="roundRect">
                <a:avLst>
                  <a:gd fmla="val 40000" name="adj"/>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7" name="Google Shape;757;p39"/>
              <p:cNvSpPr txBox="1"/>
              <p:nvPr/>
            </p:nvSpPr>
            <p:spPr>
              <a:xfrm>
                <a:off x="190500" y="0"/>
                <a:ext cx="2295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Educational impact</a:t>
                </a:r>
                <a:endParaRPr b="1" sz="1100">
                  <a:solidFill>
                    <a:srgbClr val="1B3859"/>
                  </a:solidFill>
                  <a:latin typeface="Poppins"/>
                  <a:ea typeface="Poppins"/>
                  <a:cs typeface="Poppins"/>
                  <a:sym typeface="Poppins"/>
                </a:endParaRPr>
              </a:p>
              <a:p>
                <a:pPr indent="0" lvl="0" marL="0" rtl="0" algn="l">
                  <a:spcBef>
                    <a:spcPts val="400"/>
                  </a:spcBef>
                  <a:spcAft>
                    <a:spcPts val="0"/>
                  </a:spcAft>
                  <a:buNone/>
                </a:pPr>
                <a:r>
                  <a:rPr b="0" lang="en" sz="850">
                    <a:solidFill>
                      <a:srgbClr val="475569"/>
                    </a:solidFill>
                    <a:latin typeface="Poppins"/>
                    <a:ea typeface="Poppins"/>
                    <a:cs typeface="Poppins"/>
                    <a:sym typeface="Poppins"/>
                  </a:rPr>
                  <a:t>What changes to services, staffing, or opportunities result?</a:t>
                </a:r>
                <a:endParaRPr b="0" sz="850">
                  <a:solidFill>
                    <a:srgbClr val="475569"/>
                  </a:solidFill>
                  <a:latin typeface="Poppins"/>
                  <a:ea typeface="Poppins"/>
                  <a:cs typeface="Poppins"/>
                  <a:sym typeface="Poppins"/>
                </a:endParaRPr>
              </a:p>
            </p:txBody>
          </p:sp>
        </p:grpSp>
        <p:grpSp>
          <p:nvGrpSpPr>
            <p:cNvPr id="758" name="Google Shape;758;p39"/>
            <p:cNvGrpSpPr/>
            <p:nvPr/>
          </p:nvGrpSpPr>
          <p:grpSpPr>
            <a:xfrm>
              <a:off x="5753100" y="0"/>
              <a:ext cx="2628900" cy="1047900"/>
              <a:chOff x="0" y="0"/>
              <a:chExt cx="2628900" cy="1047900"/>
            </a:xfrm>
          </p:grpSpPr>
          <p:sp>
            <p:nvSpPr>
              <p:cNvPr id="759" name="Google Shape;759;p39"/>
              <p:cNvSpPr/>
              <p:nvPr/>
            </p:nvSpPr>
            <p:spPr>
              <a:xfrm>
                <a:off x="0" y="0"/>
                <a:ext cx="26289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0" name="Google Shape;760;p39"/>
              <p:cNvSpPr/>
              <p:nvPr/>
            </p:nvSpPr>
            <p:spPr>
              <a:xfrm>
                <a:off x="0" y="0"/>
                <a:ext cx="47700" cy="1047900"/>
              </a:xfrm>
              <a:prstGeom prst="roundRect">
                <a:avLst>
                  <a:gd fmla="val 40000"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1" name="Google Shape;761;p39"/>
              <p:cNvSpPr txBox="1"/>
              <p:nvPr/>
            </p:nvSpPr>
            <p:spPr>
              <a:xfrm>
                <a:off x="190500" y="0"/>
                <a:ext cx="2295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Operational impact</a:t>
                </a:r>
                <a:endParaRPr b="1" sz="1100">
                  <a:solidFill>
                    <a:srgbClr val="1B3859"/>
                  </a:solidFill>
                  <a:latin typeface="Poppins"/>
                  <a:ea typeface="Poppins"/>
                  <a:cs typeface="Poppins"/>
                  <a:sym typeface="Poppins"/>
                </a:endParaRPr>
              </a:p>
              <a:p>
                <a:pPr indent="0" lvl="0" marL="0" rtl="0" algn="l">
                  <a:spcBef>
                    <a:spcPts val="400"/>
                  </a:spcBef>
                  <a:spcAft>
                    <a:spcPts val="0"/>
                  </a:spcAft>
                  <a:buNone/>
                </a:pPr>
                <a:r>
                  <a:rPr b="0" lang="en" sz="850">
                    <a:solidFill>
                      <a:srgbClr val="475569"/>
                    </a:solidFill>
                    <a:latin typeface="Poppins"/>
                    <a:ea typeface="Poppins"/>
                    <a:cs typeface="Poppins"/>
                    <a:sym typeface="Poppins"/>
                  </a:rPr>
                  <a:t>What does it mean for buildings, transportation, technology, and operations?</a:t>
                </a:r>
                <a:endParaRPr b="0" sz="850">
                  <a:solidFill>
                    <a:srgbClr val="475569"/>
                  </a:solidFill>
                  <a:latin typeface="Poppins"/>
                  <a:ea typeface="Poppins"/>
                  <a:cs typeface="Poppins"/>
                  <a:sym typeface="Poppins"/>
                </a:endParaRPr>
              </a:p>
            </p:txBody>
          </p:sp>
        </p:grpSp>
        <p:grpSp>
          <p:nvGrpSpPr>
            <p:cNvPr id="762" name="Google Shape;762;p39"/>
            <p:cNvGrpSpPr/>
            <p:nvPr/>
          </p:nvGrpSpPr>
          <p:grpSpPr>
            <a:xfrm>
              <a:off x="0" y="1190625"/>
              <a:ext cx="2628900" cy="1047900"/>
              <a:chOff x="0" y="0"/>
              <a:chExt cx="2628900" cy="1047900"/>
            </a:xfrm>
          </p:grpSpPr>
          <p:sp>
            <p:nvSpPr>
              <p:cNvPr id="763" name="Google Shape;763;p39"/>
              <p:cNvSpPr/>
              <p:nvPr/>
            </p:nvSpPr>
            <p:spPr>
              <a:xfrm>
                <a:off x="0" y="0"/>
                <a:ext cx="26289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4" name="Google Shape;764;p39"/>
              <p:cNvSpPr/>
              <p:nvPr/>
            </p:nvSpPr>
            <p:spPr>
              <a:xfrm>
                <a:off x="0" y="0"/>
                <a:ext cx="47700" cy="1047900"/>
              </a:xfrm>
              <a:prstGeom prst="roundRect">
                <a:avLst>
                  <a:gd fmla="val 4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5" name="Google Shape;765;p39"/>
              <p:cNvSpPr txBox="1"/>
              <p:nvPr/>
            </p:nvSpPr>
            <p:spPr>
              <a:xfrm>
                <a:off x="190500" y="0"/>
                <a:ext cx="2295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Financial impact</a:t>
                </a:r>
                <a:endParaRPr b="1" sz="1100">
                  <a:solidFill>
                    <a:srgbClr val="1B3859"/>
                  </a:solidFill>
                  <a:latin typeface="Poppins"/>
                  <a:ea typeface="Poppins"/>
                  <a:cs typeface="Poppins"/>
                  <a:sym typeface="Poppins"/>
                </a:endParaRPr>
              </a:p>
              <a:p>
                <a:pPr indent="0" lvl="0" marL="0" rtl="0" algn="l">
                  <a:spcBef>
                    <a:spcPts val="400"/>
                  </a:spcBef>
                  <a:spcAft>
                    <a:spcPts val="0"/>
                  </a:spcAft>
                  <a:buNone/>
                </a:pPr>
                <a:r>
                  <a:rPr b="0" lang="en" sz="850">
                    <a:solidFill>
                      <a:srgbClr val="475569"/>
                    </a:solidFill>
                    <a:latin typeface="Poppins"/>
                    <a:ea typeface="Poppins"/>
                    <a:cs typeface="Poppins"/>
                    <a:sym typeface="Poppins"/>
                  </a:rPr>
                  <a:t>What does it mean for future budgets and reserves?</a:t>
                </a:r>
                <a:endParaRPr b="0" sz="850">
                  <a:solidFill>
                    <a:srgbClr val="475569"/>
                  </a:solidFill>
                  <a:latin typeface="Poppins"/>
                  <a:ea typeface="Poppins"/>
                  <a:cs typeface="Poppins"/>
                  <a:sym typeface="Poppins"/>
                </a:endParaRPr>
              </a:p>
            </p:txBody>
          </p:sp>
        </p:grpSp>
        <p:grpSp>
          <p:nvGrpSpPr>
            <p:cNvPr id="766" name="Google Shape;766;p39"/>
            <p:cNvGrpSpPr/>
            <p:nvPr/>
          </p:nvGrpSpPr>
          <p:grpSpPr>
            <a:xfrm>
              <a:off x="2876550" y="1190625"/>
              <a:ext cx="2628900" cy="1047900"/>
              <a:chOff x="0" y="0"/>
              <a:chExt cx="2628900" cy="1047900"/>
            </a:xfrm>
          </p:grpSpPr>
          <p:sp>
            <p:nvSpPr>
              <p:cNvPr id="767" name="Google Shape;767;p39"/>
              <p:cNvSpPr/>
              <p:nvPr/>
            </p:nvSpPr>
            <p:spPr>
              <a:xfrm>
                <a:off x="0" y="0"/>
                <a:ext cx="26289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8" name="Google Shape;768;p39"/>
              <p:cNvSpPr/>
              <p:nvPr/>
            </p:nvSpPr>
            <p:spPr>
              <a:xfrm>
                <a:off x="0" y="0"/>
                <a:ext cx="47700" cy="1047900"/>
              </a:xfrm>
              <a:prstGeom prst="roundRect">
                <a:avLst>
                  <a:gd fmla="val 40000" name="adj"/>
                </a:avLst>
              </a:prstGeom>
              <a:solidFill>
                <a:srgbClr val="5A7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9" name="Google Shape;769;p39"/>
              <p:cNvSpPr txBox="1"/>
              <p:nvPr/>
            </p:nvSpPr>
            <p:spPr>
              <a:xfrm>
                <a:off x="190500" y="0"/>
                <a:ext cx="2295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Taxpayer impact</a:t>
                </a:r>
                <a:endParaRPr b="1" sz="1100">
                  <a:solidFill>
                    <a:srgbClr val="1B3859"/>
                  </a:solidFill>
                  <a:latin typeface="Poppins"/>
                  <a:ea typeface="Poppins"/>
                  <a:cs typeface="Poppins"/>
                  <a:sym typeface="Poppins"/>
                </a:endParaRPr>
              </a:p>
              <a:p>
                <a:pPr indent="0" lvl="0" marL="0" rtl="0" algn="l">
                  <a:spcBef>
                    <a:spcPts val="400"/>
                  </a:spcBef>
                  <a:spcAft>
                    <a:spcPts val="0"/>
                  </a:spcAft>
                  <a:buNone/>
                </a:pPr>
                <a:r>
                  <a:rPr b="0" lang="en" sz="850">
                    <a:solidFill>
                      <a:srgbClr val="475569"/>
                    </a:solidFill>
                    <a:latin typeface="Poppins"/>
                    <a:ea typeface="Poppins"/>
                    <a:cs typeface="Poppins"/>
                    <a:sym typeface="Poppins"/>
                  </a:rPr>
                  <a:t>What are the implications for local taxpayers and communities?</a:t>
                </a:r>
                <a:endParaRPr b="0" sz="850">
                  <a:solidFill>
                    <a:srgbClr val="475569"/>
                  </a:solidFill>
                  <a:latin typeface="Poppins"/>
                  <a:ea typeface="Poppins"/>
                  <a:cs typeface="Poppins"/>
                  <a:sym typeface="Poppins"/>
                </a:endParaRPr>
              </a:p>
            </p:txBody>
          </p:sp>
        </p:grpSp>
        <p:grpSp>
          <p:nvGrpSpPr>
            <p:cNvPr id="770" name="Google Shape;770;p39"/>
            <p:cNvGrpSpPr/>
            <p:nvPr/>
          </p:nvGrpSpPr>
          <p:grpSpPr>
            <a:xfrm>
              <a:off x="5753100" y="1190625"/>
              <a:ext cx="2628900" cy="1047900"/>
              <a:chOff x="0" y="0"/>
              <a:chExt cx="2628900" cy="1047900"/>
            </a:xfrm>
          </p:grpSpPr>
          <p:sp>
            <p:nvSpPr>
              <p:cNvPr id="771" name="Google Shape;771;p39"/>
              <p:cNvSpPr/>
              <p:nvPr/>
            </p:nvSpPr>
            <p:spPr>
              <a:xfrm>
                <a:off x="0" y="0"/>
                <a:ext cx="26289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2" name="Google Shape;772;p39"/>
              <p:cNvSpPr/>
              <p:nvPr/>
            </p:nvSpPr>
            <p:spPr>
              <a:xfrm>
                <a:off x="0" y="0"/>
                <a:ext cx="47700" cy="1047900"/>
              </a:xfrm>
              <a:prstGeom prst="roundRect">
                <a:avLst>
                  <a:gd fmla="val 40000" name="adj"/>
                </a:avLst>
              </a:prstGeom>
              <a:solidFill>
                <a:srgbClr val="44AA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3" name="Google Shape;773;p39"/>
              <p:cNvSpPr txBox="1"/>
              <p:nvPr/>
            </p:nvSpPr>
            <p:spPr>
              <a:xfrm>
                <a:off x="190500" y="0"/>
                <a:ext cx="2295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Sustainability</a:t>
                </a:r>
                <a:endParaRPr b="1" sz="1100">
                  <a:solidFill>
                    <a:srgbClr val="1B3859"/>
                  </a:solidFill>
                  <a:latin typeface="Poppins"/>
                  <a:ea typeface="Poppins"/>
                  <a:cs typeface="Poppins"/>
                  <a:sym typeface="Poppins"/>
                </a:endParaRPr>
              </a:p>
              <a:p>
                <a:pPr indent="0" lvl="0" marL="0" rtl="0" algn="l">
                  <a:spcBef>
                    <a:spcPts val="400"/>
                  </a:spcBef>
                  <a:spcAft>
                    <a:spcPts val="0"/>
                  </a:spcAft>
                  <a:buNone/>
                </a:pPr>
                <a:r>
                  <a:rPr b="0" lang="en" sz="850">
                    <a:solidFill>
                      <a:srgbClr val="475569"/>
                    </a:solidFill>
                    <a:latin typeface="Poppins"/>
                    <a:ea typeface="Poppins"/>
                    <a:cs typeface="Poppins"/>
                    <a:sym typeface="Poppins"/>
                  </a:rPr>
                  <a:t>Can the District maintain the decision over time?</a:t>
                </a:r>
                <a:endParaRPr b="0" sz="850">
                  <a:solidFill>
                    <a:srgbClr val="475569"/>
                  </a:solidFill>
                  <a:latin typeface="Poppins"/>
                  <a:ea typeface="Poppins"/>
                  <a:cs typeface="Poppins"/>
                  <a:sym typeface="Poppins"/>
                </a:endParaRPr>
              </a:p>
            </p:txBody>
          </p:sp>
        </p:grpSp>
      </p:grpSp>
      <p:grpSp>
        <p:nvGrpSpPr>
          <p:cNvPr id="774" name="Google Shape;774;p39"/>
          <p:cNvGrpSpPr/>
          <p:nvPr/>
        </p:nvGrpSpPr>
        <p:grpSpPr>
          <a:xfrm>
            <a:off x="381000" y="4143375"/>
            <a:ext cx="8382000" cy="523800"/>
            <a:chOff x="0" y="0"/>
            <a:chExt cx="8382000" cy="523800"/>
          </a:xfrm>
        </p:grpSpPr>
        <p:sp>
          <p:nvSpPr>
            <p:cNvPr id="775" name="Google Shape;775;p39"/>
            <p:cNvSpPr/>
            <p:nvPr/>
          </p:nvSpPr>
          <p:spPr>
            <a:xfrm>
              <a:off x="0" y="0"/>
              <a:ext cx="8382000" cy="523800"/>
            </a:xfrm>
            <a:prstGeom prst="roundRect">
              <a:avLst>
                <a:gd fmla="val 1818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6" name="Google Shape;776;p39"/>
            <p:cNvSpPr txBox="1"/>
            <p:nvPr/>
          </p:nvSpPr>
          <p:spPr>
            <a:xfrm>
              <a:off x="0" y="0"/>
              <a:ext cx="8382000" cy="5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A budget for one year is only one part of a sustainable financial plan.</a:t>
              </a:r>
              <a:endParaRPr b="1" sz="1100">
                <a:solidFill>
                  <a:srgbClr val="FFFFFF"/>
                </a:solidFill>
                <a:latin typeface="Poppins"/>
                <a:ea typeface="Poppins"/>
                <a:cs typeface="Poppins"/>
                <a:sym typeface="Poppi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0" name="Shape 780"/>
        <p:cNvGrpSpPr/>
        <p:nvPr/>
      </p:nvGrpSpPr>
      <p:grpSpPr>
        <a:xfrm>
          <a:off x="0" y="0"/>
          <a:ext cx="0" cy="0"/>
          <a:chOff x="0" y="0"/>
          <a:chExt cx="0" cy="0"/>
        </a:xfrm>
      </p:grpSpPr>
      <p:sp>
        <p:nvSpPr>
          <p:cNvPr id="781" name="Google Shape;781;p40"/>
          <p:cNvSpPr txBox="1"/>
          <p:nvPr/>
        </p:nvSpPr>
        <p:spPr>
          <a:xfrm>
            <a:off x="381000" y="333375"/>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HUUSD K-12 Enrollment: 2009–10 to 2025–26</a:t>
            </a:r>
            <a:endParaRPr b="0" sz="22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475569"/>
                </a:solidFill>
                <a:latin typeface="Poppins"/>
                <a:ea typeface="Poppins"/>
                <a:cs typeface="Poppins"/>
                <a:sym typeface="Poppins"/>
              </a:rPr>
              <a:t>Total enrollment has declined by 349 students (18.0%) since 2009–10.</a:t>
            </a:r>
            <a:endParaRPr b="0" sz="1100">
              <a:solidFill>
                <a:srgbClr val="475569"/>
              </a:solidFill>
              <a:latin typeface="Poppins"/>
              <a:ea typeface="Poppins"/>
              <a:cs typeface="Poppins"/>
              <a:sym typeface="Poppins"/>
            </a:endParaRPr>
          </a:p>
        </p:txBody>
      </p:sp>
      <p:grpSp>
        <p:nvGrpSpPr>
          <p:cNvPr id="782" name="Google Shape;782;p40"/>
          <p:cNvGrpSpPr/>
          <p:nvPr/>
        </p:nvGrpSpPr>
        <p:grpSpPr>
          <a:xfrm>
            <a:off x="6286500" y="1095375"/>
            <a:ext cx="2476500" cy="1381200"/>
            <a:chOff x="0" y="0"/>
            <a:chExt cx="2476500" cy="1381200"/>
          </a:xfrm>
        </p:grpSpPr>
        <p:sp>
          <p:nvSpPr>
            <p:cNvPr id="783" name="Google Shape;783;p40"/>
            <p:cNvSpPr/>
            <p:nvPr/>
          </p:nvSpPr>
          <p:spPr>
            <a:xfrm>
              <a:off x="0" y="0"/>
              <a:ext cx="24765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4" name="Google Shape;784;p40"/>
            <p:cNvSpPr/>
            <p:nvPr/>
          </p:nvSpPr>
          <p:spPr>
            <a:xfrm>
              <a:off x="0" y="0"/>
              <a:ext cx="57300" cy="1381200"/>
            </a:xfrm>
            <a:prstGeom prst="roundRect">
              <a:avLst>
                <a:gd fmla="val 50000" name="adj"/>
              </a:avLst>
            </a:prstGeom>
            <a:solidFill>
              <a:srgbClr val="B446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40"/>
            <p:cNvSpPr txBox="1"/>
            <p:nvPr/>
          </p:nvSpPr>
          <p:spPr>
            <a:xfrm>
              <a:off x="171450" y="0"/>
              <a:ext cx="21336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748B"/>
                  </a:solidFill>
                  <a:latin typeface="Poppins"/>
                  <a:ea typeface="Poppins"/>
                  <a:cs typeface="Poppins"/>
                  <a:sym typeface="Poppins"/>
                </a:rPr>
                <a:t>Overall Decline</a:t>
              </a:r>
              <a:endParaRPr b="1" sz="900">
                <a:solidFill>
                  <a:srgbClr val="64748B"/>
                </a:solidFill>
                <a:latin typeface="Poppins"/>
                <a:ea typeface="Poppins"/>
                <a:cs typeface="Poppins"/>
                <a:sym typeface="Poppins"/>
              </a:endParaRPr>
            </a:p>
            <a:p>
              <a:pPr indent="0" lvl="0" marL="0" rtl="0" algn="l">
                <a:spcBef>
                  <a:spcPts val="150"/>
                </a:spcBef>
                <a:spcAft>
                  <a:spcPts val="0"/>
                </a:spcAft>
                <a:buNone/>
              </a:pPr>
              <a:r>
                <a:rPr b="0" lang="en" sz="2600">
                  <a:solidFill>
                    <a:srgbClr val="1B3859"/>
                  </a:solidFill>
                  <a:latin typeface="Poppins ExtraBold"/>
                  <a:ea typeface="Poppins ExtraBold"/>
                  <a:cs typeface="Poppins ExtraBold"/>
                  <a:sym typeface="Poppins ExtraBold"/>
                </a:rPr>
                <a:t>18.0%</a:t>
              </a:r>
              <a:endParaRPr b="0" sz="2600">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b="0" lang="en" sz="950">
                  <a:solidFill>
                    <a:srgbClr val="475569"/>
                  </a:solidFill>
                  <a:latin typeface="Poppins"/>
                  <a:ea typeface="Poppins"/>
                  <a:cs typeface="Poppins"/>
                  <a:sym typeface="Poppins"/>
                </a:rPr>
                <a:t>Representing </a:t>
              </a:r>
              <a:r>
                <a:rPr b="1" lang="en" sz="950">
                  <a:solidFill>
                    <a:srgbClr val="1B3859"/>
                  </a:solidFill>
                  <a:latin typeface="Poppins"/>
                  <a:ea typeface="Poppins"/>
                  <a:cs typeface="Poppins"/>
                  <a:sym typeface="Poppins"/>
                </a:rPr>
                <a:t>349 fewer students</a:t>
              </a:r>
              <a:r>
                <a:rPr b="0" lang="en" sz="950">
                  <a:solidFill>
                    <a:srgbClr val="475569"/>
                  </a:solidFill>
                  <a:latin typeface="Poppins"/>
                  <a:ea typeface="Poppins"/>
                  <a:cs typeface="Poppins"/>
                  <a:sym typeface="Poppins"/>
                </a:rPr>
                <a:t> than the 2009–10 peak of 1,940.</a:t>
              </a:r>
              <a:endParaRPr b="0" sz="950">
                <a:solidFill>
                  <a:srgbClr val="475569"/>
                </a:solidFill>
                <a:latin typeface="Poppins"/>
                <a:ea typeface="Poppins"/>
                <a:cs typeface="Poppins"/>
                <a:sym typeface="Poppins"/>
              </a:endParaRPr>
            </a:p>
          </p:txBody>
        </p:sp>
      </p:grpSp>
      <p:grpSp>
        <p:nvGrpSpPr>
          <p:cNvPr id="786" name="Google Shape;786;p40"/>
          <p:cNvGrpSpPr/>
          <p:nvPr/>
        </p:nvGrpSpPr>
        <p:grpSpPr>
          <a:xfrm>
            <a:off x="6286500" y="2619375"/>
            <a:ext cx="2476500" cy="1381200"/>
            <a:chOff x="0" y="0"/>
            <a:chExt cx="2476500" cy="1381200"/>
          </a:xfrm>
        </p:grpSpPr>
        <p:sp>
          <p:nvSpPr>
            <p:cNvPr id="787" name="Google Shape;787;p40"/>
            <p:cNvSpPr/>
            <p:nvPr/>
          </p:nvSpPr>
          <p:spPr>
            <a:xfrm>
              <a:off x="0" y="0"/>
              <a:ext cx="24765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40"/>
            <p:cNvSpPr/>
            <p:nvPr/>
          </p:nvSpPr>
          <p:spPr>
            <a:xfrm>
              <a:off x="0" y="0"/>
              <a:ext cx="57300" cy="13812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9" name="Google Shape;789;p40"/>
            <p:cNvSpPr txBox="1"/>
            <p:nvPr/>
          </p:nvSpPr>
          <p:spPr>
            <a:xfrm>
              <a:off x="171450" y="0"/>
              <a:ext cx="21336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748B"/>
                  </a:solidFill>
                  <a:latin typeface="Poppins"/>
                  <a:ea typeface="Poppins"/>
                  <a:cs typeface="Poppins"/>
                  <a:sym typeface="Poppins"/>
                </a:rPr>
                <a:t>Recent 10-Year Trend</a:t>
              </a:r>
              <a:endParaRPr b="1" sz="900">
                <a:solidFill>
                  <a:srgbClr val="64748B"/>
                </a:solidFill>
                <a:latin typeface="Poppins"/>
                <a:ea typeface="Poppins"/>
                <a:cs typeface="Poppins"/>
                <a:sym typeface="Poppins"/>
              </a:endParaRPr>
            </a:p>
            <a:p>
              <a:pPr indent="0" lvl="0" marL="0" rtl="0" algn="l">
                <a:spcBef>
                  <a:spcPts val="150"/>
                </a:spcBef>
                <a:spcAft>
                  <a:spcPts val="0"/>
                </a:spcAft>
                <a:buNone/>
              </a:pPr>
              <a:r>
                <a:rPr b="0" lang="en" sz="2600">
                  <a:solidFill>
                    <a:srgbClr val="1B3859"/>
                  </a:solidFill>
                  <a:latin typeface="Poppins ExtraBold"/>
                  <a:ea typeface="Poppins ExtraBold"/>
                  <a:cs typeface="Poppins ExtraBold"/>
                  <a:sym typeface="Poppins ExtraBold"/>
                </a:rPr>
                <a:t>-354</a:t>
              </a:r>
              <a:endParaRPr b="0" sz="2600">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b="0" lang="en" sz="950">
                  <a:solidFill>
                    <a:srgbClr val="475569"/>
                  </a:solidFill>
                  <a:latin typeface="Poppins"/>
                  <a:ea typeface="Poppins"/>
                  <a:cs typeface="Poppins"/>
                  <a:sym typeface="Poppins"/>
                </a:rPr>
                <a:t>Net student decline from 2015–16 to 2025–26 (currently at 1,591).</a:t>
              </a:r>
              <a:endParaRPr b="0" sz="950">
                <a:solidFill>
                  <a:srgbClr val="475569"/>
                </a:solidFill>
                <a:latin typeface="Poppins"/>
                <a:ea typeface="Poppins"/>
                <a:cs typeface="Poppins"/>
                <a:sym typeface="Poppins"/>
              </a:endParaRPr>
            </a:p>
          </p:txBody>
        </p:sp>
      </p:grpSp>
      <p:grpSp>
        <p:nvGrpSpPr>
          <p:cNvPr id="790" name="Google Shape;790;p40"/>
          <p:cNvGrpSpPr/>
          <p:nvPr/>
        </p:nvGrpSpPr>
        <p:grpSpPr>
          <a:xfrm>
            <a:off x="381000" y="4191000"/>
            <a:ext cx="8382000" cy="523800"/>
            <a:chOff x="0" y="0"/>
            <a:chExt cx="8382000" cy="523800"/>
          </a:xfrm>
        </p:grpSpPr>
        <p:sp>
          <p:nvSpPr>
            <p:cNvPr id="791" name="Google Shape;791;p40"/>
            <p:cNvSpPr/>
            <p:nvPr/>
          </p:nvSpPr>
          <p:spPr>
            <a:xfrm>
              <a:off x="0" y="0"/>
              <a:ext cx="8382000" cy="523800"/>
            </a:xfrm>
            <a:prstGeom prst="roundRect">
              <a:avLst>
                <a:gd fmla="val 1818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40"/>
            <p:cNvSpPr txBox="1"/>
            <p:nvPr/>
          </p:nvSpPr>
          <p:spPr>
            <a:xfrm>
              <a:off x="190500" y="0"/>
              <a:ext cx="8001000" cy="5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50">
                  <a:solidFill>
                    <a:srgbClr val="FFFFFF"/>
                  </a:solidFill>
                  <a:latin typeface="Poppins SemiBold"/>
                  <a:ea typeface="Poppins SemiBold"/>
                  <a:cs typeface="Poppins SemiBold"/>
                  <a:sym typeface="Poppins SemiBold"/>
                </a:rPr>
                <a:t>Pattern: enrollment fell steadily through the 2010s, dropped notably in 2020–21, and has remained near 1,600 students since.</a:t>
              </a:r>
              <a:endParaRPr b="0" sz="1050">
                <a:solidFill>
                  <a:srgbClr val="FFFFFF"/>
                </a:solidFill>
                <a:latin typeface="Poppins SemiBold"/>
                <a:ea typeface="Poppins SemiBold"/>
                <a:cs typeface="Poppins SemiBold"/>
                <a:sym typeface="Poppins SemiBold"/>
              </a:endParaRPr>
            </a:p>
          </p:txBody>
        </p:sp>
      </p:grpSp>
      <p:pic>
        <p:nvPicPr>
          <p:cNvPr id="793" name="Google Shape;793;p40"/>
          <p:cNvPicPr preferRelativeResize="0"/>
          <p:nvPr/>
        </p:nvPicPr>
        <p:blipFill>
          <a:blip r:embed="rId4">
            <a:alphaModFix/>
          </a:blip>
          <a:stretch>
            <a:fillRect/>
          </a:stretch>
        </p:blipFill>
        <p:spPr>
          <a:xfrm>
            <a:off x="310748" y="932050"/>
            <a:ext cx="5755853" cy="3196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7" name="Shape 797"/>
        <p:cNvGrpSpPr/>
        <p:nvPr/>
      </p:nvGrpSpPr>
      <p:grpSpPr>
        <a:xfrm>
          <a:off x="0" y="0"/>
          <a:ext cx="0" cy="0"/>
          <a:chOff x="0" y="0"/>
          <a:chExt cx="0" cy="0"/>
        </a:xfrm>
      </p:grpSpPr>
      <p:grpSp>
        <p:nvGrpSpPr>
          <p:cNvPr id="798" name="Google Shape;798;p41"/>
          <p:cNvGrpSpPr/>
          <p:nvPr/>
        </p:nvGrpSpPr>
        <p:grpSpPr>
          <a:xfrm>
            <a:off x="381000" y="333375"/>
            <a:ext cx="8382000" cy="762000"/>
            <a:chOff x="0" y="0"/>
            <a:chExt cx="8382000" cy="762000"/>
          </a:xfrm>
        </p:grpSpPr>
        <p:sp>
          <p:nvSpPr>
            <p:cNvPr id="799" name="Google Shape;799;p41"/>
            <p:cNvSpPr/>
            <p:nvPr/>
          </p:nvSpPr>
          <p:spPr>
            <a:xfrm>
              <a:off x="0" y="0"/>
              <a:ext cx="838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0" name="Google Shape;800;p41"/>
            <p:cNvSpPr txBox="1"/>
            <p:nvPr/>
          </p:nvSpPr>
          <p:spPr>
            <a:xfrm>
              <a:off x="0" y="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Enrollment Change by Campus: 2009–10 to 2025–26</a:t>
              </a:r>
              <a:endParaRPr b="0" sz="22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475569"/>
                  </a:solidFill>
                  <a:latin typeface="Poppins"/>
                  <a:ea typeface="Poppins"/>
                  <a:cs typeface="Poppins"/>
                  <a:sym typeface="Poppins"/>
                </a:rPr>
                <a:t>Comparing campus-level shifts that contribute to the overall 18.0% district decline.</a:t>
              </a:r>
              <a:endParaRPr b="0" sz="1100">
                <a:solidFill>
                  <a:srgbClr val="475569"/>
                </a:solidFill>
                <a:latin typeface="Poppins"/>
                <a:ea typeface="Poppins"/>
                <a:cs typeface="Poppins"/>
                <a:sym typeface="Poppins"/>
              </a:endParaRPr>
            </a:p>
          </p:txBody>
        </p:sp>
      </p:grpSp>
      <p:sp>
        <p:nvSpPr>
          <p:cNvPr id="801" name="Google Shape;801;p41"/>
          <p:cNvSpPr/>
          <p:nvPr/>
        </p:nvSpPr>
        <p:spPr>
          <a:xfrm>
            <a:off x="381000" y="1095375"/>
            <a:ext cx="8382000" cy="2952900"/>
          </a:xfrm>
          <a:prstGeom prst="roundRect">
            <a:avLst>
              <a:gd fmla="val 322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aphicFrame>
        <p:nvGraphicFramePr>
          <p:cNvPr id="802" name="Google Shape;802;p41"/>
          <p:cNvGraphicFramePr/>
          <p:nvPr/>
        </p:nvGraphicFramePr>
        <p:xfrm>
          <a:off x="523875" y="1238250"/>
          <a:ext cx="3000000" cy="3000000"/>
        </p:xfrm>
        <a:graphic>
          <a:graphicData uri="http://schemas.openxmlformats.org/drawingml/2006/table">
            <a:tbl>
              <a:tblPr>
                <a:noFill/>
                <a:tableStyleId>{E1922B52-F810-4ECE-AA54-C31FA968E27D}</a:tableStyleId>
              </a:tblPr>
              <a:tblGrid>
                <a:gridCol w="1835150"/>
                <a:gridCol w="1403350"/>
                <a:gridCol w="1403350"/>
                <a:gridCol w="1835150"/>
                <a:gridCol w="1619250"/>
              </a:tblGrid>
              <a:tr h="328250">
                <a:tc>
                  <a:txBody>
                    <a:bodyPr/>
                    <a:lstStyle/>
                    <a:p>
                      <a:pPr indent="0" lvl="0" marL="0" rtl="0" algn="l">
                        <a:spcBef>
                          <a:spcPts val="0"/>
                        </a:spcBef>
                        <a:spcAft>
                          <a:spcPts val="0"/>
                        </a:spcAft>
                        <a:buNone/>
                      </a:pPr>
                      <a:r>
                        <a:rPr b="1" lang="en" sz="1100">
                          <a:solidFill>
                            <a:srgbClr val="475569"/>
                          </a:solidFill>
                        </a:rPr>
                        <a:t>Campus</a:t>
                      </a:r>
                      <a:endParaRPr b="1" sz="1100">
                        <a:solidFill>
                          <a:srgbClr val="475569"/>
                        </a:solidFill>
                      </a:endParaRPr>
                    </a:p>
                  </a:txBody>
                  <a:tcPr marT="0" marB="0" marR="0" marL="114300"/>
                </a:tc>
                <a:tc>
                  <a:txBody>
                    <a:bodyPr/>
                    <a:lstStyle/>
                    <a:p>
                      <a:pPr indent="0" lvl="0" marL="0" rtl="0" algn="r">
                        <a:spcBef>
                          <a:spcPts val="0"/>
                        </a:spcBef>
                        <a:spcAft>
                          <a:spcPts val="0"/>
                        </a:spcAft>
                        <a:buNone/>
                      </a:pPr>
                      <a:r>
                        <a:rPr b="1" lang="en" sz="1100">
                          <a:solidFill>
                            <a:srgbClr val="475569"/>
                          </a:solidFill>
                        </a:rPr>
                        <a:t>2009–10</a:t>
                      </a:r>
                      <a:endParaRPr b="1" sz="1100">
                        <a:solidFill>
                          <a:srgbClr val="475569"/>
                        </a:solidFill>
                      </a:endParaRPr>
                    </a:p>
                  </a:txBody>
                  <a:tcPr marT="0" marB="0" marR="114300" marL="0"/>
                </a:tc>
                <a:tc>
                  <a:txBody>
                    <a:bodyPr/>
                    <a:lstStyle/>
                    <a:p>
                      <a:pPr indent="0" lvl="0" marL="0" rtl="0" algn="r">
                        <a:spcBef>
                          <a:spcPts val="0"/>
                        </a:spcBef>
                        <a:spcAft>
                          <a:spcPts val="0"/>
                        </a:spcAft>
                        <a:buNone/>
                      </a:pPr>
                      <a:r>
                        <a:rPr b="1" lang="en" sz="1100">
                          <a:solidFill>
                            <a:srgbClr val="475569"/>
                          </a:solidFill>
                        </a:rPr>
                        <a:t>2025–26</a:t>
                      </a:r>
                      <a:endParaRPr b="1" sz="1100">
                        <a:solidFill>
                          <a:srgbClr val="475569"/>
                        </a:solidFill>
                      </a:endParaRPr>
                    </a:p>
                  </a:txBody>
                  <a:tcPr marT="0" marB="0" marR="114300" marL="0"/>
                </a:tc>
                <a:tc>
                  <a:txBody>
                    <a:bodyPr/>
                    <a:lstStyle/>
                    <a:p>
                      <a:pPr indent="0" lvl="0" marL="0" rtl="0" algn="r">
                        <a:spcBef>
                          <a:spcPts val="0"/>
                        </a:spcBef>
                        <a:spcAft>
                          <a:spcPts val="0"/>
                        </a:spcAft>
                        <a:buNone/>
                      </a:pPr>
                      <a:r>
                        <a:rPr b="1" lang="en" sz="1100">
                          <a:solidFill>
                            <a:srgbClr val="475569"/>
                          </a:solidFill>
                        </a:rPr>
                        <a:t>Enrollment Change</a:t>
                      </a:r>
                      <a:endParaRPr b="1" sz="1100">
                        <a:solidFill>
                          <a:srgbClr val="475569"/>
                        </a:solidFill>
                      </a:endParaRPr>
                    </a:p>
                  </a:txBody>
                  <a:tcPr marT="0" marB="0" marR="114300" marL="0"/>
                </a:tc>
                <a:tc>
                  <a:txBody>
                    <a:bodyPr/>
                    <a:lstStyle/>
                    <a:p>
                      <a:pPr indent="0" lvl="0" marL="0" rtl="0" algn="r">
                        <a:spcBef>
                          <a:spcPts val="0"/>
                        </a:spcBef>
                        <a:spcAft>
                          <a:spcPts val="0"/>
                        </a:spcAft>
                        <a:buNone/>
                      </a:pPr>
                      <a:r>
                        <a:rPr b="1" lang="en" sz="1100">
                          <a:solidFill>
                            <a:srgbClr val="475569"/>
                          </a:solidFill>
                        </a:rPr>
                        <a:t>% Change</a:t>
                      </a:r>
                      <a:endParaRPr b="1" sz="1100">
                        <a:solidFill>
                          <a:srgbClr val="475569"/>
                        </a:solidFill>
                      </a:endParaRPr>
                    </a:p>
                  </a:txBody>
                  <a:tcPr marT="0" marB="0" marR="114300" marL="0"/>
                </a:tc>
              </a:tr>
              <a:tr h="287225">
                <a:tc>
                  <a:txBody>
                    <a:bodyPr/>
                    <a:lstStyle/>
                    <a:p>
                      <a:pPr indent="0" lvl="0" marL="0" rtl="0" algn="l">
                        <a:spcBef>
                          <a:spcPts val="0"/>
                        </a:spcBef>
                        <a:spcAft>
                          <a:spcPts val="0"/>
                        </a:spcAft>
                        <a:buNone/>
                      </a:pPr>
                      <a:r>
                        <a:rPr b="1" lang="en" sz="1100">
                          <a:solidFill>
                            <a:srgbClr val="1B3859"/>
                          </a:solidFill>
                          <a:highlight>
                            <a:srgbClr val="F8FAFC"/>
                          </a:highlight>
                        </a:rPr>
                        <a:t>HUHS/MS</a:t>
                      </a:r>
                      <a:endParaRPr b="1" sz="1100">
                        <a:solidFill>
                          <a:srgbClr val="1B3859"/>
                        </a:solidFill>
                        <a:highlight>
                          <a:srgbClr val="F8FAFC"/>
                        </a:highlight>
                      </a:endParaRPr>
                    </a:p>
                  </a:txBody>
                  <a:tcPr marT="0" marB="0" marR="0" marL="114300">
                    <a:solidFill>
                      <a:srgbClr val="F8FAFC"/>
                    </a:solidFill>
                  </a:tcPr>
                </a:tc>
                <a:tc>
                  <a:txBody>
                    <a:bodyPr/>
                    <a:lstStyle/>
                    <a:p>
                      <a:pPr indent="0" lvl="0" marL="0" rtl="0" algn="r">
                        <a:spcBef>
                          <a:spcPts val="0"/>
                        </a:spcBef>
                        <a:spcAft>
                          <a:spcPts val="0"/>
                        </a:spcAft>
                        <a:buNone/>
                      </a:pPr>
                      <a:r>
                        <a:rPr b="0" lang="en" sz="1100">
                          <a:solidFill>
                            <a:srgbClr val="475569"/>
                          </a:solidFill>
                          <a:highlight>
                            <a:srgbClr val="F8FAFC"/>
                          </a:highlight>
                        </a:rPr>
                        <a:t>780</a:t>
                      </a:r>
                      <a:endParaRPr b="0"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0" lang="en" sz="1100">
                          <a:solidFill>
                            <a:srgbClr val="475569"/>
                          </a:solidFill>
                          <a:highlight>
                            <a:srgbClr val="F8FAFC"/>
                          </a:highlight>
                        </a:rPr>
                        <a:t>604</a:t>
                      </a:r>
                      <a:endParaRPr b="0"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1" lang="en" sz="1100">
                          <a:solidFill>
                            <a:srgbClr val="B44647"/>
                          </a:solidFill>
                          <a:highlight>
                            <a:srgbClr val="F8FAFC"/>
                          </a:highlight>
                        </a:rPr>
                        <a:t>−176</a:t>
                      </a:r>
                      <a:endParaRPr b="1" sz="1100">
                        <a:solidFill>
                          <a:srgbClr val="B44647"/>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1" lang="en" sz="1100">
                          <a:solidFill>
                            <a:srgbClr val="B44647"/>
                          </a:solidFill>
                          <a:highlight>
                            <a:srgbClr val="F8FAFC"/>
                          </a:highlight>
                        </a:rPr>
                        <a:t>−22.6%</a:t>
                      </a:r>
                      <a:endParaRPr b="1" sz="1100">
                        <a:solidFill>
                          <a:srgbClr val="B44647"/>
                        </a:solidFill>
                        <a:highlight>
                          <a:srgbClr val="F8FAFC"/>
                        </a:highlight>
                      </a:endParaRPr>
                    </a:p>
                  </a:txBody>
                  <a:tcPr marT="0" marB="0" marR="114300" marL="0">
                    <a:solidFill>
                      <a:srgbClr val="F8FAFC"/>
                    </a:solidFill>
                  </a:tcPr>
                </a:tc>
              </a:tr>
              <a:tr h="287225">
                <a:tc>
                  <a:txBody>
                    <a:bodyPr/>
                    <a:lstStyle/>
                    <a:p>
                      <a:pPr indent="0" lvl="0" marL="0" rtl="0" algn="l">
                        <a:spcBef>
                          <a:spcPts val="0"/>
                        </a:spcBef>
                        <a:spcAft>
                          <a:spcPts val="0"/>
                        </a:spcAft>
                        <a:buNone/>
                      </a:pPr>
                      <a:r>
                        <a:rPr b="1" lang="en" sz="1100">
                          <a:solidFill>
                            <a:srgbClr val="1B3859"/>
                          </a:solidFill>
                        </a:rPr>
                        <a:t>BPS</a:t>
                      </a:r>
                      <a:endParaRPr b="1" sz="1100">
                        <a:solidFill>
                          <a:srgbClr val="1B3859"/>
                        </a:solidFill>
                      </a:endParaRPr>
                    </a:p>
                  </a:txBody>
                  <a:tcPr marT="0" marB="0" marR="0" marL="114300"/>
                </a:tc>
                <a:tc>
                  <a:txBody>
                    <a:bodyPr/>
                    <a:lstStyle/>
                    <a:p>
                      <a:pPr indent="0" lvl="0" marL="0" rtl="0" algn="r">
                        <a:spcBef>
                          <a:spcPts val="0"/>
                        </a:spcBef>
                        <a:spcAft>
                          <a:spcPts val="0"/>
                        </a:spcAft>
                        <a:buNone/>
                      </a:pPr>
                      <a:r>
                        <a:rPr lang="en" sz="1100">
                          <a:solidFill>
                            <a:srgbClr val="475569"/>
                          </a:solidFill>
                        </a:rPr>
                        <a:t>343</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285</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−58</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−16.9%</a:t>
                      </a:r>
                      <a:endParaRPr sz="1100">
                        <a:solidFill>
                          <a:srgbClr val="475569"/>
                        </a:solidFill>
                      </a:endParaRPr>
                    </a:p>
                  </a:txBody>
                  <a:tcPr marT="0" marB="0" marR="114300" marL="0"/>
                </a:tc>
              </a:tr>
              <a:tr h="287225">
                <a:tc>
                  <a:txBody>
                    <a:bodyPr/>
                    <a:lstStyle/>
                    <a:p>
                      <a:pPr indent="0" lvl="0" marL="0" rtl="0" algn="l">
                        <a:spcBef>
                          <a:spcPts val="0"/>
                        </a:spcBef>
                        <a:spcAft>
                          <a:spcPts val="0"/>
                        </a:spcAft>
                        <a:buNone/>
                      </a:pPr>
                      <a:r>
                        <a:rPr b="1" lang="en" sz="1100">
                          <a:solidFill>
                            <a:srgbClr val="1B3859"/>
                          </a:solidFill>
                          <a:highlight>
                            <a:srgbClr val="F8FAFC"/>
                          </a:highlight>
                        </a:rPr>
                        <a:t>WAR</a:t>
                      </a:r>
                      <a:endParaRPr b="1" sz="1100">
                        <a:solidFill>
                          <a:srgbClr val="1B3859"/>
                        </a:solidFill>
                        <a:highlight>
                          <a:srgbClr val="F8FAFC"/>
                        </a:highlight>
                      </a:endParaRPr>
                    </a:p>
                  </a:txBody>
                  <a:tcPr marT="0" marB="0" marR="0" marL="11430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148</a:t>
                      </a:r>
                      <a:endParaRPr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93</a:t>
                      </a:r>
                      <a:endParaRPr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−55</a:t>
                      </a:r>
                      <a:endParaRPr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1" lang="en" sz="1100">
                          <a:solidFill>
                            <a:srgbClr val="B44647"/>
                          </a:solidFill>
                          <a:highlight>
                            <a:srgbClr val="F8FAFC"/>
                          </a:highlight>
                        </a:rPr>
                        <a:t>−37.2%</a:t>
                      </a:r>
                      <a:endParaRPr b="1" sz="1100">
                        <a:solidFill>
                          <a:srgbClr val="B44647"/>
                        </a:solidFill>
                        <a:highlight>
                          <a:srgbClr val="F8FAFC"/>
                        </a:highlight>
                      </a:endParaRPr>
                    </a:p>
                  </a:txBody>
                  <a:tcPr marT="0" marB="0" marR="114300" marL="0">
                    <a:solidFill>
                      <a:srgbClr val="F8FAFC"/>
                    </a:solidFill>
                  </a:tcPr>
                </a:tc>
              </a:tr>
              <a:tr h="287225">
                <a:tc>
                  <a:txBody>
                    <a:bodyPr/>
                    <a:lstStyle/>
                    <a:p>
                      <a:pPr indent="0" lvl="0" marL="0" rtl="0" algn="l">
                        <a:spcBef>
                          <a:spcPts val="0"/>
                        </a:spcBef>
                        <a:spcAft>
                          <a:spcPts val="0"/>
                        </a:spcAft>
                        <a:buNone/>
                      </a:pPr>
                      <a:r>
                        <a:rPr b="1" lang="en" sz="1100">
                          <a:solidFill>
                            <a:srgbClr val="1B3859"/>
                          </a:solidFill>
                        </a:rPr>
                        <a:t>WES</a:t>
                      </a:r>
                      <a:endParaRPr b="1" sz="1100">
                        <a:solidFill>
                          <a:srgbClr val="1B3859"/>
                        </a:solidFill>
                      </a:endParaRPr>
                    </a:p>
                  </a:txBody>
                  <a:tcPr marT="0" marB="0" marR="0" marL="114300"/>
                </a:tc>
                <a:tc>
                  <a:txBody>
                    <a:bodyPr/>
                    <a:lstStyle/>
                    <a:p>
                      <a:pPr indent="0" lvl="0" marL="0" rtl="0" algn="r">
                        <a:spcBef>
                          <a:spcPts val="0"/>
                        </a:spcBef>
                        <a:spcAft>
                          <a:spcPts val="0"/>
                        </a:spcAft>
                        <a:buNone/>
                      </a:pPr>
                      <a:r>
                        <a:rPr lang="en" sz="1100">
                          <a:solidFill>
                            <a:srgbClr val="475569"/>
                          </a:solidFill>
                        </a:rPr>
                        <a:t>154</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118</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−36</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−23.4%</a:t>
                      </a:r>
                      <a:endParaRPr sz="1100">
                        <a:solidFill>
                          <a:srgbClr val="475569"/>
                        </a:solidFill>
                      </a:endParaRPr>
                    </a:p>
                  </a:txBody>
                  <a:tcPr marT="0" marB="0" marR="114300" marL="0"/>
                </a:tc>
              </a:tr>
              <a:tr h="287225">
                <a:tc>
                  <a:txBody>
                    <a:bodyPr/>
                    <a:lstStyle/>
                    <a:p>
                      <a:pPr indent="0" lvl="0" marL="0" rtl="0" algn="l">
                        <a:spcBef>
                          <a:spcPts val="0"/>
                        </a:spcBef>
                        <a:spcAft>
                          <a:spcPts val="0"/>
                        </a:spcAft>
                        <a:buNone/>
                      </a:pPr>
                      <a:r>
                        <a:rPr b="1" lang="en" sz="1100">
                          <a:solidFill>
                            <a:srgbClr val="1B3859"/>
                          </a:solidFill>
                          <a:highlight>
                            <a:srgbClr val="F8FAFC"/>
                          </a:highlight>
                        </a:rPr>
                        <a:t>FES</a:t>
                      </a:r>
                      <a:endParaRPr b="1" sz="1100">
                        <a:solidFill>
                          <a:srgbClr val="1B3859"/>
                        </a:solidFill>
                        <a:highlight>
                          <a:srgbClr val="F8FAFC"/>
                        </a:highlight>
                      </a:endParaRPr>
                    </a:p>
                  </a:txBody>
                  <a:tcPr marT="0" marB="0" marR="0" marL="11430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112</a:t>
                      </a:r>
                      <a:endParaRPr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91</a:t>
                      </a:r>
                      <a:endParaRPr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−21</a:t>
                      </a:r>
                      <a:endParaRPr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lang="en" sz="1100">
                          <a:solidFill>
                            <a:srgbClr val="475569"/>
                          </a:solidFill>
                          <a:highlight>
                            <a:srgbClr val="F8FAFC"/>
                          </a:highlight>
                        </a:rPr>
                        <a:t>−18.8%</a:t>
                      </a:r>
                      <a:endParaRPr sz="1100">
                        <a:solidFill>
                          <a:srgbClr val="475569"/>
                        </a:solidFill>
                        <a:highlight>
                          <a:srgbClr val="F8FAFC"/>
                        </a:highlight>
                      </a:endParaRPr>
                    </a:p>
                  </a:txBody>
                  <a:tcPr marT="0" marB="0" marR="114300" marL="0">
                    <a:solidFill>
                      <a:srgbClr val="F8FAFC"/>
                    </a:solidFill>
                  </a:tcPr>
                </a:tc>
              </a:tr>
              <a:tr h="287225">
                <a:tc>
                  <a:txBody>
                    <a:bodyPr/>
                    <a:lstStyle/>
                    <a:p>
                      <a:pPr indent="0" lvl="0" marL="0" rtl="0" algn="l">
                        <a:spcBef>
                          <a:spcPts val="0"/>
                        </a:spcBef>
                        <a:spcAft>
                          <a:spcPts val="0"/>
                        </a:spcAft>
                        <a:buNone/>
                      </a:pPr>
                      <a:r>
                        <a:rPr b="1" lang="en" sz="1100">
                          <a:solidFill>
                            <a:srgbClr val="1B3859"/>
                          </a:solidFill>
                        </a:rPr>
                        <a:t>CBMS</a:t>
                      </a:r>
                      <a:endParaRPr b="1" sz="1100">
                        <a:solidFill>
                          <a:srgbClr val="1B3859"/>
                        </a:solidFill>
                      </a:endParaRPr>
                    </a:p>
                  </a:txBody>
                  <a:tcPr marT="0" marB="0" marR="0" marL="114300"/>
                </a:tc>
                <a:tc>
                  <a:txBody>
                    <a:bodyPr/>
                    <a:lstStyle/>
                    <a:p>
                      <a:pPr indent="0" lvl="0" marL="0" rtl="0" algn="r">
                        <a:spcBef>
                          <a:spcPts val="0"/>
                        </a:spcBef>
                        <a:spcAft>
                          <a:spcPts val="0"/>
                        </a:spcAft>
                        <a:buNone/>
                      </a:pPr>
                      <a:r>
                        <a:rPr lang="en" sz="1100">
                          <a:solidFill>
                            <a:srgbClr val="475569"/>
                          </a:solidFill>
                        </a:rPr>
                        <a:t>283</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263</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−20</a:t>
                      </a:r>
                      <a:endParaRPr sz="1100">
                        <a:solidFill>
                          <a:srgbClr val="475569"/>
                        </a:solidFill>
                      </a:endParaRPr>
                    </a:p>
                  </a:txBody>
                  <a:tcPr marT="0" marB="0" marR="114300" marL="0"/>
                </a:tc>
                <a:tc>
                  <a:txBody>
                    <a:bodyPr/>
                    <a:lstStyle/>
                    <a:p>
                      <a:pPr indent="0" lvl="0" marL="0" rtl="0" algn="r">
                        <a:spcBef>
                          <a:spcPts val="0"/>
                        </a:spcBef>
                        <a:spcAft>
                          <a:spcPts val="0"/>
                        </a:spcAft>
                        <a:buNone/>
                      </a:pPr>
                      <a:r>
                        <a:rPr lang="en" sz="1100">
                          <a:solidFill>
                            <a:srgbClr val="475569"/>
                          </a:solidFill>
                        </a:rPr>
                        <a:t>−7.1%</a:t>
                      </a:r>
                      <a:endParaRPr sz="1100">
                        <a:solidFill>
                          <a:srgbClr val="475569"/>
                        </a:solidFill>
                      </a:endParaRPr>
                    </a:p>
                  </a:txBody>
                  <a:tcPr marT="0" marB="0" marR="114300" marL="0"/>
                </a:tc>
              </a:tr>
              <a:tr h="287225">
                <a:tc>
                  <a:txBody>
                    <a:bodyPr/>
                    <a:lstStyle/>
                    <a:p>
                      <a:pPr indent="0" lvl="0" marL="0" rtl="0" algn="l">
                        <a:spcBef>
                          <a:spcPts val="0"/>
                        </a:spcBef>
                        <a:spcAft>
                          <a:spcPts val="0"/>
                        </a:spcAft>
                        <a:buNone/>
                      </a:pPr>
                      <a:r>
                        <a:rPr b="1" lang="en" sz="1100">
                          <a:solidFill>
                            <a:srgbClr val="1B3859"/>
                          </a:solidFill>
                          <a:highlight>
                            <a:srgbClr val="F8FAFC"/>
                          </a:highlight>
                        </a:rPr>
                        <a:t>MES</a:t>
                      </a:r>
                      <a:endParaRPr b="1" sz="1100">
                        <a:solidFill>
                          <a:srgbClr val="1B3859"/>
                        </a:solidFill>
                        <a:highlight>
                          <a:srgbClr val="F8FAFC"/>
                        </a:highlight>
                      </a:endParaRPr>
                    </a:p>
                  </a:txBody>
                  <a:tcPr marT="0" marB="0" marR="0" marL="114300">
                    <a:solidFill>
                      <a:srgbClr val="F8FAFC"/>
                    </a:solidFill>
                  </a:tcPr>
                </a:tc>
                <a:tc>
                  <a:txBody>
                    <a:bodyPr/>
                    <a:lstStyle/>
                    <a:p>
                      <a:pPr indent="0" lvl="0" marL="0" rtl="0" algn="r">
                        <a:spcBef>
                          <a:spcPts val="0"/>
                        </a:spcBef>
                        <a:spcAft>
                          <a:spcPts val="0"/>
                        </a:spcAft>
                        <a:buNone/>
                      </a:pPr>
                      <a:r>
                        <a:rPr b="0" lang="en" sz="1100">
                          <a:solidFill>
                            <a:srgbClr val="475569"/>
                          </a:solidFill>
                          <a:highlight>
                            <a:srgbClr val="F8FAFC"/>
                          </a:highlight>
                        </a:rPr>
                        <a:t>120</a:t>
                      </a:r>
                      <a:endParaRPr b="0"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0" lang="en" sz="1100">
                          <a:solidFill>
                            <a:srgbClr val="475569"/>
                          </a:solidFill>
                          <a:highlight>
                            <a:srgbClr val="F8FAFC"/>
                          </a:highlight>
                        </a:rPr>
                        <a:t>137</a:t>
                      </a:r>
                      <a:endParaRPr b="0" sz="1100">
                        <a:solidFill>
                          <a:srgbClr val="475569"/>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1" lang="en" sz="1100">
                          <a:solidFill>
                            <a:srgbClr val="15803D"/>
                          </a:solidFill>
                          <a:highlight>
                            <a:srgbClr val="F8FAFC"/>
                          </a:highlight>
                        </a:rPr>
                        <a:t>+17</a:t>
                      </a:r>
                      <a:endParaRPr b="1" sz="1100">
                        <a:solidFill>
                          <a:srgbClr val="15803D"/>
                        </a:solidFill>
                        <a:highlight>
                          <a:srgbClr val="F8FAFC"/>
                        </a:highlight>
                      </a:endParaRPr>
                    </a:p>
                  </a:txBody>
                  <a:tcPr marT="0" marB="0" marR="114300" marL="0">
                    <a:solidFill>
                      <a:srgbClr val="F8FAFC"/>
                    </a:solidFill>
                  </a:tcPr>
                </a:tc>
                <a:tc>
                  <a:txBody>
                    <a:bodyPr/>
                    <a:lstStyle/>
                    <a:p>
                      <a:pPr indent="0" lvl="0" marL="0" rtl="0" algn="r">
                        <a:spcBef>
                          <a:spcPts val="0"/>
                        </a:spcBef>
                        <a:spcAft>
                          <a:spcPts val="0"/>
                        </a:spcAft>
                        <a:buNone/>
                      </a:pPr>
                      <a:r>
                        <a:rPr b="1" lang="en" sz="1100">
                          <a:solidFill>
                            <a:srgbClr val="15803D"/>
                          </a:solidFill>
                          <a:highlight>
                            <a:srgbClr val="F8FAFC"/>
                          </a:highlight>
                        </a:rPr>
                        <a:t>+14.2%</a:t>
                      </a:r>
                      <a:endParaRPr b="1" sz="1100">
                        <a:solidFill>
                          <a:srgbClr val="15803D"/>
                        </a:solidFill>
                        <a:highlight>
                          <a:srgbClr val="F8FAFC"/>
                        </a:highlight>
                      </a:endParaRPr>
                    </a:p>
                  </a:txBody>
                  <a:tcPr marT="0" marB="0" marR="114300" marL="0">
                    <a:solidFill>
                      <a:srgbClr val="F8FAFC"/>
                    </a:solidFill>
                  </a:tcPr>
                </a:tc>
              </a:tr>
              <a:tr h="328175">
                <a:tc>
                  <a:txBody>
                    <a:bodyPr/>
                    <a:lstStyle/>
                    <a:p>
                      <a:pPr indent="0" lvl="0" marL="0" rtl="0" algn="l">
                        <a:spcBef>
                          <a:spcPts val="0"/>
                        </a:spcBef>
                        <a:spcAft>
                          <a:spcPts val="0"/>
                        </a:spcAft>
                        <a:buNone/>
                      </a:pPr>
                      <a:r>
                        <a:rPr b="1" lang="en" sz="1100">
                          <a:solidFill>
                            <a:srgbClr val="1B3859"/>
                          </a:solidFill>
                          <a:highlight>
                            <a:srgbClr val="E2E8F0"/>
                          </a:highlight>
                        </a:rPr>
                        <a:t>HUUSD Total</a:t>
                      </a:r>
                      <a:endParaRPr b="1" sz="1100">
                        <a:solidFill>
                          <a:srgbClr val="1B3859"/>
                        </a:solidFill>
                        <a:highlight>
                          <a:srgbClr val="E2E8F0"/>
                        </a:highlight>
                      </a:endParaRPr>
                    </a:p>
                  </a:txBody>
                  <a:tcPr marT="0" marB="0" marR="0" marL="114300">
                    <a:solidFill>
                      <a:srgbClr val="E2E8F0"/>
                    </a:solidFill>
                  </a:tcPr>
                </a:tc>
                <a:tc>
                  <a:txBody>
                    <a:bodyPr/>
                    <a:lstStyle/>
                    <a:p>
                      <a:pPr indent="0" lvl="0" marL="0" rtl="0" algn="r">
                        <a:spcBef>
                          <a:spcPts val="0"/>
                        </a:spcBef>
                        <a:spcAft>
                          <a:spcPts val="0"/>
                        </a:spcAft>
                        <a:buNone/>
                      </a:pPr>
                      <a:r>
                        <a:rPr b="1" lang="en" sz="1100">
                          <a:solidFill>
                            <a:srgbClr val="1B3859"/>
                          </a:solidFill>
                          <a:highlight>
                            <a:srgbClr val="E2E8F0"/>
                          </a:highlight>
                        </a:rPr>
                        <a:t>1,940</a:t>
                      </a:r>
                      <a:endParaRPr b="1" sz="1100">
                        <a:solidFill>
                          <a:srgbClr val="1B3859"/>
                        </a:solidFill>
                        <a:highlight>
                          <a:srgbClr val="E2E8F0"/>
                        </a:highlight>
                      </a:endParaRPr>
                    </a:p>
                  </a:txBody>
                  <a:tcPr marT="0" marB="0" marR="114300" marL="0">
                    <a:solidFill>
                      <a:srgbClr val="E2E8F0"/>
                    </a:solidFill>
                  </a:tcPr>
                </a:tc>
                <a:tc>
                  <a:txBody>
                    <a:bodyPr/>
                    <a:lstStyle/>
                    <a:p>
                      <a:pPr indent="0" lvl="0" marL="0" rtl="0" algn="r">
                        <a:spcBef>
                          <a:spcPts val="0"/>
                        </a:spcBef>
                        <a:spcAft>
                          <a:spcPts val="0"/>
                        </a:spcAft>
                        <a:buNone/>
                      </a:pPr>
                      <a:r>
                        <a:rPr b="1" lang="en" sz="1100">
                          <a:solidFill>
                            <a:srgbClr val="1B3859"/>
                          </a:solidFill>
                          <a:highlight>
                            <a:srgbClr val="E2E8F0"/>
                          </a:highlight>
                        </a:rPr>
                        <a:t>1,591</a:t>
                      </a:r>
                      <a:endParaRPr b="1" sz="1100">
                        <a:solidFill>
                          <a:srgbClr val="1B3859"/>
                        </a:solidFill>
                        <a:highlight>
                          <a:srgbClr val="E2E8F0"/>
                        </a:highlight>
                      </a:endParaRPr>
                    </a:p>
                  </a:txBody>
                  <a:tcPr marT="0" marB="0" marR="114300" marL="0">
                    <a:solidFill>
                      <a:srgbClr val="E2E8F0"/>
                    </a:solidFill>
                  </a:tcPr>
                </a:tc>
                <a:tc>
                  <a:txBody>
                    <a:bodyPr/>
                    <a:lstStyle/>
                    <a:p>
                      <a:pPr indent="0" lvl="0" marL="0" rtl="0" algn="r">
                        <a:spcBef>
                          <a:spcPts val="0"/>
                        </a:spcBef>
                        <a:spcAft>
                          <a:spcPts val="0"/>
                        </a:spcAft>
                        <a:buNone/>
                      </a:pPr>
                      <a:r>
                        <a:rPr b="1" lang="en" sz="1100">
                          <a:solidFill>
                            <a:srgbClr val="B44647"/>
                          </a:solidFill>
                        </a:rPr>
                        <a:t>−349</a:t>
                      </a:r>
                      <a:endParaRPr b="1" sz="1100">
                        <a:solidFill>
                          <a:srgbClr val="B44647"/>
                        </a:solidFill>
                      </a:endParaRPr>
                    </a:p>
                  </a:txBody>
                  <a:tcPr marT="0" marB="0" marR="114300" marL="0">
                    <a:solidFill>
                      <a:srgbClr val="E2E8F0"/>
                    </a:solidFill>
                  </a:tcPr>
                </a:tc>
                <a:tc>
                  <a:txBody>
                    <a:bodyPr/>
                    <a:lstStyle/>
                    <a:p>
                      <a:pPr indent="0" lvl="0" marL="0" rtl="0" algn="r">
                        <a:spcBef>
                          <a:spcPts val="0"/>
                        </a:spcBef>
                        <a:spcAft>
                          <a:spcPts val="0"/>
                        </a:spcAft>
                        <a:buNone/>
                      </a:pPr>
                      <a:r>
                        <a:rPr b="1" lang="en" sz="1100">
                          <a:solidFill>
                            <a:srgbClr val="B44647"/>
                          </a:solidFill>
                        </a:rPr>
                        <a:t>−18.0%</a:t>
                      </a:r>
                      <a:endParaRPr b="1" sz="1100">
                        <a:solidFill>
                          <a:srgbClr val="B44647"/>
                        </a:solidFill>
                      </a:endParaRPr>
                    </a:p>
                  </a:txBody>
                  <a:tcPr marT="0" marB="0" marR="114300" marL="0">
                    <a:solidFill>
                      <a:srgbClr val="E2E8F0"/>
                    </a:solidFill>
                  </a:tcPr>
                </a:tc>
              </a:tr>
            </a:tbl>
          </a:graphicData>
        </a:graphic>
      </p:graphicFrame>
      <p:grpSp>
        <p:nvGrpSpPr>
          <p:cNvPr id="803" name="Google Shape;803;p41"/>
          <p:cNvGrpSpPr/>
          <p:nvPr/>
        </p:nvGrpSpPr>
        <p:grpSpPr>
          <a:xfrm>
            <a:off x="381000" y="4238625"/>
            <a:ext cx="8382000" cy="523800"/>
            <a:chOff x="0" y="0"/>
            <a:chExt cx="8382000" cy="523800"/>
          </a:xfrm>
        </p:grpSpPr>
        <p:sp>
          <p:nvSpPr>
            <p:cNvPr id="804" name="Google Shape;804;p41"/>
            <p:cNvSpPr/>
            <p:nvPr/>
          </p:nvSpPr>
          <p:spPr>
            <a:xfrm>
              <a:off x="0" y="0"/>
              <a:ext cx="8382000" cy="523800"/>
            </a:xfrm>
            <a:prstGeom prst="roundRect">
              <a:avLst>
                <a:gd fmla="val 1818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5" name="Google Shape;805;p41"/>
            <p:cNvSpPr txBox="1"/>
            <p:nvPr/>
          </p:nvSpPr>
          <p:spPr>
            <a:xfrm>
              <a:off x="190500" y="0"/>
              <a:ext cx="8001000" cy="5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50">
                  <a:solidFill>
                    <a:srgbClr val="FFFFFF"/>
                  </a:solidFill>
                  <a:latin typeface="Poppins SemiBold"/>
                  <a:ea typeface="Poppins SemiBold"/>
                  <a:cs typeface="Poppins SemiBold"/>
                  <a:sym typeface="Poppins SemiBold"/>
                </a:rPr>
                <a:t>Only one campus (MES) saw positive growth, while others experienced declines of up to 37.2%.</a:t>
              </a:r>
              <a:endParaRPr b="0" sz="1050">
                <a:solidFill>
                  <a:srgbClr val="FFFFFF"/>
                </a:solidFill>
                <a:latin typeface="Poppins SemiBold"/>
                <a:ea typeface="Poppins SemiBold"/>
                <a:cs typeface="Poppins SemiBold"/>
                <a:sym typeface="Poppins SemiBold"/>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2"/>
          <p:cNvSpPr txBox="1"/>
          <p:nvPr>
            <p:ph type="ctrTitle"/>
          </p:nvPr>
        </p:nvSpPr>
        <p:spPr>
          <a:xfrm>
            <a:off x="1237500" y="99875"/>
            <a:ext cx="7637400" cy="552000"/>
          </a:xfrm>
          <a:prstGeom prst="rect">
            <a:avLst/>
          </a:prstGeom>
          <a:gradFill>
            <a:gsLst>
              <a:gs pos="0">
                <a:srgbClr val="005362"/>
              </a:gs>
              <a:gs pos="100000">
                <a:srgbClr val="73A341"/>
              </a:gs>
            </a:gsLst>
            <a:lin ang="5400700" scaled="0"/>
          </a:gradFill>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3000">
                <a:solidFill>
                  <a:schemeClr val="lt1"/>
                </a:solidFill>
                <a:latin typeface="Average"/>
                <a:ea typeface="Average"/>
                <a:cs typeface="Average"/>
                <a:sym typeface="Average"/>
              </a:rPr>
              <a:t>Enrollment Summary &amp; </a:t>
            </a:r>
            <a:r>
              <a:rPr b="1" lang="en" sz="3000">
                <a:solidFill>
                  <a:srgbClr val="DC2626"/>
                </a:solidFill>
                <a:latin typeface="Average"/>
                <a:ea typeface="Average"/>
                <a:cs typeface="Average"/>
                <a:sym typeface="Average"/>
              </a:rPr>
              <a:t>Projections</a:t>
            </a:r>
            <a:r>
              <a:rPr b="1" lang="en" sz="3000">
                <a:solidFill>
                  <a:schemeClr val="lt1"/>
                </a:solidFill>
                <a:latin typeface="Average"/>
                <a:ea typeface="Average"/>
                <a:cs typeface="Average"/>
                <a:sym typeface="Average"/>
              </a:rPr>
              <a:t> </a:t>
            </a:r>
            <a:endParaRPr b="1" sz="3000">
              <a:solidFill>
                <a:schemeClr val="lt1"/>
              </a:solidFill>
              <a:latin typeface="Average"/>
              <a:ea typeface="Average"/>
              <a:cs typeface="Average"/>
              <a:sym typeface="Average"/>
            </a:endParaRPr>
          </a:p>
        </p:txBody>
      </p:sp>
      <p:graphicFrame>
        <p:nvGraphicFramePr>
          <p:cNvPr id="811" name="Google Shape;811;p42"/>
          <p:cNvGraphicFramePr/>
          <p:nvPr/>
        </p:nvGraphicFramePr>
        <p:xfrm>
          <a:off x="1237488" y="800050"/>
          <a:ext cx="3000000" cy="3000000"/>
        </p:xfrm>
        <a:graphic>
          <a:graphicData uri="http://schemas.openxmlformats.org/drawingml/2006/table">
            <a:tbl>
              <a:tblPr>
                <a:noFill/>
                <a:tableStyleId>{F048B22E-B1D8-479D-8C7E-11459F303189}</a:tableStyleId>
              </a:tblPr>
              <a:tblGrid>
                <a:gridCol w="1216600"/>
                <a:gridCol w="794650"/>
                <a:gridCol w="1096350"/>
                <a:gridCol w="1845525"/>
                <a:gridCol w="1119850"/>
                <a:gridCol w="942825"/>
              </a:tblGrid>
              <a:tr h="476200">
                <a:tc>
                  <a:txBody>
                    <a:bodyPr/>
                    <a:lstStyle/>
                    <a:p>
                      <a:pPr indent="0" lvl="0" marL="0" rtl="0" algn="ctr">
                        <a:spcBef>
                          <a:spcPts val="0"/>
                        </a:spcBef>
                        <a:spcAft>
                          <a:spcPts val="0"/>
                        </a:spcAft>
                        <a:buNone/>
                      </a:pPr>
                      <a:r>
                        <a:rPr b="1" lang="en" sz="1100">
                          <a:latin typeface="Average"/>
                          <a:ea typeface="Average"/>
                          <a:cs typeface="Average"/>
                          <a:sym typeface="Average"/>
                        </a:rPr>
                        <a:t>School Year </a:t>
                      </a:r>
                      <a:endParaRPr b="1" sz="1100">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sz="1100"/>
                        <a:t>Grade </a:t>
                      </a:r>
                      <a:r>
                        <a:rPr b="1" lang="en" sz="1100" u="sng"/>
                        <a:t>K</a:t>
                      </a:r>
                      <a:r>
                        <a:rPr b="1" lang="en" sz="1100"/>
                        <a:t>-12 </a:t>
                      </a:r>
                      <a:endParaRPr b="1"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sz="1100">
                          <a:latin typeface="Average"/>
                          <a:ea typeface="Average"/>
                          <a:cs typeface="Average"/>
                          <a:sym typeface="Average"/>
                        </a:rPr>
                        <a:t>YOY </a:t>
                      </a:r>
                      <a:endParaRPr b="1" sz="1100">
                        <a:latin typeface="Average"/>
                        <a:ea typeface="Average"/>
                        <a:cs typeface="Average"/>
                        <a:sym typeface="Average"/>
                      </a:endParaRPr>
                    </a:p>
                    <a:p>
                      <a:pPr indent="0" lvl="0" marL="0" rtl="0" algn="ctr">
                        <a:spcBef>
                          <a:spcPts val="0"/>
                        </a:spcBef>
                        <a:spcAft>
                          <a:spcPts val="0"/>
                        </a:spcAft>
                        <a:buNone/>
                      </a:pPr>
                      <a:r>
                        <a:rPr b="1" lang="en" sz="1100">
                          <a:latin typeface="Average"/>
                          <a:ea typeface="Average"/>
                          <a:cs typeface="Average"/>
                          <a:sym typeface="Average"/>
                        </a:rPr>
                        <a:t>Change +/-</a:t>
                      </a:r>
                      <a:endParaRPr b="1" sz="1100">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sz="1100">
                          <a:latin typeface="Average"/>
                          <a:ea typeface="Average"/>
                          <a:cs typeface="Average"/>
                          <a:sym typeface="Average"/>
                        </a:rPr>
                        <a:t>School Year </a:t>
                      </a:r>
                      <a:endParaRPr b="1" sz="1100">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sz="1100"/>
                        <a:t>Grade </a:t>
                      </a:r>
                      <a:endParaRPr b="1" sz="1100"/>
                    </a:p>
                    <a:p>
                      <a:pPr indent="0" lvl="0" marL="0" rtl="0" algn="ctr">
                        <a:spcBef>
                          <a:spcPts val="0"/>
                        </a:spcBef>
                        <a:spcAft>
                          <a:spcPts val="0"/>
                        </a:spcAft>
                        <a:buNone/>
                      </a:pPr>
                      <a:r>
                        <a:rPr b="1" lang="en" sz="1100" u="sng"/>
                        <a:t>K</a:t>
                      </a:r>
                      <a:r>
                        <a:rPr b="1" lang="en" sz="1100"/>
                        <a:t>-12 </a:t>
                      </a:r>
                      <a:endParaRPr b="1"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Clr>
                          <a:schemeClr val="dk1"/>
                        </a:buClr>
                        <a:buSzPts val="1100"/>
                        <a:buFont typeface="Arial"/>
                        <a:buNone/>
                      </a:pPr>
                      <a:r>
                        <a:rPr b="1" lang="en" sz="1100">
                          <a:solidFill>
                            <a:schemeClr val="dk1"/>
                          </a:solidFill>
                          <a:latin typeface="Average"/>
                          <a:ea typeface="Average"/>
                          <a:cs typeface="Average"/>
                          <a:sym typeface="Average"/>
                        </a:rPr>
                        <a:t>YOY Change +/-</a:t>
                      </a:r>
                      <a:endParaRPr b="1" sz="1100">
                        <a:solidFill>
                          <a:schemeClr val="dk1"/>
                        </a:solidFill>
                        <a:latin typeface="Average"/>
                        <a:ea typeface="Average"/>
                        <a:cs typeface="Average"/>
                        <a:sym typeface="Average"/>
                      </a:endParaRPr>
                    </a:p>
                    <a:p>
                      <a:pPr indent="0" lvl="0" marL="0" rtl="0" algn="ctr">
                        <a:spcBef>
                          <a:spcPts val="0"/>
                        </a:spcBef>
                        <a:spcAft>
                          <a:spcPts val="0"/>
                        </a:spcAft>
                        <a:buNone/>
                      </a:pPr>
                      <a:r>
                        <a:t/>
                      </a:r>
                      <a:endParaRPr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353175">
                <a:tc>
                  <a:txBody>
                    <a:bodyPr/>
                    <a:lstStyle/>
                    <a:p>
                      <a:pPr indent="0" lvl="0" marL="0" rtl="0" algn="l">
                        <a:spcBef>
                          <a:spcPts val="0"/>
                        </a:spcBef>
                        <a:spcAft>
                          <a:spcPts val="0"/>
                        </a:spcAft>
                        <a:buNone/>
                      </a:pPr>
                      <a:r>
                        <a:rPr lang="en" sz="1100"/>
                        <a:t>October 1, 2014</a:t>
                      </a:r>
                      <a:endParaRPr sz="1100"/>
                    </a:p>
                  </a:txBody>
                  <a:tcPr marT="91425" marB="91425" marR="91425" marL="91425">
                    <a:lnT cap="flat" cmpd="sng" w="9525">
                      <a:solidFill>
                        <a:srgbClr val="9E9E9E"/>
                      </a:solidFill>
                      <a:prstDash val="solid"/>
                      <a:round/>
                      <a:headEnd len="sm" w="sm" type="none"/>
                      <a:tailEnd len="sm" w="sm" type="none"/>
                    </a:lnT>
                    <a:solidFill>
                      <a:srgbClr val="D9EAD3"/>
                    </a:solidFill>
                  </a:tcPr>
                </a:tc>
                <a:tc>
                  <a:txBody>
                    <a:bodyPr/>
                    <a:lstStyle/>
                    <a:p>
                      <a:pPr indent="0" lvl="0" marL="0" rtl="0" algn="ctr">
                        <a:spcBef>
                          <a:spcPts val="0"/>
                        </a:spcBef>
                        <a:spcAft>
                          <a:spcPts val="0"/>
                        </a:spcAft>
                        <a:buNone/>
                      </a:pPr>
                      <a:r>
                        <a:rPr lang="en" sz="1100"/>
                        <a:t>1761</a:t>
                      </a:r>
                      <a:endParaRPr sz="1100"/>
                    </a:p>
                  </a:txBody>
                  <a:tcPr marT="91425" marB="91425" marR="91425" marL="91425">
                    <a:lnT cap="flat" cmpd="sng" w="9525">
                      <a:solidFill>
                        <a:srgbClr val="9E9E9E"/>
                      </a:solidFill>
                      <a:prstDash val="solid"/>
                      <a:round/>
                      <a:headEnd len="sm" w="sm" type="none"/>
                      <a:tailEnd len="sm" w="sm" type="none"/>
                    </a:lnT>
                    <a:solidFill>
                      <a:srgbClr val="D9EAD3"/>
                    </a:solidFill>
                  </a:tcPr>
                </a:tc>
                <a:tc>
                  <a:txBody>
                    <a:bodyPr/>
                    <a:lstStyle/>
                    <a:p>
                      <a:pPr indent="0" lvl="0" marL="0" rtl="0" algn="ctr">
                        <a:spcBef>
                          <a:spcPts val="0"/>
                        </a:spcBef>
                        <a:spcAft>
                          <a:spcPts val="0"/>
                        </a:spcAft>
                        <a:buNone/>
                      </a:pPr>
                      <a:r>
                        <a:rPr lang="en" sz="1100">
                          <a:solidFill>
                            <a:schemeClr val="dk1"/>
                          </a:solidFill>
                        </a:rPr>
                        <a:t>-38</a:t>
                      </a:r>
                      <a:endParaRPr sz="1100">
                        <a:solidFill>
                          <a:schemeClr val="dk1"/>
                        </a:solidFill>
                      </a:endParaRPr>
                    </a:p>
                    <a:p>
                      <a:pPr indent="0" lvl="0" marL="0" rtl="0" algn="ctr">
                        <a:spcBef>
                          <a:spcPts val="0"/>
                        </a:spcBef>
                        <a:spcAft>
                          <a:spcPts val="0"/>
                        </a:spcAft>
                        <a:buNone/>
                      </a:pPr>
                      <a:r>
                        <a:t/>
                      </a:r>
                      <a:endParaRPr sz="1100">
                        <a:solidFill>
                          <a:schemeClr val="dk1"/>
                        </a:solidFill>
                      </a:endParaRPr>
                    </a:p>
                  </a:txBody>
                  <a:tcPr marT="91425" marB="91425" marR="91425" marL="91425">
                    <a:lnT cap="flat" cmpd="sng" w="9525">
                      <a:solidFill>
                        <a:srgbClr val="9E9E9E"/>
                      </a:solidFill>
                      <a:prstDash val="solid"/>
                      <a:round/>
                      <a:headEnd len="sm" w="sm" type="none"/>
                      <a:tailEnd len="sm" w="sm" type="none"/>
                    </a:lnT>
                    <a:solidFill>
                      <a:srgbClr val="D9EAD3"/>
                    </a:solidFill>
                  </a:tcPr>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rPr>
                        <a:t>October 1, 2023</a:t>
                      </a:r>
                      <a:endParaRPr sz="1100"/>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D9EAD3"/>
                    </a:solidFill>
                  </a:tcPr>
                </a:tc>
                <a:tc>
                  <a:txBody>
                    <a:bodyPr/>
                    <a:lstStyle/>
                    <a:p>
                      <a:pPr indent="0" lvl="0" marL="0" rtl="0" algn="ctr">
                        <a:spcBef>
                          <a:spcPts val="0"/>
                        </a:spcBef>
                        <a:spcAft>
                          <a:spcPts val="0"/>
                        </a:spcAft>
                        <a:buNone/>
                      </a:pPr>
                      <a:r>
                        <a:rPr lang="en" sz="1100"/>
                        <a:t>1605</a:t>
                      </a:r>
                      <a:endParaRPr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100"/>
                        <a:t>-14</a:t>
                      </a:r>
                      <a:endParaRPr sz="1100"/>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D9EAD3"/>
                    </a:solidFill>
                  </a:tcPr>
                </a:tc>
              </a:tr>
              <a:tr h="353175">
                <a:tc>
                  <a:txBody>
                    <a:bodyPr/>
                    <a:lstStyle/>
                    <a:p>
                      <a:pPr indent="0" lvl="0" marL="0" rtl="0" algn="l">
                        <a:spcBef>
                          <a:spcPts val="0"/>
                        </a:spcBef>
                        <a:spcAft>
                          <a:spcPts val="0"/>
                        </a:spcAft>
                        <a:buNone/>
                      </a:pPr>
                      <a:r>
                        <a:rPr lang="en" sz="1100"/>
                        <a:t>October 1, 2015</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1746</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-15</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October 1, 2024</a:t>
                      </a:r>
                      <a:endParaRPr sz="1100"/>
                    </a:p>
                  </a:txBody>
                  <a:tcPr marT="91425" marB="91425" marR="91425" marL="91425">
                    <a:lnR cap="flat" cmpd="sng" w="9525">
                      <a:solidFill>
                        <a:srgbClr val="9E9E9E"/>
                      </a:solidFill>
                      <a:prstDash val="solid"/>
                      <a:round/>
                      <a:headEnd len="sm" w="sm" type="none"/>
                      <a:tailEnd len="sm" w="sm" type="none"/>
                    </a:lnR>
                    <a:solidFill>
                      <a:srgbClr val="D9EAD3"/>
                    </a:solidFill>
                  </a:tcPr>
                </a:tc>
                <a:tc>
                  <a:txBody>
                    <a:bodyPr/>
                    <a:lstStyle/>
                    <a:p>
                      <a:pPr indent="0" lvl="0" marL="0" rtl="0" algn="ctr">
                        <a:spcBef>
                          <a:spcPts val="0"/>
                        </a:spcBef>
                        <a:spcAft>
                          <a:spcPts val="0"/>
                        </a:spcAft>
                        <a:buNone/>
                      </a:pPr>
                      <a:r>
                        <a:rPr lang="en" sz="1100"/>
                        <a:t>1613</a:t>
                      </a:r>
                      <a:endParaRPr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100"/>
                        <a:t>+8</a:t>
                      </a:r>
                      <a:endParaRPr sz="1100"/>
                    </a:p>
                  </a:txBody>
                  <a:tcPr marT="91425" marB="91425" marR="91425" marL="91425">
                    <a:lnL cap="flat" cmpd="sng" w="9525">
                      <a:solidFill>
                        <a:srgbClr val="9E9E9E"/>
                      </a:solidFill>
                      <a:prstDash val="solid"/>
                      <a:round/>
                      <a:headEnd len="sm" w="sm" type="none"/>
                      <a:tailEnd len="sm" w="sm" type="none"/>
                    </a:lnL>
                    <a:solidFill>
                      <a:srgbClr val="D9EAD3"/>
                    </a:solidFill>
                  </a:tcPr>
                </a:tc>
              </a:tr>
              <a:tr h="353175">
                <a:tc>
                  <a:txBody>
                    <a:bodyPr/>
                    <a:lstStyle/>
                    <a:p>
                      <a:pPr indent="0" lvl="0" marL="0" rtl="0" algn="l">
                        <a:spcBef>
                          <a:spcPts val="0"/>
                        </a:spcBef>
                        <a:spcAft>
                          <a:spcPts val="0"/>
                        </a:spcAft>
                        <a:buNone/>
                      </a:pPr>
                      <a:r>
                        <a:rPr lang="en" sz="1100"/>
                        <a:t>October 1, 2016</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1769</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+23</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October 1, 2025</a:t>
                      </a:r>
                      <a:endParaRPr sz="1100"/>
                    </a:p>
                  </a:txBody>
                  <a:tcPr marT="91425" marB="91425" marR="91425" marL="91425">
                    <a:lnR cap="flat" cmpd="sng" w="9525">
                      <a:solidFill>
                        <a:srgbClr val="9E9E9E"/>
                      </a:solidFill>
                      <a:prstDash val="solid"/>
                      <a:round/>
                      <a:headEnd len="sm" w="sm" type="none"/>
                      <a:tailEnd len="sm" w="sm" type="none"/>
                    </a:lnR>
                    <a:solidFill>
                      <a:srgbClr val="D9EAD3"/>
                    </a:solidFill>
                  </a:tcPr>
                </a:tc>
                <a:tc>
                  <a:txBody>
                    <a:bodyPr/>
                    <a:lstStyle/>
                    <a:p>
                      <a:pPr indent="0" lvl="0" marL="0" rtl="0" algn="ctr">
                        <a:spcBef>
                          <a:spcPts val="0"/>
                        </a:spcBef>
                        <a:spcAft>
                          <a:spcPts val="0"/>
                        </a:spcAft>
                        <a:buNone/>
                      </a:pPr>
                      <a:r>
                        <a:rPr lang="en" sz="1100"/>
                        <a:t>1591</a:t>
                      </a:r>
                      <a:endParaRPr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100"/>
                        <a:t>-22</a:t>
                      </a:r>
                      <a:endParaRPr sz="1100"/>
                    </a:p>
                  </a:txBody>
                  <a:tcPr marT="91425" marB="91425" marR="91425" marL="91425">
                    <a:lnL cap="flat" cmpd="sng" w="9525">
                      <a:solidFill>
                        <a:srgbClr val="9E9E9E"/>
                      </a:solidFill>
                      <a:prstDash val="solid"/>
                      <a:round/>
                      <a:headEnd len="sm" w="sm" type="none"/>
                      <a:tailEnd len="sm" w="sm" type="none"/>
                    </a:lnL>
                    <a:solidFill>
                      <a:srgbClr val="D9EAD3"/>
                    </a:solidFill>
                  </a:tcPr>
                </a:tc>
              </a:tr>
              <a:tr h="353175">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October 1, 2017</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1721</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-48</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October 1, 2026</a:t>
                      </a:r>
                      <a:endParaRPr sz="1100">
                        <a:solidFill>
                          <a:srgbClr val="FF0000"/>
                        </a:solidFill>
                      </a:endParaRPr>
                    </a:p>
                  </a:txBody>
                  <a:tcPr marT="91425" marB="91425" marR="91425" marL="91425">
                    <a:lnR cap="flat" cmpd="sng" w="9525">
                      <a:solidFill>
                        <a:srgbClr val="9E9E9E"/>
                      </a:solidFill>
                      <a:prstDash val="solid"/>
                      <a:round/>
                      <a:headEnd len="sm" w="sm" type="none"/>
                      <a:tailEnd len="sm" w="sm" type="none"/>
                    </a:lnR>
                    <a:solidFill>
                      <a:srgbClr val="D9EAD3"/>
                    </a:solidFill>
                  </a:tcPr>
                </a:tc>
                <a:tc>
                  <a:txBody>
                    <a:bodyPr/>
                    <a:lstStyle/>
                    <a:p>
                      <a:pPr indent="0" lvl="0" marL="0" rtl="0" algn="ctr">
                        <a:spcBef>
                          <a:spcPts val="0"/>
                        </a:spcBef>
                        <a:spcAft>
                          <a:spcPts val="0"/>
                        </a:spcAft>
                        <a:buNone/>
                      </a:pPr>
                      <a:r>
                        <a:rPr lang="en" sz="1100">
                          <a:solidFill>
                            <a:srgbClr val="FF0000"/>
                          </a:solidFill>
                        </a:rPr>
                        <a:t> 1567</a:t>
                      </a:r>
                      <a:endParaRPr sz="11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100">
                          <a:solidFill>
                            <a:srgbClr val="FF0000"/>
                          </a:solidFill>
                        </a:rPr>
                        <a:t>-24</a:t>
                      </a:r>
                      <a:endParaRPr sz="1100">
                        <a:solidFill>
                          <a:srgbClr val="FF0000"/>
                        </a:solidFill>
                      </a:endParaRPr>
                    </a:p>
                  </a:txBody>
                  <a:tcPr marT="91425" marB="91425" marR="91425" marL="91425">
                    <a:lnL cap="flat" cmpd="sng" w="9525">
                      <a:solidFill>
                        <a:srgbClr val="9E9E9E"/>
                      </a:solidFill>
                      <a:prstDash val="solid"/>
                      <a:round/>
                      <a:headEnd len="sm" w="sm" type="none"/>
                      <a:tailEnd len="sm" w="sm" type="none"/>
                    </a:lnL>
                    <a:solidFill>
                      <a:srgbClr val="D9EAD3"/>
                    </a:solidFill>
                  </a:tcPr>
                </a:tc>
              </a:tr>
              <a:tr h="353175">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October 1, 2018</a:t>
                      </a:r>
                      <a:endParaRPr sz="1100"/>
                    </a:p>
                  </a:txBody>
                  <a:tcPr marT="91425" marB="91425" marR="91425" marL="91425">
                    <a:solidFill>
                      <a:srgbClr val="D9EAD3"/>
                    </a:solidFill>
                  </a:tcPr>
                </a:tc>
                <a:tc>
                  <a:txBody>
                    <a:bodyPr/>
                    <a:lstStyle/>
                    <a:p>
                      <a:pPr indent="0" lvl="0" marL="0" rtl="0" algn="l">
                        <a:spcBef>
                          <a:spcPts val="0"/>
                        </a:spcBef>
                        <a:spcAft>
                          <a:spcPts val="0"/>
                        </a:spcAft>
                        <a:buNone/>
                      </a:pPr>
                      <a:r>
                        <a:rPr lang="en" sz="1100"/>
                        <a:t>    1682</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-39</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Clr>
                          <a:schemeClr val="dk1"/>
                        </a:buClr>
                        <a:buSzPts val="1100"/>
                        <a:buFont typeface="Arial"/>
                        <a:buNone/>
                      </a:pPr>
                      <a:r>
                        <a:rPr lang="en" sz="1100">
                          <a:solidFill>
                            <a:srgbClr val="FF0000"/>
                          </a:solidFill>
                        </a:rPr>
                        <a:t>October 1, 2027</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1539*</a:t>
                      </a:r>
                      <a:endParaRPr sz="1100">
                        <a:solidFill>
                          <a:srgbClr val="FF0000"/>
                        </a:solidFill>
                      </a:endParaRPr>
                    </a:p>
                  </a:txBody>
                  <a:tcPr marT="91425" marB="91425" marR="91425" marL="91425">
                    <a:lnT cap="flat" cmpd="sng" w="9525">
                      <a:solidFill>
                        <a:srgbClr val="9E9E9E"/>
                      </a:solidFill>
                      <a:prstDash val="solid"/>
                      <a:round/>
                      <a:headEnd len="sm" w="sm" type="none"/>
                      <a:tailEnd len="sm" w="sm" type="none"/>
                    </a:lnT>
                    <a:solidFill>
                      <a:srgbClr val="D9EAD3"/>
                    </a:solidFill>
                  </a:tcPr>
                </a:tc>
                <a:tc>
                  <a:txBody>
                    <a:bodyPr/>
                    <a:lstStyle/>
                    <a:p>
                      <a:pPr indent="0" lvl="0" marL="0" rtl="0" algn="ctr">
                        <a:spcBef>
                          <a:spcPts val="0"/>
                        </a:spcBef>
                        <a:spcAft>
                          <a:spcPts val="0"/>
                        </a:spcAft>
                        <a:buNone/>
                      </a:pPr>
                      <a:r>
                        <a:rPr lang="en" sz="1100">
                          <a:solidFill>
                            <a:srgbClr val="FF0000"/>
                          </a:solidFill>
                        </a:rPr>
                        <a:t>-22</a:t>
                      </a:r>
                      <a:endParaRPr sz="1100">
                        <a:solidFill>
                          <a:srgbClr val="FF0000"/>
                        </a:solidFill>
                      </a:endParaRPr>
                    </a:p>
                  </a:txBody>
                  <a:tcPr marT="91425" marB="91425" marR="91425" marL="91425">
                    <a:solidFill>
                      <a:srgbClr val="D9EAD3"/>
                    </a:solidFill>
                  </a:tcPr>
                </a:tc>
              </a:tr>
              <a:tr h="353175">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October 1, 2019</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1668</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-14</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Clr>
                          <a:schemeClr val="dk1"/>
                        </a:buClr>
                        <a:buSzPts val="1100"/>
                        <a:buFont typeface="Arial"/>
                        <a:buNone/>
                      </a:pPr>
                      <a:r>
                        <a:rPr lang="en" sz="1100">
                          <a:solidFill>
                            <a:srgbClr val="FF0000"/>
                          </a:solidFill>
                        </a:rPr>
                        <a:t>October 1, 2028</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1517*</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-22</a:t>
                      </a:r>
                      <a:endParaRPr sz="1100">
                        <a:solidFill>
                          <a:srgbClr val="FF0000"/>
                        </a:solidFill>
                      </a:endParaRPr>
                    </a:p>
                  </a:txBody>
                  <a:tcPr marT="91425" marB="91425" marR="91425" marL="91425">
                    <a:solidFill>
                      <a:srgbClr val="D9EAD3"/>
                    </a:solidFill>
                  </a:tcPr>
                </a:tc>
              </a:tr>
              <a:tr h="353175">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October 1, 2020</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1586</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-82</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Clr>
                          <a:schemeClr val="dk1"/>
                        </a:buClr>
                        <a:buSzPts val="1100"/>
                        <a:buFont typeface="Arial"/>
                        <a:buNone/>
                      </a:pPr>
                      <a:r>
                        <a:rPr lang="en" sz="1100">
                          <a:solidFill>
                            <a:srgbClr val="FF0000"/>
                          </a:solidFill>
                        </a:rPr>
                        <a:t>October 1, 2029</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1495*</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-22</a:t>
                      </a:r>
                      <a:endParaRPr sz="1100">
                        <a:solidFill>
                          <a:srgbClr val="FF0000"/>
                        </a:solidFill>
                      </a:endParaRPr>
                    </a:p>
                  </a:txBody>
                  <a:tcPr marT="91425" marB="91425" marR="91425" marL="91425">
                    <a:solidFill>
                      <a:srgbClr val="D9EAD3"/>
                    </a:solidFill>
                  </a:tcPr>
                </a:tc>
              </a:tr>
              <a:tr h="353175">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October 1, 2021</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1619</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+33</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Clr>
                          <a:schemeClr val="dk1"/>
                        </a:buClr>
                        <a:buSzPts val="1100"/>
                        <a:buFont typeface="Arial"/>
                        <a:buNone/>
                      </a:pPr>
                      <a:r>
                        <a:rPr lang="en" sz="1100">
                          <a:solidFill>
                            <a:srgbClr val="FF0000"/>
                          </a:solidFill>
                        </a:rPr>
                        <a:t>October 1, 2030</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1473*</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-22</a:t>
                      </a:r>
                      <a:endParaRPr sz="1100">
                        <a:solidFill>
                          <a:srgbClr val="FF0000"/>
                        </a:solidFill>
                      </a:endParaRPr>
                    </a:p>
                  </a:txBody>
                  <a:tcPr marT="91425" marB="91425" marR="91425" marL="91425">
                    <a:solidFill>
                      <a:srgbClr val="D9EAD3"/>
                    </a:solidFill>
                  </a:tcPr>
                </a:tc>
              </a:tr>
              <a:tr h="353175">
                <a:tc>
                  <a:txBody>
                    <a:bodyPr/>
                    <a:lstStyle/>
                    <a:p>
                      <a:pPr indent="0" lvl="0" marL="0" rtl="0" algn="l">
                        <a:spcBef>
                          <a:spcPts val="0"/>
                        </a:spcBef>
                        <a:spcAft>
                          <a:spcPts val="0"/>
                        </a:spcAft>
                        <a:buNone/>
                      </a:pPr>
                      <a:r>
                        <a:rPr lang="en" sz="1100"/>
                        <a:t>October 1, 2022</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t>1619</a:t>
                      </a:r>
                      <a:endParaRPr sz="1100"/>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chemeClr val="dk1"/>
                          </a:solidFill>
                        </a:rPr>
                        <a:t>0</a:t>
                      </a:r>
                      <a:endParaRPr sz="1100">
                        <a:solidFill>
                          <a:schemeClr val="dk1"/>
                        </a:solidFill>
                      </a:endParaRPr>
                    </a:p>
                  </a:txBody>
                  <a:tcPr marT="91425" marB="91425" marR="91425" marL="91425">
                    <a:solidFill>
                      <a:srgbClr val="D9EAD3"/>
                    </a:solidFill>
                  </a:tcPr>
                </a:tc>
                <a:tc>
                  <a:txBody>
                    <a:bodyPr/>
                    <a:lstStyle/>
                    <a:p>
                      <a:pPr indent="0" lvl="0" marL="0" rtl="0" algn="ctr">
                        <a:spcBef>
                          <a:spcPts val="0"/>
                        </a:spcBef>
                        <a:spcAft>
                          <a:spcPts val="0"/>
                        </a:spcAft>
                        <a:buClr>
                          <a:schemeClr val="dk1"/>
                        </a:buClr>
                        <a:buSzPts val="1100"/>
                        <a:buFont typeface="Arial"/>
                        <a:buNone/>
                      </a:pPr>
                      <a:r>
                        <a:rPr lang="en" sz="1100">
                          <a:solidFill>
                            <a:srgbClr val="FF0000"/>
                          </a:solidFill>
                        </a:rPr>
                        <a:t>October 1, 2031</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1451*</a:t>
                      </a:r>
                      <a:endParaRPr sz="1100">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lang="en" sz="1100">
                          <a:solidFill>
                            <a:srgbClr val="FF0000"/>
                          </a:solidFill>
                        </a:rPr>
                        <a:t>-22</a:t>
                      </a:r>
                      <a:endParaRPr sz="1100">
                        <a:solidFill>
                          <a:srgbClr val="FF0000"/>
                        </a:solidFill>
                      </a:endParaRPr>
                    </a:p>
                  </a:txBody>
                  <a:tcPr marT="91425" marB="91425" marR="91425" marL="91425">
                    <a:solidFill>
                      <a:srgbClr val="D9EAD3"/>
                    </a:solidFill>
                  </a:tcPr>
                </a:tc>
              </a:tr>
            </a:tbl>
          </a:graphicData>
        </a:graphic>
      </p:graphicFrame>
      <p:sp>
        <p:nvSpPr>
          <p:cNvPr id="812" name="Google Shape;812;p42"/>
          <p:cNvSpPr txBox="1"/>
          <p:nvPr/>
        </p:nvSpPr>
        <p:spPr>
          <a:xfrm>
            <a:off x="1645125" y="4856825"/>
            <a:ext cx="66444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FF0000"/>
                </a:solidFill>
              </a:rPr>
              <a:t>* Based on the </a:t>
            </a:r>
            <a:r>
              <a:rPr b="1" lang="en" sz="900" u="sng">
                <a:solidFill>
                  <a:schemeClr val="hlink"/>
                </a:solidFill>
                <a:hlinkClick r:id="rId3"/>
              </a:rPr>
              <a:t>New England School Development Council (NESDEC)  Enrollment Projection Report</a:t>
            </a:r>
            <a:r>
              <a:rPr b="1" lang="en" sz="900">
                <a:solidFill>
                  <a:srgbClr val="FF0000"/>
                </a:solidFill>
              </a:rPr>
              <a:t> </a:t>
            </a:r>
            <a:endParaRPr b="1" sz="90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6" name="Shape 816"/>
        <p:cNvGrpSpPr/>
        <p:nvPr/>
      </p:nvGrpSpPr>
      <p:grpSpPr>
        <a:xfrm>
          <a:off x="0" y="0"/>
          <a:ext cx="0" cy="0"/>
          <a:chOff x="0" y="0"/>
          <a:chExt cx="0" cy="0"/>
        </a:xfrm>
      </p:grpSpPr>
      <p:sp>
        <p:nvSpPr>
          <p:cNvPr id="817" name="Google Shape;817;p43"/>
          <p:cNvSpPr txBox="1"/>
          <p:nvPr/>
        </p:nvSpPr>
        <p:spPr>
          <a:xfrm>
            <a:off x="381000" y="333375"/>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HUUSD K-12 Enrollment: </a:t>
            </a:r>
            <a:r>
              <a:rPr lang="en" sz="2200">
                <a:solidFill>
                  <a:srgbClr val="1B3859"/>
                </a:solidFill>
                <a:latin typeface="Poppins ExtraBold"/>
                <a:ea typeface="Poppins ExtraBold"/>
                <a:cs typeface="Poppins ExtraBold"/>
                <a:sym typeface="Poppins ExtraBold"/>
              </a:rPr>
              <a:t>2009-10 </a:t>
            </a:r>
            <a:r>
              <a:rPr b="0" lang="en" sz="2200">
                <a:solidFill>
                  <a:srgbClr val="1B3859"/>
                </a:solidFill>
                <a:latin typeface="Poppins ExtraBold"/>
                <a:ea typeface="Poppins ExtraBold"/>
                <a:cs typeface="Poppins ExtraBold"/>
                <a:sym typeface="Poppins ExtraBold"/>
              </a:rPr>
              <a:t>to Projected </a:t>
            </a:r>
            <a:r>
              <a:rPr lang="en" sz="2200">
                <a:solidFill>
                  <a:srgbClr val="1B3859"/>
                </a:solidFill>
                <a:latin typeface="Poppins ExtraBold"/>
                <a:ea typeface="Poppins ExtraBold"/>
                <a:cs typeface="Poppins ExtraBold"/>
                <a:sym typeface="Poppins ExtraBold"/>
              </a:rPr>
              <a:t>2031-32 </a:t>
            </a:r>
            <a:endParaRPr b="0" sz="22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t/>
            </a:r>
            <a:endParaRPr b="0" sz="1100">
              <a:solidFill>
                <a:srgbClr val="475569"/>
              </a:solidFill>
              <a:latin typeface="Poppins"/>
              <a:ea typeface="Poppins"/>
              <a:cs typeface="Poppins"/>
              <a:sym typeface="Poppins"/>
            </a:endParaRPr>
          </a:p>
        </p:txBody>
      </p:sp>
      <p:grpSp>
        <p:nvGrpSpPr>
          <p:cNvPr id="818" name="Google Shape;818;p43"/>
          <p:cNvGrpSpPr/>
          <p:nvPr/>
        </p:nvGrpSpPr>
        <p:grpSpPr>
          <a:xfrm>
            <a:off x="6286500" y="1095375"/>
            <a:ext cx="2476500" cy="1381200"/>
            <a:chOff x="0" y="0"/>
            <a:chExt cx="2476500" cy="1381200"/>
          </a:xfrm>
        </p:grpSpPr>
        <p:sp>
          <p:nvSpPr>
            <p:cNvPr id="819" name="Google Shape;819;p43"/>
            <p:cNvSpPr/>
            <p:nvPr/>
          </p:nvSpPr>
          <p:spPr>
            <a:xfrm>
              <a:off x="0" y="0"/>
              <a:ext cx="24765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0" name="Google Shape;820;p43"/>
            <p:cNvSpPr/>
            <p:nvPr/>
          </p:nvSpPr>
          <p:spPr>
            <a:xfrm>
              <a:off x="0" y="0"/>
              <a:ext cx="57300" cy="1381200"/>
            </a:xfrm>
            <a:prstGeom prst="roundRect">
              <a:avLst>
                <a:gd fmla="val 50000" name="adj"/>
              </a:avLst>
            </a:prstGeom>
            <a:solidFill>
              <a:srgbClr val="B446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1" name="Google Shape;821;p43"/>
            <p:cNvSpPr txBox="1"/>
            <p:nvPr/>
          </p:nvSpPr>
          <p:spPr>
            <a:xfrm>
              <a:off x="171450" y="0"/>
              <a:ext cx="21336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748B"/>
                  </a:solidFill>
                  <a:latin typeface="Poppins"/>
                  <a:ea typeface="Poppins"/>
                  <a:cs typeface="Poppins"/>
                  <a:sym typeface="Poppins"/>
                </a:rPr>
                <a:t>An additional 140 - student projected decline from 2025-26 to 2031-32</a:t>
              </a:r>
              <a:endParaRPr b="1" sz="900">
                <a:solidFill>
                  <a:srgbClr val="64748B"/>
                </a:solidFill>
                <a:latin typeface="Poppins"/>
                <a:ea typeface="Poppins"/>
                <a:cs typeface="Poppins"/>
                <a:sym typeface="Poppins"/>
              </a:endParaRPr>
            </a:p>
            <a:p>
              <a:pPr indent="0" lvl="0" marL="0" rtl="0" algn="l">
                <a:spcBef>
                  <a:spcPts val="150"/>
                </a:spcBef>
                <a:spcAft>
                  <a:spcPts val="0"/>
                </a:spcAft>
                <a:buNone/>
              </a:pPr>
              <a:r>
                <a:rPr lang="en" sz="2600">
                  <a:solidFill>
                    <a:srgbClr val="1B3859"/>
                  </a:solidFill>
                  <a:latin typeface="Poppins ExtraBold"/>
                  <a:ea typeface="Poppins ExtraBold"/>
                  <a:cs typeface="Poppins ExtraBold"/>
                  <a:sym typeface="Poppins ExtraBold"/>
                </a:rPr>
                <a:t>-</a:t>
              </a:r>
              <a:r>
                <a:rPr b="0" lang="en" sz="2600">
                  <a:solidFill>
                    <a:srgbClr val="1B3859"/>
                  </a:solidFill>
                  <a:latin typeface="Poppins ExtraBold"/>
                  <a:ea typeface="Poppins ExtraBold"/>
                  <a:cs typeface="Poppins ExtraBold"/>
                  <a:sym typeface="Poppins ExtraBold"/>
                </a:rPr>
                <a:t>8.</a:t>
              </a:r>
              <a:r>
                <a:rPr lang="en" sz="2600">
                  <a:solidFill>
                    <a:srgbClr val="1B3859"/>
                  </a:solidFill>
                  <a:latin typeface="Poppins ExtraBold"/>
                  <a:ea typeface="Poppins ExtraBold"/>
                  <a:cs typeface="Poppins ExtraBold"/>
                  <a:sym typeface="Poppins ExtraBold"/>
                </a:rPr>
                <a:t>8</a:t>
              </a:r>
              <a:r>
                <a:rPr b="0" lang="en" sz="2600">
                  <a:solidFill>
                    <a:srgbClr val="1B3859"/>
                  </a:solidFill>
                  <a:latin typeface="Poppins ExtraBold"/>
                  <a:ea typeface="Poppins ExtraBold"/>
                  <a:cs typeface="Poppins ExtraBold"/>
                  <a:sym typeface="Poppins ExtraBold"/>
                </a:rPr>
                <a:t>%</a:t>
              </a:r>
              <a:endParaRPr b="0" sz="2600">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b="0" lang="en" sz="950">
                  <a:solidFill>
                    <a:srgbClr val="475569"/>
                  </a:solidFill>
                  <a:latin typeface="Poppins"/>
                  <a:ea typeface="Poppins"/>
                  <a:cs typeface="Poppins"/>
                  <a:sym typeface="Poppins"/>
                </a:rPr>
                <a:t>Representing </a:t>
              </a:r>
              <a:r>
                <a:rPr b="1" lang="en" sz="950">
                  <a:solidFill>
                    <a:srgbClr val="1B3859"/>
                  </a:solidFill>
                  <a:latin typeface="Poppins"/>
                  <a:ea typeface="Poppins"/>
                  <a:cs typeface="Poppins"/>
                  <a:sym typeface="Poppins"/>
                </a:rPr>
                <a:t>349 fewer students</a:t>
              </a:r>
              <a:r>
                <a:rPr b="0" lang="en" sz="950">
                  <a:solidFill>
                    <a:srgbClr val="475569"/>
                  </a:solidFill>
                  <a:latin typeface="Poppins"/>
                  <a:ea typeface="Poppins"/>
                  <a:cs typeface="Poppins"/>
                  <a:sym typeface="Poppins"/>
                </a:rPr>
                <a:t> than the 2009–10 peak of 1,940.</a:t>
              </a:r>
              <a:endParaRPr b="0" sz="950">
                <a:solidFill>
                  <a:srgbClr val="475569"/>
                </a:solidFill>
                <a:latin typeface="Poppins"/>
                <a:ea typeface="Poppins"/>
                <a:cs typeface="Poppins"/>
                <a:sym typeface="Poppins"/>
              </a:endParaRPr>
            </a:p>
          </p:txBody>
        </p:sp>
      </p:grpSp>
      <p:grpSp>
        <p:nvGrpSpPr>
          <p:cNvPr id="822" name="Google Shape;822;p43"/>
          <p:cNvGrpSpPr/>
          <p:nvPr/>
        </p:nvGrpSpPr>
        <p:grpSpPr>
          <a:xfrm>
            <a:off x="6286500" y="2619375"/>
            <a:ext cx="2476500" cy="1381200"/>
            <a:chOff x="0" y="0"/>
            <a:chExt cx="2476500" cy="1381200"/>
          </a:xfrm>
        </p:grpSpPr>
        <p:sp>
          <p:nvSpPr>
            <p:cNvPr id="823" name="Google Shape;823;p43"/>
            <p:cNvSpPr/>
            <p:nvPr/>
          </p:nvSpPr>
          <p:spPr>
            <a:xfrm>
              <a:off x="0" y="0"/>
              <a:ext cx="24765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43"/>
            <p:cNvSpPr/>
            <p:nvPr/>
          </p:nvSpPr>
          <p:spPr>
            <a:xfrm>
              <a:off x="0" y="0"/>
              <a:ext cx="57300" cy="13812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5" name="Google Shape;825;p43"/>
            <p:cNvSpPr txBox="1"/>
            <p:nvPr/>
          </p:nvSpPr>
          <p:spPr>
            <a:xfrm>
              <a:off x="171450" y="0"/>
              <a:ext cx="21336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600">
                  <a:solidFill>
                    <a:srgbClr val="1B3859"/>
                  </a:solidFill>
                  <a:latin typeface="Poppins ExtraBold"/>
                  <a:ea typeface="Poppins ExtraBold"/>
                  <a:cs typeface="Poppins ExtraBold"/>
                  <a:sym typeface="Poppins ExtraBold"/>
                </a:rPr>
                <a:t>-489</a:t>
              </a:r>
              <a:endParaRPr sz="2600">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lang="en">
                  <a:solidFill>
                    <a:srgbClr val="1B3859"/>
                  </a:solidFill>
                  <a:latin typeface="Poppins ExtraBold"/>
                  <a:ea typeface="Poppins ExtraBold"/>
                  <a:cs typeface="Poppins ExtraBold"/>
                  <a:sym typeface="Poppins ExtraBold"/>
                </a:rPr>
                <a:t>Few students overall</a:t>
              </a:r>
              <a:endParaRPr>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lang="en" sz="950">
                  <a:solidFill>
                    <a:srgbClr val="475569"/>
                  </a:solidFill>
                  <a:latin typeface="Poppins"/>
                  <a:ea typeface="Poppins"/>
                  <a:cs typeface="Poppins"/>
                  <a:sym typeface="Poppins"/>
                </a:rPr>
                <a:t> From 2009-10 to the 2031-32 projection</a:t>
              </a:r>
              <a:r>
                <a:rPr b="0" lang="en" sz="950">
                  <a:solidFill>
                    <a:srgbClr val="475569"/>
                  </a:solidFill>
                  <a:latin typeface="Poppins"/>
                  <a:ea typeface="Poppins"/>
                  <a:cs typeface="Poppins"/>
                  <a:sym typeface="Poppins"/>
                </a:rPr>
                <a:t>. </a:t>
              </a:r>
              <a:endParaRPr sz="950">
                <a:solidFill>
                  <a:srgbClr val="475569"/>
                </a:solidFill>
                <a:latin typeface="Poppins"/>
                <a:ea typeface="Poppins"/>
                <a:cs typeface="Poppins"/>
                <a:sym typeface="Poppins"/>
              </a:endParaRPr>
            </a:p>
            <a:p>
              <a:pPr indent="0" lvl="0" marL="0" rtl="0" algn="l">
                <a:spcBef>
                  <a:spcPts val="0"/>
                </a:spcBef>
                <a:spcAft>
                  <a:spcPts val="0"/>
                </a:spcAft>
                <a:buNone/>
              </a:pPr>
              <a:r>
                <a:rPr b="1" lang="en" sz="2650">
                  <a:solidFill>
                    <a:srgbClr val="1B3859"/>
                  </a:solidFill>
                  <a:latin typeface="Poppins"/>
                  <a:ea typeface="Poppins"/>
                  <a:cs typeface="Poppins"/>
                  <a:sym typeface="Poppins"/>
                </a:rPr>
                <a:t>-25.2%</a:t>
              </a:r>
              <a:endParaRPr b="1" sz="2650">
                <a:solidFill>
                  <a:srgbClr val="1B3859"/>
                </a:solidFill>
                <a:latin typeface="Poppins"/>
                <a:ea typeface="Poppins"/>
                <a:cs typeface="Poppins"/>
                <a:sym typeface="Poppins"/>
              </a:endParaRPr>
            </a:p>
            <a:p>
              <a:pPr indent="0" lvl="0" marL="0" rtl="0" algn="l">
                <a:spcBef>
                  <a:spcPts val="0"/>
                </a:spcBef>
                <a:spcAft>
                  <a:spcPts val="0"/>
                </a:spcAft>
                <a:buNone/>
              </a:pPr>
              <a:r>
                <a:t/>
              </a:r>
              <a:endParaRPr sz="950">
                <a:solidFill>
                  <a:srgbClr val="475569"/>
                </a:solidFill>
                <a:latin typeface="Poppins"/>
                <a:ea typeface="Poppins"/>
                <a:cs typeface="Poppins"/>
                <a:sym typeface="Poppins"/>
              </a:endParaRPr>
            </a:p>
          </p:txBody>
        </p:sp>
      </p:grpSp>
      <p:grpSp>
        <p:nvGrpSpPr>
          <p:cNvPr id="826" name="Google Shape;826;p43"/>
          <p:cNvGrpSpPr/>
          <p:nvPr/>
        </p:nvGrpSpPr>
        <p:grpSpPr>
          <a:xfrm>
            <a:off x="381000" y="4191000"/>
            <a:ext cx="8382000" cy="523800"/>
            <a:chOff x="0" y="0"/>
            <a:chExt cx="8382000" cy="523800"/>
          </a:xfrm>
        </p:grpSpPr>
        <p:sp>
          <p:nvSpPr>
            <p:cNvPr id="827" name="Google Shape;827;p43"/>
            <p:cNvSpPr/>
            <p:nvPr/>
          </p:nvSpPr>
          <p:spPr>
            <a:xfrm>
              <a:off x="0" y="0"/>
              <a:ext cx="8382000" cy="523800"/>
            </a:xfrm>
            <a:prstGeom prst="roundRect">
              <a:avLst>
                <a:gd fmla="val 1818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8" name="Google Shape;828;p43"/>
            <p:cNvSpPr txBox="1"/>
            <p:nvPr/>
          </p:nvSpPr>
          <p:spPr>
            <a:xfrm>
              <a:off x="190500" y="0"/>
              <a:ext cx="8001000" cy="5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450">
                  <a:solidFill>
                    <a:srgbClr val="FFFFFF"/>
                  </a:solidFill>
                  <a:latin typeface="Poppins SemiBold"/>
                  <a:ea typeface="Poppins SemiBold"/>
                  <a:cs typeface="Poppins SemiBold"/>
                  <a:sym typeface="Poppins SemiBold"/>
                </a:rPr>
                <a:t>HUUSD Enrollment Has Declined 18% Since 2009-10 and Is Project to Decline Further </a:t>
              </a:r>
              <a:endParaRPr b="0" sz="1450">
                <a:solidFill>
                  <a:srgbClr val="FFFFFF"/>
                </a:solidFill>
                <a:latin typeface="Poppins SemiBold"/>
                <a:ea typeface="Poppins SemiBold"/>
                <a:cs typeface="Poppins SemiBold"/>
                <a:sym typeface="Poppins SemiBold"/>
              </a:endParaRPr>
            </a:p>
          </p:txBody>
        </p:sp>
      </p:grpSp>
      <p:pic>
        <p:nvPicPr>
          <p:cNvPr id="829" name="Google Shape;829;p43"/>
          <p:cNvPicPr preferRelativeResize="0"/>
          <p:nvPr/>
        </p:nvPicPr>
        <p:blipFill>
          <a:blip r:embed="rId4">
            <a:alphaModFix/>
          </a:blip>
          <a:stretch>
            <a:fillRect/>
          </a:stretch>
        </p:blipFill>
        <p:spPr>
          <a:xfrm>
            <a:off x="547700" y="816465"/>
            <a:ext cx="5567374" cy="313163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3" name="Shape 833"/>
        <p:cNvGrpSpPr/>
        <p:nvPr/>
      </p:nvGrpSpPr>
      <p:grpSpPr>
        <a:xfrm>
          <a:off x="0" y="0"/>
          <a:ext cx="0" cy="0"/>
          <a:chOff x="0" y="0"/>
          <a:chExt cx="0" cy="0"/>
        </a:xfrm>
      </p:grpSpPr>
      <p:sp>
        <p:nvSpPr>
          <p:cNvPr id="834" name="Google Shape;834;p44"/>
          <p:cNvSpPr txBox="1"/>
          <p:nvPr/>
        </p:nvSpPr>
        <p:spPr>
          <a:xfrm>
            <a:off x="381000" y="285750"/>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Vermont Demographic Trends &amp; HUUSD Enrollment</a:t>
            </a:r>
            <a:endParaRPr b="0" sz="22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050">
                <a:solidFill>
                  <a:srgbClr val="64748B"/>
                </a:solidFill>
                <a:latin typeface="Poppins Medium"/>
                <a:ea typeface="Poppins Medium"/>
                <a:cs typeface="Poppins Medium"/>
                <a:sym typeface="Poppins Medium"/>
              </a:rPr>
              <a:t>Indexed to 2009 = 100 | Population, resident live births, and HUUSD K–12 enrollment</a:t>
            </a:r>
            <a:endParaRPr b="0" sz="1050">
              <a:solidFill>
                <a:srgbClr val="64748B"/>
              </a:solidFill>
              <a:latin typeface="Poppins Medium"/>
              <a:ea typeface="Poppins Medium"/>
              <a:cs typeface="Poppins Medium"/>
              <a:sym typeface="Poppins Medium"/>
            </a:endParaRPr>
          </a:p>
        </p:txBody>
      </p:sp>
      <p:grpSp>
        <p:nvGrpSpPr>
          <p:cNvPr id="835" name="Google Shape;835;p44"/>
          <p:cNvGrpSpPr/>
          <p:nvPr/>
        </p:nvGrpSpPr>
        <p:grpSpPr>
          <a:xfrm>
            <a:off x="7000875" y="1047750"/>
            <a:ext cx="1762200" cy="3571800"/>
            <a:chOff x="0" y="0"/>
            <a:chExt cx="1762200" cy="3571800"/>
          </a:xfrm>
        </p:grpSpPr>
        <p:sp>
          <p:nvSpPr>
            <p:cNvPr id="836" name="Google Shape;836;p44"/>
            <p:cNvSpPr/>
            <p:nvPr/>
          </p:nvSpPr>
          <p:spPr>
            <a:xfrm>
              <a:off x="0" y="0"/>
              <a:ext cx="1762200" cy="3571800"/>
            </a:xfrm>
            <a:prstGeom prst="roundRect">
              <a:avLst>
                <a:gd fmla="val 540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7" name="Google Shape;837;p44"/>
            <p:cNvSpPr/>
            <p:nvPr/>
          </p:nvSpPr>
          <p:spPr>
            <a:xfrm>
              <a:off x="0" y="0"/>
              <a:ext cx="47700" cy="3571800"/>
            </a:xfrm>
            <a:prstGeom prst="roundRect">
              <a:avLst>
                <a:gd fmla="val 5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8" name="Google Shape;838;p44"/>
            <p:cNvSpPr txBox="1"/>
            <p:nvPr/>
          </p:nvSpPr>
          <p:spPr>
            <a:xfrm>
              <a:off x="142875" y="142875"/>
              <a:ext cx="1476300" cy="328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50">
                  <a:solidFill>
                    <a:srgbClr val="1B3859"/>
                  </a:solidFill>
                  <a:latin typeface="Poppins ExtraBold"/>
                  <a:ea typeface="Poppins ExtraBold"/>
                  <a:cs typeface="Poppins ExtraBold"/>
                  <a:sym typeface="Poppins ExtraBold"/>
                </a:rPr>
                <a:t>Key Trends</a:t>
              </a:r>
              <a:endParaRPr b="0" sz="1150">
                <a:solidFill>
                  <a:srgbClr val="1B3859"/>
                </a:solidFill>
                <a:latin typeface="Poppins ExtraBold"/>
                <a:ea typeface="Poppins ExtraBold"/>
                <a:cs typeface="Poppins ExtraBold"/>
                <a:sym typeface="Poppins ExtraBold"/>
              </a:endParaRPr>
            </a:p>
            <a:p>
              <a:pPr indent="0" lvl="0" marL="0" rtl="0" algn="l">
                <a:spcBef>
                  <a:spcPts val="900"/>
                </a:spcBef>
                <a:spcAft>
                  <a:spcPts val="0"/>
                </a:spcAft>
                <a:buNone/>
              </a:pPr>
              <a:r>
                <a:rPr b="1" lang="en" sz="900">
                  <a:solidFill>
                    <a:srgbClr val="1B3859"/>
                  </a:solidFill>
                  <a:latin typeface="Poppins"/>
                  <a:ea typeface="Poppins"/>
                  <a:cs typeface="Poppins"/>
                  <a:sym typeface="Poppins"/>
                </a:rPr>
                <a:t>Vermont Population</a:t>
              </a:r>
              <a:r>
                <a:rPr b="0" lang="en" sz="1100">
                  <a:solidFill>
                    <a:srgbClr val="346F90"/>
                  </a:solidFill>
                  <a:latin typeface="Poppins ExtraBold"/>
                  <a:ea typeface="Poppins ExtraBold"/>
                  <a:cs typeface="Poppins ExtraBold"/>
                  <a:sym typeface="Poppins ExtraBold"/>
                </a:rPr>
                <a:t>+3.2%</a:t>
              </a:r>
              <a:r>
                <a:rPr lang="en" sz="900">
                  <a:solidFill>
                    <a:srgbClr val="475569"/>
                  </a:solidFill>
                  <a:latin typeface="Poppins"/>
                  <a:ea typeface="Poppins"/>
                  <a:cs typeface="Poppins"/>
                  <a:sym typeface="Poppins"/>
                </a:rPr>
                <a:t> (2009 to 2025)</a:t>
              </a:r>
              <a:endParaRPr sz="900">
                <a:solidFill>
                  <a:srgbClr val="475569"/>
                </a:solidFill>
                <a:latin typeface="Poppins"/>
                <a:ea typeface="Poppins"/>
                <a:cs typeface="Poppins"/>
                <a:sym typeface="Poppins"/>
              </a:endParaRPr>
            </a:p>
            <a:p>
              <a:pPr indent="0" lvl="0" marL="0" rtl="0" algn="l">
                <a:spcBef>
                  <a:spcPts val="600"/>
                </a:spcBef>
                <a:spcAft>
                  <a:spcPts val="0"/>
                </a:spcAft>
                <a:buNone/>
              </a:pPr>
              <a:r>
                <a:rPr b="1" lang="en" sz="900">
                  <a:solidFill>
                    <a:srgbClr val="1B3859"/>
                  </a:solidFill>
                  <a:latin typeface="Poppins"/>
                  <a:ea typeface="Poppins"/>
                  <a:cs typeface="Poppins"/>
                  <a:sym typeface="Poppins"/>
                </a:rPr>
                <a:t>Vermont Live Births</a:t>
              </a:r>
              <a:r>
                <a:rPr b="0" lang="en" sz="1100">
                  <a:solidFill>
                    <a:srgbClr val="B44647"/>
                  </a:solidFill>
                  <a:latin typeface="Poppins ExtraBold"/>
                  <a:ea typeface="Poppins ExtraBold"/>
                  <a:cs typeface="Poppins ExtraBold"/>
                  <a:sym typeface="Poppins ExtraBold"/>
                </a:rPr>
                <a:t>-17.8%</a:t>
              </a:r>
              <a:r>
                <a:rPr lang="en" sz="900">
                  <a:solidFill>
                    <a:srgbClr val="475569"/>
                  </a:solidFill>
                  <a:latin typeface="Poppins"/>
                  <a:ea typeface="Poppins"/>
                  <a:cs typeface="Poppins"/>
                  <a:sym typeface="Poppins"/>
                </a:rPr>
                <a:t> (2009 to 2024)</a:t>
              </a:r>
              <a:endParaRPr sz="900">
                <a:solidFill>
                  <a:srgbClr val="475569"/>
                </a:solidFill>
                <a:latin typeface="Poppins"/>
                <a:ea typeface="Poppins"/>
                <a:cs typeface="Poppins"/>
                <a:sym typeface="Poppins"/>
              </a:endParaRPr>
            </a:p>
            <a:p>
              <a:pPr indent="0" lvl="0" marL="0" rtl="0" algn="l">
                <a:spcBef>
                  <a:spcPts val="600"/>
                </a:spcBef>
                <a:spcAft>
                  <a:spcPts val="0"/>
                </a:spcAft>
                <a:buNone/>
              </a:pPr>
              <a:r>
                <a:rPr b="1" lang="en" sz="900">
                  <a:solidFill>
                    <a:srgbClr val="1B3859"/>
                  </a:solidFill>
                  <a:latin typeface="Poppins"/>
                  <a:ea typeface="Poppins"/>
                  <a:cs typeface="Poppins"/>
                  <a:sym typeface="Poppins"/>
                </a:rPr>
                <a:t>HUUSD Enrollment</a:t>
              </a:r>
              <a:r>
                <a:rPr b="0" lang="en" sz="1100">
                  <a:solidFill>
                    <a:srgbClr val="2F855A"/>
                  </a:solidFill>
                  <a:latin typeface="Poppins ExtraBold"/>
                  <a:ea typeface="Poppins ExtraBold"/>
                  <a:cs typeface="Poppins ExtraBold"/>
                  <a:sym typeface="Poppins ExtraBold"/>
                </a:rPr>
                <a:t>-18.0%</a:t>
              </a:r>
              <a:r>
                <a:rPr lang="en" sz="900">
                  <a:solidFill>
                    <a:srgbClr val="475569"/>
                  </a:solidFill>
                  <a:latin typeface="Poppins"/>
                  <a:ea typeface="Poppins"/>
                  <a:cs typeface="Poppins"/>
                  <a:sym typeface="Poppins"/>
                </a:rPr>
                <a:t> (2009–10 to 2025–26)</a:t>
              </a:r>
              <a:endParaRPr sz="900">
                <a:solidFill>
                  <a:srgbClr val="475569"/>
                </a:solidFill>
                <a:latin typeface="Poppins"/>
                <a:ea typeface="Poppins"/>
                <a:cs typeface="Poppins"/>
                <a:sym typeface="Poppins"/>
              </a:endParaRPr>
            </a:p>
            <a:p>
              <a:pPr indent="0" lvl="0" marL="0" rtl="0" algn="l">
                <a:spcBef>
                  <a:spcPts val="900"/>
                </a:spcBef>
                <a:spcAft>
                  <a:spcPts val="0"/>
                </a:spcAft>
                <a:buNone/>
              </a:pPr>
              <a:r>
                <a:rPr b="0" i="1" lang="en" sz="850">
                  <a:solidFill>
                    <a:srgbClr val="334155"/>
                  </a:solidFill>
                  <a:latin typeface="Poppins Medium"/>
                  <a:ea typeface="Poppins Medium"/>
                  <a:cs typeface="Poppins Medium"/>
                  <a:sym typeface="Poppins Medium"/>
                </a:rPr>
                <a:t>Births have declined much faster than population, creating a smaller student pipeline.</a:t>
              </a:r>
              <a:endParaRPr b="0" i="1" sz="850">
                <a:solidFill>
                  <a:srgbClr val="334155"/>
                </a:solidFill>
                <a:latin typeface="Poppins Medium"/>
                <a:ea typeface="Poppins Medium"/>
                <a:cs typeface="Poppins Medium"/>
                <a:sym typeface="Poppins Medium"/>
              </a:endParaRPr>
            </a:p>
            <a:p>
              <a:pPr indent="0" lvl="0" marL="0" rtl="0" algn="l">
                <a:spcBef>
                  <a:spcPts val="600"/>
                </a:spcBef>
                <a:spcAft>
                  <a:spcPts val="0"/>
                </a:spcAft>
                <a:buNone/>
              </a:pPr>
              <a:r>
                <a:rPr lang="en" sz="750">
                  <a:solidFill>
                    <a:srgbClr val="94A3B8"/>
                  </a:solidFill>
                  <a:latin typeface="Poppins"/>
                  <a:ea typeface="Poppins"/>
                  <a:cs typeface="Poppins"/>
                  <a:sym typeface="Poppins"/>
                </a:rPr>
                <a:t>*2025 Vermont birth data not yet included.</a:t>
              </a:r>
              <a:endParaRPr sz="750">
                <a:solidFill>
                  <a:srgbClr val="94A3B8"/>
                </a:solidFill>
                <a:latin typeface="Poppins"/>
                <a:ea typeface="Poppins"/>
                <a:cs typeface="Poppins"/>
                <a:sym typeface="Poppins"/>
              </a:endParaRPr>
            </a:p>
          </p:txBody>
        </p:sp>
      </p:grpSp>
      <p:sp>
        <p:nvSpPr>
          <p:cNvPr id="839" name="Google Shape;839;p44"/>
          <p:cNvSpPr txBox="1"/>
          <p:nvPr/>
        </p:nvSpPr>
        <p:spPr>
          <a:xfrm>
            <a:off x="381000" y="4810125"/>
            <a:ext cx="6477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50">
                <a:solidFill>
                  <a:srgbClr val="94A3B8"/>
                </a:solidFill>
                <a:latin typeface="Poppins"/>
                <a:ea typeface="Poppins"/>
                <a:cs typeface="Poppins"/>
                <a:sym typeface="Poppins"/>
              </a:rPr>
              <a:t>Sources: Vermont Department of Health, Vermont Vital Statistics Annual Report 2024; U.S. Census Bureau population estimates; HUUSD enrollment data.</a:t>
            </a:r>
            <a:endParaRPr sz="750">
              <a:solidFill>
                <a:srgbClr val="94A3B8"/>
              </a:solidFill>
              <a:latin typeface="Poppins"/>
              <a:ea typeface="Poppins"/>
              <a:cs typeface="Poppins"/>
              <a:sym typeface="Poppins"/>
            </a:endParaRPr>
          </a:p>
        </p:txBody>
      </p:sp>
      <p:sp>
        <p:nvSpPr>
          <p:cNvPr id="840" name="Google Shape;840;p44"/>
          <p:cNvSpPr txBox="1"/>
          <p:nvPr/>
        </p:nvSpPr>
        <p:spPr>
          <a:xfrm>
            <a:off x="7118350" y="4775200"/>
            <a:ext cx="1606500" cy="2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4"/>
              </a:rPr>
              <a:t>Town births</a:t>
            </a:r>
            <a:endParaRPr sz="1100">
              <a:solidFill>
                <a:schemeClr val="dk2"/>
              </a:solidFill>
            </a:endParaRPr>
          </a:p>
        </p:txBody>
      </p:sp>
      <p:pic>
        <p:nvPicPr>
          <p:cNvPr id="841" name="Google Shape;841;p44"/>
          <p:cNvPicPr preferRelativeResize="0"/>
          <p:nvPr/>
        </p:nvPicPr>
        <p:blipFill>
          <a:blip r:embed="rId5">
            <a:alphaModFix/>
          </a:blip>
          <a:stretch>
            <a:fillRect/>
          </a:stretch>
        </p:blipFill>
        <p:spPr>
          <a:xfrm>
            <a:off x="341875" y="1152450"/>
            <a:ext cx="6506601" cy="3394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5" name="Shape 845"/>
        <p:cNvGrpSpPr/>
        <p:nvPr/>
      </p:nvGrpSpPr>
      <p:grpSpPr>
        <a:xfrm>
          <a:off x="0" y="0"/>
          <a:ext cx="0" cy="0"/>
          <a:chOff x="0" y="0"/>
          <a:chExt cx="0" cy="0"/>
        </a:xfrm>
      </p:grpSpPr>
      <p:sp>
        <p:nvSpPr>
          <p:cNvPr id="846" name="Google Shape;846;p45"/>
          <p:cNvSpPr txBox="1"/>
          <p:nvPr>
            <p:ph type="title"/>
          </p:nvPr>
        </p:nvSpPr>
        <p:spPr>
          <a:xfrm>
            <a:off x="381000" y="381000"/>
            <a:ext cx="8382000" cy="762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Resident Births in HUUSD Communities</a:t>
            </a:r>
            <a:endParaRPr b="0" sz="22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64748B"/>
                </a:solidFill>
                <a:latin typeface="Poppins Medium"/>
                <a:ea typeface="Poppins Medium"/>
                <a:cs typeface="Poppins Medium"/>
                <a:sym typeface="Poppins Medium"/>
              </a:rPr>
              <a:t>Historical live births in Duxbury, Fayston, Moretown, Waterbury, Warren, and Waitsfield (2020-2024)</a:t>
            </a:r>
            <a:endParaRPr b="0" sz="1100">
              <a:solidFill>
                <a:srgbClr val="64748B"/>
              </a:solidFill>
              <a:latin typeface="Poppins Medium"/>
              <a:ea typeface="Poppins Medium"/>
              <a:cs typeface="Poppins Medium"/>
              <a:sym typeface="Poppins Medium"/>
            </a:endParaRPr>
          </a:p>
        </p:txBody>
      </p:sp>
      <p:grpSp>
        <p:nvGrpSpPr>
          <p:cNvPr id="847" name="Google Shape;847;p45"/>
          <p:cNvGrpSpPr/>
          <p:nvPr/>
        </p:nvGrpSpPr>
        <p:grpSpPr>
          <a:xfrm>
            <a:off x="66650" y="1006400"/>
            <a:ext cx="6451395" cy="3892699"/>
            <a:chOff x="-10118" y="-166842"/>
            <a:chExt cx="5942700" cy="3717600"/>
          </a:xfrm>
        </p:grpSpPr>
        <p:sp>
          <p:nvSpPr>
            <p:cNvPr id="848" name="Google Shape;848;p45"/>
            <p:cNvSpPr/>
            <p:nvPr/>
          </p:nvSpPr>
          <p:spPr>
            <a:xfrm>
              <a:off x="-10118" y="-166842"/>
              <a:ext cx="5942700" cy="3717600"/>
            </a:xfrm>
            <a:prstGeom prst="roundRect">
              <a:avLst>
                <a:gd fmla="val 2941" name="adj"/>
              </a:avLst>
            </a:prstGeom>
            <a:solidFill>
              <a:srgbClr val="FFFFFF"/>
            </a:solidFill>
            <a:ln cap="flat" cmpd="sng" w="149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9" name="Google Shape;849;p45"/>
            <p:cNvSpPr txBox="1"/>
            <p:nvPr/>
          </p:nvSpPr>
          <p:spPr>
            <a:xfrm>
              <a:off x="130186" y="-36382"/>
              <a:ext cx="5238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52">
                  <a:solidFill>
                    <a:srgbClr val="1B3859"/>
                  </a:solidFill>
                  <a:latin typeface="Poppins"/>
                  <a:ea typeface="Poppins"/>
                  <a:cs typeface="Poppins"/>
                  <a:sym typeface="Poppins"/>
                </a:rPr>
                <a:t>Births by Town and Year</a:t>
              </a:r>
              <a:endParaRPr b="1" sz="1952">
                <a:solidFill>
                  <a:srgbClr val="1B3859"/>
                </a:solidFill>
                <a:latin typeface="Poppins"/>
                <a:ea typeface="Poppins"/>
                <a:cs typeface="Poppins"/>
                <a:sym typeface="Poppins"/>
              </a:endParaRPr>
            </a:p>
          </p:txBody>
        </p:sp>
      </p:grpSp>
      <p:grpSp>
        <p:nvGrpSpPr>
          <p:cNvPr id="850" name="Google Shape;850;p45"/>
          <p:cNvGrpSpPr/>
          <p:nvPr/>
        </p:nvGrpSpPr>
        <p:grpSpPr>
          <a:xfrm>
            <a:off x="6597650" y="1060450"/>
            <a:ext cx="2456307" cy="3632302"/>
            <a:chOff x="0" y="0"/>
            <a:chExt cx="2667000" cy="3238500"/>
          </a:xfrm>
        </p:grpSpPr>
        <p:sp>
          <p:nvSpPr>
            <p:cNvPr id="851" name="Google Shape;851;p45"/>
            <p:cNvSpPr/>
            <p:nvPr/>
          </p:nvSpPr>
          <p:spPr>
            <a:xfrm>
              <a:off x="0" y="0"/>
              <a:ext cx="2667000" cy="3238500"/>
            </a:xfrm>
            <a:prstGeom prst="roundRect">
              <a:avLst>
                <a:gd fmla="val 3571" name="adj"/>
              </a:avLst>
            </a:prstGeom>
            <a:solidFill>
              <a:srgbClr val="FFFFFF"/>
            </a:solidFill>
            <a:ln cap="flat" cmpd="sng" w="148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2" name="Google Shape;852;p45"/>
            <p:cNvSpPr/>
            <p:nvPr/>
          </p:nvSpPr>
          <p:spPr>
            <a:xfrm>
              <a:off x="0" y="0"/>
              <a:ext cx="57300" cy="3238500"/>
            </a:xfrm>
            <a:prstGeom prst="roundRect">
              <a:avLst>
                <a:gd fmla="val 5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3" name="Google Shape;853;p45"/>
            <p:cNvSpPr txBox="1"/>
            <p:nvPr/>
          </p:nvSpPr>
          <p:spPr>
            <a:xfrm>
              <a:off x="190499" y="190493"/>
              <a:ext cx="2286000" cy="275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48">
                  <a:solidFill>
                    <a:srgbClr val="1B3859"/>
                  </a:solidFill>
                  <a:latin typeface="Poppins ExtraBold"/>
                  <a:ea typeface="Poppins ExtraBold"/>
                  <a:cs typeface="Poppins ExtraBold"/>
                  <a:sym typeface="Poppins ExtraBold"/>
                </a:rPr>
                <a:t>Key Observations</a:t>
              </a:r>
              <a:endParaRPr b="0" sz="1248">
                <a:solidFill>
                  <a:srgbClr val="1B3859"/>
                </a:solidFill>
                <a:latin typeface="Poppins ExtraBold"/>
                <a:ea typeface="Poppins ExtraBold"/>
                <a:cs typeface="Poppins ExtraBold"/>
                <a:sym typeface="Poppins ExtraBold"/>
              </a:endParaRPr>
            </a:p>
            <a:p>
              <a:pPr indent="-303735" lvl="0" marL="475412" rtl="0" algn="l">
                <a:spcBef>
                  <a:spcPts val="936"/>
                </a:spcBef>
                <a:spcAft>
                  <a:spcPts val="0"/>
                </a:spcAft>
                <a:buClr>
                  <a:srgbClr val="475569"/>
                </a:buClr>
                <a:buSzPts val="1040"/>
                <a:buFont typeface="Poppins"/>
                <a:buChar char="●"/>
              </a:pPr>
              <a:r>
                <a:rPr b="1" lang="en" sz="1040">
                  <a:solidFill>
                    <a:srgbClr val="1B3859"/>
                  </a:solidFill>
                  <a:latin typeface="Poppins"/>
                  <a:ea typeface="Poppins"/>
                  <a:cs typeface="Poppins"/>
                  <a:sym typeface="Poppins"/>
                </a:rPr>
                <a:t>Waterbury Leads:</a:t>
              </a:r>
              <a:r>
                <a:rPr lang="en" sz="1040">
                  <a:solidFill>
                    <a:srgbClr val="475569"/>
                  </a:solidFill>
                  <a:latin typeface="Poppins"/>
                  <a:ea typeface="Poppins"/>
                  <a:cs typeface="Poppins"/>
                  <a:sym typeface="Poppins"/>
                </a:rPr>
                <a:t> Consistently records the highest birth numbers in the district, rising to 52 in 2024.</a:t>
              </a:r>
              <a:endParaRPr sz="1040">
                <a:solidFill>
                  <a:srgbClr val="475569"/>
                </a:solidFill>
                <a:latin typeface="Poppins"/>
                <a:ea typeface="Poppins"/>
                <a:cs typeface="Poppins"/>
                <a:sym typeface="Poppins"/>
              </a:endParaRPr>
            </a:p>
            <a:p>
              <a:pPr indent="-303735" lvl="0" marL="475412" rtl="0" algn="l">
                <a:spcBef>
                  <a:spcPts val="936"/>
                </a:spcBef>
                <a:spcAft>
                  <a:spcPts val="0"/>
                </a:spcAft>
                <a:buClr>
                  <a:srgbClr val="475569"/>
                </a:buClr>
                <a:buSzPts val="1040"/>
                <a:buFont typeface="Poppins"/>
                <a:buChar char="●"/>
              </a:pPr>
              <a:r>
                <a:rPr b="1" lang="en" sz="1040">
                  <a:solidFill>
                    <a:srgbClr val="1B3859"/>
                  </a:solidFill>
                  <a:latin typeface="Poppins"/>
                  <a:ea typeface="Poppins"/>
                  <a:cs typeface="Poppins"/>
                  <a:sym typeface="Poppins"/>
                </a:rPr>
                <a:t>Declining Areas:</a:t>
              </a:r>
              <a:r>
                <a:rPr lang="en" sz="1040">
                  <a:solidFill>
                    <a:srgbClr val="475569"/>
                  </a:solidFill>
                  <a:latin typeface="Poppins"/>
                  <a:ea typeface="Poppins"/>
                  <a:cs typeface="Poppins"/>
                  <a:sym typeface="Poppins"/>
                </a:rPr>
                <a:t> Fayston and Warren saw notable decreases, dropping to just 4 and 1 births respectively in 2024.</a:t>
              </a:r>
              <a:endParaRPr sz="1040">
                <a:solidFill>
                  <a:srgbClr val="475569"/>
                </a:solidFill>
                <a:latin typeface="Poppins"/>
                <a:ea typeface="Poppins"/>
                <a:cs typeface="Poppins"/>
                <a:sym typeface="Poppins"/>
              </a:endParaRPr>
            </a:p>
            <a:p>
              <a:pPr indent="-303735" lvl="0" marL="475412" rtl="0" algn="l">
                <a:spcBef>
                  <a:spcPts val="936"/>
                </a:spcBef>
                <a:spcAft>
                  <a:spcPts val="0"/>
                </a:spcAft>
                <a:buClr>
                  <a:srgbClr val="475569"/>
                </a:buClr>
                <a:buSzPts val="1040"/>
                <a:buFont typeface="Poppins"/>
                <a:buChar char="●"/>
              </a:pPr>
              <a:r>
                <a:rPr b="1" lang="en" sz="1040">
                  <a:solidFill>
                    <a:srgbClr val="1B3859"/>
                  </a:solidFill>
                  <a:latin typeface="Poppins"/>
                  <a:ea typeface="Poppins"/>
                  <a:cs typeface="Poppins"/>
                  <a:sym typeface="Poppins"/>
                </a:rPr>
                <a:t>Pipeline Impact:</a:t>
              </a:r>
              <a:r>
                <a:rPr lang="en" sz="1040">
                  <a:solidFill>
                    <a:srgbClr val="475569"/>
                  </a:solidFill>
                  <a:latin typeface="Poppins"/>
                  <a:ea typeface="Poppins"/>
                  <a:cs typeface="Poppins"/>
                  <a:sym typeface="Poppins"/>
                </a:rPr>
                <a:t> Highly localized birth variations directly influence future elementary school enrollment and class sizes.</a:t>
              </a:r>
              <a:endParaRPr sz="1040">
                <a:solidFill>
                  <a:srgbClr val="475569"/>
                </a:solidFill>
                <a:latin typeface="Poppins"/>
                <a:ea typeface="Poppins"/>
                <a:cs typeface="Poppins"/>
                <a:sym typeface="Poppins"/>
              </a:endParaRPr>
            </a:p>
          </p:txBody>
        </p:sp>
      </p:grpSp>
      <p:graphicFrame>
        <p:nvGraphicFramePr>
          <p:cNvPr id="854" name="Google Shape;854;p45"/>
          <p:cNvGraphicFramePr/>
          <p:nvPr/>
        </p:nvGraphicFramePr>
        <p:xfrm>
          <a:off x="184813" y="1462675"/>
          <a:ext cx="3000000" cy="3000000"/>
        </p:xfrm>
        <a:graphic>
          <a:graphicData uri="http://schemas.openxmlformats.org/drawingml/2006/table">
            <a:tbl>
              <a:tblPr>
                <a:noFill/>
                <a:tableStyleId>{F048B22E-B1D8-479D-8C7E-11459F303189}</a:tableStyleId>
              </a:tblPr>
              <a:tblGrid>
                <a:gridCol w="775500"/>
                <a:gridCol w="775500"/>
                <a:gridCol w="775500"/>
                <a:gridCol w="775500"/>
                <a:gridCol w="775500"/>
                <a:gridCol w="775500"/>
                <a:gridCol w="775500"/>
                <a:gridCol w="775500"/>
              </a:tblGrid>
              <a:tr h="519475">
                <a:tc>
                  <a:txBody>
                    <a:bodyPr/>
                    <a:lstStyle/>
                    <a:p>
                      <a:pPr indent="0" lvl="0" marL="0" rtl="0" algn="l">
                        <a:spcBef>
                          <a:spcPts val="0"/>
                        </a:spcBef>
                        <a:spcAft>
                          <a:spcPts val="0"/>
                        </a:spcAft>
                        <a:buNone/>
                      </a:pPr>
                      <a:r>
                        <a:rPr lang="en" sz="1000"/>
                        <a:t>Year</a:t>
                      </a:r>
                      <a:endParaRPr sz="1000"/>
                    </a:p>
                  </a:txBody>
                  <a:tcPr marT="91425" marB="91425" marR="91425" marL="91425"/>
                </a:tc>
                <a:tc>
                  <a:txBody>
                    <a:bodyPr/>
                    <a:lstStyle/>
                    <a:p>
                      <a:pPr indent="0" lvl="0" marL="0" rtl="0" algn="l">
                        <a:spcBef>
                          <a:spcPts val="0"/>
                        </a:spcBef>
                        <a:spcAft>
                          <a:spcPts val="0"/>
                        </a:spcAft>
                        <a:buNone/>
                      </a:pPr>
                      <a:r>
                        <a:rPr lang="en" sz="1000"/>
                        <a:t>Fayston</a:t>
                      </a:r>
                      <a:endParaRPr sz="1000"/>
                    </a:p>
                  </a:txBody>
                  <a:tcPr marT="91425" marB="91425" marR="91425" marL="91425"/>
                </a:tc>
                <a:tc>
                  <a:txBody>
                    <a:bodyPr/>
                    <a:lstStyle/>
                    <a:p>
                      <a:pPr indent="0" lvl="0" marL="0" rtl="0" algn="l">
                        <a:spcBef>
                          <a:spcPts val="0"/>
                        </a:spcBef>
                        <a:spcAft>
                          <a:spcPts val="0"/>
                        </a:spcAft>
                        <a:buNone/>
                      </a:pPr>
                      <a:r>
                        <a:rPr lang="en" sz="1000"/>
                        <a:t>Duxbury </a:t>
                      </a:r>
                      <a:endParaRPr sz="1000"/>
                    </a:p>
                  </a:txBody>
                  <a:tcPr marT="91425" marB="91425" marR="91425" marL="91425"/>
                </a:tc>
                <a:tc>
                  <a:txBody>
                    <a:bodyPr/>
                    <a:lstStyle/>
                    <a:p>
                      <a:pPr indent="0" lvl="0" marL="0" rtl="0" algn="l">
                        <a:spcBef>
                          <a:spcPts val="0"/>
                        </a:spcBef>
                        <a:spcAft>
                          <a:spcPts val="0"/>
                        </a:spcAft>
                        <a:buNone/>
                      </a:pPr>
                      <a:r>
                        <a:rPr lang="en" sz="1000"/>
                        <a:t>Moretown</a:t>
                      </a:r>
                      <a:endParaRPr sz="1000"/>
                    </a:p>
                  </a:txBody>
                  <a:tcPr marT="91425" marB="91425" marR="91425" marL="91425"/>
                </a:tc>
                <a:tc>
                  <a:txBody>
                    <a:bodyPr/>
                    <a:lstStyle/>
                    <a:p>
                      <a:pPr indent="0" lvl="0" marL="0" rtl="0" algn="l">
                        <a:spcBef>
                          <a:spcPts val="0"/>
                        </a:spcBef>
                        <a:spcAft>
                          <a:spcPts val="0"/>
                        </a:spcAft>
                        <a:buNone/>
                      </a:pPr>
                      <a:r>
                        <a:rPr lang="en" sz="1000"/>
                        <a:t>Waitsfield</a:t>
                      </a:r>
                      <a:endParaRPr sz="1000"/>
                    </a:p>
                  </a:txBody>
                  <a:tcPr marT="91425" marB="91425" marR="91425" marL="91425"/>
                </a:tc>
                <a:tc>
                  <a:txBody>
                    <a:bodyPr/>
                    <a:lstStyle/>
                    <a:p>
                      <a:pPr indent="0" lvl="0" marL="0" rtl="0" algn="l">
                        <a:spcBef>
                          <a:spcPts val="0"/>
                        </a:spcBef>
                        <a:spcAft>
                          <a:spcPts val="0"/>
                        </a:spcAft>
                        <a:buNone/>
                      </a:pPr>
                      <a:r>
                        <a:rPr lang="en" sz="1000"/>
                        <a:t>Waterbury </a:t>
                      </a:r>
                      <a:endParaRPr sz="1000"/>
                    </a:p>
                  </a:txBody>
                  <a:tcPr marT="91425" marB="91425" marR="91425" marL="91425"/>
                </a:tc>
                <a:tc>
                  <a:txBody>
                    <a:bodyPr/>
                    <a:lstStyle/>
                    <a:p>
                      <a:pPr indent="0" lvl="0" marL="0" rtl="0" algn="l">
                        <a:spcBef>
                          <a:spcPts val="0"/>
                        </a:spcBef>
                        <a:spcAft>
                          <a:spcPts val="0"/>
                        </a:spcAft>
                        <a:buNone/>
                      </a:pPr>
                      <a:r>
                        <a:rPr lang="en" sz="1000"/>
                        <a:t>Warren</a:t>
                      </a:r>
                      <a:endParaRPr sz="1000"/>
                    </a:p>
                  </a:txBody>
                  <a:tcPr marT="91425" marB="91425" marR="91425" marL="91425"/>
                </a:tc>
                <a:tc>
                  <a:txBody>
                    <a:bodyPr/>
                    <a:lstStyle/>
                    <a:p>
                      <a:pPr indent="0" lvl="0" marL="0" rtl="0" algn="l">
                        <a:spcBef>
                          <a:spcPts val="0"/>
                        </a:spcBef>
                        <a:spcAft>
                          <a:spcPts val="0"/>
                        </a:spcAft>
                        <a:buNone/>
                      </a:pPr>
                      <a:r>
                        <a:rPr lang="en" sz="1000"/>
                        <a:t>Total </a:t>
                      </a:r>
                      <a:endParaRPr sz="1000"/>
                    </a:p>
                  </a:txBody>
                  <a:tcPr marT="91425" marB="91425" marR="91425" marL="91425"/>
                </a:tc>
              </a:tr>
              <a:tr h="393500">
                <a:tc>
                  <a:txBody>
                    <a:bodyPr/>
                    <a:lstStyle/>
                    <a:p>
                      <a:pPr indent="0" lvl="0" marL="0" rtl="0" algn="l">
                        <a:spcBef>
                          <a:spcPts val="0"/>
                        </a:spcBef>
                        <a:spcAft>
                          <a:spcPts val="0"/>
                        </a:spcAft>
                        <a:buNone/>
                      </a:pPr>
                      <a:r>
                        <a:rPr lang="en"/>
                        <a:t>2026</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9</a:t>
                      </a:r>
                      <a:endParaRPr/>
                    </a:p>
                  </a:txBody>
                  <a:tcPr marT="91425" marB="91425" marR="91425" marL="91425"/>
                </a:tc>
                <a:tc>
                  <a:txBody>
                    <a:bodyPr/>
                    <a:lstStyle/>
                    <a:p>
                      <a:pPr indent="0" lvl="0" marL="0" rtl="0" algn="l">
                        <a:spcBef>
                          <a:spcPts val="0"/>
                        </a:spcBef>
                        <a:spcAft>
                          <a:spcPts val="0"/>
                        </a:spcAft>
                        <a:buNone/>
                      </a:pPr>
                      <a:r>
                        <a:rPr lang="en"/>
                        <a:t>9</a:t>
                      </a:r>
                      <a:endParaRPr/>
                    </a:p>
                  </a:txBody>
                  <a:tcPr marT="91425" marB="91425" marR="91425" marL="91425"/>
                </a:tc>
                <a:tc>
                  <a:txBody>
                    <a:bodyPr/>
                    <a:lstStyle/>
                    <a:p>
                      <a:pPr indent="0" lvl="0" marL="0" rtl="0" algn="l">
                        <a:spcBef>
                          <a:spcPts val="0"/>
                        </a:spcBef>
                        <a:spcAft>
                          <a:spcPts val="0"/>
                        </a:spcAft>
                        <a:buNone/>
                      </a:pPr>
                      <a:r>
                        <a:rPr lang="en"/>
                        <a:t>34</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73</a:t>
                      </a:r>
                      <a:endParaRPr/>
                    </a:p>
                  </a:txBody>
                  <a:tcPr marT="91425" marB="91425" marR="91425" marL="91425"/>
                </a:tc>
              </a:tr>
              <a:tr h="393500">
                <a:tc>
                  <a:txBody>
                    <a:bodyPr/>
                    <a:lstStyle/>
                    <a:p>
                      <a:pPr indent="0" lvl="0" marL="0" rtl="0" algn="l">
                        <a:spcBef>
                          <a:spcPts val="0"/>
                        </a:spcBef>
                        <a:spcAft>
                          <a:spcPts val="0"/>
                        </a:spcAft>
                        <a:buNone/>
                      </a:pPr>
                      <a:r>
                        <a:rPr lang="en"/>
                        <a:t>2025</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9</a:t>
                      </a:r>
                      <a:endParaRPr/>
                    </a:p>
                  </a:txBody>
                  <a:tcPr marT="91425" marB="91425" marR="91425" marL="91425"/>
                </a:tc>
                <a:tc>
                  <a:txBody>
                    <a:bodyPr/>
                    <a:lstStyle/>
                    <a:p>
                      <a:pPr indent="0" lvl="0" marL="0" rtl="0" algn="l">
                        <a:spcBef>
                          <a:spcPts val="0"/>
                        </a:spcBef>
                        <a:spcAft>
                          <a:spcPts val="0"/>
                        </a:spcAft>
                        <a:buNone/>
                      </a:pPr>
                      <a:r>
                        <a:rPr lang="en"/>
                        <a:t>17</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58</a:t>
                      </a:r>
                      <a:endParaRPr/>
                    </a:p>
                  </a:txBody>
                  <a:tcPr marT="91425" marB="91425" marR="91425" marL="91425"/>
                </a:tc>
                <a:tc>
                  <a:txBody>
                    <a:bodyPr/>
                    <a:lstStyle/>
                    <a:p>
                      <a:pPr indent="0" lvl="0" marL="0" rtl="0" algn="l">
                        <a:spcBef>
                          <a:spcPts val="0"/>
                        </a:spcBef>
                        <a:spcAft>
                          <a:spcPts val="0"/>
                        </a:spcAft>
                        <a:buNone/>
                      </a:pPr>
                      <a:r>
                        <a:rPr lang="en"/>
                        <a:t>16</a:t>
                      </a:r>
                      <a:endParaRPr/>
                    </a:p>
                  </a:txBody>
                  <a:tcPr marT="91425" marB="91425" marR="91425" marL="91425"/>
                </a:tc>
                <a:tc>
                  <a:txBody>
                    <a:bodyPr/>
                    <a:lstStyle/>
                    <a:p>
                      <a:pPr indent="0" lvl="0" marL="0" rtl="0" algn="l">
                        <a:spcBef>
                          <a:spcPts val="0"/>
                        </a:spcBef>
                        <a:spcAft>
                          <a:spcPts val="0"/>
                        </a:spcAft>
                        <a:buNone/>
                      </a:pPr>
                      <a:r>
                        <a:rPr lang="en"/>
                        <a:t>107</a:t>
                      </a:r>
                      <a:endParaRPr/>
                    </a:p>
                  </a:txBody>
                  <a:tcPr marT="91425" marB="91425" marR="91425" marL="91425"/>
                </a:tc>
              </a:tr>
              <a:tr h="422050">
                <a:tc>
                  <a:txBody>
                    <a:bodyPr/>
                    <a:lstStyle/>
                    <a:p>
                      <a:pPr indent="0" lvl="0" marL="0" rtl="0" algn="l">
                        <a:spcBef>
                          <a:spcPts val="0"/>
                        </a:spcBef>
                        <a:spcAft>
                          <a:spcPts val="0"/>
                        </a:spcAft>
                        <a:buNone/>
                      </a:pPr>
                      <a:r>
                        <a:rPr lang="en"/>
                        <a:t>2024</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23</a:t>
                      </a:r>
                      <a:endParaRPr/>
                    </a:p>
                  </a:txBody>
                  <a:tcPr marT="91425" marB="91425" marR="91425" marL="91425"/>
                </a:tc>
                <a:tc>
                  <a:txBody>
                    <a:bodyPr/>
                    <a:lstStyle/>
                    <a:p>
                      <a:pPr indent="0" lvl="0" marL="0" rtl="0" algn="l">
                        <a:spcBef>
                          <a:spcPts val="0"/>
                        </a:spcBef>
                        <a:spcAft>
                          <a:spcPts val="0"/>
                        </a:spcAft>
                        <a:buNone/>
                      </a:pPr>
                      <a:r>
                        <a:rPr lang="en"/>
                        <a:t>13</a:t>
                      </a:r>
                      <a:endParaRPr/>
                    </a:p>
                  </a:txBody>
                  <a:tcPr marT="91425" marB="91425" marR="91425" marL="91425"/>
                </a:tc>
                <a:tc>
                  <a:txBody>
                    <a:bodyPr/>
                    <a:lstStyle/>
                    <a:p>
                      <a:pPr indent="0" lvl="0" marL="0" rtl="0" algn="l">
                        <a:spcBef>
                          <a:spcPts val="0"/>
                        </a:spcBef>
                        <a:spcAft>
                          <a:spcPts val="0"/>
                        </a:spcAft>
                        <a:buNone/>
                      </a:pPr>
                      <a:r>
                        <a:rPr lang="en"/>
                        <a:t>52</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107</a:t>
                      </a:r>
                      <a:endParaRPr/>
                    </a:p>
                  </a:txBody>
                  <a:tcPr marT="91425" marB="91425" marR="91425" marL="91425"/>
                </a:tc>
              </a:tr>
              <a:tr h="393500">
                <a:tc>
                  <a:txBody>
                    <a:bodyPr/>
                    <a:lstStyle/>
                    <a:p>
                      <a:pPr indent="0" lvl="0" marL="0" rtl="0" algn="l">
                        <a:spcBef>
                          <a:spcPts val="0"/>
                        </a:spcBef>
                        <a:spcAft>
                          <a:spcPts val="0"/>
                        </a:spcAft>
                        <a:buNone/>
                      </a:pPr>
                      <a:r>
                        <a:rPr lang="en"/>
                        <a:t>2023</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23</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47</a:t>
                      </a:r>
                      <a:endParaRPr/>
                    </a:p>
                  </a:txBody>
                  <a:tcPr marT="91425" marB="91425" marR="91425" marL="91425"/>
                </a:tc>
                <a:tc>
                  <a:txBody>
                    <a:bodyPr/>
                    <a:lstStyle/>
                    <a:p>
                      <a:pPr indent="0" lvl="0" marL="0" rtl="0" algn="l">
                        <a:spcBef>
                          <a:spcPts val="0"/>
                        </a:spcBef>
                        <a:spcAft>
                          <a:spcPts val="0"/>
                        </a:spcAft>
                        <a:buNone/>
                      </a:pPr>
                      <a:r>
                        <a:rPr lang="en"/>
                        <a:t>11</a:t>
                      </a:r>
                      <a:endParaRPr/>
                    </a:p>
                  </a:txBody>
                  <a:tcPr marT="91425" marB="91425" marR="91425" marL="91425"/>
                </a:tc>
                <a:tc>
                  <a:txBody>
                    <a:bodyPr/>
                    <a:lstStyle/>
                    <a:p>
                      <a:pPr indent="0" lvl="0" marL="0" rtl="0" algn="l">
                        <a:spcBef>
                          <a:spcPts val="0"/>
                        </a:spcBef>
                        <a:spcAft>
                          <a:spcPts val="0"/>
                        </a:spcAft>
                        <a:buNone/>
                      </a:pPr>
                      <a:r>
                        <a:rPr lang="en"/>
                        <a:t>119</a:t>
                      </a:r>
                      <a:endParaRPr/>
                    </a:p>
                  </a:txBody>
                  <a:tcPr marT="91425" marB="91425" marR="91425" marL="91425"/>
                </a:tc>
              </a:tr>
              <a:tr h="393500">
                <a:tc>
                  <a:txBody>
                    <a:bodyPr/>
                    <a:lstStyle/>
                    <a:p>
                      <a:pPr indent="0" lvl="0" marL="0" rtl="0" algn="l">
                        <a:spcBef>
                          <a:spcPts val="0"/>
                        </a:spcBef>
                        <a:spcAft>
                          <a:spcPts val="0"/>
                        </a:spcAft>
                        <a:buNone/>
                      </a:pPr>
                      <a:r>
                        <a:rPr lang="en"/>
                        <a:t>2022</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c>
                  <a:txBody>
                    <a:bodyPr/>
                    <a:lstStyle/>
                    <a:p>
                      <a:pPr indent="0" lvl="0" marL="0" rtl="0" algn="l">
                        <a:spcBef>
                          <a:spcPts val="0"/>
                        </a:spcBef>
                        <a:spcAft>
                          <a:spcPts val="0"/>
                        </a:spcAft>
                        <a:buNone/>
                      </a:pPr>
                      <a:r>
                        <a:rPr lang="en"/>
                        <a:t>21</a:t>
                      </a:r>
                      <a:endParaRPr/>
                    </a:p>
                  </a:txBody>
                  <a:tcPr marT="91425" marB="91425" marR="91425" marL="91425"/>
                </a:tc>
                <a:tc>
                  <a:txBody>
                    <a:bodyPr/>
                    <a:lstStyle/>
                    <a:p>
                      <a:pPr indent="0" lvl="0" marL="0" rtl="0" algn="l">
                        <a:spcBef>
                          <a:spcPts val="0"/>
                        </a:spcBef>
                        <a:spcAft>
                          <a:spcPts val="0"/>
                        </a:spcAft>
                        <a:buNone/>
                      </a:pPr>
                      <a:r>
                        <a:rPr lang="en"/>
                        <a:t>13</a:t>
                      </a:r>
                      <a:endParaRPr/>
                    </a:p>
                  </a:txBody>
                  <a:tcPr marT="91425" marB="91425" marR="91425" marL="91425"/>
                </a:tc>
                <a:tc>
                  <a:txBody>
                    <a:bodyPr/>
                    <a:lstStyle/>
                    <a:p>
                      <a:pPr indent="0" lvl="0" marL="0" rtl="0" algn="l">
                        <a:spcBef>
                          <a:spcPts val="0"/>
                        </a:spcBef>
                        <a:spcAft>
                          <a:spcPts val="0"/>
                        </a:spcAft>
                        <a:buNone/>
                      </a:pPr>
                      <a:r>
                        <a:rPr lang="en"/>
                        <a:t>41</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c>
                  <a:txBody>
                    <a:bodyPr/>
                    <a:lstStyle/>
                    <a:p>
                      <a:pPr indent="0" lvl="0" marL="0" rtl="0" algn="l">
                        <a:spcBef>
                          <a:spcPts val="0"/>
                        </a:spcBef>
                        <a:spcAft>
                          <a:spcPts val="0"/>
                        </a:spcAft>
                        <a:buNone/>
                      </a:pPr>
                      <a:r>
                        <a:rPr lang="en"/>
                        <a:t>98</a:t>
                      </a:r>
                      <a:endParaRPr/>
                    </a:p>
                  </a:txBody>
                  <a:tcPr marT="91425" marB="91425" marR="91425" marL="91425"/>
                </a:tc>
              </a:tr>
              <a:tr h="393500">
                <a:tc>
                  <a:txBody>
                    <a:bodyPr/>
                    <a:lstStyle/>
                    <a:p>
                      <a:pPr indent="0" lvl="0" marL="0" rtl="0" algn="l">
                        <a:spcBef>
                          <a:spcPts val="0"/>
                        </a:spcBef>
                        <a:spcAft>
                          <a:spcPts val="0"/>
                        </a:spcAft>
                        <a:buNone/>
                      </a:pPr>
                      <a:r>
                        <a:rPr lang="en"/>
                        <a:t>2021</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18</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c>
                  <a:txBody>
                    <a:bodyPr/>
                    <a:lstStyle/>
                    <a:p>
                      <a:pPr indent="0" lvl="0" marL="0" rtl="0" algn="l">
                        <a:spcBef>
                          <a:spcPts val="0"/>
                        </a:spcBef>
                        <a:spcAft>
                          <a:spcPts val="0"/>
                        </a:spcAft>
                        <a:buNone/>
                      </a:pPr>
                      <a:r>
                        <a:rPr lang="en"/>
                        <a:t>47</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100</a:t>
                      </a:r>
                      <a:endParaRPr/>
                    </a:p>
                  </a:txBody>
                  <a:tcPr marT="91425" marB="91425" marR="91425" marL="91425"/>
                </a:tc>
              </a:tr>
              <a:tr h="393500">
                <a:tc>
                  <a:txBody>
                    <a:bodyPr/>
                    <a:lstStyle/>
                    <a:p>
                      <a:pPr indent="0" lvl="0" marL="0" rtl="0" algn="l">
                        <a:spcBef>
                          <a:spcPts val="0"/>
                        </a:spcBef>
                        <a:spcAft>
                          <a:spcPts val="0"/>
                        </a:spcAft>
                        <a:buNone/>
                      </a:pPr>
                      <a:r>
                        <a:rPr lang="en"/>
                        <a:t>2020</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c>
                  <a:txBody>
                    <a:bodyPr/>
                    <a:lstStyle/>
                    <a:p>
                      <a:pPr indent="0" lvl="0" marL="0" rtl="0" algn="l">
                        <a:spcBef>
                          <a:spcPts val="0"/>
                        </a:spcBef>
                        <a:spcAft>
                          <a:spcPts val="0"/>
                        </a:spcAft>
                        <a:buNone/>
                      </a:pPr>
                      <a:r>
                        <a:rPr lang="en"/>
                        <a:t>18</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43</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95</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8" name="Shape 858"/>
        <p:cNvGrpSpPr/>
        <p:nvPr/>
      </p:nvGrpSpPr>
      <p:grpSpPr>
        <a:xfrm>
          <a:off x="0" y="0"/>
          <a:ext cx="0" cy="0"/>
          <a:chOff x="0" y="0"/>
          <a:chExt cx="0" cy="0"/>
        </a:xfrm>
      </p:grpSpPr>
      <p:graphicFrame>
        <p:nvGraphicFramePr>
          <p:cNvPr id="859" name="Google Shape;859;p46"/>
          <p:cNvGraphicFramePr/>
          <p:nvPr/>
        </p:nvGraphicFramePr>
        <p:xfrm>
          <a:off x="381000" y="1095375"/>
          <a:ext cx="3000000" cy="3000000"/>
        </p:xfrm>
        <a:graphic>
          <a:graphicData uri="http://schemas.openxmlformats.org/drawingml/2006/table">
            <a:tbl>
              <a:tblPr>
                <a:noFill/>
                <a:tableStyleId>{E1922B52-F810-4ECE-AA54-C31FA968E27D}</a:tableStyleId>
              </a:tblPr>
              <a:tblGrid>
                <a:gridCol w="971550"/>
                <a:gridCol w="971550"/>
                <a:gridCol w="971550"/>
                <a:gridCol w="971550"/>
                <a:gridCol w="971550"/>
              </a:tblGrid>
              <a:tr h="452450">
                <a:tc>
                  <a:txBody>
                    <a:bodyPr/>
                    <a:lstStyle/>
                    <a:p>
                      <a:pPr indent="0" lvl="0" marL="0" rtl="0" algn="l">
                        <a:spcBef>
                          <a:spcPts val="0"/>
                        </a:spcBef>
                        <a:spcAft>
                          <a:spcPts val="0"/>
                        </a:spcAft>
                        <a:buNone/>
                      </a:pPr>
                      <a:r>
                        <a:rPr b="1" lang="en" sz="950">
                          <a:solidFill>
                            <a:srgbClr val="1B3859"/>
                          </a:solidFill>
                          <a:latin typeface="Arial"/>
                          <a:ea typeface="Arial"/>
                          <a:cs typeface="Arial"/>
                          <a:sym typeface="Arial"/>
                        </a:rPr>
                        <a:t>Birth Year</a:t>
                      </a:r>
                      <a:endParaRPr b="1" sz="950">
                        <a:solidFill>
                          <a:srgbClr val="1B3859"/>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1B3859"/>
                          </a:solidFill>
                          <a:latin typeface="Arial"/>
                          <a:ea typeface="Arial"/>
                          <a:cs typeface="Arial"/>
                          <a:sym typeface="Arial"/>
                        </a:rPr>
                        <a:t>Births</a:t>
                      </a:r>
                      <a:endParaRPr b="1" sz="950">
                        <a:solidFill>
                          <a:srgbClr val="1B3859"/>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1B3859"/>
                          </a:solidFill>
                          <a:latin typeface="Arial"/>
                          <a:ea typeface="Arial"/>
                          <a:cs typeface="Arial"/>
                          <a:sym typeface="Arial"/>
                        </a:rPr>
                        <a:t>Grad Year</a:t>
                      </a:r>
                      <a:endParaRPr b="1" sz="950">
                        <a:solidFill>
                          <a:srgbClr val="1B3859"/>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1B3859"/>
                          </a:solidFill>
                          <a:latin typeface="Arial"/>
                          <a:ea typeface="Arial"/>
                          <a:cs typeface="Arial"/>
                          <a:sym typeface="Arial"/>
                        </a:rPr>
                        <a:t>Seniors</a:t>
                      </a:r>
                      <a:endParaRPr b="1" sz="950">
                        <a:solidFill>
                          <a:srgbClr val="1B3859"/>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1B3859"/>
                          </a:solidFill>
                          <a:latin typeface="Arial"/>
                          <a:ea typeface="Arial"/>
                          <a:cs typeface="Arial"/>
                          <a:sym typeface="Arial"/>
                        </a:rPr>
                        <a:t>Diff (+/-)</a:t>
                      </a:r>
                      <a:endParaRPr b="1" sz="950">
                        <a:solidFill>
                          <a:srgbClr val="1B3859"/>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1B3859"/>
                      </a:solidFill>
                      <a:prstDash val="solid"/>
                      <a:round/>
                      <a:headEnd len="sm" w="sm" type="none"/>
                      <a:tailEnd len="sm" w="sm" type="none"/>
                    </a:lnB>
                  </a:tcPr>
                </a:tc>
              </a:tr>
              <a:tr h="4524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2020</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95</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2023</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0F172A"/>
                          </a:solidFill>
                          <a:latin typeface="Arial"/>
                          <a:ea typeface="Arial"/>
                          <a:cs typeface="Arial"/>
                          <a:sym typeface="Arial"/>
                        </a:rPr>
                        <a:t>130</a:t>
                      </a:r>
                      <a:endParaRPr b="0"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B44647"/>
                          </a:solidFill>
                          <a:latin typeface="Arial"/>
                          <a:ea typeface="Arial"/>
                          <a:cs typeface="Arial"/>
                          <a:sym typeface="Arial"/>
                        </a:rPr>
                        <a:t>-35</a:t>
                      </a:r>
                      <a:endParaRPr b="1" sz="950">
                        <a:solidFill>
                          <a:srgbClr val="B44647"/>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r>
              <a:tr h="4524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2021</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100</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2024</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0F172A"/>
                          </a:solidFill>
                          <a:latin typeface="Arial"/>
                          <a:ea typeface="Arial"/>
                          <a:cs typeface="Arial"/>
                          <a:sym typeface="Arial"/>
                        </a:rPr>
                        <a:t>105</a:t>
                      </a:r>
                      <a:endParaRPr b="0"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B44647"/>
                          </a:solidFill>
                          <a:latin typeface="Arial"/>
                          <a:ea typeface="Arial"/>
                          <a:cs typeface="Arial"/>
                          <a:sym typeface="Arial"/>
                        </a:rPr>
                        <a:t>-5</a:t>
                      </a:r>
                      <a:endParaRPr b="1" sz="950">
                        <a:solidFill>
                          <a:srgbClr val="B44647"/>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524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2022</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98</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2025</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0F172A"/>
                          </a:solidFill>
                          <a:latin typeface="Arial"/>
                          <a:ea typeface="Arial"/>
                          <a:cs typeface="Arial"/>
                          <a:sym typeface="Arial"/>
                        </a:rPr>
                        <a:t>122</a:t>
                      </a:r>
                      <a:endParaRPr b="0"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B44647"/>
                          </a:solidFill>
                          <a:latin typeface="Arial"/>
                          <a:ea typeface="Arial"/>
                          <a:cs typeface="Arial"/>
                          <a:sym typeface="Arial"/>
                        </a:rPr>
                        <a:t>-24</a:t>
                      </a:r>
                      <a:endParaRPr b="1" sz="950">
                        <a:solidFill>
                          <a:srgbClr val="B44647"/>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524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2023</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119</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2026</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0F172A"/>
                          </a:solidFill>
                          <a:latin typeface="Arial"/>
                          <a:ea typeface="Arial"/>
                          <a:cs typeface="Arial"/>
                          <a:sym typeface="Arial"/>
                        </a:rPr>
                        <a:t>119</a:t>
                      </a:r>
                      <a:endParaRPr b="0"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2F855A"/>
                          </a:solidFill>
                          <a:latin typeface="Arial"/>
                          <a:ea typeface="Arial"/>
                          <a:cs typeface="Arial"/>
                          <a:sym typeface="Arial"/>
                        </a:rPr>
                        <a:t>0</a:t>
                      </a:r>
                      <a:endParaRPr b="1" sz="950">
                        <a:solidFill>
                          <a:srgbClr val="2F855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524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2024</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107</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2027</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94A3B8"/>
                          </a:solidFill>
                          <a:latin typeface="Arial"/>
                          <a:ea typeface="Arial"/>
                          <a:cs typeface="Arial"/>
                          <a:sym typeface="Arial"/>
                        </a:rPr>
                        <a:t>—</a:t>
                      </a:r>
                      <a:endParaRPr b="0" sz="950">
                        <a:solidFill>
                          <a:srgbClr val="94A3B8"/>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94A3B8"/>
                          </a:solidFill>
                          <a:latin typeface="Arial"/>
                          <a:ea typeface="Arial"/>
                          <a:cs typeface="Arial"/>
                          <a:sym typeface="Arial"/>
                        </a:rPr>
                        <a:t>—</a:t>
                      </a:r>
                      <a:endParaRPr b="0" sz="950">
                        <a:solidFill>
                          <a:srgbClr val="94A3B8"/>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524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2025</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107</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2028</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94A3B8"/>
                          </a:solidFill>
                          <a:latin typeface="Arial"/>
                          <a:ea typeface="Arial"/>
                          <a:cs typeface="Arial"/>
                          <a:sym typeface="Arial"/>
                        </a:rPr>
                        <a:t>—</a:t>
                      </a:r>
                      <a:endParaRPr b="0" sz="950">
                        <a:solidFill>
                          <a:srgbClr val="94A3B8"/>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94A3B8"/>
                          </a:solidFill>
                          <a:latin typeface="Arial"/>
                          <a:ea typeface="Arial"/>
                          <a:cs typeface="Arial"/>
                          <a:sym typeface="Arial"/>
                        </a:rPr>
                        <a:t>—</a:t>
                      </a:r>
                      <a:endParaRPr b="0" sz="950">
                        <a:solidFill>
                          <a:srgbClr val="94A3B8"/>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52350">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2026</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sz="950">
                          <a:solidFill>
                            <a:srgbClr val="0F172A"/>
                          </a:solidFill>
                          <a:latin typeface="Arial"/>
                          <a:ea typeface="Arial"/>
                          <a:cs typeface="Arial"/>
                          <a:sym typeface="Arial"/>
                        </a:rPr>
                        <a:t>73</a:t>
                      </a:r>
                      <a:endParaRPr b="1" sz="950">
                        <a:solidFill>
                          <a:srgbClr val="0F172A"/>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334155"/>
                          </a:solidFill>
                          <a:latin typeface="Arial"/>
                          <a:ea typeface="Arial"/>
                          <a:cs typeface="Arial"/>
                          <a:sym typeface="Arial"/>
                        </a:rPr>
                        <a:t>2029</a:t>
                      </a:r>
                      <a:endParaRPr b="0" sz="950">
                        <a:solidFill>
                          <a:srgbClr val="334155"/>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94A3B8"/>
                          </a:solidFill>
                          <a:latin typeface="Arial"/>
                          <a:ea typeface="Arial"/>
                          <a:cs typeface="Arial"/>
                          <a:sym typeface="Arial"/>
                        </a:rPr>
                        <a:t>—</a:t>
                      </a:r>
                      <a:endParaRPr b="0" sz="950">
                        <a:solidFill>
                          <a:srgbClr val="94A3B8"/>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0" lang="en" sz="950">
                          <a:solidFill>
                            <a:srgbClr val="94A3B8"/>
                          </a:solidFill>
                          <a:latin typeface="Arial"/>
                          <a:ea typeface="Arial"/>
                          <a:cs typeface="Arial"/>
                          <a:sym typeface="Arial"/>
                        </a:rPr>
                        <a:t>—</a:t>
                      </a:r>
                      <a:endParaRPr b="0" sz="950">
                        <a:solidFill>
                          <a:srgbClr val="94A3B8"/>
                        </a:solidFill>
                        <a:latin typeface="Arial"/>
                        <a:ea typeface="Arial"/>
                        <a:cs typeface="Arial"/>
                        <a:sym typeface="Arial"/>
                      </a:endParaRPr>
                    </a:p>
                  </a:txBody>
                  <a:tcPr marT="0" marB="0" marR="0"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grpSp>
        <p:nvGrpSpPr>
          <p:cNvPr id="860" name="Google Shape;860;p46"/>
          <p:cNvGrpSpPr/>
          <p:nvPr/>
        </p:nvGrpSpPr>
        <p:grpSpPr>
          <a:xfrm>
            <a:off x="5429250" y="1095375"/>
            <a:ext cx="3333900" cy="3619500"/>
            <a:chOff x="0" y="0"/>
            <a:chExt cx="3333900" cy="3619500"/>
          </a:xfrm>
        </p:grpSpPr>
        <p:sp>
          <p:nvSpPr>
            <p:cNvPr id="861" name="Google Shape;861;p46"/>
            <p:cNvSpPr/>
            <p:nvPr/>
          </p:nvSpPr>
          <p:spPr>
            <a:xfrm>
              <a:off x="0" y="0"/>
              <a:ext cx="3333900" cy="3619500"/>
            </a:xfrm>
            <a:prstGeom prst="roundRect">
              <a:avLst>
                <a:gd fmla="val 34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2" name="Google Shape;862;p46"/>
            <p:cNvSpPr/>
            <p:nvPr/>
          </p:nvSpPr>
          <p:spPr>
            <a:xfrm>
              <a:off x="0" y="0"/>
              <a:ext cx="57300" cy="3619500"/>
            </a:xfrm>
            <a:prstGeom prst="roundRect">
              <a:avLst>
                <a:gd fmla="val 5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46"/>
            <p:cNvSpPr txBox="1"/>
            <p:nvPr/>
          </p:nvSpPr>
          <p:spPr>
            <a:xfrm>
              <a:off x="209550" y="171450"/>
              <a:ext cx="2952900" cy="3276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B3859"/>
                  </a:solidFill>
                  <a:latin typeface="Poppins ExtraBold"/>
                  <a:ea typeface="Poppins ExtraBold"/>
                  <a:cs typeface="Poppins ExtraBold"/>
                  <a:sym typeface="Poppins ExtraBold"/>
                </a:rPr>
                <a:t>Pipeline Analysis</a:t>
              </a:r>
              <a:endParaRPr b="0" sz="1200">
                <a:solidFill>
                  <a:srgbClr val="1B3859"/>
                </a:solidFill>
                <a:latin typeface="Poppins ExtraBold"/>
                <a:ea typeface="Poppins ExtraBold"/>
                <a:cs typeface="Poppins ExtraBold"/>
                <a:sym typeface="Poppins ExtraBold"/>
              </a:endParaRPr>
            </a:p>
            <a:p>
              <a:pPr indent="0" lvl="0" marL="0" rtl="0" algn="l">
                <a:spcBef>
                  <a:spcPts val="900"/>
                </a:spcBef>
                <a:spcAft>
                  <a:spcPts val="0"/>
                </a:spcAft>
                <a:buNone/>
              </a:pPr>
              <a:r>
                <a:rPr b="1" lang="en" sz="950">
                  <a:solidFill>
                    <a:srgbClr val="B44647"/>
                  </a:solidFill>
                  <a:latin typeface="Poppins"/>
                  <a:ea typeface="Poppins"/>
                  <a:cs typeface="Poppins"/>
                  <a:sym typeface="Poppins"/>
                </a:rPr>
                <a:t>Outflow Outpaces Inflow</a:t>
              </a:r>
              <a:endParaRPr b="1" sz="950">
                <a:solidFill>
                  <a:srgbClr val="B44647"/>
                </a:solidFill>
                <a:latin typeface="Poppins"/>
                <a:ea typeface="Poppins"/>
                <a:cs typeface="Poppins"/>
                <a:sym typeface="Poppins"/>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Graduating classes have consistently been larger than incoming resident birth cohorts (average gap of ~16 students).</a:t>
              </a:r>
              <a:endParaRPr b="0" sz="850">
                <a:solidFill>
                  <a:srgbClr val="475569"/>
                </a:solidFill>
                <a:latin typeface="Poppins"/>
                <a:ea typeface="Poppins"/>
                <a:cs typeface="Poppins"/>
                <a:sym typeface="Poppins"/>
              </a:endParaRPr>
            </a:p>
            <a:p>
              <a:pPr indent="0" lvl="0" marL="0" rtl="0" algn="l">
                <a:spcBef>
                  <a:spcPts val="1050"/>
                </a:spcBef>
                <a:spcAft>
                  <a:spcPts val="0"/>
                </a:spcAft>
                <a:buNone/>
              </a:pPr>
              <a:r>
                <a:rPr b="1" lang="en" sz="950">
                  <a:solidFill>
                    <a:srgbClr val="346F90"/>
                  </a:solidFill>
                  <a:latin typeface="Poppins"/>
                  <a:ea typeface="Poppins"/>
                  <a:cs typeface="Poppins"/>
                  <a:sym typeface="Poppins"/>
                </a:rPr>
                <a:t>Future Enrollment Impact</a:t>
              </a:r>
              <a:endParaRPr b="1" sz="950">
                <a:solidFill>
                  <a:srgbClr val="346F90"/>
                </a:solidFill>
                <a:latin typeface="Poppins"/>
                <a:ea typeface="Poppins"/>
                <a:cs typeface="Poppins"/>
                <a:sym typeface="Poppins"/>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As larger graduating classes leave the district, smaller incoming PK cohorts will create a net contraction in overall K–12 enrollment.</a:t>
              </a:r>
              <a:endParaRPr b="0" sz="850">
                <a:solidFill>
                  <a:srgbClr val="475569"/>
                </a:solidFill>
                <a:latin typeface="Poppins"/>
                <a:ea typeface="Poppins"/>
                <a:cs typeface="Poppins"/>
                <a:sym typeface="Poppins"/>
              </a:endParaRPr>
            </a:p>
            <a:p>
              <a:pPr indent="0" lvl="0" marL="0" rtl="0" algn="l">
                <a:spcBef>
                  <a:spcPts val="1050"/>
                </a:spcBef>
                <a:spcAft>
                  <a:spcPts val="0"/>
                </a:spcAft>
                <a:buNone/>
              </a:pPr>
              <a:r>
                <a:rPr b="1" lang="en" sz="950">
                  <a:solidFill>
                    <a:srgbClr val="1B3859"/>
                  </a:solidFill>
                  <a:latin typeface="Poppins"/>
                  <a:ea typeface="Poppins"/>
                  <a:cs typeface="Poppins"/>
                  <a:sym typeface="Poppins"/>
                </a:rPr>
                <a:t>Key Takeaway</a:t>
              </a:r>
              <a:endParaRPr b="1" sz="950">
                <a:solidFill>
                  <a:srgbClr val="1B3859"/>
                </a:solidFill>
                <a:latin typeface="Poppins"/>
                <a:ea typeface="Poppins"/>
                <a:cs typeface="Poppins"/>
                <a:sym typeface="Poppins"/>
              </a:endParaRPr>
            </a:p>
            <a:p>
              <a:pPr indent="0" lvl="0" marL="0" rtl="0" algn="l">
                <a:spcBef>
                  <a:spcPts val="300"/>
                </a:spcBef>
                <a:spcAft>
                  <a:spcPts val="0"/>
                </a:spcAft>
                <a:buNone/>
              </a:pPr>
              <a:r>
                <a:rPr b="0" i="1" lang="en" sz="850">
                  <a:solidFill>
                    <a:srgbClr val="475569"/>
                  </a:solidFill>
                  <a:latin typeface="Poppins"/>
                  <a:ea typeface="Poppins"/>
                  <a:cs typeface="Poppins"/>
                  <a:sym typeface="Poppins"/>
                </a:rPr>
                <a:t>Planning must account for long-term class size structural adjustments across all campus levels.</a:t>
              </a:r>
              <a:endParaRPr b="0" i="1" sz="850">
                <a:solidFill>
                  <a:srgbClr val="475569"/>
                </a:solidFill>
                <a:latin typeface="Poppins"/>
                <a:ea typeface="Poppins"/>
                <a:cs typeface="Poppins"/>
                <a:sym typeface="Poppins"/>
              </a:endParaRPr>
            </a:p>
          </p:txBody>
        </p:sp>
      </p:grpSp>
      <p:sp>
        <p:nvSpPr>
          <p:cNvPr id="864" name="Google Shape;864;p46"/>
          <p:cNvSpPr txBox="1"/>
          <p:nvPr>
            <p:ph type="title"/>
          </p:nvPr>
        </p:nvSpPr>
        <p:spPr>
          <a:xfrm>
            <a:off x="381000" y="333375"/>
            <a:ext cx="8382000" cy="6669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 sz="2200">
                <a:solidFill>
                  <a:srgbClr val="1B3859"/>
                </a:solidFill>
                <a:latin typeface="Poppins ExtraBold"/>
                <a:ea typeface="Poppins ExtraBold"/>
                <a:cs typeface="Poppins ExtraBold"/>
                <a:sym typeface="Poppins ExtraBold"/>
              </a:rPr>
              <a:t>Tracking Incoming PK to Graduates</a:t>
            </a:r>
            <a:endParaRPr b="0" sz="22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64748B"/>
                </a:solidFill>
                <a:latin typeface="Poppins Medium"/>
                <a:ea typeface="Poppins Medium"/>
                <a:cs typeface="Poppins Medium"/>
                <a:sym typeface="Poppins Medium"/>
              </a:rPr>
              <a:t>Comparing resident birth cohorts with graduating senior class sizes to track long-term pipeline trends</a:t>
            </a:r>
            <a:endParaRPr b="0" sz="1100">
              <a:solidFill>
                <a:srgbClr val="64748B"/>
              </a:solidFill>
              <a:latin typeface="Poppins Medium"/>
              <a:ea typeface="Poppins Medium"/>
              <a:cs typeface="Poppins Medium"/>
              <a:sym typeface="Poppins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8" name="Shape 868"/>
        <p:cNvGrpSpPr/>
        <p:nvPr/>
      </p:nvGrpSpPr>
      <p:grpSpPr>
        <a:xfrm>
          <a:off x="0" y="0"/>
          <a:ext cx="0" cy="0"/>
          <a:chOff x="0" y="0"/>
          <a:chExt cx="0" cy="0"/>
        </a:xfrm>
      </p:grpSpPr>
      <p:sp>
        <p:nvSpPr>
          <p:cNvPr id="869" name="Google Shape;869;p47"/>
          <p:cNvSpPr txBox="1"/>
          <p:nvPr>
            <p:ph type="title"/>
          </p:nvPr>
        </p:nvSpPr>
        <p:spPr>
          <a:xfrm>
            <a:off x="381000" y="333375"/>
            <a:ext cx="83820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943">
                <a:solidFill>
                  <a:srgbClr val="1B3859"/>
                </a:solidFill>
                <a:latin typeface="Poppins ExtraBold"/>
                <a:ea typeface="Poppins ExtraBold"/>
                <a:cs typeface="Poppins ExtraBold"/>
                <a:sym typeface="Poppins ExtraBold"/>
              </a:rPr>
              <a:t>How do we align our educational program, facilities, staffing, and resources with the number of students we are projected to serve?</a:t>
            </a:r>
            <a:endParaRPr b="0" sz="1943">
              <a:solidFill>
                <a:srgbClr val="1B3859"/>
              </a:solidFill>
              <a:latin typeface="Poppins ExtraBold"/>
              <a:ea typeface="Poppins ExtraBold"/>
              <a:cs typeface="Poppins ExtraBold"/>
              <a:sym typeface="Poppins ExtraBold"/>
            </a:endParaRPr>
          </a:p>
        </p:txBody>
      </p:sp>
      <p:grpSp>
        <p:nvGrpSpPr>
          <p:cNvPr id="870" name="Google Shape;870;p47"/>
          <p:cNvGrpSpPr/>
          <p:nvPr/>
        </p:nvGrpSpPr>
        <p:grpSpPr>
          <a:xfrm>
            <a:off x="381000" y="1333500"/>
            <a:ext cx="2381400" cy="3286200"/>
            <a:chOff x="0" y="0"/>
            <a:chExt cx="2381400" cy="3286200"/>
          </a:xfrm>
        </p:grpSpPr>
        <p:sp>
          <p:nvSpPr>
            <p:cNvPr id="871" name="Google Shape;871;p47"/>
            <p:cNvSpPr/>
            <p:nvPr/>
          </p:nvSpPr>
          <p:spPr>
            <a:xfrm>
              <a:off x="0" y="0"/>
              <a:ext cx="2381400" cy="3286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2" name="Google Shape;872;p47"/>
            <p:cNvSpPr txBox="1"/>
            <p:nvPr/>
          </p:nvSpPr>
          <p:spPr>
            <a:xfrm>
              <a:off x="0" y="0"/>
              <a:ext cx="2381400" cy="3286200"/>
            </a:xfrm>
            <a:prstGeom prst="rect">
              <a:avLst/>
            </a:prstGeom>
            <a:noFill/>
            <a:ln>
              <a:noFill/>
            </a:ln>
          </p:spPr>
          <p:txBody>
            <a:bodyPr anchorCtr="0" anchor="t" bIns="0" lIns="0" spcFirstLastPara="1" rIns="0" wrap="square" tIns="142875">
              <a:noAutofit/>
            </a:bodyPr>
            <a:lstStyle/>
            <a:p>
              <a:pPr indent="0" lvl="0" marL="0" rtl="0" algn="l">
                <a:spcBef>
                  <a:spcPts val="0"/>
                </a:spcBef>
                <a:spcAft>
                  <a:spcPts val="0"/>
                </a:spcAft>
                <a:buNone/>
              </a:pPr>
              <a:r>
                <a:rPr b="1" lang="en" sz="1100">
                  <a:solidFill>
                    <a:srgbClr val="B44647"/>
                  </a:solidFill>
                  <a:latin typeface="Poppins"/>
                  <a:ea typeface="Poppins"/>
                  <a:cs typeface="Poppins"/>
                  <a:sym typeface="Poppins"/>
                </a:rPr>
                <a:t>THE CHALLENGE</a:t>
              </a:r>
              <a:endParaRPr b="1" sz="1100">
                <a:solidFill>
                  <a:srgbClr val="B44647"/>
                </a:solidFill>
                <a:latin typeface="Poppins"/>
                <a:ea typeface="Poppins"/>
                <a:cs typeface="Poppins"/>
                <a:sym typeface="Poppins"/>
              </a:endParaRPr>
            </a:p>
            <a:p>
              <a:pPr indent="0" lvl="0" marL="0" rtl="0" algn="l">
                <a:spcBef>
                  <a:spcPts val="750"/>
                </a:spcBef>
                <a:spcAft>
                  <a:spcPts val="0"/>
                </a:spcAft>
                <a:buNone/>
              </a:pPr>
              <a:r>
                <a:rPr b="0" lang="en" sz="2200">
                  <a:solidFill>
                    <a:srgbClr val="1B3859"/>
                  </a:solidFill>
                  <a:latin typeface="Poppins ExtraBold"/>
                  <a:ea typeface="Poppins ExtraBold"/>
                  <a:cs typeface="Poppins ExtraBold"/>
                  <a:sym typeface="Poppins ExtraBold"/>
                </a:rPr>
                <a:t>What does this</a:t>
              </a:r>
              <a:endParaRPr b="0" sz="2200">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b="0" lang="en" sz="2200">
                  <a:solidFill>
                    <a:srgbClr val="1B3859"/>
                  </a:solidFill>
                  <a:latin typeface="Poppins ExtraBold"/>
                  <a:ea typeface="Poppins ExtraBold"/>
                  <a:cs typeface="Poppins ExtraBold"/>
                  <a:sym typeface="Poppins ExtraBold"/>
                </a:rPr>
                <a:t>mean for our</a:t>
              </a:r>
              <a:endParaRPr b="0" sz="2200">
                <a:solidFill>
                  <a:srgbClr val="1B3859"/>
                </a:solidFill>
                <a:latin typeface="Poppins ExtraBold"/>
                <a:ea typeface="Poppins ExtraBold"/>
                <a:cs typeface="Poppins ExtraBold"/>
                <a:sym typeface="Poppins ExtraBold"/>
              </a:endParaRPr>
            </a:p>
            <a:p>
              <a:pPr indent="0" lvl="0" marL="0" rtl="0" algn="l">
                <a:spcBef>
                  <a:spcPts val="150"/>
                </a:spcBef>
                <a:spcAft>
                  <a:spcPts val="0"/>
                </a:spcAft>
                <a:buNone/>
              </a:pPr>
              <a:r>
                <a:rPr b="0" lang="en" sz="2200">
                  <a:solidFill>
                    <a:srgbClr val="1B3859"/>
                  </a:solidFill>
                  <a:latin typeface="Poppins ExtraBold"/>
                  <a:ea typeface="Poppins ExtraBold"/>
                  <a:cs typeface="Poppins ExtraBold"/>
                  <a:sym typeface="Poppins ExtraBold"/>
                </a:rPr>
                <a:t>district?</a:t>
              </a:r>
              <a:endParaRPr b="0" sz="2200">
                <a:solidFill>
                  <a:srgbClr val="1B3859"/>
                </a:solidFill>
                <a:latin typeface="Poppins ExtraBold"/>
                <a:ea typeface="Poppins ExtraBold"/>
                <a:cs typeface="Poppins ExtraBold"/>
                <a:sym typeface="Poppins ExtraBold"/>
              </a:endParaRPr>
            </a:p>
          </p:txBody>
        </p:sp>
      </p:grpSp>
      <p:grpSp>
        <p:nvGrpSpPr>
          <p:cNvPr id="873" name="Google Shape;873;p47"/>
          <p:cNvGrpSpPr/>
          <p:nvPr/>
        </p:nvGrpSpPr>
        <p:grpSpPr>
          <a:xfrm>
            <a:off x="3048000" y="1333500"/>
            <a:ext cx="2762400" cy="1000200"/>
            <a:chOff x="0" y="0"/>
            <a:chExt cx="2762400" cy="1000200"/>
          </a:xfrm>
        </p:grpSpPr>
        <p:sp>
          <p:nvSpPr>
            <p:cNvPr id="874" name="Google Shape;874;p47"/>
            <p:cNvSpPr/>
            <p:nvPr/>
          </p:nvSpPr>
          <p:spPr>
            <a:xfrm>
              <a:off x="0" y="0"/>
              <a:ext cx="27624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5" name="Google Shape;875;p47"/>
            <p:cNvSpPr/>
            <p:nvPr/>
          </p:nvSpPr>
          <p:spPr>
            <a:xfrm>
              <a:off x="0" y="0"/>
              <a:ext cx="57300" cy="10002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6" name="Google Shape;876;p47"/>
            <p:cNvSpPr txBox="1"/>
            <p:nvPr/>
          </p:nvSpPr>
          <p:spPr>
            <a:xfrm>
              <a:off x="171450" y="0"/>
              <a:ext cx="24288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346F90"/>
                  </a:solidFill>
                  <a:latin typeface="Poppins ExtraBold"/>
                  <a:ea typeface="Poppins ExtraBold"/>
                  <a:cs typeface="Poppins ExtraBold"/>
                  <a:sym typeface="Poppins ExtraBold"/>
                </a:rPr>
                <a:t>STAFFING</a:t>
              </a:r>
              <a:endParaRPr b="0" sz="1000">
                <a:solidFill>
                  <a:srgbClr val="346F90"/>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How does declining enrollment affect staffing levels, class sizes, and the allocation of personnel across schools?</a:t>
              </a:r>
              <a:endParaRPr b="0" sz="850">
                <a:solidFill>
                  <a:srgbClr val="475569"/>
                </a:solidFill>
                <a:latin typeface="Poppins"/>
                <a:ea typeface="Poppins"/>
                <a:cs typeface="Poppins"/>
                <a:sym typeface="Poppins"/>
              </a:endParaRPr>
            </a:p>
          </p:txBody>
        </p:sp>
      </p:grpSp>
      <p:grpSp>
        <p:nvGrpSpPr>
          <p:cNvPr id="877" name="Google Shape;877;p47"/>
          <p:cNvGrpSpPr/>
          <p:nvPr/>
        </p:nvGrpSpPr>
        <p:grpSpPr>
          <a:xfrm>
            <a:off x="3048000" y="2476500"/>
            <a:ext cx="2762400" cy="1000200"/>
            <a:chOff x="0" y="0"/>
            <a:chExt cx="2762400" cy="1000200"/>
          </a:xfrm>
        </p:grpSpPr>
        <p:sp>
          <p:nvSpPr>
            <p:cNvPr id="878" name="Google Shape;878;p47"/>
            <p:cNvSpPr/>
            <p:nvPr/>
          </p:nvSpPr>
          <p:spPr>
            <a:xfrm>
              <a:off x="0" y="0"/>
              <a:ext cx="27624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9" name="Google Shape;879;p47"/>
            <p:cNvSpPr/>
            <p:nvPr/>
          </p:nvSpPr>
          <p:spPr>
            <a:xfrm>
              <a:off x="0" y="0"/>
              <a:ext cx="57300" cy="10002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0" name="Google Shape;880;p47"/>
            <p:cNvSpPr txBox="1"/>
            <p:nvPr/>
          </p:nvSpPr>
          <p:spPr>
            <a:xfrm>
              <a:off x="171450" y="0"/>
              <a:ext cx="24288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346F90"/>
                  </a:solidFill>
                  <a:latin typeface="Poppins ExtraBold"/>
                  <a:ea typeface="Poppins ExtraBold"/>
                  <a:cs typeface="Poppins ExtraBold"/>
                  <a:sym typeface="Poppins ExtraBold"/>
                </a:rPr>
                <a:t>FACILITIES</a:t>
              </a:r>
              <a:endParaRPr b="0" sz="1000">
                <a:solidFill>
                  <a:srgbClr val="346F90"/>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How should the district plan for buildings that may serve fewer students while continuing to carry fixed operating and maintenance costs?</a:t>
              </a:r>
              <a:endParaRPr b="0" sz="850">
                <a:solidFill>
                  <a:srgbClr val="475569"/>
                </a:solidFill>
                <a:latin typeface="Poppins"/>
                <a:ea typeface="Poppins"/>
                <a:cs typeface="Poppins"/>
                <a:sym typeface="Poppins"/>
              </a:endParaRPr>
            </a:p>
          </p:txBody>
        </p:sp>
      </p:grpSp>
      <p:grpSp>
        <p:nvGrpSpPr>
          <p:cNvPr id="881" name="Google Shape;881;p47"/>
          <p:cNvGrpSpPr/>
          <p:nvPr/>
        </p:nvGrpSpPr>
        <p:grpSpPr>
          <a:xfrm>
            <a:off x="3048000" y="3619500"/>
            <a:ext cx="2762400" cy="1000200"/>
            <a:chOff x="0" y="0"/>
            <a:chExt cx="2762400" cy="1000200"/>
          </a:xfrm>
        </p:grpSpPr>
        <p:sp>
          <p:nvSpPr>
            <p:cNvPr id="882" name="Google Shape;882;p47"/>
            <p:cNvSpPr/>
            <p:nvPr/>
          </p:nvSpPr>
          <p:spPr>
            <a:xfrm>
              <a:off x="0" y="0"/>
              <a:ext cx="27624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3" name="Google Shape;883;p47"/>
            <p:cNvSpPr/>
            <p:nvPr/>
          </p:nvSpPr>
          <p:spPr>
            <a:xfrm>
              <a:off x="0" y="0"/>
              <a:ext cx="57300" cy="10002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4" name="Google Shape;884;p47"/>
            <p:cNvSpPr txBox="1"/>
            <p:nvPr/>
          </p:nvSpPr>
          <p:spPr>
            <a:xfrm>
              <a:off x="171450" y="0"/>
              <a:ext cx="24288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346F90"/>
                  </a:solidFill>
                  <a:latin typeface="Poppins ExtraBold"/>
                  <a:ea typeface="Poppins ExtraBold"/>
                  <a:cs typeface="Poppins ExtraBold"/>
                  <a:sym typeface="Poppins ExtraBold"/>
                </a:rPr>
                <a:t>TRANSPORTATION</a:t>
              </a:r>
              <a:endParaRPr b="0" sz="1000">
                <a:solidFill>
                  <a:srgbClr val="346F90"/>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How do enrollment and geographic distribution affect routes, buses, travel times, and transportation costs?</a:t>
              </a:r>
              <a:endParaRPr b="0" sz="850">
                <a:solidFill>
                  <a:srgbClr val="475569"/>
                </a:solidFill>
                <a:latin typeface="Poppins"/>
                <a:ea typeface="Poppins"/>
                <a:cs typeface="Poppins"/>
                <a:sym typeface="Poppins"/>
              </a:endParaRPr>
            </a:p>
          </p:txBody>
        </p:sp>
      </p:grpSp>
      <p:grpSp>
        <p:nvGrpSpPr>
          <p:cNvPr id="885" name="Google Shape;885;p47"/>
          <p:cNvGrpSpPr/>
          <p:nvPr/>
        </p:nvGrpSpPr>
        <p:grpSpPr>
          <a:xfrm>
            <a:off x="6000750" y="1333500"/>
            <a:ext cx="2762400" cy="1000200"/>
            <a:chOff x="0" y="0"/>
            <a:chExt cx="2762400" cy="1000200"/>
          </a:xfrm>
        </p:grpSpPr>
        <p:sp>
          <p:nvSpPr>
            <p:cNvPr id="886" name="Google Shape;886;p47"/>
            <p:cNvSpPr/>
            <p:nvPr/>
          </p:nvSpPr>
          <p:spPr>
            <a:xfrm>
              <a:off x="0" y="0"/>
              <a:ext cx="27624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7" name="Google Shape;887;p47"/>
            <p:cNvSpPr/>
            <p:nvPr/>
          </p:nvSpPr>
          <p:spPr>
            <a:xfrm>
              <a:off x="0" y="0"/>
              <a:ext cx="57300" cy="10002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8" name="Google Shape;888;p47"/>
            <p:cNvSpPr txBox="1"/>
            <p:nvPr/>
          </p:nvSpPr>
          <p:spPr>
            <a:xfrm>
              <a:off x="171450" y="0"/>
              <a:ext cx="24288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346F90"/>
                  </a:solidFill>
                  <a:latin typeface="Poppins ExtraBold"/>
                  <a:ea typeface="Poppins ExtraBold"/>
                  <a:cs typeface="Poppins ExtraBold"/>
                  <a:sym typeface="Poppins ExtraBold"/>
                </a:rPr>
                <a:t>SEVEN CAMPUSES</a:t>
              </a:r>
              <a:endParaRPr b="0" sz="1000">
                <a:solidFill>
                  <a:srgbClr val="346F90"/>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What is the appropriate number and configuration of campuses to serve our projected student population?</a:t>
              </a:r>
              <a:endParaRPr b="0" sz="850">
                <a:solidFill>
                  <a:srgbClr val="475569"/>
                </a:solidFill>
                <a:latin typeface="Poppins"/>
                <a:ea typeface="Poppins"/>
                <a:cs typeface="Poppins"/>
                <a:sym typeface="Poppins"/>
              </a:endParaRPr>
            </a:p>
          </p:txBody>
        </p:sp>
      </p:grpSp>
      <p:grpSp>
        <p:nvGrpSpPr>
          <p:cNvPr id="889" name="Google Shape;889;p47"/>
          <p:cNvGrpSpPr/>
          <p:nvPr/>
        </p:nvGrpSpPr>
        <p:grpSpPr>
          <a:xfrm>
            <a:off x="6000750" y="2476500"/>
            <a:ext cx="2762400" cy="1000200"/>
            <a:chOff x="0" y="0"/>
            <a:chExt cx="2762400" cy="1000200"/>
          </a:xfrm>
        </p:grpSpPr>
        <p:sp>
          <p:nvSpPr>
            <p:cNvPr id="890" name="Google Shape;890;p47"/>
            <p:cNvSpPr/>
            <p:nvPr/>
          </p:nvSpPr>
          <p:spPr>
            <a:xfrm>
              <a:off x="0" y="0"/>
              <a:ext cx="27624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1" name="Google Shape;891;p47"/>
            <p:cNvSpPr/>
            <p:nvPr/>
          </p:nvSpPr>
          <p:spPr>
            <a:xfrm>
              <a:off x="0" y="0"/>
              <a:ext cx="57300" cy="1000200"/>
            </a:xfrm>
            <a:prstGeom prst="roundRect">
              <a:avLst>
                <a:gd fmla="val 50000" name="adj"/>
              </a:avLst>
            </a:prstGeom>
            <a:solidFill>
              <a:srgbClr val="B446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2" name="Google Shape;892;p47"/>
            <p:cNvSpPr txBox="1"/>
            <p:nvPr/>
          </p:nvSpPr>
          <p:spPr>
            <a:xfrm>
              <a:off x="171450" y="0"/>
              <a:ext cx="24288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B44647"/>
                  </a:solidFill>
                  <a:latin typeface="Poppins ExtraBold"/>
                  <a:ea typeface="Poppins ExtraBold"/>
                  <a:cs typeface="Poppins ExtraBold"/>
                  <a:sym typeface="Poppins ExtraBold"/>
                </a:rPr>
                <a:t>BUDGET &amp; AFFORDABILITY</a:t>
              </a:r>
              <a:endParaRPr b="0" sz="1000">
                <a:solidFill>
                  <a:srgbClr val="B44647"/>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850">
                  <a:solidFill>
                    <a:srgbClr val="475569"/>
                  </a:solidFill>
                  <a:latin typeface="Poppins"/>
                  <a:ea typeface="Poppins"/>
                  <a:cs typeface="Poppins"/>
                  <a:sym typeface="Poppins"/>
                </a:rPr>
                <a:t>How does maintaining our current structure affect the resources available for instruction and student services?</a:t>
              </a:r>
              <a:endParaRPr b="0" sz="850">
                <a:solidFill>
                  <a:srgbClr val="475569"/>
                </a:solidFill>
                <a:latin typeface="Poppins"/>
                <a:ea typeface="Poppins"/>
                <a:cs typeface="Poppins"/>
                <a:sym typeface="Poppins"/>
              </a:endParaRPr>
            </a:p>
          </p:txBody>
        </p:sp>
      </p:grpSp>
      <p:grpSp>
        <p:nvGrpSpPr>
          <p:cNvPr id="893" name="Google Shape;893;p47"/>
          <p:cNvGrpSpPr/>
          <p:nvPr/>
        </p:nvGrpSpPr>
        <p:grpSpPr>
          <a:xfrm>
            <a:off x="6000750" y="3619500"/>
            <a:ext cx="2762400" cy="1000200"/>
            <a:chOff x="0" y="0"/>
            <a:chExt cx="2762400" cy="1000200"/>
          </a:xfrm>
        </p:grpSpPr>
        <p:sp>
          <p:nvSpPr>
            <p:cNvPr id="894" name="Google Shape;894;p47"/>
            <p:cNvSpPr/>
            <p:nvPr/>
          </p:nvSpPr>
          <p:spPr>
            <a:xfrm>
              <a:off x="0" y="0"/>
              <a:ext cx="2762400" cy="1000200"/>
            </a:xfrm>
            <a:prstGeom prst="roundRect">
              <a:avLst>
                <a:gd fmla="val 7619"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5" name="Google Shape;895;p47"/>
            <p:cNvSpPr txBox="1"/>
            <p:nvPr/>
          </p:nvSpPr>
          <p:spPr>
            <a:xfrm>
              <a:off x="142875" y="0"/>
              <a:ext cx="24765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FEF3C7"/>
                  </a:solidFill>
                  <a:latin typeface="Poppins ExtraBold"/>
                  <a:ea typeface="Poppins ExtraBold"/>
                  <a:cs typeface="Poppins ExtraBold"/>
                  <a:sym typeface="Poppins ExtraBold"/>
                </a:rPr>
                <a:t>STRATEGIC DIRECTIVE</a:t>
              </a:r>
              <a:endParaRPr b="0" sz="850">
                <a:solidFill>
                  <a:srgbClr val="FEF3C7"/>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920">
                  <a:solidFill>
                    <a:srgbClr val="FFFFFF"/>
                  </a:solidFill>
                  <a:latin typeface="Poppins"/>
                  <a:ea typeface="Poppins"/>
                  <a:cs typeface="Poppins"/>
                  <a:sym typeface="Poppins"/>
                </a:rPr>
                <a:t>Ensure absolute alignment of resources with enrollment realities to protect educational excellence.</a:t>
              </a:r>
              <a:endParaRPr b="0" sz="920">
                <a:solidFill>
                  <a:srgbClr val="FFFFFF"/>
                </a:solidFill>
                <a:latin typeface="Poppins"/>
                <a:ea typeface="Poppins"/>
                <a:cs typeface="Poppins"/>
                <a:sym typeface="Poppi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48"/>
          <p:cNvSpPr/>
          <p:nvPr/>
        </p:nvSpPr>
        <p:spPr>
          <a:xfrm>
            <a:off x="0" y="0"/>
            <a:ext cx="9144000" cy="714300"/>
          </a:xfrm>
          <a:prstGeom prst="rect">
            <a:avLst/>
          </a:prstGeom>
          <a:solidFill>
            <a:srgbClr val="1B3859"/>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1" name="Google Shape;901;p48"/>
          <p:cNvSpPr/>
          <p:nvPr/>
        </p:nvSpPr>
        <p:spPr>
          <a:xfrm>
            <a:off x="0" y="714375"/>
            <a:ext cx="9144000" cy="47700"/>
          </a:xfrm>
          <a:prstGeom prst="rect">
            <a:avLst/>
          </a:prstGeom>
          <a:solidFill>
            <a:srgbClr val="95B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2" name="Google Shape;902;p48"/>
          <p:cNvSpPr txBox="1"/>
          <p:nvPr>
            <p:ph type="title"/>
          </p:nvPr>
        </p:nvSpPr>
        <p:spPr>
          <a:xfrm>
            <a:off x="381000" y="0"/>
            <a:ext cx="8382000" cy="7143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400">
                <a:solidFill>
                  <a:srgbClr val="FFFFFF"/>
                </a:solidFill>
                <a:latin typeface="Poppins"/>
                <a:ea typeface="Poppins"/>
                <a:cs typeface="Poppins"/>
                <a:sym typeface="Poppins"/>
              </a:rPr>
              <a:t>FY2027 Budget View</a:t>
            </a:r>
            <a:endParaRPr b="1" sz="2400">
              <a:solidFill>
                <a:srgbClr val="FFFFFF"/>
              </a:solidFill>
              <a:latin typeface="Poppins"/>
              <a:ea typeface="Poppins"/>
              <a:cs typeface="Poppins"/>
              <a:sym typeface="Poppins"/>
            </a:endParaRPr>
          </a:p>
        </p:txBody>
      </p:sp>
      <p:sp>
        <p:nvSpPr>
          <p:cNvPr id="903" name="Google Shape;903;p48"/>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
        <p:nvSpPr>
          <p:cNvPr id="904" name="Google Shape;904;p48"/>
          <p:cNvSpPr/>
          <p:nvPr/>
        </p:nvSpPr>
        <p:spPr>
          <a:xfrm>
            <a:off x="190500" y="904875"/>
            <a:ext cx="4191000" cy="4000500"/>
          </a:xfrm>
          <a:prstGeom prst="roundRect">
            <a:avLst>
              <a:gd fmla="val 190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5" name="Google Shape;905;p48"/>
          <p:cNvSpPr/>
          <p:nvPr/>
        </p:nvSpPr>
        <p:spPr>
          <a:xfrm>
            <a:off x="4572000" y="904875"/>
            <a:ext cx="4381500" cy="4000500"/>
          </a:xfrm>
          <a:prstGeom prst="roundRect">
            <a:avLst>
              <a:gd fmla="val 190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6" name="Google Shape;906;p48"/>
          <p:cNvSpPr txBox="1"/>
          <p:nvPr/>
        </p:nvSpPr>
        <p:spPr>
          <a:xfrm>
            <a:off x="381000" y="1095375"/>
            <a:ext cx="3810000" cy="1047900"/>
          </a:xfrm>
          <a:prstGeom prst="rect">
            <a:avLst/>
          </a:prstGeom>
          <a:solidFill>
            <a:srgbClr val="000000">
              <a:alpha val="0"/>
            </a:srgbClr>
          </a:solidFill>
          <a:ln>
            <a:noFill/>
          </a:ln>
        </p:spPr>
        <p:txBody>
          <a:bodyPr anchorCtr="0" anchor="ctr" bIns="0" lIns="142875" spcFirstLastPara="1" rIns="0" wrap="square" tIns="0">
            <a:noAutofit/>
          </a:bodyPr>
          <a:lstStyle/>
          <a:p>
            <a:pPr indent="0" lvl="0" marL="0" rtl="0" algn="l">
              <a:spcBef>
                <a:spcPts val="0"/>
              </a:spcBef>
              <a:spcAft>
                <a:spcPts val="0"/>
              </a:spcAft>
              <a:buNone/>
            </a:pPr>
            <a:r>
              <a:rPr b="0" lang="en" sz="1600">
                <a:solidFill>
                  <a:srgbClr val="1B3859"/>
                </a:solidFill>
                <a:latin typeface="Poppins SemiBold"/>
                <a:ea typeface="Poppins SemiBold"/>
                <a:cs typeface="Poppins SemiBold"/>
                <a:sym typeface="Poppins SemiBold"/>
              </a:rPr>
              <a:t>Nearly three-quarters of HUUSD budget is dedicated to salaries and employee benefits</a:t>
            </a:r>
            <a:endParaRPr b="0" sz="1600">
              <a:solidFill>
                <a:srgbClr val="1B3859"/>
              </a:solidFill>
              <a:latin typeface="Poppins SemiBold"/>
              <a:ea typeface="Poppins SemiBold"/>
              <a:cs typeface="Poppins SemiBold"/>
              <a:sym typeface="Poppins SemiBold"/>
            </a:endParaRPr>
          </a:p>
        </p:txBody>
      </p:sp>
      <p:pic>
        <p:nvPicPr>
          <p:cNvPr id="907" name="Google Shape;907;p48"/>
          <p:cNvPicPr preferRelativeResize="0"/>
          <p:nvPr/>
        </p:nvPicPr>
        <p:blipFill rotWithShape="1">
          <a:blip r:embed="rId3">
            <a:alphaModFix/>
          </a:blip>
          <a:srcRect b="0" l="80" r="70" t="0"/>
          <a:stretch/>
        </p:blipFill>
        <p:spPr>
          <a:xfrm>
            <a:off x="285750" y="2333625"/>
            <a:ext cx="4000500" cy="1009800"/>
          </a:xfrm>
          <a:prstGeom prst="rect">
            <a:avLst/>
          </a:prstGeom>
          <a:noFill/>
          <a:ln>
            <a:noFill/>
          </a:ln>
        </p:spPr>
      </p:pic>
      <p:grpSp>
        <p:nvGrpSpPr>
          <p:cNvPr id="908" name="Google Shape;908;p48"/>
          <p:cNvGrpSpPr/>
          <p:nvPr/>
        </p:nvGrpSpPr>
        <p:grpSpPr>
          <a:xfrm>
            <a:off x="381000" y="3571875"/>
            <a:ext cx="3810000" cy="1047900"/>
            <a:chOff x="0" y="0"/>
            <a:chExt cx="3810000" cy="1047900"/>
          </a:xfrm>
        </p:grpSpPr>
        <p:sp>
          <p:nvSpPr>
            <p:cNvPr id="909" name="Google Shape;909;p48"/>
            <p:cNvSpPr/>
            <p:nvPr/>
          </p:nvSpPr>
          <p:spPr>
            <a:xfrm>
              <a:off x="0" y="0"/>
              <a:ext cx="38100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0" name="Google Shape;910;p48"/>
            <p:cNvSpPr txBox="1"/>
            <p:nvPr/>
          </p:nvSpPr>
          <p:spPr>
            <a:xfrm>
              <a:off x="0" y="0"/>
              <a:ext cx="3810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Key Insights:</a:t>
              </a:r>
              <a:endParaRPr b="1" sz="1100">
                <a:solidFill>
                  <a:srgbClr val="1B3859"/>
                </a:solidFill>
                <a:latin typeface="Poppins"/>
                <a:ea typeface="Poppins"/>
                <a:cs typeface="Poppins"/>
                <a:sym typeface="Poppins"/>
              </a:endParaRPr>
            </a:p>
            <a:p>
              <a:pPr indent="0" lvl="0" marL="0" rtl="0" algn="l">
                <a:spcBef>
                  <a:spcPts val="450"/>
                </a:spcBef>
                <a:spcAft>
                  <a:spcPts val="0"/>
                </a:spcAft>
                <a:buNone/>
              </a:pPr>
              <a:r>
                <a:rPr lang="en" sz="1100">
                  <a:solidFill>
                    <a:srgbClr val="4A5568"/>
                  </a:solidFill>
                  <a:latin typeface="Poppins"/>
                  <a:ea typeface="Poppins"/>
                  <a:cs typeface="Poppins"/>
                  <a:sym typeface="Poppins"/>
                </a:rPr>
                <a:t>• Salary &amp; Wages comprise the majority of the budget at 51.51%.</a:t>
              </a:r>
              <a:endParaRPr sz="1100">
                <a:solidFill>
                  <a:srgbClr val="4A5568"/>
                </a:solidFill>
                <a:latin typeface="Poppins"/>
                <a:ea typeface="Poppins"/>
                <a:cs typeface="Poppins"/>
                <a:sym typeface="Poppins"/>
              </a:endParaRPr>
            </a:p>
            <a:p>
              <a:pPr indent="0" lvl="0" marL="0" rtl="0" algn="l">
                <a:spcBef>
                  <a:spcPts val="300"/>
                </a:spcBef>
                <a:spcAft>
                  <a:spcPts val="0"/>
                </a:spcAft>
                <a:buNone/>
              </a:pPr>
              <a:r>
                <a:rPr lang="en" sz="1100">
                  <a:solidFill>
                    <a:srgbClr val="4A5568"/>
                  </a:solidFill>
                  <a:latin typeface="Poppins"/>
                  <a:ea typeface="Poppins"/>
                  <a:cs typeface="Poppins"/>
                  <a:sym typeface="Poppins"/>
                </a:rPr>
                <a:t>• Benefits make up 21.82%, leading to a combined 73.33% personnel investment.</a:t>
              </a:r>
              <a:endParaRPr sz="1100">
                <a:solidFill>
                  <a:srgbClr val="4A5568"/>
                </a:solidFill>
                <a:latin typeface="Poppins"/>
                <a:ea typeface="Poppins"/>
                <a:cs typeface="Poppins"/>
                <a:sym typeface="Poppins"/>
              </a:endParaRPr>
            </a:p>
          </p:txBody>
        </p:sp>
      </p:grpSp>
      <p:pic>
        <p:nvPicPr>
          <p:cNvPr id="911" name="Google Shape;911;p48"/>
          <p:cNvPicPr preferRelativeResize="0"/>
          <p:nvPr/>
        </p:nvPicPr>
        <p:blipFill rotWithShape="1">
          <a:blip r:embed="rId4">
            <a:alphaModFix/>
          </a:blip>
          <a:srcRect b="100" l="0" r="0" t="90"/>
          <a:stretch/>
        </p:blipFill>
        <p:spPr>
          <a:xfrm>
            <a:off x="4667250" y="1095375"/>
            <a:ext cx="4191000" cy="3267000"/>
          </a:xfrm>
          <a:prstGeom prst="rect">
            <a:avLst/>
          </a:prstGeom>
          <a:noFill/>
          <a:ln>
            <a:noFill/>
          </a:ln>
        </p:spPr>
      </p:pic>
      <p:grpSp>
        <p:nvGrpSpPr>
          <p:cNvPr id="912" name="Google Shape;912;p48"/>
          <p:cNvGrpSpPr/>
          <p:nvPr/>
        </p:nvGrpSpPr>
        <p:grpSpPr>
          <a:xfrm>
            <a:off x="4667250" y="4333875"/>
            <a:ext cx="4191000" cy="381000"/>
            <a:chOff x="0" y="0"/>
            <a:chExt cx="4191000" cy="381000"/>
          </a:xfrm>
        </p:grpSpPr>
        <p:sp>
          <p:nvSpPr>
            <p:cNvPr id="913" name="Google Shape;913;p48"/>
            <p:cNvSpPr/>
            <p:nvPr/>
          </p:nvSpPr>
          <p:spPr>
            <a:xfrm>
              <a:off x="0" y="0"/>
              <a:ext cx="419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4" name="Google Shape;914;p48"/>
            <p:cNvSpPr txBox="1"/>
            <p:nvPr/>
          </p:nvSpPr>
          <p:spPr>
            <a:xfrm>
              <a:off x="0" y="0"/>
              <a:ext cx="419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B3859"/>
                  </a:solidFill>
                  <a:latin typeface="Poppins"/>
                  <a:ea typeface="Poppins"/>
                  <a:cs typeface="Poppins"/>
                  <a:sym typeface="Poppins"/>
                </a:rPr>
                <a:t>Total FY2027 Proposed Budget: $51,884,847</a:t>
              </a:r>
              <a:endParaRPr b="1" sz="1000">
                <a:solidFill>
                  <a:srgbClr val="1B3859"/>
                </a:solidFill>
                <a:latin typeface="Poppins"/>
                <a:ea typeface="Poppins"/>
                <a:cs typeface="Poppins"/>
                <a:sym typeface="Poppins"/>
              </a:endParaRPr>
            </a:p>
          </p:txBody>
        </p:sp>
      </p:gr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49"/>
          <p:cNvSpPr txBox="1"/>
          <p:nvPr>
            <p:ph type="title"/>
          </p:nvPr>
        </p:nvSpPr>
        <p:spPr>
          <a:xfrm>
            <a:off x="838200" y="57150"/>
            <a:ext cx="7620000" cy="1047900"/>
          </a:xfrm>
          <a:prstGeom prst="rect">
            <a:avLst/>
          </a:prstGeom>
        </p:spPr>
        <p:txBody>
          <a:bodyPr anchorCtr="0" anchor="b" bIns="68575" lIns="68575" spcFirstLastPara="1" rIns="68575" wrap="square" tIns="68575">
            <a:normAutofit/>
          </a:bodyPr>
          <a:lstStyle/>
          <a:p>
            <a:pPr indent="0" lvl="0" marL="0" rtl="0" algn="l">
              <a:spcBef>
                <a:spcPts val="0"/>
              </a:spcBef>
              <a:spcAft>
                <a:spcPts val="0"/>
              </a:spcAft>
              <a:buNone/>
            </a:pPr>
            <a:r>
              <a:rPr lang="en">
                <a:solidFill>
                  <a:srgbClr val="0369A1"/>
                </a:solidFill>
              </a:rPr>
              <a:t>W</a:t>
            </a:r>
            <a:r>
              <a:rPr lang="en">
                <a:solidFill>
                  <a:srgbClr val="0369A1"/>
                </a:solidFill>
              </a:rPr>
              <a:t>hat is in our Budget </a:t>
            </a:r>
            <a:endParaRPr>
              <a:solidFill>
                <a:srgbClr val="0369A1"/>
              </a:solidFill>
            </a:endParaRPr>
          </a:p>
        </p:txBody>
      </p:sp>
      <p:pic>
        <p:nvPicPr>
          <p:cNvPr id="920" name="Google Shape;920;p49"/>
          <p:cNvPicPr preferRelativeResize="0"/>
          <p:nvPr/>
        </p:nvPicPr>
        <p:blipFill>
          <a:blip r:embed="rId3">
            <a:alphaModFix/>
          </a:blip>
          <a:stretch>
            <a:fillRect/>
          </a:stretch>
        </p:blipFill>
        <p:spPr>
          <a:xfrm>
            <a:off x="399850" y="956800"/>
            <a:ext cx="4478076" cy="3845724"/>
          </a:xfrm>
          <a:prstGeom prst="rect">
            <a:avLst/>
          </a:prstGeom>
          <a:noFill/>
          <a:ln>
            <a:noFill/>
          </a:ln>
        </p:spPr>
      </p:pic>
      <p:pic>
        <p:nvPicPr>
          <p:cNvPr id="921" name="Google Shape;921;p49"/>
          <p:cNvPicPr preferRelativeResize="0"/>
          <p:nvPr/>
        </p:nvPicPr>
        <p:blipFill>
          <a:blip r:embed="rId4">
            <a:alphaModFix/>
          </a:blip>
          <a:stretch>
            <a:fillRect/>
          </a:stretch>
        </p:blipFill>
        <p:spPr>
          <a:xfrm>
            <a:off x="303325" y="1402775"/>
            <a:ext cx="1219100" cy="979025"/>
          </a:xfrm>
          <a:prstGeom prst="rect">
            <a:avLst/>
          </a:prstGeom>
          <a:noFill/>
          <a:ln>
            <a:noFill/>
          </a:ln>
        </p:spPr>
      </p:pic>
      <p:pic>
        <p:nvPicPr>
          <p:cNvPr id="922" name="Google Shape;922;p49"/>
          <p:cNvPicPr preferRelativeResize="0"/>
          <p:nvPr/>
        </p:nvPicPr>
        <p:blipFill>
          <a:blip r:embed="rId5">
            <a:alphaModFix/>
          </a:blip>
          <a:stretch>
            <a:fillRect/>
          </a:stretch>
        </p:blipFill>
        <p:spPr>
          <a:xfrm>
            <a:off x="3150200" y="1276950"/>
            <a:ext cx="943425" cy="549575"/>
          </a:xfrm>
          <a:prstGeom prst="rect">
            <a:avLst/>
          </a:prstGeom>
          <a:noFill/>
          <a:ln>
            <a:noFill/>
          </a:ln>
        </p:spPr>
      </p:pic>
      <p:pic>
        <p:nvPicPr>
          <p:cNvPr id="923" name="Google Shape;923;p49"/>
          <p:cNvPicPr preferRelativeResize="0"/>
          <p:nvPr/>
        </p:nvPicPr>
        <p:blipFill>
          <a:blip r:embed="rId6">
            <a:alphaModFix/>
          </a:blip>
          <a:stretch>
            <a:fillRect/>
          </a:stretch>
        </p:blipFill>
        <p:spPr>
          <a:xfrm>
            <a:off x="5278300" y="823150"/>
            <a:ext cx="3713301" cy="3911200"/>
          </a:xfrm>
          <a:prstGeom prst="rect">
            <a:avLst/>
          </a:prstGeom>
          <a:noFill/>
          <a:ln>
            <a:noFill/>
          </a:ln>
        </p:spPr>
      </p:pic>
      <p:pic>
        <p:nvPicPr>
          <p:cNvPr id="924" name="Google Shape;924;p49"/>
          <p:cNvPicPr preferRelativeResize="0"/>
          <p:nvPr/>
        </p:nvPicPr>
        <p:blipFill>
          <a:blip r:embed="rId7">
            <a:alphaModFix/>
          </a:blip>
          <a:stretch>
            <a:fillRect/>
          </a:stretch>
        </p:blipFill>
        <p:spPr>
          <a:xfrm>
            <a:off x="5472900" y="1432000"/>
            <a:ext cx="3292149" cy="26983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8" name="Shape 928"/>
        <p:cNvGrpSpPr/>
        <p:nvPr/>
      </p:nvGrpSpPr>
      <p:grpSpPr>
        <a:xfrm>
          <a:off x="0" y="0"/>
          <a:ext cx="0" cy="0"/>
          <a:chOff x="0" y="0"/>
          <a:chExt cx="0" cy="0"/>
        </a:xfrm>
      </p:grpSpPr>
      <p:sp>
        <p:nvSpPr>
          <p:cNvPr id="929" name="Google Shape;929;p50"/>
          <p:cNvSpPr/>
          <p:nvPr/>
        </p:nvSpPr>
        <p:spPr>
          <a:xfrm>
            <a:off x="0" y="0"/>
            <a:ext cx="9144000" cy="6192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50"/>
          <p:cNvSpPr/>
          <p:nvPr/>
        </p:nvSpPr>
        <p:spPr>
          <a:xfrm>
            <a:off x="0" y="619125"/>
            <a:ext cx="9144000" cy="47700"/>
          </a:xfrm>
          <a:prstGeom prst="rect">
            <a:avLst/>
          </a:prstGeom>
          <a:solidFill>
            <a:srgbClr val="95B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1" name="Google Shape;931;p50"/>
          <p:cNvSpPr txBox="1"/>
          <p:nvPr/>
        </p:nvSpPr>
        <p:spPr>
          <a:xfrm>
            <a:off x="285750" y="95250"/>
            <a:ext cx="85725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000">
                <a:solidFill>
                  <a:srgbClr val="FFFFFF"/>
                </a:solidFill>
                <a:latin typeface="Poppins"/>
                <a:ea typeface="Poppins"/>
                <a:cs typeface="Poppins"/>
                <a:sym typeface="Poppins"/>
              </a:rPr>
              <a:t>HUUSD – FY2027 School Budgets </a:t>
            </a:r>
            <a:r>
              <a:rPr b="0" lang="en" sz="1200">
                <a:solidFill>
                  <a:srgbClr val="95B721"/>
                </a:solidFill>
                <a:latin typeface="Poppins Medium"/>
                <a:ea typeface="Poppins Medium"/>
                <a:cs typeface="Poppins Medium"/>
                <a:sym typeface="Poppins Medium"/>
              </a:rPr>
              <a:t>DISTRICT-WIDE SHOWN SEPARATELY</a:t>
            </a:r>
            <a:endParaRPr>
              <a:latin typeface="Poppins"/>
              <a:ea typeface="Poppins"/>
              <a:cs typeface="Poppins"/>
              <a:sym typeface="Poppins"/>
            </a:endParaRPr>
          </a:p>
        </p:txBody>
      </p:sp>
      <p:grpSp>
        <p:nvGrpSpPr>
          <p:cNvPr id="932" name="Google Shape;932;p50"/>
          <p:cNvGrpSpPr/>
          <p:nvPr/>
        </p:nvGrpSpPr>
        <p:grpSpPr>
          <a:xfrm>
            <a:off x="285750" y="857250"/>
            <a:ext cx="4095900" cy="1857300"/>
            <a:chOff x="0" y="0"/>
            <a:chExt cx="4095900" cy="1857300"/>
          </a:xfrm>
        </p:grpSpPr>
        <p:sp>
          <p:nvSpPr>
            <p:cNvPr id="933" name="Google Shape;933;p50"/>
            <p:cNvSpPr/>
            <p:nvPr/>
          </p:nvSpPr>
          <p:spPr>
            <a:xfrm>
              <a:off x="0" y="0"/>
              <a:ext cx="4095900" cy="1857300"/>
            </a:xfrm>
            <a:prstGeom prst="roundRect">
              <a:avLst>
                <a:gd fmla="val 410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4" name="Google Shape;934;p50"/>
            <p:cNvSpPr txBox="1"/>
            <p:nvPr/>
          </p:nvSpPr>
          <p:spPr>
            <a:xfrm>
              <a:off x="118500" y="48475"/>
              <a:ext cx="3858900" cy="180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District-Wide Budget Highlight</a:t>
              </a:r>
              <a:endParaRPr b="1" sz="1300">
                <a:solidFill>
                  <a:srgbClr val="1B3859"/>
                </a:solidFill>
                <a:latin typeface="Poppins"/>
                <a:ea typeface="Poppins"/>
                <a:cs typeface="Poppins"/>
                <a:sym typeface="Poppins"/>
              </a:endParaRPr>
            </a:p>
            <a:p>
              <a:pPr indent="0" lvl="0" marL="0" rtl="0" algn="l">
                <a:spcBef>
                  <a:spcPts val="0"/>
                </a:spcBef>
                <a:spcAft>
                  <a:spcPts val="0"/>
                </a:spcAft>
                <a:buNone/>
              </a:pPr>
              <a:r>
                <a:rPr lang="en" sz="900">
                  <a:solidFill>
                    <a:srgbClr val="718096"/>
                  </a:solidFill>
                  <a:latin typeface="Poppins"/>
                  <a:ea typeface="Poppins"/>
                  <a:cs typeface="Poppins"/>
                  <a:sym typeface="Poppins"/>
                </a:rPr>
                <a:t>Separated from individual school programs</a:t>
              </a:r>
              <a:endParaRPr sz="900">
                <a:solidFill>
                  <a:srgbClr val="718096"/>
                </a:solidFill>
                <a:latin typeface="Poppins"/>
                <a:ea typeface="Poppins"/>
                <a:cs typeface="Poppins"/>
                <a:sym typeface="Poppins"/>
              </a:endParaRPr>
            </a:p>
            <a:p>
              <a:pPr indent="0" lvl="0" marL="0" rtl="0" algn="l">
                <a:spcBef>
                  <a:spcPts val="0"/>
                </a:spcBef>
                <a:spcAft>
                  <a:spcPts val="0"/>
                </a:spcAft>
                <a:buNone/>
              </a:pPr>
              <a:r>
                <a:rPr b="0" lang="en" sz="2400">
                  <a:solidFill>
                    <a:srgbClr val="0097A7"/>
                  </a:solidFill>
                  <a:latin typeface="Poppins ExtraBold"/>
                  <a:ea typeface="Poppins ExtraBold"/>
                  <a:cs typeface="Poppins ExtraBold"/>
                  <a:sym typeface="Poppins ExtraBold"/>
                </a:rPr>
                <a:t>$10,761,437</a:t>
              </a:r>
              <a:r>
                <a:rPr b="1" lang="en" sz="1100">
                  <a:solidFill>
                    <a:srgbClr val="0369A1"/>
                  </a:solidFill>
                  <a:latin typeface="Poppins"/>
                  <a:ea typeface="Poppins"/>
                  <a:cs typeface="Poppins"/>
                  <a:sym typeface="Poppins"/>
                </a:rPr>
                <a:t>20.7% of Total</a:t>
              </a:r>
              <a:endParaRPr>
                <a:latin typeface="Poppins"/>
                <a:ea typeface="Poppins"/>
                <a:cs typeface="Poppins"/>
                <a:sym typeface="Poppins"/>
              </a:endParaRPr>
            </a:p>
            <a:p>
              <a:pPr indent="-292100" lvl="0" marL="457200" rtl="0" algn="l">
                <a:spcBef>
                  <a:spcPts val="375"/>
                </a:spcBef>
                <a:spcAft>
                  <a:spcPts val="0"/>
                </a:spcAft>
                <a:buClr>
                  <a:schemeClr val="dk1"/>
                </a:buClr>
                <a:buSzPts val="1000"/>
                <a:buFont typeface="Poppins"/>
                <a:buChar char="●"/>
              </a:pPr>
              <a:r>
                <a:rPr lang="en" sz="1000">
                  <a:solidFill>
                    <a:schemeClr val="dk1"/>
                  </a:solidFill>
                  <a:latin typeface="Poppins"/>
                  <a:ea typeface="Poppins"/>
                  <a:cs typeface="Poppins"/>
                  <a:sym typeface="Poppins"/>
                </a:rPr>
                <a:t>Special Education: $5,114,708 (47.5%)</a:t>
              </a:r>
              <a:endParaRPr sz="1000">
                <a:solidFill>
                  <a:schemeClr val="dk1"/>
                </a:solidFill>
                <a:latin typeface="Poppins"/>
                <a:ea typeface="Poppins"/>
                <a:cs typeface="Poppins"/>
                <a:sym typeface="Poppins"/>
              </a:endParaRPr>
            </a:p>
            <a:p>
              <a:pPr indent="-292100" lvl="0" marL="457200" rtl="0" algn="l">
                <a:spcBef>
                  <a:spcPts val="0"/>
                </a:spcBef>
                <a:spcAft>
                  <a:spcPts val="0"/>
                </a:spcAft>
                <a:buClr>
                  <a:schemeClr val="dk1"/>
                </a:buClr>
                <a:buSzPts val="1000"/>
                <a:buChar char="●"/>
              </a:pPr>
              <a:r>
                <a:rPr lang="en" sz="1000">
                  <a:solidFill>
                    <a:schemeClr val="dk1"/>
                  </a:solidFill>
                  <a:latin typeface="Poppins"/>
                  <a:ea typeface="Poppins"/>
                  <a:cs typeface="Poppins"/>
                  <a:sym typeface="Poppins"/>
                </a:rPr>
                <a:t>Salary &amp; Wages: </a:t>
              </a:r>
              <a:r>
                <a:rPr lang="en" sz="1000">
                  <a:solidFill>
                    <a:schemeClr val="dk1"/>
                  </a:solidFill>
                  <a:latin typeface="Poppins SemiBold"/>
                  <a:ea typeface="Poppins SemiBold"/>
                  <a:cs typeface="Poppins SemiBold"/>
                  <a:sym typeface="Poppins SemiBold"/>
                </a:rPr>
                <a:t>$1,899,090(17.6%)</a:t>
              </a:r>
              <a:endParaRPr sz="1000">
                <a:solidFill>
                  <a:schemeClr val="dk1"/>
                </a:solidFill>
                <a:latin typeface="Poppins SemiBold"/>
                <a:ea typeface="Poppins SemiBold"/>
                <a:cs typeface="Poppins SemiBold"/>
                <a:sym typeface="Poppins SemiBold"/>
              </a:endParaRPr>
            </a:p>
            <a:p>
              <a:pPr indent="-292100" lvl="0" marL="457200" rtl="0" algn="l">
                <a:spcBef>
                  <a:spcPts val="0"/>
                </a:spcBef>
                <a:spcAft>
                  <a:spcPts val="0"/>
                </a:spcAft>
                <a:buClr>
                  <a:schemeClr val="dk1"/>
                </a:buClr>
                <a:buSzPts val="1000"/>
                <a:buFont typeface="Poppins SemiBold"/>
                <a:buChar char="●"/>
              </a:pPr>
              <a:r>
                <a:rPr lang="en" sz="1000">
                  <a:solidFill>
                    <a:schemeClr val="dk1"/>
                  </a:solidFill>
                  <a:latin typeface="Poppins"/>
                  <a:ea typeface="Poppins"/>
                  <a:cs typeface="Poppins"/>
                  <a:sym typeface="Poppins"/>
                </a:rPr>
                <a:t>Operations &amp; Maintenance:  $1,269,265 (11.8%)</a:t>
              </a:r>
              <a:endParaRPr sz="1000">
                <a:solidFill>
                  <a:schemeClr val="dk1"/>
                </a:solidFill>
                <a:latin typeface="Poppins SemiBold"/>
                <a:ea typeface="Poppins SemiBold"/>
                <a:cs typeface="Poppins SemiBold"/>
                <a:sym typeface="Poppins SemiBold"/>
              </a:endParaRPr>
            </a:p>
            <a:p>
              <a:pPr indent="-292100" lvl="0" marL="457200" rtl="0" algn="l">
                <a:spcBef>
                  <a:spcPts val="0"/>
                </a:spcBef>
                <a:spcAft>
                  <a:spcPts val="0"/>
                </a:spcAft>
                <a:buClr>
                  <a:schemeClr val="dk1"/>
                </a:buClr>
                <a:buSzPts val="1000"/>
                <a:buFont typeface="Poppins SemiBold"/>
                <a:buChar char="●"/>
              </a:pPr>
              <a:r>
                <a:rPr lang="en" sz="1000">
                  <a:solidFill>
                    <a:schemeClr val="dk1"/>
                  </a:solidFill>
                  <a:latin typeface="Poppins SemiBold"/>
                  <a:ea typeface="Poppins SemiBold"/>
                  <a:cs typeface="Poppins SemiBold"/>
                  <a:sym typeface="Poppins SemiBold"/>
                </a:rPr>
                <a:t>Transportation: $1,132,558 (10.5%)</a:t>
              </a:r>
              <a:endParaRPr sz="1000">
                <a:solidFill>
                  <a:schemeClr val="dk1"/>
                </a:solidFill>
                <a:latin typeface="Poppins SemiBold"/>
                <a:ea typeface="Poppins SemiBold"/>
                <a:cs typeface="Poppins SemiBold"/>
                <a:sym typeface="Poppins SemiBold"/>
              </a:endParaRPr>
            </a:p>
            <a:p>
              <a:pPr indent="-292100" lvl="0" marL="457200" rtl="0" algn="l">
                <a:spcBef>
                  <a:spcPts val="0"/>
                </a:spcBef>
                <a:spcAft>
                  <a:spcPts val="0"/>
                </a:spcAft>
                <a:buClr>
                  <a:schemeClr val="dk1"/>
                </a:buClr>
                <a:buSzPts val="1000"/>
                <a:buFont typeface="Poppins SemiBold"/>
                <a:buChar char="●"/>
              </a:pPr>
              <a:r>
                <a:rPr lang="en" sz="1000">
                  <a:solidFill>
                    <a:schemeClr val="dk1"/>
                  </a:solidFill>
                  <a:latin typeface="Poppins"/>
                  <a:ea typeface="Poppins"/>
                  <a:cs typeface="Poppins"/>
                  <a:sym typeface="Poppins"/>
                </a:rPr>
                <a:t>Employee Benefits: </a:t>
              </a:r>
              <a:r>
                <a:rPr lang="en" sz="1000">
                  <a:solidFill>
                    <a:schemeClr val="dk1"/>
                  </a:solidFill>
                  <a:latin typeface="Poppins SemiBold"/>
                  <a:ea typeface="Poppins SemiBold"/>
                  <a:cs typeface="Poppins SemiBold"/>
                  <a:sym typeface="Poppins SemiBold"/>
                </a:rPr>
                <a:t>$845,827 (7.8%)</a:t>
              </a:r>
              <a:endParaRPr sz="1000">
                <a:solidFill>
                  <a:schemeClr val="dk1"/>
                </a:solidFill>
                <a:latin typeface="Poppins SemiBold"/>
                <a:ea typeface="Poppins SemiBold"/>
                <a:cs typeface="Poppins SemiBold"/>
                <a:sym typeface="Poppins SemiBold"/>
              </a:endParaRPr>
            </a:p>
            <a:p>
              <a:pPr indent="-292100" lvl="0" marL="457200" rtl="0" algn="l">
                <a:spcBef>
                  <a:spcPts val="0"/>
                </a:spcBef>
                <a:spcAft>
                  <a:spcPts val="0"/>
                </a:spcAft>
                <a:buClr>
                  <a:schemeClr val="dk1"/>
                </a:buClr>
                <a:buSzPts val="1000"/>
                <a:buFont typeface="Poppins SemiBold"/>
                <a:buChar char="●"/>
              </a:pPr>
              <a:r>
                <a:rPr lang="en" sz="1000">
                  <a:solidFill>
                    <a:schemeClr val="dk1"/>
                  </a:solidFill>
                  <a:latin typeface="Poppins SemiBold"/>
                  <a:ea typeface="Poppins SemiBold"/>
                  <a:cs typeface="Poppins SemiBold"/>
                  <a:sym typeface="Poppins SemiBold"/>
                </a:rPr>
                <a:t>Maintenance Reserve: $500,000 (4.6%)</a:t>
              </a:r>
              <a:endParaRPr sz="1000">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000">
                <a:solidFill>
                  <a:srgbClr val="4A5568"/>
                </a:solidFill>
                <a:latin typeface="Poppins"/>
                <a:ea typeface="Poppins"/>
                <a:cs typeface="Poppins"/>
                <a:sym typeface="Poppins"/>
              </a:endParaRPr>
            </a:p>
          </p:txBody>
        </p:sp>
      </p:grpSp>
      <p:grpSp>
        <p:nvGrpSpPr>
          <p:cNvPr id="935" name="Google Shape;935;p50"/>
          <p:cNvGrpSpPr/>
          <p:nvPr/>
        </p:nvGrpSpPr>
        <p:grpSpPr>
          <a:xfrm>
            <a:off x="285750" y="2905125"/>
            <a:ext cx="4095900" cy="1952700"/>
            <a:chOff x="0" y="0"/>
            <a:chExt cx="4095900" cy="1952700"/>
          </a:xfrm>
        </p:grpSpPr>
        <p:sp>
          <p:nvSpPr>
            <p:cNvPr id="936" name="Google Shape;936;p50"/>
            <p:cNvSpPr/>
            <p:nvPr/>
          </p:nvSpPr>
          <p:spPr>
            <a:xfrm>
              <a:off x="0" y="0"/>
              <a:ext cx="4095900" cy="1952700"/>
            </a:xfrm>
            <a:prstGeom prst="roundRect">
              <a:avLst>
                <a:gd fmla="val 390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7" name="Google Shape;937;p50"/>
            <p:cNvSpPr txBox="1"/>
            <p:nvPr/>
          </p:nvSpPr>
          <p:spPr>
            <a:xfrm>
              <a:off x="190500" y="142875"/>
              <a:ext cx="3714900" cy="166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Total Budget by Expense Type</a:t>
              </a:r>
              <a:endParaRPr b="1" sz="1300">
                <a:solidFill>
                  <a:srgbClr val="1B3859"/>
                </a:solidFill>
                <a:latin typeface="Poppins"/>
                <a:ea typeface="Poppins"/>
                <a:cs typeface="Poppins"/>
                <a:sym typeface="Poppins"/>
              </a:endParaRPr>
            </a:p>
            <a:p>
              <a:pPr indent="0" lvl="0" marL="0" rtl="0" algn="l">
                <a:spcBef>
                  <a:spcPts val="0"/>
                </a:spcBef>
                <a:spcAft>
                  <a:spcPts val="0"/>
                </a:spcAft>
                <a:buNone/>
              </a:pPr>
              <a:r>
                <a:rPr lang="en" sz="1600">
                  <a:solidFill>
                    <a:srgbClr val="718096"/>
                  </a:solidFill>
                  <a:latin typeface="Poppins"/>
                  <a:ea typeface="Poppins"/>
                  <a:cs typeface="Poppins"/>
                  <a:sym typeface="Poppins"/>
                </a:rPr>
                <a:t>Overall FY2027 Budget: </a:t>
              </a:r>
              <a:r>
                <a:rPr b="1" lang="en" sz="2400">
                  <a:solidFill>
                    <a:srgbClr val="0097A7"/>
                  </a:solidFill>
                  <a:latin typeface="Poppins"/>
                  <a:ea typeface="Poppins"/>
                  <a:cs typeface="Poppins"/>
                  <a:sym typeface="Poppins"/>
                </a:rPr>
                <a:t>$51,884,847</a:t>
              </a:r>
              <a:endParaRPr b="1" sz="2400">
                <a:solidFill>
                  <a:srgbClr val="0097A7"/>
                </a:solidFill>
                <a:latin typeface="Poppins"/>
                <a:ea typeface="Poppins"/>
                <a:cs typeface="Poppins"/>
                <a:sym typeface="Poppins"/>
              </a:endParaRPr>
            </a:p>
            <a:p>
              <a:pPr indent="0" lvl="0" marL="0" rtl="0" algn="l">
                <a:spcBef>
                  <a:spcPts val="0"/>
                </a:spcBef>
                <a:spcAft>
                  <a:spcPts val="0"/>
                </a:spcAft>
                <a:buNone/>
              </a:pPr>
              <a:r>
                <a:rPr b="0" lang="en" sz="1000">
                  <a:solidFill>
                    <a:srgbClr val="4A5568"/>
                  </a:solidFill>
                  <a:latin typeface="Poppins SemiBold"/>
                  <a:ea typeface="Poppins SemiBold"/>
                  <a:cs typeface="Poppins SemiBold"/>
                  <a:sym typeface="Poppins SemiBold"/>
                </a:rPr>
                <a:t>Salary &amp; Wages</a:t>
              </a:r>
              <a:r>
                <a:rPr b="1" lang="en" sz="1000">
                  <a:solidFill>
                    <a:srgbClr val="1B3859"/>
                  </a:solidFill>
                  <a:latin typeface="Poppins"/>
                  <a:ea typeface="Poppins"/>
                  <a:cs typeface="Poppins"/>
                  <a:sym typeface="Poppins"/>
                </a:rPr>
                <a:t>$26,725,734 (51.51%)</a:t>
              </a:r>
              <a:endParaRPr>
                <a:latin typeface="Poppins"/>
                <a:ea typeface="Poppins"/>
                <a:cs typeface="Poppins"/>
                <a:sym typeface="Poppins"/>
              </a:endParaRPr>
            </a:p>
            <a:p>
              <a:pPr indent="0" lvl="0" marL="0" rtl="0" algn="l">
                <a:spcBef>
                  <a:spcPts val="0"/>
                </a:spcBef>
                <a:spcAft>
                  <a:spcPts val="0"/>
                </a:spcAft>
                <a:buNone/>
              </a:pPr>
              <a:r>
                <a:rPr b="0" lang="en" sz="1000">
                  <a:solidFill>
                    <a:srgbClr val="4A5568"/>
                  </a:solidFill>
                  <a:latin typeface="Poppins SemiBold"/>
                  <a:ea typeface="Poppins SemiBold"/>
                  <a:cs typeface="Poppins SemiBold"/>
                  <a:sym typeface="Poppins SemiBold"/>
                </a:rPr>
                <a:t>Employee Benefits</a:t>
              </a:r>
              <a:r>
                <a:rPr b="1" lang="en" sz="1000">
                  <a:solidFill>
                    <a:srgbClr val="1B3859"/>
                  </a:solidFill>
                  <a:latin typeface="Poppins"/>
                  <a:ea typeface="Poppins"/>
                  <a:cs typeface="Poppins"/>
                  <a:sym typeface="Poppins"/>
                </a:rPr>
                <a:t>$11,321,407 (21.82%)</a:t>
              </a:r>
              <a:endParaRPr>
                <a:latin typeface="Poppins"/>
                <a:ea typeface="Poppins"/>
                <a:cs typeface="Poppins"/>
                <a:sym typeface="Poppins"/>
              </a:endParaRPr>
            </a:p>
            <a:p>
              <a:pPr indent="0" lvl="0" marL="0" rtl="0" algn="l">
                <a:spcBef>
                  <a:spcPts val="0"/>
                </a:spcBef>
                <a:spcAft>
                  <a:spcPts val="0"/>
                </a:spcAft>
                <a:buNone/>
              </a:pPr>
              <a:r>
                <a:rPr b="0" lang="en" sz="1000">
                  <a:solidFill>
                    <a:srgbClr val="4A5568"/>
                  </a:solidFill>
                  <a:latin typeface="Poppins SemiBold"/>
                  <a:ea typeface="Poppins SemiBold"/>
                  <a:cs typeface="Poppins SemiBold"/>
                  <a:sym typeface="Poppins SemiBold"/>
                </a:rPr>
                <a:t>Operations</a:t>
              </a:r>
              <a:r>
                <a:rPr b="1" lang="en" sz="1000">
                  <a:solidFill>
                    <a:srgbClr val="1B3859"/>
                  </a:solidFill>
                  <a:latin typeface="Poppins"/>
                  <a:ea typeface="Poppins"/>
                  <a:cs typeface="Poppins"/>
                  <a:sym typeface="Poppins"/>
                </a:rPr>
                <a:t>$13,837,706 (26.67%)</a:t>
              </a:r>
              <a:endParaRPr>
                <a:latin typeface="Poppins"/>
                <a:ea typeface="Poppins"/>
                <a:cs typeface="Poppins"/>
                <a:sym typeface="Poppins"/>
              </a:endParaRPr>
            </a:p>
            <a:p>
              <a:pPr indent="0" lvl="0" marL="0" rtl="0" algn="l">
                <a:spcBef>
                  <a:spcPts val="375"/>
                </a:spcBef>
                <a:spcAft>
                  <a:spcPts val="0"/>
                </a:spcAft>
                <a:buNone/>
              </a:pPr>
              <a:r>
                <a:rPr b="1" lang="en" sz="950">
                  <a:solidFill>
                    <a:srgbClr val="4A5568"/>
                  </a:solidFill>
                  <a:latin typeface="Poppins"/>
                  <a:ea typeface="Poppins"/>
                  <a:cs typeface="Poppins"/>
                  <a:sym typeface="Poppins"/>
                </a:rPr>
                <a:t>Personnel Investment:</a:t>
              </a:r>
              <a:r>
                <a:rPr lang="en" sz="950">
                  <a:solidFill>
                    <a:srgbClr val="4A5568"/>
                  </a:solidFill>
                  <a:latin typeface="Poppins"/>
                  <a:ea typeface="Poppins"/>
                  <a:cs typeface="Poppins"/>
                  <a:sym typeface="Poppins"/>
                </a:rPr>
                <a:t> Salaries &amp; Benefits make up </a:t>
              </a:r>
              <a:r>
                <a:rPr b="1" lang="en" sz="950">
                  <a:solidFill>
                    <a:srgbClr val="4A5568"/>
                  </a:solidFill>
                  <a:latin typeface="Poppins"/>
                  <a:ea typeface="Poppins"/>
                  <a:cs typeface="Poppins"/>
                  <a:sym typeface="Poppins"/>
                </a:rPr>
                <a:t>73.33%</a:t>
              </a:r>
              <a:r>
                <a:rPr lang="en" sz="950">
                  <a:solidFill>
                    <a:srgbClr val="4A5568"/>
                  </a:solidFill>
                  <a:latin typeface="Poppins"/>
                  <a:ea typeface="Poppins"/>
                  <a:cs typeface="Poppins"/>
                  <a:sym typeface="Poppins"/>
                </a:rPr>
                <a:t> of the total budget.</a:t>
              </a:r>
              <a:endParaRPr sz="950">
                <a:solidFill>
                  <a:srgbClr val="4A5568"/>
                </a:solidFill>
                <a:latin typeface="Poppins"/>
                <a:ea typeface="Poppins"/>
                <a:cs typeface="Poppins"/>
                <a:sym typeface="Poppins"/>
              </a:endParaRPr>
            </a:p>
          </p:txBody>
        </p:sp>
      </p:grpSp>
      <p:sp>
        <p:nvSpPr>
          <p:cNvPr id="938" name="Google Shape;938;p50"/>
          <p:cNvSpPr/>
          <p:nvPr/>
        </p:nvSpPr>
        <p:spPr>
          <a:xfrm>
            <a:off x="4619625" y="857250"/>
            <a:ext cx="4238700" cy="4048200"/>
          </a:xfrm>
          <a:prstGeom prst="roundRect">
            <a:avLst>
              <a:gd fmla="val 282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aphicFrame>
        <p:nvGraphicFramePr>
          <p:cNvPr id="939" name="Google Shape;939;p50"/>
          <p:cNvGraphicFramePr/>
          <p:nvPr/>
        </p:nvGraphicFramePr>
        <p:xfrm>
          <a:off x="4762500" y="1000125"/>
          <a:ext cx="3000000" cy="3000000"/>
        </p:xfrm>
        <a:graphic>
          <a:graphicData uri="http://schemas.openxmlformats.org/drawingml/2006/table">
            <a:tbl>
              <a:tblPr>
                <a:noFill/>
                <a:tableStyleId>{E1922B52-F810-4ECE-AA54-C31FA968E27D}</a:tableStyleId>
              </a:tblPr>
              <a:tblGrid>
                <a:gridCol w="1762125"/>
                <a:gridCol w="1043475"/>
                <a:gridCol w="1147275"/>
              </a:tblGrid>
              <a:tr h="420725">
                <a:tc>
                  <a:txBody>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School / Program</a:t>
                      </a:r>
                      <a:endParaRPr b="1" sz="1100">
                        <a:solidFill>
                          <a:srgbClr val="1B3859"/>
                        </a:solidFill>
                        <a:latin typeface="Poppins"/>
                        <a:ea typeface="Poppins"/>
                        <a:cs typeface="Poppins"/>
                        <a:sym typeface="Poppins"/>
                      </a:endParaRPr>
                    </a:p>
                  </a:txBody>
                  <a:tcPr marT="57150" marB="57150" marR="0" marL="0">
                    <a:lnB cap="flat" cmpd="sng" w="19050">
                      <a:solidFill>
                        <a:srgbClr val="1B3859"/>
                      </a:solidFill>
                      <a:prstDash val="solid"/>
                      <a:round/>
                      <a:headEnd len="sm" w="sm" type="none"/>
                      <a:tailEnd len="sm" w="sm" type="none"/>
                    </a:lnB>
                  </a:tcPr>
                </a:tc>
                <a:tc>
                  <a:txBody>
                    <a:bodyPr/>
                    <a:lstStyle/>
                    <a:p>
                      <a:pPr indent="0" lvl="0" marL="0" rtl="0" algn="r">
                        <a:spcBef>
                          <a:spcPts val="0"/>
                        </a:spcBef>
                        <a:spcAft>
                          <a:spcPts val="0"/>
                        </a:spcAft>
                        <a:buNone/>
                      </a:pPr>
                      <a:r>
                        <a:rPr b="1" lang="en" sz="1100">
                          <a:solidFill>
                            <a:srgbClr val="1B3859"/>
                          </a:solidFill>
                          <a:latin typeface="Poppins"/>
                          <a:ea typeface="Poppins"/>
                          <a:cs typeface="Poppins"/>
                          <a:sym typeface="Poppins"/>
                        </a:rPr>
                        <a:t>Total Budget</a:t>
                      </a:r>
                      <a:endParaRPr b="1" sz="1100">
                        <a:solidFill>
                          <a:srgbClr val="1B3859"/>
                        </a:solidFill>
                        <a:latin typeface="Poppins"/>
                        <a:ea typeface="Poppins"/>
                        <a:cs typeface="Poppins"/>
                        <a:sym typeface="Poppins"/>
                      </a:endParaRPr>
                    </a:p>
                  </a:txBody>
                  <a:tcPr marT="57150" marB="57150" marR="0" marL="0">
                    <a:lnB cap="flat" cmpd="sng" w="19050">
                      <a:solidFill>
                        <a:srgbClr val="1B3859"/>
                      </a:solidFill>
                      <a:prstDash val="solid"/>
                      <a:round/>
                      <a:headEnd len="sm" w="sm" type="none"/>
                      <a:tailEnd len="sm" w="sm" type="none"/>
                    </a:lnB>
                  </a:tcPr>
                </a:tc>
                <a:tc>
                  <a:txBody>
                    <a:bodyPr/>
                    <a:lstStyle/>
                    <a:p>
                      <a:pPr indent="0" lvl="0" marL="0" rtl="0" algn="r">
                        <a:spcBef>
                          <a:spcPts val="0"/>
                        </a:spcBef>
                        <a:spcAft>
                          <a:spcPts val="0"/>
                        </a:spcAft>
                        <a:buNone/>
                      </a:pPr>
                      <a:r>
                        <a:rPr b="1" lang="en" sz="1100">
                          <a:solidFill>
                            <a:srgbClr val="1B3859"/>
                          </a:solidFill>
                          <a:latin typeface="Poppins"/>
                          <a:ea typeface="Poppins"/>
                          <a:cs typeface="Poppins"/>
                          <a:sym typeface="Poppins"/>
                        </a:rPr>
                        <a:t>% of Total</a:t>
                      </a:r>
                      <a:endParaRPr b="1" sz="1100">
                        <a:solidFill>
                          <a:srgbClr val="1B3859"/>
                        </a:solidFill>
                        <a:latin typeface="Poppins"/>
                        <a:ea typeface="Poppins"/>
                        <a:cs typeface="Poppins"/>
                        <a:sym typeface="Poppins"/>
                      </a:endParaRPr>
                    </a:p>
                  </a:txBody>
                  <a:tcPr marT="57150" marB="57150" marR="0" marL="0">
                    <a:lnB cap="flat" cmpd="sng" w="19050">
                      <a:solidFill>
                        <a:srgbClr val="1B3859"/>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HUHS</a:t>
                      </a:r>
                      <a:endParaRPr b="0" sz="1100">
                        <a:solidFill>
                          <a:srgbClr val="1B3859"/>
                        </a:solidFill>
                        <a:latin typeface="Poppins SemiBold"/>
                        <a:ea typeface="Poppins SemiBold"/>
                        <a:cs typeface="Poppins SemiBold"/>
                        <a:sym typeface="Poppins SemiBold"/>
                      </a:endParaRPr>
                    </a:p>
                  </a:txBody>
                  <a:tcPr marT="57150" marB="57150" marR="0" marL="0">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2D3748"/>
                          </a:solidFill>
                          <a:latin typeface="Poppins SemiBold"/>
                          <a:ea typeface="Poppins SemiBold"/>
                          <a:cs typeface="Poppins SemiBold"/>
                          <a:sym typeface="Poppins SemiBold"/>
                        </a:rPr>
                        <a:t>$14,765,337</a:t>
                      </a:r>
                      <a:endParaRPr b="0" sz="1100">
                        <a:solidFill>
                          <a:srgbClr val="2D3748"/>
                        </a:solidFill>
                        <a:latin typeface="Poppins SemiBold"/>
                        <a:ea typeface="Poppins SemiBold"/>
                        <a:cs typeface="Poppins SemiBold"/>
                        <a:sym typeface="Poppins SemiBold"/>
                      </a:endParaRPr>
                    </a:p>
                  </a:txBody>
                  <a:tcPr marT="57150" marB="57150" marR="0" marL="0">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28.5%</a:t>
                      </a:r>
                      <a:endParaRPr b="0" sz="1100">
                        <a:solidFill>
                          <a:srgbClr val="718096"/>
                        </a:solidFill>
                        <a:latin typeface="Poppins"/>
                        <a:ea typeface="Poppins"/>
                        <a:cs typeface="Poppins"/>
                        <a:sym typeface="Poppins"/>
                      </a:endParaRPr>
                    </a:p>
                  </a:txBody>
                  <a:tcPr marT="57150" marB="57150" marR="0" marL="0">
                    <a:lnT cap="flat" cmpd="sng" w="19050">
                      <a:solidFill>
                        <a:srgbClr val="1B3859"/>
                      </a:solidFill>
                      <a:prstDash val="solid"/>
                      <a:round/>
                      <a:headEnd len="sm" w="sm" type="none"/>
                      <a:tailEnd len="sm" w="sm" type="none"/>
                    </a:lnT>
                    <a:lnB cap="flat" cmpd="sng" w="9525">
                      <a:solidFill>
                        <a:srgbClr val="E2E8F0"/>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Brookside Primary</a:t>
                      </a:r>
                      <a:endParaRPr b="0" sz="1100">
                        <a:solidFill>
                          <a:srgbClr val="1B3859"/>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200">
                          <a:solidFill>
                            <a:srgbClr val="2D3748"/>
                          </a:solidFill>
                          <a:latin typeface="Poppins SemiBold"/>
                          <a:ea typeface="Poppins SemiBold"/>
                          <a:cs typeface="Poppins SemiBold"/>
                          <a:sym typeface="Poppins SemiBold"/>
                        </a:rPr>
                        <a:t>$7,813,070</a:t>
                      </a:r>
                      <a:endParaRPr b="0" sz="1200">
                        <a:solidFill>
                          <a:srgbClr val="2D3748"/>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15.0%</a:t>
                      </a:r>
                      <a:endParaRPr b="0" sz="1100">
                        <a:solidFill>
                          <a:srgbClr val="718096"/>
                        </a:solidFill>
                        <a:latin typeface="Poppins"/>
                        <a:ea typeface="Poppins"/>
                        <a:cs typeface="Poppins"/>
                        <a:sym typeface="Poppins"/>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CBMS</a:t>
                      </a:r>
                      <a:endParaRPr b="0" sz="1100">
                        <a:solidFill>
                          <a:srgbClr val="1B3859"/>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2D3748"/>
                          </a:solidFill>
                          <a:latin typeface="Poppins SemiBold"/>
                          <a:ea typeface="Poppins SemiBold"/>
                          <a:cs typeface="Poppins SemiBold"/>
                          <a:sym typeface="Poppins SemiBold"/>
                        </a:rPr>
                        <a:t>$6,490,488</a:t>
                      </a:r>
                      <a:endParaRPr b="0" sz="1100">
                        <a:solidFill>
                          <a:srgbClr val="2D3748"/>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12.5%</a:t>
                      </a:r>
                      <a:endParaRPr b="0" sz="1100">
                        <a:solidFill>
                          <a:srgbClr val="718096"/>
                        </a:solidFill>
                        <a:latin typeface="Poppins"/>
                        <a:ea typeface="Poppins"/>
                        <a:cs typeface="Poppins"/>
                        <a:sym typeface="Poppins"/>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Moretown Elementary</a:t>
                      </a:r>
                      <a:endParaRPr b="0" sz="1100">
                        <a:solidFill>
                          <a:srgbClr val="1B3859"/>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2D3748"/>
                          </a:solidFill>
                          <a:latin typeface="Poppins SemiBold"/>
                          <a:ea typeface="Poppins SemiBold"/>
                          <a:cs typeface="Poppins SemiBold"/>
                          <a:sym typeface="Poppins SemiBold"/>
                        </a:rPr>
                        <a:t>$3,233,280</a:t>
                      </a:r>
                      <a:endParaRPr b="0" sz="1100">
                        <a:solidFill>
                          <a:srgbClr val="2D3748"/>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6.2%</a:t>
                      </a:r>
                      <a:endParaRPr b="0" sz="1100">
                        <a:solidFill>
                          <a:srgbClr val="718096"/>
                        </a:solidFill>
                        <a:latin typeface="Poppins"/>
                        <a:ea typeface="Poppins"/>
                        <a:cs typeface="Poppins"/>
                        <a:sym typeface="Poppins"/>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Waitsfield Elementary</a:t>
                      </a:r>
                      <a:endParaRPr b="0" sz="1100">
                        <a:solidFill>
                          <a:srgbClr val="1B3859"/>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2D3748"/>
                          </a:solidFill>
                          <a:latin typeface="Poppins SemiBold"/>
                          <a:ea typeface="Poppins SemiBold"/>
                          <a:cs typeface="Poppins SemiBold"/>
                          <a:sym typeface="Poppins SemiBold"/>
                        </a:rPr>
                        <a:t>$2,990,160</a:t>
                      </a:r>
                      <a:endParaRPr b="0" sz="1100">
                        <a:solidFill>
                          <a:srgbClr val="2D3748"/>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5.8%</a:t>
                      </a:r>
                      <a:endParaRPr b="0" sz="1100">
                        <a:solidFill>
                          <a:srgbClr val="718096"/>
                        </a:solidFill>
                        <a:latin typeface="Poppins"/>
                        <a:ea typeface="Poppins"/>
                        <a:cs typeface="Poppins"/>
                        <a:sym typeface="Poppins"/>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Warren Elementary</a:t>
                      </a:r>
                      <a:endParaRPr b="0" sz="1100">
                        <a:solidFill>
                          <a:srgbClr val="1B3859"/>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2D3748"/>
                          </a:solidFill>
                          <a:latin typeface="Poppins SemiBold"/>
                          <a:ea typeface="Poppins SemiBold"/>
                          <a:cs typeface="Poppins SemiBold"/>
                          <a:sym typeface="Poppins SemiBold"/>
                        </a:rPr>
                        <a:t>$2,883,758</a:t>
                      </a:r>
                      <a:endParaRPr b="0" sz="1100">
                        <a:solidFill>
                          <a:srgbClr val="2D3748"/>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5.6%</a:t>
                      </a:r>
                      <a:endParaRPr b="0" sz="1100">
                        <a:solidFill>
                          <a:srgbClr val="718096"/>
                        </a:solidFill>
                        <a:latin typeface="Poppins"/>
                        <a:ea typeface="Poppins"/>
                        <a:cs typeface="Poppins"/>
                        <a:sym typeface="Poppins"/>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08700">
                <a:tc>
                  <a:txBody>
                    <a:bodyPr/>
                    <a:lstStyle/>
                    <a:p>
                      <a:pPr indent="0" lvl="0" marL="0" rtl="0" algn="l">
                        <a:spcBef>
                          <a:spcPts val="0"/>
                        </a:spcBef>
                        <a:spcAft>
                          <a:spcPts val="0"/>
                        </a:spcAft>
                        <a:buNone/>
                      </a:pPr>
                      <a:r>
                        <a:rPr b="0" lang="en" sz="1100">
                          <a:solidFill>
                            <a:srgbClr val="1B3859"/>
                          </a:solidFill>
                          <a:latin typeface="Poppins SemiBold"/>
                          <a:ea typeface="Poppins SemiBold"/>
                          <a:cs typeface="Poppins SemiBold"/>
                          <a:sym typeface="Poppins SemiBold"/>
                        </a:rPr>
                        <a:t>Fayston Elementary</a:t>
                      </a:r>
                      <a:endParaRPr b="0" sz="1100">
                        <a:solidFill>
                          <a:srgbClr val="1B3859"/>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19050">
                      <a:solidFill>
                        <a:srgbClr val="CBD5E1"/>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2D3748"/>
                          </a:solidFill>
                          <a:latin typeface="Poppins SemiBold"/>
                          <a:ea typeface="Poppins SemiBold"/>
                          <a:cs typeface="Poppins SemiBold"/>
                          <a:sym typeface="Poppins SemiBold"/>
                        </a:rPr>
                        <a:t>$2,947,318</a:t>
                      </a:r>
                      <a:endParaRPr b="0" sz="1100">
                        <a:solidFill>
                          <a:srgbClr val="2D3748"/>
                        </a:solidFill>
                        <a:latin typeface="Poppins SemiBold"/>
                        <a:ea typeface="Poppins SemiBold"/>
                        <a:cs typeface="Poppins SemiBold"/>
                        <a:sym typeface="Poppins SemiBold"/>
                      </a:endParaRPr>
                    </a:p>
                  </a:txBody>
                  <a:tcPr marT="57150" marB="57150" marR="0" marL="0">
                    <a:lnT cap="flat" cmpd="sng" w="9525">
                      <a:solidFill>
                        <a:srgbClr val="E2E8F0"/>
                      </a:solidFill>
                      <a:prstDash val="solid"/>
                      <a:round/>
                      <a:headEnd len="sm" w="sm" type="none"/>
                      <a:tailEnd len="sm" w="sm" type="none"/>
                    </a:lnT>
                    <a:lnB cap="flat" cmpd="sng" w="19050">
                      <a:solidFill>
                        <a:srgbClr val="CBD5E1"/>
                      </a:solidFill>
                      <a:prstDash val="solid"/>
                      <a:round/>
                      <a:headEnd len="sm" w="sm" type="none"/>
                      <a:tailEnd len="sm" w="sm" type="none"/>
                    </a:lnB>
                  </a:tcPr>
                </a:tc>
                <a:tc>
                  <a:txBody>
                    <a:bodyPr/>
                    <a:lstStyle/>
                    <a:p>
                      <a:pPr indent="0" lvl="0" marL="0" rtl="0" algn="r">
                        <a:spcBef>
                          <a:spcPts val="0"/>
                        </a:spcBef>
                        <a:spcAft>
                          <a:spcPts val="0"/>
                        </a:spcAft>
                        <a:buNone/>
                      </a:pPr>
                      <a:r>
                        <a:rPr b="0" lang="en" sz="1100">
                          <a:solidFill>
                            <a:srgbClr val="718096"/>
                          </a:solidFill>
                          <a:latin typeface="Poppins"/>
                          <a:ea typeface="Poppins"/>
                          <a:cs typeface="Poppins"/>
                          <a:sym typeface="Poppins"/>
                        </a:rPr>
                        <a:t>5.7%</a:t>
                      </a:r>
                      <a:endParaRPr b="0" sz="1100">
                        <a:solidFill>
                          <a:srgbClr val="718096"/>
                        </a:solidFill>
                        <a:latin typeface="Poppins"/>
                        <a:ea typeface="Poppins"/>
                        <a:cs typeface="Poppins"/>
                        <a:sym typeface="Poppins"/>
                      </a:endParaRPr>
                    </a:p>
                  </a:txBody>
                  <a:tcPr marT="57150" marB="57150" marR="0" marL="0">
                    <a:lnT cap="flat" cmpd="sng" w="9525">
                      <a:solidFill>
                        <a:srgbClr val="E2E8F0"/>
                      </a:solidFill>
                      <a:prstDash val="solid"/>
                      <a:round/>
                      <a:headEnd len="sm" w="sm" type="none"/>
                      <a:tailEnd len="sm" w="sm" type="none"/>
                    </a:lnT>
                    <a:lnB cap="flat" cmpd="sng" w="19050">
                      <a:solidFill>
                        <a:srgbClr val="CBD5E1"/>
                      </a:solidFill>
                      <a:prstDash val="solid"/>
                      <a:round/>
                      <a:headEnd len="sm" w="sm" type="none"/>
                      <a:tailEnd len="sm" w="sm" type="none"/>
                    </a:lnB>
                  </a:tcPr>
                </a:tc>
              </a:tr>
              <a:tr h="480750">
                <a:tc>
                  <a:txBody>
                    <a:bodyPr/>
                    <a:lstStyle/>
                    <a:p>
                      <a:pPr indent="0" lvl="0" marL="0" rtl="0" algn="l">
                        <a:spcBef>
                          <a:spcPts val="0"/>
                        </a:spcBef>
                        <a:spcAft>
                          <a:spcPts val="0"/>
                        </a:spcAft>
                        <a:buNone/>
                      </a:pPr>
                      <a:r>
                        <a:rPr b="1" lang="en" sz="1100">
                          <a:solidFill>
                            <a:srgbClr val="1B3859"/>
                          </a:solidFill>
                          <a:highlight>
                            <a:srgbClr val="F8FAFC"/>
                          </a:highlight>
                          <a:latin typeface="Poppins"/>
                          <a:ea typeface="Poppins"/>
                          <a:cs typeface="Poppins"/>
                          <a:sym typeface="Poppins"/>
                        </a:rPr>
                        <a:t>School Programs Total</a:t>
                      </a:r>
                      <a:endParaRPr b="1" sz="1100">
                        <a:solidFill>
                          <a:srgbClr val="1B3859"/>
                        </a:solidFill>
                        <a:highlight>
                          <a:srgbClr val="F8FAFC"/>
                        </a:highlight>
                        <a:latin typeface="Poppins"/>
                        <a:ea typeface="Poppins"/>
                        <a:cs typeface="Poppins"/>
                        <a:sym typeface="Poppins"/>
                      </a:endParaRPr>
                    </a:p>
                  </a:txBody>
                  <a:tcPr marT="76200" marB="76200" marR="57150" marL="57150">
                    <a:lnT cap="flat" cmpd="sng" w="19050">
                      <a:solidFill>
                        <a:srgbClr val="CBD5E1"/>
                      </a:solidFill>
                      <a:prstDash val="solid"/>
                      <a:round/>
                      <a:headEnd len="sm" w="sm" type="none"/>
                      <a:tailEnd len="sm" w="sm" type="none"/>
                    </a:lnT>
                    <a:lnB cap="flat" cmpd="sng" w="9525">
                      <a:solidFill>
                        <a:srgbClr val="1B3859"/>
                      </a:solidFill>
                      <a:prstDash val="solid"/>
                      <a:round/>
                      <a:headEnd len="sm" w="sm" type="none"/>
                      <a:tailEnd len="sm" w="sm" type="none"/>
                    </a:lnB>
                    <a:solidFill>
                      <a:srgbClr val="F8FAFC"/>
                    </a:solidFill>
                  </a:tcPr>
                </a:tc>
                <a:tc>
                  <a:txBody>
                    <a:bodyPr/>
                    <a:lstStyle/>
                    <a:p>
                      <a:pPr indent="0" lvl="0" marL="0" rtl="0" algn="r">
                        <a:spcBef>
                          <a:spcPts val="0"/>
                        </a:spcBef>
                        <a:spcAft>
                          <a:spcPts val="0"/>
                        </a:spcAft>
                        <a:buNone/>
                      </a:pPr>
                      <a:r>
                        <a:rPr b="1" lang="en" sz="1100">
                          <a:solidFill>
                            <a:srgbClr val="1B3859"/>
                          </a:solidFill>
                          <a:highlight>
                            <a:srgbClr val="F8FAFC"/>
                          </a:highlight>
                          <a:latin typeface="Poppins"/>
                          <a:ea typeface="Poppins"/>
                          <a:cs typeface="Poppins"/>
                          <a:sym typeface="Poppins"/>
                        </a:rPr>
                        <a:t>    $41,123,410</a:t>
                      </a:r>
                      <a:endParaRPr b="1" sz="1100">
                        <a:solidFill>
                          <a:srgbClr val="1B3859"/>
                        </a:solidFill>
                        <a:highlight>
                          <a:srgbClr val="F8FAFC"/>
                        </a:highlight>
                        <a:latin typeface="Poppins"/>
                        <a:ea typeface="Poppins"/>
                        <a:cs typeface="Poppins"/>
                        <a:sym typeface="Poppins"/>
                      </a:endParaRPr>
                    </a:p>
                  </a:txBody>
                  <a:tcPr marT="76200" marB="76200" marR="57150" marL="57150">
                    <a:lnT cap="flat" cmpd="sng" w="19050">
                      <a:solidFill>
                        <a:srgbClr val="CBD5E1"/>
                      </a:solidFill>
                      <a:prstDash val="solid"/>
                      <a:round/>
                      <a:headEnd len="sm" w="sm" type="none"/>
                      <a:tailEnd len="sm" w="sm" type="none"/>
                    </a:lnT>
                    <a:lnB cap="flat" cmpd="sng" w="9525">
                      <a:solidFill>
                        <a:srgbClr val="1B3859"/>
                      </a:solidFill>
                      <a:prstDash val="solid"/>
                      <a:round/>
                      <a:headEnd len="sm" w="sm" type="none"/>
                      <a:tailEnd len="sm" w="sm" type="none"/>
                    </a:lnB>
                    <a:solidFill>
                      <a:srgbClr val="F8FAFC"/>
                    </a:solidFill>
                  </a:tcPr>
                </a:tc>
                <a:tc>
                  <a:txBody>
                    <a:bodyPr/>
                    <a:lstStyle/>
                    <a:p>
                      <a:pPr indent="0" lvl="0" marL="0" rtl="0" algn="r">
                        <a:spcBef>
                          <a:spcPts val="0"/>
                        </a:spcBef>
                        <a:spcAft>
                          <a:spcPts val="0"/>
                        </a:spcAft>
                        <a:buNone/>
                      </a:pPr>
                      <a:r>
                        <a:rPr b="1" lang="en" sz="1100">
                          <a:solidFill>
                            <a:srgbClr val="1B3859"/>
                          </a:solidFill>
                          <a:highlight>
                            <a:srgbClr val="F8FAFC"/>
                          </a:highlight>
                          <a:latin typeface="Poppins"/>
                          <a:ea typeface="Poppins"/>
                          <a:cs typeface="Poppins"/>
                          <a:sym typeface="Poppins"/>
                        </a:rPr>
                        <a:t>79.3%</a:t>
                      </a:r>
                      <a:endParaRPr b="1" sz="1100">
                        <a:solidFill>
                          <a:srgbClr val="1B3859"/>
                        </a:solidFill>
                        <a:highlight>
                          <a:srgbClr val="F8FAFC"/>
                        </a:highlight>
                        <a:latin typeface="Poppins"/>
                        <a:ea typeface="Poppins"/>
                        <a:cs typeface="Poppins"/>
                        <a:sym typeface="Poppins"/>
                      </a:endParaRPr>
                    </a:p>
                  </a:txBody>
                  <a:tcPr marT="76200" marB="76200" marR="57150" marL="57150">
                    <a:lnT cap="flat" cmpd="sng" w="19050">
                      <a:solidFill>
                        <a:srgbClr val="CBD5E1"/>
                      </a:solidFill>
                      <a:prstDash val="solid"/>
                      <a:round/>
                      <a:headEnd len="sm" w="sm" type="none"/>
                      <a:tailEnd len="sm" w="sm" type="none"/>
                    </a:lnT>
                    <a:lnB cap="flat" cmpd="sng" w="9525">
                      <a:solidFill>
                        <a:srgbClr val="1B3859"/>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51"/>
          <p:cNvSpPr/>
          <p:nvPr/>
        </p:nvSpPr>
        <p:spPr>
          <a:xfrm>
            <a:off x="0" y="0"/>
            <a:ext cx="9144000" cy="7143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5" name="Google Shape;945;p51"/>
          <p:cNvSpPr/>
          <p:nvPr/>
        </p:nvSpPr>
        <p:spPr>
          <a:xfrm>
            <a:off x="0" y="714375"/>
            <a:ext cx="9144000" cy="47700"/>
          </a:xfrm>
          <a:prstGeom prst="rect">
            <a:avLst/>
          </a:prstGeom>
          <a:solidFill>
            <a:srgbClr val="95B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6" name="Google Shape;946;p51"/>
          <p:cNvSpPr txBox="1"/>
          <p:nvPr/>
        </p:nvSpPr>
        <p:spPr>
          <a:xfrm>
            <a:off x="381000" y="0"/>
            <a:ext cx="8382000" cy="71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FY2027 Total Budget</a:t>
            </a:r>
            <a:endParaRPr b="1" sz="2400">
              <a:solidFill>
                <a:srgbClr val="FFFFFF"/>
              </a:solidFill>
              <a:latin typeface="Poppins"/>
              <a:ea typeface="Poppins"/>
              <a:cs typeface="Poppins"/>
              <a:sym typeface="Poppins"/>
            </a:endParaRPr>
          </a:p>
        </p:txBody>
      </p:sp>
      <p:sp>
        <p:nvSpPr>
          <p:cNvPr id="947" name="Google Shape;947;p51"/>
          <p:cNvSpPr/>
          <p:nvPr/>
        </p:nvSpPr>
        <p:spPr>
          <a:xfrm>
            <a:off x="190500" y="952500"/>
            <a:ext cx="4191000" cy="4000500"/>
          </a:xfrm>
          <a:prstGeom prst="roundRect">
            <a:avLst>
              <a:gd fmla="val 190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8" name="Google Shape;948;p51"/>
          <p:cNvSpPr txBox="1"/>
          <p:nvPr/>
        </p:nvSpPr>
        <p:spPr>
          <a:xfrm>
            <a:off x="381000" y="1143000"/>
            <a:ext cx="381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B3859"/>
                </a:solidFill>
                <a:latin typeface="Poppins"/>
                <a:ea typeface="Poppins"/>
                <a:cs typeface="Poppins"/>
                <a:sym typeface="Poppins"/>
              </a:rPr>
              <a:t>Key Programs</a:t>
            </a:r>
            <a:endParaRPr b="1" sz="1800">
              <a:solidFill>
                <a:srgbClr val="1B3859"/>
              </a:solidFill>
              <a:latin typeface="Poppins"/>
              <a:ea typeface="Poppins"/>
              <a:cs typeface="Poppins"/>
              <a:sym typeface="Poppins"/>
            </a:endParaRPr>
          </a:p>
        </p:txBody>
      </p:sp>
      <p:graphicFrame>
        <p:nvGraphicFramePr>
          <p:cNvPr id="949" name="Google Shape;949;p51"/>
          <p:cNvGraphicFramePr/>
          <p:nvPr/>
        </p:nvGraphicFramePr>
        <p:xfrm>
          <a:off x="381000" y="1571625"/>
          <a:ext cx="3000000" cy="3000000"/>
        </p:xfrm>
        <a:graphic>
          <a:graphicData uri="http://schemas.openxmlformats.org/drawingml/2006/table">
            <a:tbl>
              <a:tblPr>
                <a:noFill/>
                <a:tableStyleId>{E1922B52-F810-4ECE-AA54-C31FA968E27D}</a:tableStyleId>
              </a:tblPr>
              <a:tblGrid>
                <a:gridCol w="1905000"/>
                <a:gridCol w="1905000"/>
              </a:tblGrid>
              <a:tr h="449025">
                <a:tc>
                  <a:txBody>
                    <a:bodyPr/>
                    <a:lstStyle/>
                    <a:p>
                      <a:pPr indent="0" lvl="0" marL="0" rtl="0" algn="l">
                        <a:spcBef>
                          <a:spcPts val="0"/>
                        </a:spcBef>
                        <a:spcAft>
                          <a:spcPts val="0"/>
                        </a:spcAft>
                        <a:buNone/>
                      </a:pPr>
                      <a:r>
                        <a:rPr lang="en"/>
                        <a:t>General Instructional Programs</a:t>
                      </a:r>
                      <a:endParaRPr/>
                    </a:p>
                  </a:txBody>
                  <a:tcPr marT="57150" marB="57150" marR="0" marL="0">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1" lang="en">
                          <a:solidFill>
                            <a:srgbClr val="1B3859"/>
                          </a:solidFill>
                        </a:rPr>
                        <a:t>$18.95M</a:t>
                      </a:r>
                      <a:endParaRPr b="1">
                        <a:solidFill>
                          <a:srgbClr val="1B3859"/>
                        </a:solidFill>
                      </a:endParaRPr>
                    </a:p>
                  </a:txBody>
                  <a:tcPr marT="91425" marB="91425" marR="91425" marL="91425">
                    <a:lnB cap="flat" cmpd="sng" w="9525">
                      <a:solidFill>
                        <a:srgbClr val="E2E8F0"/>
                      </a:solidFill>
                      <a:prstDash val="solid"/>
                      <a:round/>
                      <a:headEnd len="sm" w="sm" type="none"/>
                      <a:tailEnd len="sm" w="sm" type="none"/>
                    </a:lnB>
                  </a:tcPr>
                </a:tc>
              </a:tr>
              <a:tr h="449025">
                <a:tc>
                  <a:txBody>
                    <a:bodyPr/>
                    <a:lstStyle/>
                    <a:p>
                      <a:pPr indent="0" lvl="0" marL="0" rtl="0" algn="l">
                        <a:spcBef>
                          <a:spcPts val="0"/>
                        </a:spcBef>
                        <a:spcAft>
                          <a:spcPts val="0"/>
                        </a:spcAft>
                        <a:buNone/>
                      </a:pPr>
                      <a:r>
                        <a:rPr lang="en"/>
                        <a:t>Special Education Services</a:t>
                      </a:r>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1" lang="en">
                          <a:solidFill>
                            <a:srgbClr val="1B3859"/>
                          </a:solidFill>
                        </a:rPr>
                        <a:t>$9.22M</a:t>
                      </a:r>
                      <a:endParaRPr b="1">
                        <a:solidFill>
                          <a:srgbClr val="1B3859"/>
                        </a:solidFill>
                      </a:endParaRPr>
                    </a:p>
                  </a:txBody>
                  <a:tcPr marT="91425" marB="91425" marR="91425" marL="91425">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49050">
                <a:tc>
                  <a:txBody>
                    <a:bodyPr/>
                    <a:lstStyle/>
                    <a:p>
                      <a:pPr indent="0" lvl="0" marL="0" rtl="0" algn="l">
                        <a:spcBef>
                          <a:spcPts val="0"/>
                        </a:spcBef>
                        <a:spcAft>
                          <a:spcPts val="0"/>
                        </a:spcAft>
                        <a:buNone/>
                      </a:pPr>
                      <a:r>
                        <a:rPr lang="en"/>
                        <a:t>Health Services</a:t>
                      </a:r>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1" lang="en">
                          <a:solidFill>
                            <a:srgbClr val="1B3859"/>
                          </a:solidFill>
                        </a:rPr>
                        <a:t>$5.15M</a:t>
                      </a:r>
                      <a:endParaRPr b="1">
                        <a:solidFill>
                          <a:srgbClr val="1B3859"/>
                        </a:solidFill>
                      </a:endParaRPr>
                    </a:p>
                  </a:txBody>
                  <a:tcPr marT="91425" marB="91425" marR="91425" marL="91425">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49025">
                <a:tc>
                  <a:txBody>
                    <a:bodyPr/>
                    <a:lstStyle/>
                    <a:p>
                      <a:pPr indent="0" lvl="0" marL="0" rtl="0" algn="l">
                        <a:spcBef>
                          <a:spcPts val="0"/>
                        </a:spcBef>
                        <a:spcAft>
                          <a:spcPts val="0"/>
                        </a:spcAft>
                        <a:buNone/>
                      </a:pPr>
                      <a:r>
                        <a:rPr lang="en"/>
                        <a:t>Operation &amp; Maintenance</a:t>
                      </a:r>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1" lang="en">
                          <a:solidFill>
                            <a:srgbClr val="1B3859"/>
                          </a:solidFill>
                        </a:rPr>
                        <a:t>$4.47M</a:t>
                      </a:r>
                      <a:endParaRPr b="1">
                        <a:solidFill>
                          <a:srgbClr val="1B3859"/>
                        </a:solidFill>
                      </a:endParaRPr>
                    </a:p>
                  </a:txBody>
                  <a:tcPr marT="91425" marB="91425" marR="91425" marL="91425">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49050">
                <a:tc>
                  <a:txBody>
                    <a:bodyPr/>
                    <a:lstStyle/>
                    <a:p>
                      <a:pPr indent="0" lvl="0" marL="0" rtl="0" algn="l">
                        <a:spcBef>
                          <a:spcPts val="0"/>
                        </a:spcBef>
                        <a:spcAft>
                          <a:spcPts val="0"/>
                        </a:spcAft>
                        <a:buNone/>
                      </a:pPr>
                      <a:r>
                        <a:rPr lang="en"/>
                        <a:t>School Administration</a:t>
                      </a:r>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1" lang="en">
                          <a:solidFill>
                            <a:srgbClr val="1B3859"/>
                          </a:solidFill>
                        </a:rPr>
                        <a:t>$2.78M</a:t>
                      </a:r>
                      <a:endParaRPr b="1">
                        <a:solidFill>
                          <a:srgbClr val="1B3859"/>
                        </a:solidFill>
                      </a:endParaRPr>
                    </a:p>
                  </a:txBody>
                  <a:tcPr marT="91425" marB="91425" marR="91425" marL="91425">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49025">
                <a:tc>
                  <a:txBody>
                    <a:bodyPr/>
                    <a:lstStyle/>
                    <a:p>
                      <a:pPr indent="0" lvl="0" marL="0" rtl="0" algn="l">
                        <a:spcBef>
                          <a:spcPts val="0"/>
                        </a:spcBef>
                        <a:spcAft>
                          <a:spcPts val="0"/>
                        </a:spcAft>
                        <a:buNone/>
                      </a:pPr>
                      <a:r>
                        <a:rPr lang="en"/>
                        <a:t>Technology &amp; Librarian Services</a:t>
                      </a:r>
                      <a:endParaRPr/>
                    </a:p>
                  </a:txBody>
                  <a:tcPr marT="57150" marB="5715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r">
                        <a:spcBef>
                          <a:spcPts val="0"/>
                        </a:spcBef>
                        <a:spcAft>
                          <a:spcPts val="0"/>
                        </a:spcAft>
                        <a:buNone/>
                      </a:pPr>
                      <a:r>
                        <a:rPr b="1" lang="en">
                          <a:solidFill>
                            <a:srgbClr val="1B3859"/>
                          </a:solidFill>
                        </a:rPr>
                        <a:t>$2.61M</a:t>
                      </a:r>
                      <a:endParaRPr b="1">
                        <a:solidFill>
                          <a:srgbClr val="1B3859"/>
                        </a:solidFill>
                      </a:endParaRPr>
                    </a:p>
                  </a:txBody>
                  <a:tcPr marT="91425" marB="91425" marR="91425" marL="91425">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49050">
                <a:tc>
                  <a:txBody>
                    <a:bodyPr/>
                    <a:lstStyle/>
                    <a:p>
                      <a:pPr indent="0" lvl="0" marL="0" rtl="0" algn="l">
                        <a:spcBef>
                          <a:spcPts val="0"/>
                        </a:spcBef>
                        <a:spcAft>
                          <a:spcPts val="0"/>
                        </a:spcAft>
                        <a:buNone/>
                      </a:pPr>
                      <a:r>
                        <a:rPr lang="en"/>
                        <a:t>Student Support Services</a:t>
                      </a:r>
                      <a:endParaRPr/>
                    </a:p>
                  </a:txBody>
                  <a:tcPr marT="57150" marB="57150" marR="0" marL="0">
                    <a:lnT cap="flat" cmpd="sng" w="9525">
                      <a:solidFill>
                        <a:srgbClr val="E2E8F0"/>
                      </a:solidFill>
                      <a:prstDash val="solid"/>
                      <a:round/>
                      <a:headEnd len="sm" w="sm" type="none"/>
                      <a:tailEnd len="sm" w="sm" type="none"/>
                    </a:lnT>
                  </a:tcPr>
                </a:tc>
                <a:tc>
                  <a:txBody>
                    <a:bodyPr/>
                    <a:lstStyle/>
                    <a:p>
                      <a:pPr indent="0" lvl="0" marL="0" rtl="0" algn="r">
                        <a:spcBef>
                          <a:spcPts val="0"/>
                        </a:spcBef>
                        <a:spcAft>
                          <a:spcPts val="0"/>
                        </a:spcAft>
                        <a:buNone/>
                      </a:pPr>
                      <a:r>
                        <a:rPr b="1" lang="en">
                          <a:solidFill>
                            <a:srgbClr val="1B3859"/>
                          </a:solidFill>
                        </a:rPr>
                        <a:t>$2.19M</a:t>
                      </a:r>
                      <a:endParaRPr b="1">
                        <a:solidFill>
                          <a:srgbClr val="1B3859"/>
                        </a:solidFill>
                      </a:endParaRPr>
                    </a:p>
                  </a:txBody>
                  <a:tcPr marT="91425" marB="91425" marR="91425" marL="91425">
                    <a:lnT cap="flat" cmpd="sng" w="9525">
                      <a:solidFill>
                        <a:srgbClr val="E2E8F0"/>
                      </a:solidFill>
                      <a:prstDash val="solid"/>
                      <a:round/>
                      <a:headEnd len="sm" w="sm" type="none"/>
                      <a:tailEnd len="sm" w="sm" type="none"/>
                    </a:lnT>
                  </a:tcPr>
                </a:tc>
              </a:tr>
            </a:tbl>
          </a:graphicData>
        </a:graphic>
      </p:graphicFrame>
      <p:sp>
        <p:nvSpPr>
          <p:cNvPr id="950" name="Google Shape;950;p51"/>
          <p:cNvSpPr/>
          <p:nvPr/>
        </p:nvSpPr>
        <p:spPr>
          <a:xfrm>
            <a:off x="4572000" y="952500"/>
            <a:ext cx="4381500" cy="4000500"/>
          </a:xfrm>
          <a:prstGeom prst="roundRect">
            <a:avLst>
              <a:gd fmla="val 190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51" name="Google Shape;951;p51"/>
          <p:cNvPicPr preferRelativeResize="0"/>
          <p:nvPr/>
        </p:nvPicPr>
        <p:blipFill rotWithShape="1">
          <a:blip r:embed="rId3">
            <a:alphaModFix/>
          </a:blip>
          <a:srcRect b="0" l="179" r="189" t="0"/>
          <a:stretch/>
        </p:blipFill>
        <p:spPr>
          <a:xfrm>
            <a:off x="4667250" y="1047750"/>
            <a:ext cx="4191000" cy="3810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pic>
        <p:nvPicPr>
          <p:cNvPr id="956" name="Google Shape;956;p52"/>
          <p:cNvPicPr preferRelativeResize="0"/>
          <p:nvPr/>
        </p:nvPicPr>
        <p:blipFill>
          <a:blip r:embed="rId3">
            <a:alphaModFix/>
          </a:blip>
          <a:stretch>
            <a:fillRect/>
          </a:stretch>
        </p:blipFill>
        <p:spPr>
          <a:xfrm>
            <a:off x="0" y="107950"/>
            <a:ext cx="9144000" cy="503555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0" name="Shape 960"/>
        <p:cNvGrpSpPr/>
        <p:nvPr/>
      </p:nvGrpSpPr>
      <p:grpSpPr>
        <a:xfrm>
          <a:off x="0" y="0"/>
          <a:ext cx="0" cy="0"/>
          <a:chOff x="0" y="0"/>
          <a:chExt cx="0" cy="0"/>
        </a:xfrm>
      </p:grpSpPr>
      <p:sp>
        <p:nvSpPr>
          <p:cNvPr id="961" name="Google Shape;961;p53"/>
          <p:cNvSpPr txBox="1"/>
          <p:nvPr/>
        </p:nvSpPr>
        <p:spPr>
          <a:xfrm>
            <a:off x="381000" y="285750"/>
            <a:ext cx="8382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Inflation Over the Years &amp; Projected Future Rates</a:t>
            </a:r>
            <a:endParaRPr b="0" sz="24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475569"/>
                </a:solidFill>
                <a:latin typeface="Poppins"/>
                <a:ea typeface="Poppins"/>
                <a:cs typeface="Poppins"/>
                <a:sym typeface="Poppins"/>
              </a:rPr>
              <a:t>Historical inflation figures (2022–2026) alongside estimated projections through 2031</a:t>
            </a:r>
            <a:endParaRPr b="0" sz="1100">
              <a:solidFill>
                <a:srgbClr val="475569"/>
              </a:solidFill>
              <a:latin typeface="Poppins"/>
              <a:ea typeface="Poppins"/>
              <a:cs typeface="Poppins"/>
              <a:sym typeface="Poppins"/>
            </a:endParaRPr>
          </a:p>
        </p:txBody>
      </p:sp>
      <p:grpSp>
        <p:nvGrpSpPr>
          <p:cNvPr id="962" name="Google Shape;962;p53"/>
          <p:cNvGrpSpPr/>
          <p:nvPr/>
        </p:nvGrpSpPr>
        <p:grpSpPr>
          <a:xfrm>
            <a:off x="381000" y="1000125"/>
            <a:ext cx="8382000" cy="247800"/>
            <a:chOff x="0" y="0"/>
            <a:chExt cx="8382000" cy="247800"/>
          </a:xfrm>
        </p:grpSpPr>
        <p:sp>
          <p:nvSpPr>
            <p:cNvPr id="963" name="Google Shape;963;p53"/>
            <p:cNvSpPr/>
            <p:nvPr/>
          </p:nvSpPr>
          <p:spPr>
            <a:xfrm>
              <a:off x="0" y="0"/>
              <a:ext cx="4076700" cy="247800"/>
            </a:xfrm>
            <a:prstGeom prst="roundRect">
              <a:avLst>
                <a:gd fmla="val 23076"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4" name="Google Shape;964;p53"/>
            <p:cNvSpPr txBox="1"/>
            <p:nvPr/>
          </p:nvSpPr>
          <p:spPr>
            <a:xfrm>
              <a:off x="0" y="0"/>
              <a:ext cx="4076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B3859"/>
                  </a:solidFill>
                  <a:latin typeface="Poppins"/>
                  <a:ea typeface="Poppins"/>
                  <a:cs typeface="Poppins"/>
                  <a:sym typeface="Poppins"/>
                </a:rPr>
                <a:t>HISTORICAL RATES</a:t>
              </a:r>
              <a:endParaRPr b="1" sz="900">
                <a:solidFill>
                  <a:srgbClr val="1B3859"/>
                </a:solidFill>
                <a:latin typeface="Poppins"/>
                <a:ea typeface="Poppins"/>
                <a:cs typeface="Poppins"/>
                <a:sym typeface="Poppins"/>
              </a:endParaRPr>
            </a:p>
          </p:txBody>
        </p:sp>
        <p:sp>
          <p:nvSpPr>
            <p:cNvPr id="965" name="Google Shape;965;p53"/>
            <p:cNvSpPr/>
            <p:nvPr/>
          </p:nvSpPr>
          <p:spPr>
            <a:xfrm>
              <a:off x="4305300" y="0"/>
              <a:ext cx="4076700" cy="247800"/>
            </a:xfrm>
            <a:prstGeom prst="roundRect">
              <a:avLst>
                <a:gd fmla="val 23076"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6" name="Google Shape;966;p53"/>
            <p:cNvSpPr txBox="1"/>
            <p:nvPr/>
          </p:nvSpPr>
          <p:spPr>
            <a:xfrm>
              <a:off x="4305300" y="0"/>
              <a:ext cx="4076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92400E"/>
                  </a:solidFill>
                  <a:latin typeface="Poppins"/>
                  <a:ea typeface="Poppins"/>
                  <a:cs typeface="Poppins"/>
                  <a:sym typeface="Poppins"/>
                </a:rPr>
                <a:t>PROJECTED ESTIMATES (EST.)</a:t>
              </a:r>
              <a:endParaRPr b="1" sz="900">
                <a:solidFill>
                  <a:srgbClr val="92400E"/>
                </a:solidFill>
                <a:latin typeface="Poppins"/>
                <a:ea typeface="Poppins"/>
                <a:cs typeface="Poppins"/>
                <a:sym typeface="Poppins"/>
              </a:endParaRPr>
            </a:p>
          </p:txBody>
        </p:sp>
      </p:grpSp>
      <p:sp>
        <p:nvSpPr>
          <p:cNvPr id="967" name="Google Shape;967;p53"/>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grpSp>
        <p:nvGrpSpPr>
          <p:cNvPr id="968" name="Google Shape;968;p53"/>
          <p:cNvGrpSpPr/>
          <p:nvPr/>
        </p:nvGrpSpPr>
        <p:grpSpPr>
          <a:xfrm>
            <a:off x="381000" y="1333500"/>
            <a:ext cx="723900" cy="3162450"/>
            <a:chOff x="0" y="0"/>
            <a:chExt cx="723900" cy="3162450"/>
          </a:xfrm>
        </p:grpSpPr>
        <p:sp>
          <p:nvSpPr>
            <p:cNvPr id="969" name="Google Shape;969;p53"/>
            <p:cNvSpPr/>
            <p:nvPr/>
          </p:nvSpPr>
          <p:spPr>
            <a:xfrm>
              <a:off x="0" y="0"/>
              <a:ext cx="723900" cy="2571900"/>
            </a:xfrm>
            <a:prstGeom prst="roundRect">
              <a:avLst>
                <a:gd fmla="val 13157" name="adj"/>
              </a:avLst>
            </a:prstGeom>
            <a:solidFill>
              <a:srgbClr val="FFFFFF"/>
            </a:solidFill>
            <a:ln cap="flat" cmpd="sng" w="19050">
              <a:solidFill>
                <a:srgbClr val="B446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0" name="Google Shape;970;p53"/>
            <p:cNvSpPr/>
            <p:nvPr/>
          </p:nvSpPr>
          <p:spPr>
            <a:xfrm>
              <a:off x="76200" y="2114550"/>
              <a:ext cx="571500" cy="1047900"/>
            </a:xfrm>
            <a:prstGeom prst="roundRect">
              <a:avLst>
                <a:gd fmla="val 6666" name="adj"/>
              </a:avLst>
            </a:prstGeom>
            <a:solidFill>
              <a:srgbClr val="B446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1" name="Google Shape;971;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B3859"/>
                  </a:solidFill>
                  <a:latin typeface="Poppins"/>
                  <a:ea typeface="Poppins"/>
                  <a:cs typeface="Poppins"/>
                  <a:sym typeface="Poppins"/>
                </a:rPr>
                <a:t>2022</a:t>
              </a:r>
              <a:endParaRPr b="1" sz="1000">
                <a:solidFill>
                  <a:srgbClr val="1B3859"/>
                </a:solidFill>
                <a:latin typeface="Poppins"/>
                <a:ea typeface="Poppins"/>
                <a:cs typeface="Poppins"/>
                <a:sym typeface="Poppins"/>
              </a:endParaRPr>
            </a:p>
            <a:p>
              <a:pPr indent="0" lvl="0" marL="0" rtl="0" algn="ctr">
                <a:spcBef>
                  <a:spcPts val="900"/>
                </a:spcBef>
                <a:spcAft>
                  <a:spcPts val="0"/>
                </a:spcAft>
                <a:buNone/>
              </a:pPr>
              <a:r>
                <a:rPr b="0" lang="en" sz="1500">
                  <a:solidFill>
                    <a:srgbClr val="B44647"/>
                  </a:solidFill>
                  <a:latin typeface="Poppins ExtraBold"/>
                  <a:ea typeface="Poppins ExtraBold"/>
                  <a:cs typeface="Poppins ExtraBold"/>
                  <a:sym typeface="Poppins ExtraBold"/>
                </a:rPr>
                <a:t>6.5%</a:t>
              </a:r>
              <a:endParaRPr b="0" sz="1500">
                <a:solidFill>
                  <a:srgbClr val="B44647"/>
                </a:solidFill>
                <a:latin typeface="Poppins ExtraBold"/>
                <a:ea typeface="Poppins ExtraBold"/>
                <a:cs typeface="Poppins ExtraBold"/>
                <a:sym typeface="Poppins ExtraBold"/>
              </a:endParaRPr>
            </a:p>
          </p:txBody>
        </p:sp>
      </p:grpSp>
      <p:grpSp>
        <p:nvGrpSpPr>
          <p:cNvPr id="972" name="Google Shape;972;p53"/>
          <p:cNvGrpSpPr/>
          <p:nvPr/>
        </p:nvGrpSpPr>
        <p:grpSpPr>
          <a:xfrm>
            <a:off x="1219200" y="1333500"/>
            <a:ext cx="723900" cy="3162450"/>
            <a:chOff x="0" y="0"/>
            <a:chExt cx="723900" cy="3162450"/>
          </a:xfrm>
        </p:grpSpPr>
        <p:sp>
          <p:nvSpPr>
            <p:cNvPr id="973" name="Google Shape;973;p53"/>
            <p:cNvSpPr/>
            <p:nvPr/>
          </p:nvSpPr>
          <p:spPr>
            <a:xfrm>
              <a:off x="0" y="0"/>
              <a:ext cx="723900" cy="2571900"/>
            </a:xfrm>
            <a:prstGeom prst="roundRect">
              <a:avLst>
                <a:gd fmla="val 1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4" name="Google Shape;974;p53"/>
            <p:cNvSpPr/>
            <p:nvPr/>
          </p:nvSpPr>
          <p:spPr>
            <a:xfrm>
              <a:off x="76200" y="2609850"/>
              <a:ext cx="571500" cy="552600"/>
            </a:xfrm>
            <a:prstGeom prst="roundRect">
              <a:avLst>
                <a:gd fmla="val 6896"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5" name="Google Shape;975;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B3859"/>
                  </a:solidFill>
                  <a:latin typeface="Poppins"/>
                  <a:ea typeface="Poppins"/>
                  <a:cs typeface="Poppins"/>
                  <a:sym typeface="Poppins"/>
                </a:rPr>
                <a:t>2023</a:t>
              </a:r>
              <a:endParaRPr b="1" sz="1000">
                <a:solidFill>
                  <a:srgbClr val="1B3859"/>
                </a:solidFill>
                <a:latin typeface="Poppins"/>
                <a:ea typeface="Poppins"/>
                <a:cs typeface="Poppins"/>
                <a:sym typeface="Poppins"/>
              </a:endParaRPr>
            </a:p>
            <a:p>
              <a:pPr indent="0" lvl="0" marL="0" rtl="0" algn="ctr">
                <a:spcBef>
                  <a:spcPts val="900"/>
                </a:spcBef>
                <a:spcAft>
                  <a:spcPts val="0"/>
                </a:spcAft>
                <a:buNone/>
              </a:pPr>
              <a:r>
                <a:rPr b="0" lang="en" sz="1500">
                  <a:solidFill>
                    <a:srgbClr val="346F90"/>
                  </a:solidFill>
                  <a:latin typeface="Poppins ExtraBold"/>
                  <a:ea typeface="Poppins ExtraBold"/>
                  <a:cs typeface="Poppins ExtraBold"/>
                  <a:sym typeface="Poppins ExtraBold"/>
                </a:rPr>
                <a:t>3.4%</a:t>
              </a:r>
              <a:endParaRPr b="0" sz="1500">
                <a:solidFill>
                  <a:srgbClr val="346F90"/>
                </a:solidFill>
                <a:latin typeface="Poppins ExtraBold"/>
                <a:ea typeface="Poppins ExtraBold"/>
                <a:cs typeface="Poppins ExtraBold"/>
                <a:sym typeface="Poppins ExtraBold"/>
              </a:endParaRPr>
            </a:p>
          </p:txBody>
        </p:sp>
      </p:grpSp>
      <p:grpSp>
        <p:nvGrpSpPr>
          <p:cNvPr id="976" name="Google Shape;976;p53"/>
          <p:cNvGrpSpPr/>
          <p:nvPr/>
        </p:nvGrpSpPr>
        <p:grpSpPr>
          <a:xfrm>
            <a:off x="2057400" y="1333500"/>
            <a:ext cx="723900" cy="3162375"/>
            <a:chOff x="0" y="0"/>
            <a:chExt cx="723900" cy="3162375"/>
          </a:xfrm>
        </p:grpSpPr>
        <p:sp>
          <p:nvSpPr>
            <p:cNvPr id="977" name="Google Shape;977;p53"/>
            <p:cNvSpPr/>
            <p:nvPr/>
          </p:nvSpPr>
          <p:spPr>
            <a:xfrm>
              <a:off x="0" y="0"/>
              <a:ext cx="723900" cy="2571900"/>
            </a:xfrm>
            <a:prstGeom prst="roundRect">
              <a:avLst>
                <a:gd fmla="val 1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8" name="Google Shape;978;p53"/>
            <p:cNvSpPr/>
            <p:nvPr/>
          </p:nvSpPr>
          <p:spPr>
            <a:xfrm>
              <a:off x="76200" y="2695575"/>
              <a:ext cx="571500" cy="466800"/>
            </a:xfrm>
            <a:prstGeom prst="roundRect">
              <a:avLst>
                <a:gd fmla="val 8163"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9" name="Google Shape;979;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B3859"/>
                  </a:solidFill>
                  <a:latin typeface="Poppins"/>
                  <a:ea typeface="Poppins"/>
                  <a:cs typeface="Poppins"/>
                  <a:sym typeface="Poppins"/>
                </a:rPr>
                <a:t>2024</a:t>
              </a:r>
              <a:endParaRPr b="1" sz="1000">
                <a:solidFill>
                  <a:srgbClr val="1B3859"/>
                </a:solidFill>
                <a:latin typeface="Poppins"/>
                <a:ea typeface="Poppins"/>
                <a:cs typeface="Poppins"/>
                <a:sym typeface="Poppins"/>
              </a:endParaRPr>
            </a:p>
            <a:p>
              <a:pPr indent="0" lvl="0" marL="0" rtl="0" algn="ctr">
                <a:spcBef>
                  <a:spcPts val="900"/>
                </a:spcBef>
                <a:spcAft>
                  <a:spcPts val="0"/>
                </a:spcAft>
                <a:buNone/>
              </a:pPr>
              <a:r>
                <a:rPr b="0" lang="en" sz="1500">
                  <a:solidFill>
                    <a:srgbClr val="346F90"/>
                  </a:solidFill>
                  <a:latin typeface="Poppins ExtraBold"/>
                  <a:ea typeface="Poppins ExtraBold"/>
                  <a:cs typeface="Poppins ExtraBold"/>
                  <a:sym typeface="Poppins ExtraBold"/>
                </a:rPr>
                <a:t>2.9%</a:t>
              </a:r>
              <a:endParaRPr b="0" sz="1500">
                <a:solidFill>
                  <a:srgbClr val="346F90"/>
                </a:solidFill>
                <a:latin typeface="Poppins ExtraBold"/>
                <a:ea typeface="Poppins ExtraBold"/>
                <a:cs typeface="Poppins ExtraBold"/>
                <a:sym typeface="Poppins ExtraBold"/>
              </a:endParaRPr>
            </a:p>
          </p:txBody>
        </p:sp>
      </p:grpSp>
      <p:grpSp>
        <p:nvGrpSpPr>
          <p:cNvPr id="980" name="Google Shape;980;p53"/>
          <p:cNvGrpSpPr/>
          <p:nvPr/>
        </p:nvGrpSpPr>
        <p:grpSpPr>
          <a:xfrm>
            <a:off x="2895600" y="1333500"/>
            <a:ext cx="723900" cy="3162450"/>
            <a:chOff x="0" y="0"/>
            <a:chExt cx="723900" cy="3162450"/>
          </a:xfrm>
        </p:grpSpPr>
        <p:sp>
          <p:nvSpPr>
            <p:cNvPr id="981" name="Google Shape;981;p53"/>
            <p:cNvSpPr/>
            <p:nvPr/>
          </p:nvSpPr>
          <p:spPr>
            <a:xfrm>
              <a:off x="0" y="0"/>
              <a:ext cx="723900" cy="2571900"/>
            </a:xfrm>
            <a:prstGeom prst="roundRect">
              <a:avLst>
                <a:gd fmla="val 1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2" name="Google Shape;982;p53"/>
            <p:cNvSpPr/>
            <p:nvPr/>
          </p:nvSpPr>
          <p:spPr>
            <a:xfrm>
              <a:off x="76200" y="2724150"/>
              <a:ext cx="571500" cy="438300"/>
            </a:xfrm>
            <a:prstGeom prst="roundRect">
              <a:avLst>
                <a:gd fmla="val 8695"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3" name="Google Shape;983;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B3859"/>
                  </a:solidFill>
                  <a:latin typeface="Poppins"/>
                  <a:ea typeface="Poppins"/>
                  <a:cs typeface="Poppins"/>
                  <a:sym typeface="Poppins"/>
                </a:rPr>
                <a:t>2025</a:t>
              </a:r>
              <a:endParaRPr b="1" sz="1000">
                <a:solidFill>
                  <a:srgbClr val="1B3859"/>
                </a:solidFill>
                <a:latin typeface="Poppins"/>
                <a:ea typeface="Poppins"/>
                <a:cs typeface="Poppins"/>
                <a:sym typeface="Poppins"/>
              </a:endParaRPr>
            </a:p>
            <a:p>
              <a:pPr indent="0" lvl="0" marL="0" rtl="0" algn="ctr">
                <a:spcBef>
                  <a:spcPts val="900"/>
                </a:spcBef>
                <a:spcAft>
                  <a:spcPts val="0"/>
                </a:spcAft>
                <a:buNone/>
              </a:pPr>
              <a:r>
                <a:rPr b="0" lang="en" sz="1500">
                  <a:solidFill>
                    <a:srgbClr val="346F90"/>
                  </a:solidFill>
                  <a:latin typeface="Poppins ExtraBold"/>
                  <a:ea typeface="Poppins ExtraBold"/>
                  <a:cs typeface="Poppins ExtraBold"/>
                  <a:sym typeface="Poppins ExtraBold"/>
                </a:rPr>
                <a:t>2.7%</a:t>
              </a:r>
              <a:endParaRPr b="0" sz="1500">
                <a:solidFill>
                  <a:srgbClr val="346F90"/>
                </a:solidFill>
                <a:latin typeface="Poppins ExtraBold"/>
                <a:ea typeface="Poppins ExtraBold"/>
                <a:cs typeface="Poppins ExtraBold"/>
                <a:sym typeface="Poppins ExtraBold"/>
              </a:endParaRPr>
            </a:p>
          </p:txBody>
        </p:sp>
      </p:grpSp>
      <p:grpSp>
        <p:nvGrpSpPr>
          <p:cNvPr id="984" name="Google Shape;984;p53"/>
          <p:cNvGrpSpPr/>
          <p:nvPr/>
        </p:nvGrpSpPr>
        <p:grpSpPr>
          <a:xfrm>
            <a:off x="3733800" y="1333500"/>
            <a:ext cx="723900" cy="3162225"/>
            <a:chOff x="0" y="0"/>
            <a:chExt cx="723900" cy="3162225"/>
          </a:xfrm>
        </p:grpSpPr>
        <p:sp>
          <p:nvSpPr>
            <p:cNvPr id="985" name="Google Shape;985;p53"/>
            <p:cNvSpPr/>
            <p:nvPr/>
          </p:nvSpPr>
          <p:spPr>
            <a:xfrm>
              <a:off x="0" y="0"/>
              <a:ext cx="723900" cy="2571900"/>
            </a:xfrm>
            <a:prstGeom prst="roundRect">
              <a:avLst>
                <a:gd fmla="val 1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6" name="Google Shape;986;p53"/>
            <p:cNvSpPr/>
            <p:nvPr/>
          </p:nvSpPr>
          <p:spPr>
            <a:xfrm>
              <a:off x="76200" y="2714625"/>
              <a:ext cx="571500" cy="447600"/>
            </a:xfrm>
            <a:prstGeom prst="roundRect">
              <a:avLst>
                <a:gd fmla="val 851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7" name="Google Shape;987;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B3859"/>
                  </a:solidFill>
                  <a:latin typeface="Poppins"/>
                  <a:ea typeface="Poppins"/>
                  <a:cs typeface="Poppins"/>
                  <a:sym typeface="Poppins"/>
                </a:rPr>
                <a:t>2026</a:t>
              </a:r>
              <a:endParaRPr b="1" sz="1000">
                <a:solidFill>
                  <a:srgbClr val="1B3859"/>
                </a:solidFill>
                <a:latin typeface="Poppins"/>
                <a:ea typeface="Poppins"/>
                <a:cs typeface="Poppins"/>
                <a:sym typeface="Poppins"/>
              </a:endParaRPr>
            </a:p>
            <a:p>
              <a:pPr indent="0" lvl="0" marL="0" rtl="0" algn="ctr">
                <a:spcBef>
                  <a:spcPts val="900"/>
                </a:spcBef>
                <a:spcAft>
                  <a:spcPts val="0"/>
                </a:spcAft>
                <a:buNone/>
              </a:pPr>
              <a:r>
                <a:rPr b="0" lang="en" sz="1500">
                  <a:solidFill>
                    <a:srgbClr val="346F90"/>
                  </a:solidFill>
                  <a:latin typeface="Poppins ExtraBold"/>
                  <a:ea typeface="Poppins ExtraBold"/>
                  <a:cs typeface="Poppins ExtraBold"/>
                  <a:sym typeface="Poppins ExtraBold"/>
                </a:rPr>
                <a:t>2.8%</a:t>
              </a:r>
              <a:endParaRPr b="0" sz="1500">
                <a:solidFill>
                  <a:srgbClr val="346F90"/>
                </a:solidFill>
                <a:latin typeface="Poppins ExtraBold"/>
                <a:ea typeface="Poppins ExtraBold"/>
                <a:cs typeface="Poppins ExtraBold"/>
                <a:sym typeface="Poppins ExtraBold"/>
              </a:endParaRPr>
            </a:p>
          </p:txBody>
        </p:sp>
      </p:grpSp>
      <p:grpSp>
        <p:nvGrpSpPr>
          <p:cNvPr id="988" name="Google Shape;988;p53"/>
          <p:cNvGrpSpPr/>
          <p:nvPr/>
        </p:nvGrpSpPr>
        <p:grpSpPr>
          <a:xfrm>
            <a:off x="4686300" y="1333500"/>
            <a:ext cx="723900" cy="3162375"/>
            <a:chOff x="0" y="0"/>
            <a:chExt cx="723900" cy="3162375"/>
          </a:xfrm>
        </p:grpSpPr>
        <p:sp>
          <p:nvSpPr>
            <p:cNvPr id="989" name="Google Shape;989;p53"/>
            <p:cNvSpPr/>
            <p:nvPr/>
          </p:nvSpPr>
          <p:spPr>
            <a:xfrm>
              <a:off x="0" y="0"/>
              <a:ext cx="723900" cy="2571900"/>
            </a:xfrm>
            <a:prstGeom prst="roundRect">
              <a:avLst>
                <a:gd fmla="val 13157" name="adj"/>
              </a:avLst>
            </a:prstGeom>
            <a:solidFill>
              <a:srgbClr val="FFFDF5"/>
            </a:solidFill>
            <a:ln cap="flat" cmpd="sng" w="1430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0" name="Google Shape;990;p53"/>
            <p:cNvSpPr/>
            <p:nvPr/>
          </p:nvSpPr>
          <p:spPr>
            <a:xfrm>
              <a:off x="76200" y="2771775"/>
              <a:ext cx="571500" cy="390600"/>
            </a:xfrm>
            <a:prstGeom prst="roundRect">
              <a:avLst>
                <a:gd fmla="val 9756"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1" name="Google Shape;991;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92400E"/>
                  </a:solidFill>
                  <a:latin typeface="Poppins"/>
                  <a:ea typeface="Poppins"/>
                  <a:cs typeface="Poppins"/>
                  <a:sym typeface="Poppins"/>
                </a:rPr>
                <a:t>2027</a:t>
              </a:r>
              <a:endParaRPr b="1" sz="1000">
                <a:solidFill>
                  <a:srgbClr val="92400E"/>
                </a:solidFill>
                <a:latin typeface="Poppins"/>
                <a:ea typeface="Poppins"/>
                <a:cs typeface="Poppins"/>
                <a:sym typeface="Poppins"/>
              </a:endParaRPr>
            </a:p>
            <a:p>
              <a:pPr indent="0" lvl="0" marL="0" rtl="0" algn="ctr">
                <a:spcBef>
                  <a:spcPts val="150"/>
                </a:spcBef>
                <a:spcAft>
                  <a:spcPts val="0"/>
                </a:spcAft>
                <a:buNone/>
              </a:pPr>
              <a:r>
                <a:rPr b="0" lang="en" sz="750">
                  <a:solidFill>
                    <a:srgbClr val="D97706"/>
                  </a:solidFill>
                  <a:latin typeface="Poppins SemiBold"/>
                  <a:ea typeface="Poppins SemiBold"/>
                  <a:cs typeface="Poppins SemiBold"/>
                  <a:sym typeface="Poppins SemiBold"/>
                </a:rPr>
                <a:t>(Est.)</a:t>
              </a:r>
              <a:endParaRPr b="0" sz="750">
                <a:solidFill>
                  <a:srgbClr val="D97706"/>
                </a:solidFill>
                <a:latin typeface="Poppins SemiBold"/>
                <a:ea typeface="Poppins SemiBold"/>
                <a:cs typeface="Poppins SemiBold"/>
                <a:sym typeface="Poppins SemiBold"/>
              </a:endParaRPr>
            </a:p>
            <a:p>
              <a:pPr indent="0" lvl="0" marL="0" rtl="0" algn="ctr">
                <a:spcBef>
                  <a:spcPts val="600"/>
                </a:spcBef>
                <a:spcAft>
                  <a:spcPts val="0"/>
                </a:spcAft>
                <a:buNone/>
              </a:pPr>
              <a:r>
                <a:rPr b="0" lang="en" sz="1500">
                  <a:solidFill>
                    <a:srgbClr val="BE8D26"/>
                  </a:solidFill>
                  <a:latin typeface="Poppins ExtraBold"/>
                  <a:ea typeface="Poppins ExtraBold"/>
                  <a:cs typeface="Poppins ExtraBold"/>
                  <a:sym typeface="Poppins ExtraBold"/>
                </a:rPr>
                <a:t>2.4%</a:t>
              </a:r>
              <a:endParaRPr b="0" sz="1500">
                <a:solidFill>
                  <a:srgbClr val="BE8D26"/>
                </a:solidFill>
                <a:latin typeface="Poppins ExtraBold"/>
                <a:ea typeface="Poppins ExtraBold"/>
                <a:cs typeface="Poppins ExtraBold"/>
                <a:sym typeface="Poppins ExtraBold"/>
              </a:endParaRPr>
            </a:p>
          </p:txBody>
        </p:sp>
      </p:grpSp>
      <p:grpSp>
        <p:nvGrpSpPr>
          <p:cNvPr id="992" name="Google Shape;992;p53"/>
          <p:cNvGrpSpPr/>
          <p:nvPr/>
        </p:nvGrpSpPr>
        <p:grpSpPr>
          <a:xfrm>
            <a:off x="5524500" y="1333500"/>
            <a:ext cx="723900" cy="3162450"/>
            <a:chOff x="0" y="0"/>
            <a:chExt cx="723900" cy="3162450"/>
          </a:xfrm>
        </p:grpSpPr>
        <p:sp>
          <p:nvSpPr>
            <p:cNvPr id="993" name="Google Shape;993;p53"/>
            <p:cNvSpPr/>
            <p:nvPr/>
          </p:nvSpPr>
          <p:spPr>
            <a:xfrm>
              <a:off x="0" y="0"/>
              <a:ext cx="723900" cy="2571900"/>
            </a:xfrm>
            <a:prstGeom prst="roundRect">
              <a:avLst>
                <a:gd fmla="val 13157" name="adj"/>
              </a:avLst>
            </a:prstGeom>
            <a:solidFill>
              <a:srgbClr val="FFFDF5"/>
            </a:solidFill>
            <a:ln cap="flat" cmpd="sng" w="1430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4" name="Google Shape;994;p53"/>
            <p:cNvSpPr/>
            <p:nvPr/>
          </p:nvSpPr>
          <p:spPr>
            <a:xfrm>
              <a:off x="76200" y="2724150"/>
              <a:ext cx="571500" cy="438300"/>
            </a:xfrm>
            <a:prstGeom prst="roundRect">
              <a:avLst>
                <a:gd fmla="val 8695"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5" name="Google Shape;995;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92400E"/>
                  </a:solidFill>
                  <a:latin typeface="Poppins"/>
                  <a:ea typeface="Poppins"/>
                  <a:cs typeface="Poppins"/>
                  <a:sym typeface="Poppins"/>
                </a:rPr>
                <a:t>2028</a:t>
              </a:r>
              <a:endParaRPr b="1" sz="1000">
                <a:solidFill>
                  <a:srgbClr val="92400E"/>
                </a:solidFill>
                <a:latin typeface="Poppins"/>
                <a:ea typeface="Poppins"/>
                <a:cs typeface="Poppins"/>
                <a:sym typeface="Poppins"/>
              </a:endParaRPr>
            </a:p>
            <a:p>
              <a:pPr indent="0" lvl="0" marL="0" rtl="0" algn="ctr">
                <a:spcBef>
                  <a:spcPts val="150"/>
                </a:spcBef>
                <a:spcAft>
                  <a:spcPts val="0"/>
                </a:spcAft>
                <a:buNone/>
              </a:pPr>
              <a:r>
                <a:rPr b="0" lang="en" sz="750">
                  <a:solidFill>
                    <a:srgbClr val="D97706"/>
                  </a:solidFill>
                  <a:latin typeface="Poppins SemiBold"/>
                  <a:ea typeface="Poppins SemiBold"/>
                  <a:cs typeface="Poppins SemiBold"/>
                  <a:sym typeface="Poppins SemiBold"/>
                </a:rPr>
                <a:t>(Est.)</a:t>
              </a:r>
              <a:endParaRPr b="0" sz="750">
                <a:solidFill>
                  <a:srgbClr val="D97706"/>
                </a:solidFill>
                <a:latin typeface="Poppins SemiBold"/>
                <a:ea typeface="Poppins SemiBold"/>
                <a:cs typeface="Poppins SemiBold"/>
                <a:sym typeface="Poppins SemiBold"/>
              </a:endParaRPr>
            </a:p>
            <a:p>
              <a:pPr indent="0" lvl="0" marL="0" rtl="0" algn="ctr">
                <a:spcBef>
                  <a:spcPts val="600"/>
                </a:spcBef>
                <a:spcAft>
                  <a:spcPts val="0"/>
                </a:spcAft>
                <a:buNone/>
              </a:pPr>
              <a:r>
                <a:rPr b="0" lang="en" sz="1500">
                  <a:solidFill>
                    <a:srgbClr val="BE8D26"/>
                  </a:solidFill>
                  <a:latin typeface="Poppins ExtraBold"/>
                  <a:ea typeface="Poppins ExtraBold"/>
                  <a:cs typeface="Poppins ExtraBold"/>
                  <a:sym typeface="Poppins ExtraBold"/>
                </a:rPr>
                <a:t>2.7%</a:t>
              </a:r>
              <a:endParaRPr b="0" sz="1500">
                <a:solidFill>
                  <a:srgbClr val="BE8D26"/>
                </a:solidFill>
                <a:latin typeface="Poppins ExtraBold"/>
                <a:ea typeface="Poppins ExtraBold"/>
                <a:cs typeface="Poppins ExtraBold"/>
                <a:sym typeface="Poppins ExtraBold"/>
              </a:endParaRPr>
            </a:p>
          </p:txBody>
        </p:sp>
      </p:grpSp>
      <p:grpSp>
        <p:nvGrpSpPr>
          <p:cNvPr id="996" name="Google Shape;996;p53"/>
          <p:cNvGrpSpPr/>
          <p:nvPr/>
        </p:nvGrpSpPr>
        <p:grpSpPr>
          <a:xfrm>
            <a:off x="6362700" y="1333500"/>
            <a:ext cx="723900" cy="3162300"/>
            <a:chOff x="0" y="0"/>
            <a:chExt cx="723900" cy="3162300"/>
          </a:xfrm>
        </p:grpSpPr>
        <p:sp>
          <p:nvSpPr>
            <p:cNvPr id="997" name="Google Shape;997;p53"/>
            <p:cNvSpPr/>
            <p:nvPr/>
          </p:nvSpPr>
          <p:spPr>
            <a:xfrm>
              <a:off x="0" y="0"/>
              <a:ext cx="723900" cy="2571900"/>
            </a:xfrm>
            <a:prstGeom prst="roundRect">
              <a:avLst>
                <a:gd fmla="val 13157" name="adj"/>
              </a:avLst>
            </a:prstGeom>
            <a:solidFill>
              <a:srgbClr val="FFFDF5"/>
            </a:solidFill>
            <a:ln cap="flat" cmpd="sng" w="1430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8" name="Google Shape;998;p53"/>
            <p:cNvSpPr/>
            <p:nvPr/>
          </p:nvSpPr>
          <p:spPr>
            <a:xfrm>
              <a:off x="76200" y="2743200"/>
              <a:ext cx="571500" cy="419100"/>
            </a:xfrm>
            <a:prstGeom prst="roundRect">
              <a:avLst>
                <a:gd fmla="val 9090"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9" name="Google Shape;999;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92400E"/>
                  </a:solidFill>
                  <a:latin typeface="Poppins"/>
                  <a:ea typeface="Poppins"/>
                  <a:cs typeface="Poppins"/>
                  <a:sym typeface="Poppins"/>
                </a:rPr>
                <a:t>2029</a:t>
              </a:r>
              <a:endParaRPr b="1" sz="1000">
                <a:solidFill>
                  <a:srgbClr val="92400E"/>
                </a:solidFill>
                <a:latin typeface="Poppins"/>
                <a:ea typeface="Poppins"/>
                <a:cs typeface="Poppins"/>
                <a:sym typeface="Poppins"/>
              </a:endParaRPr>
            </a:p>
            <a:p>
              <a:pPr indent="0" lvl="0" marL="0" rtl="0" algn="ctr">
                <a:spcBef>
                  <a:spcPts val="150"/>
                </a:spcBef>
                <a:spcAft>
                  <a:spcPts val="0"/>
                </a:spcAft>
                <a:buNone/>
              </a:pPr>
              <a:r>
                <a:rPr b="0" lang="en" sz="750">
                  <a:solidFill>
                    <a:srgbClr val="D97706"/>
                  </a:solidFill>
                  <a:latin typeface="Poppins SemiBold"/>
                  <a:ea typeface="Poppins SemiBold"/>
                  <a:cs typeface="Poppins SemiBold"/>
                  <a:sym typeface="Poppins SemiBold"/>
                </a:rPr>
                <a:t>(Est.)</a:t>
              </a:r>
              <a:endParaRPr b="0" sz="750">
                <a:solidFill>
                  <a:srgbClr val="D97706"/>
                </a:solidFill>
                <a:latin typeface="Poppins SemiBold"/>
                <a:ea typeface="Poppins SemiBold"/>
                <a:cs typeface="Poppins SemiBold"/>
                <a:sym typeface="Poppins SemiBold"/>
              </a:endParaRPr>
            </a:p>
            <a:p>
              <a:pPr indent="0" lvl="0" marL="0" rtl="0" algn="ctr">
                <a:spcBef>
                  <a:spcPts val="600"/>
                </a:spcBef>
                <a:spcAft>
                  <a:spcPts val="0"/>
                </a:spcAft>
                <a:buNone/>
              </a:pPr>
              <a:r>
                <a:rPr b="0" lang="en" sz="1500">
                  <a:solidFill>
                    <a:srgbClr val="BE8D26"/>
                  </a:solidFill>
                  <a:latin typeface="Poppins ExtraBold"/>
                  <a:ea typeface="Poppins ExtraBold"/>
                  <a:cs typeface="Poppins ExtraBold"/>
                  <a:sym typeface="Poppins ExtraBold"/>
                </a:rPr>
                <a:t>2.6%</a:t>
              </a:r>
              <a:endParaRPr b="0" sz="1500">
                <a:solidFill>
                  <a:srgbClr val="BE8D26"/>
                </a:solidFill>
                <a:latin typeface="Poppins ExtraBold"/>
                <a:ea typeface="Poppins ExtraBold"/>
                <a:cs typeface="Poppins ExtraBold"/>
                <a:sym typeface="Poppins ExtraBold"/>
              </a:endParaRPr>
            </a:p>
          </p:txBody>
        </p:sp>
      </p:grpSp>
      <p:grpSp>
        <p:nvGrpSpPr>
          <p:cNvPr id="1000" name="Google Shape;1000;p53"/>
          <p:cNvGrpSpPr/>
          <p:nvPr/>
        </p:nvGrpSpPr>
        <p:grpSpPr>
          <a:xfrm>
            <a:off x="7200900" y="1333500"/>
            <a:ext cx="723900" cy="3162450"/>
            <a:chOff x="0" y="0"/>
            <a:chExt cx="723900" cy="3162450"/>
          </a:xfrm>
        </p:grpSpPr>
        <p:sp>
          <p:nvSpPr>
            <p:cNvPr id="1001" name="Google Shape;1001;p53"/>
            <p:cNvSpPr/>
            <p:nvPr/>
          </p:nvSpPr>
          <p:spPr>
            <a:xfrm>
              <a:off x="0" y="0"/>
              <a:ext cx="723900" cy="2571900"/>
            </a:xfrm>
            <a:prstGeom prst="roundRect">
              <a:avLst>
                <a:gd fmla="val 13157" name="adj"/>
              </a:avLst>
            </a:prstGeom>
            <a:solidFill>
              <a:srgbClr val="FFFDF5"/>
            </a:solidFill>
            <a:ln cap="flat" cmpd="sng" w="1430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2" name="Google Shape;1002;p53"/>
            <p:cNvSpPr/>
            <p:nvPr/>
          </p:nvSpPr>
          <p:spPr>
            <a:xfrm>
              <a:off x="76200" y="2762250"/>
              <a:ext cx="571500" cy="400200"/>
            </a:xfrm>
            <a:prstGeom prst="roundRect">
              <a:avLst>
                <a:gd fmla="val 9523"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3" name="Google Shape;1003;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92400E"/>
                  </a:solidFill>
                  <a:latin typeface="Poppins"/>
                  <a:ea typeface="Poppins"/>
                  <a:cs typeface="Poppins"/>
                  <a:sym typeface="Poppins"/>
                </a:rPr>
                <a:t>2030</a:t>
              </a:r>
              <a:endParaRPr b="1" sz="1000">
                <a:solidFill>
                  <a:srgbClr val="92400E"/>
                </a:solidFill>
                <a:latin typeface="Poppins"/>
                <a:ea typeface="Poppins"/>
                <a:cs typeface="Poppins"/>
                <a:sym typeface="Poppins"/>
              </a:endParaRPr>
            </a:p>
            <a:p>
              <a:pPr indent="0" lvl="0" marL="0" rtl="0" algn="ctr">
                <a:spcBef>
                  <a:spcPts val="150"/>
                </a:spcBef>
                <a:spcAft>
                  <a:spcPts val="0"/>
                </a:spcAft>
                <a:buNone/>
              </a:pPr>
              <a:r>
                <a:rPr b="0" lang="en" sz="750">
                  <a:solidFill>
                    <a:srgbClr val="D97706"/>
                  </a:solidFill>
                  <a:latin typeface="Poppins SemiBold"/>
                  <a:ea typeface="Poppins SemiBold"/>
                  <a:cs typeface="Poppins SemiBold"/>
                  <a:sym typeface="Poppins SemiBold"/>
                </a:rPr>
                <a:t>(Est.)</a:t>
              </a:r>
              <a:endParaRPr b="0" sz="750">
                <a:solidFill>
                  <a:srgbClr val="D97706"/>
                </a:solidFill>
                <a:latin typeface="Poppins SemiBold"/>
                <a:ea typeface="Poppins SemiBold"/>
                <a:cs typeface="Poppins SemiBold"/>
                <a:sym typeface="Poppins SemiBold"/>
              </a:endParaRPr>
            </a:p>
            <a:p>
              <a:pPr indent="0" lvl="0" marL="0" rtl="0" algn="ctr">
                <a:spcBef>
                  <a:spcPts val="600"/>
                </a:spcBef>
                <a:spcAft>
                  <a:spcPts val="0"/>
                </a:spcAft>
                <a:buNone/>
              </a:pPr>
              <a:r>
                <a:rPr b="0" lang="en" sz="1500">
                  <a:solidFill>
                    <a:srgbClr val="BE8D26"/>
                  </a:solidFill>
                  <a:latin typeface="Poppins ExtraBold"/>
                  <a:ea typeface="Poppins ExtraBold"/>
                  <a:cs typeface="Poppins ExtraBold"/>
                  <a:sym typeface="Poppins ExtraBold"/>
                </a:rPr>
                <a:t>2.5%</a:t>
              </a:r>
              <a:endParaRPr b="0" sz="1500">
                <a:solidFill>
                  <a:srgbClr val="BE8D26"/>
                </a:solidFill>
                <a:latin typeface="Poppins ExtraBold"/>
                <a:ea typeface="Poppins ExtraBold"/>
                <a:cs typeface="Poppins ExtraBold"/>
                <a:sym typeface="Poppins ExtraBold"/>
              </a:endParaRPr>
            </a:p>
          </p:txBody>
        </p:sp>
      </p:grpSp>
      <p:grpSp>
        <p:nvGrpSpPr>
          <p:cNvPr id="1004" name="Google Shape;1004;p53"/>
          <p:cNvGrpSpPr/>
          <p:nvPr/>
        </p:nvGrpSpPr>
        <p:grpSpPr>
          <a:xfrm>
            <a:off x="8039100" y="1333500"/>
            <a:ext cx="723900" cy="3162450"/>
            <a:chOff x="0" y="0"/>
            <a:chExt cx="723900" cy="3162450"/>
          </a:xfrm>
        </p:grpSpPr>
        <p:sp>
          <p:nvSpPr>
            <p:cNvPr id="1005" name="Google Shape;1005;p53"/>
            <p:cNvSpPr/>
            <p:nvPr/>
          </p:nvSpPr>
          <p:spPr>
            <a:xfrm>
              <a:off x="0" y="0"/>
              <a:ext cx="723900" cy="2571900"/>
            </a:xfrm>
            <a:prstGeom prst="roundRect">
              <a:avLst>
                <a:gd fmla="val 13157" name="adj"/>
              </a:avLst>
            </a:prstGeom>
            <a:solidFill>
              <a:srgbClr val="FFFDF5"/>
            </a:solidFill>
            <a:ln cap="flat" cmpd="sng" w="1430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6" name="Google Shape;1006;p53"/>
            <p:cNvSpPr/>
            <p:nvPr/>
          </p:nvSpPr>
          <p:spPr>
            <a:xfrm>
              <a:off x="76200" y="2762250"/>
              <a:ext cx="571500" cy="400200"/>
            </a:xfrm>
            <a:prstGeom prst="roundRect">
              <a:avLst>
                <a:gd fmla="val 9523"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7" name="Google Shape;1007;p53"/>
            <p:cNvSpPr txBox="1"/>
            <p:nvPr/>
          </p:nvSpPr>
          <p:spPr>
            <a:xfrm>
              <a:off x="0" y="95250"/>
              <a:ext cx="723900" cy="1905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92400E"/>
                  </a:solidFill>
                  <a:latin typeface="Poppins"/>
                  <a:ea typeface="Poppins"/>
                  <a:cs typeface="Poppins"/>
                  <a:sym typeface="Poppins"/>
                </a:rPr>
                <a:t>2031</a:t>
              </a:r>
              <a:endParaRPr b="1" sz="1000">
                <a:solidFill>
                  <a:srgbClr val="92400E"/>
                </a:solidFill>
                <a:latin typeface="Poppins"/>
                <a:ea typeface="Poppins"/>
                <a:cs typeface="Poppins"/>
                <a:sym typeface="Poppins"/>
              </a:endParaRPr>
            </a:p>
            <a:p>
              <a:pPr indent="0" lvl="0" marL="0" rtl="0" algn="ctr">
                <a:spcBef>
                  <a:spcPts val="150"/>
                </a:spcBef>
                <a:spcAft>
                  <a:spcPts val="0"/>
                </a:spcAft>
                <a:buNone/>
              </a:pPr>
              <a:r>
                <a:rPr b="0" lang="en" sz="750">
                  <a:solidFill>
                    <a:srgbClr val="D97706"/>
                  </a:solidFill>
                  <a:latin typeface="Poppins SemiBold"/>
                  <a:ea typeface="Poppins SemiBold"/>
                  <a:cs typeface="Poppins SemiBold"/>
                  <a:sym typeface="Poppins SemiBold"/>
                </a:rPr>
                <a:t>(Est.)</a:t>
              </a:r>
              <a:endParaRPr b="0" sz="750">
                <a:solidFill>
                  <a:srgbClr val="D97706"/>
                </a:solidFill>
                <a:latin typeface="Poppins SemiBold"/>
                <a:ea typeface="Poppins SemiBold"/>
                <a:cs typeface="Poppins SemiBold"/>
                <a:sym typeface="Poppins SemiBold"/>
              </a:endParaRPr>
            </a:p>
            <a:p>
              <a:pPr indent="0" lvl="0" marL="0" rtl="0" algn="ctr">
                <a:spcBef>
                  <a:spcPts val="600"/>
                </a:spcBef>
                <a:spcAft>
                  <a:spcPts val="0"/>
                </a:spcAft>
                <a:buNone/>
              </a:pPr>
              <a:r>
                <a:rPr b="0" lang="en" sz="1500">
                  <a:solidFill>
                    <a:srgbClr val="BE8D26"/>
                  </a:solidFill>
                  <a:latin typeface="Poppins ExtraBold"/>
                  <a:ea typeface="Poppins ExtraBold"/>
                  <a:cs typeface="Poppins ExtraBold"/>
                  <a:sym typeface="Poppins ExtraBold"/>
                </a:rPr>
                <a:t>2.5%</a:t>
              </a:r>
              <a:endParaRPr b="0" sz="1500">
                <a:solidFill>
                  <a:srgbClr val="BE8D26"/>
                </a:solidFill>
                <a:latin typeface="Poppins ExtraBold"/>
                <a:ea typeface="Poppins ExtraBold"/>
                <a:cs typeface="Poppins ExtraBold"/>
                <a:sym typeface="Poppins ExtraBold"/>
              </a:endParaRPr>
            </a:p>
          </p:txBody>
        </p:sp>
      </p:grpSp>
      <p:grpSp>
        <p:nvGrpSpPr>
          <p:cNvPr id="1008" name="Google Shape;1008;p53"/>
          <p:cNvGrpSpPr/>
          <p:nvPr/>
        </p:nvGrpSpPr>
        <p:grpSpPr>
          <a:xfrm>
            <a:off x="381000" y="4143375"/>
            <a:ext cx="8382000" cy="523800"/>
            <a:chOff x="0" y="0"/>
            <a:chExt cx="8382000" cy="523800"/>
          </a:xfrm>
        </p:grpSpPr>
        <p:sp>
          <p:nvSpPr>
            <p:cNvPr id="1009" name="Google Shape;1009;p53"/>
            <p:cNvSpPr/>
            <p:nvPr/>
          </p:nvSpPr>
          <p:spPr>
            <a:xfrm>
              <a:off x="0" y="0"/>
              <a:ext cx="8382000" cy="523800"/>
            </a:xfrm>
            <a:prstGeom prst="roundRect">
              <a:avLst>
                <a:gd fmla="val 1818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0" name="Google Shape;1010;p53"/>
            <p:cNvSpPr txBox="1"/>
            <p:nvPr/>
          </p:nvSpPr>
          <p:spPr>
            <a:xfrm>
              <a:off x="0" y="0"/>
              <a:ext cx="8382000" cy="5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Key Takeaway: Inflation peaked at 6.5% in 2022 and is projected to stabilize between 2.4% and 2.7% long-term.</a:t>
              </a:r>
              <a:endParaRPr b="1" sz="1100">
                <a:solidFill>
                  <a:srgbClr val="FFFFFF"/>
                </a:solidFill>
                <a:latin typeface="Poppins"/>
                <a:ea typeface="Poppins"/>
                <a:cs typeface="Poppins"/>
                <a:sym typeface="Poppin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p54"/>
          <p:cNvPicPr preferRelativeResize="0"/>
          <p:nvPr/>
        </p:nvPicPr>
        <p:blipFill>
          <a:blip r:embed="rId3">
            <a:alphaModFix/>
          </a:blip>
          <a:stretch>
            <a:fillRect/>
          </a:stretch>
        </p:blipFill>
        <p:spPr>
          <a:xfrm>
            <a:off x="-12" y="381350"/>
            <a:ext cx="8837724" cy="4042700"/>
          </a:xfrm>
          <a:prstGeom prst="rect">
            <a:avLst/>
          </a:prstGeom>
          <a:noFill/>
          <a:ln>
            <a:noFill/>
          </a:ln>
        </p:spPr>
      </p:pic>
      <p:sp>
        <p:nvSpPr>
          <p:cNvPr id="1016" name="Google Shape;1016;p54"/>
          <p:cNvSpPr/>
          <p:nvPr/>
        </p:nvSpPr>
        <p:spPr>
          <a:xfrm>
            <a:off x="4137900" y="3947075"/>
            <a:ext cx="1094700" cy="3402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pic>
        <p:nvPicPr>
          <p:cNvPr id="1021" name="Google Shape;1021;p55"/>
          <p:cNvPicPr preferRelativeResize="0"/>
          <p:nvPr/>
        </p:nvPicPr>
        <p:blipFill rotWithShape="1">
          <a:blip r:embed="rId3">
            <a:alphaModFix/>
          </a:blip>
          <a:srcRect b="520" l="-280" r="280" t="-520"/>
          <a:stretch/>
        </p:blipFill>
        <p:spPr>
          <a:xfrm>
            <a:off x="223025" y="203237"/>
            <a:ext cx="8697951" cy="4737024"/>
          </a:xfrm>
          <a:prstGeom prst="rect">
            <a:avLst/>
          </a:prstGeom>
          <a:noFill/>
          <a:ln>
            <a:noFill/>
          </a:ln>
        </p:spPr>
      </p:pic>
      <p:sp>
        <p:nvSpPr>
          <p:cNvPr id="1022" name="Google Shape;1022;p55"/>
          <p:cNvSpPr/>
          <p:nvPr/>
        </p:nvSpPr>
        <p:spPr>
          <a:xfrm>
            <a:off x="8049300" y="768425"/>
            <a:ext cx="1094700" cy="3402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3" name="Google Shape;1023;p55"/>
          <p:cNvSpPr/>
          <p:nvPr/>
        </p:nvSpPr>
        <p:spPr>
          <a:xfrm>
            <a:off x="7120350" y="3323850"/>
            <a:ext cx="1094700" cy="3402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55"/>
          <p:cNvSpPr/>
          <p:nvPr/>
        </p:nvSpPr>
        <p:spPr>
          <a:xfrm>
            <a:off x="7287400" y="4697000"/>
            <a:ext cx="19029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56"/>
          <p:cNvSpPr txBox="1"/>
          <p:nvPr>
            <p:ph type="title"/>
          </p:nvPr>
        </p:nvSpPr>
        <p:spPr>
          <a:xfrm>
            <a:off x="555450" y="180650"/>
            <a:ext cx="8033100" cy="2954400"/>
          </a:xfrm>
          <a:prstGeom prst="rect">
            <a:avLst/>
          </a:prstGeom>
        </p:spPr>
        <p:txBody>
          <a:bodyPr anchorCtr="0" anchor="b" bIns="68575" lIns="68575" spcFirstLastPara="1" rIns="68575" wrap="square" tIns="68575">
            <a:normAutofit/>
          </a:bodyPr>
          <a:lstStyle/>
          <a:p>
            <a:pPr indent="0" lvl="0" marL="0" rtl="0" algn="ctr">
              <a:spcBef>
                <a:spcPts val="0"/>
              </a:spcBef>
              <a:spcAft>
                <a:spcPts val="0"/>
              </a:spcAft>
              <a:buNone/>
            </a:pPr>
            <a:r>
              <a:rPr lang="en" sz="10567">
                <a:solidFill>
                  <a:srgbClr val="1B3859"/>
                </a:solidFill>
              </a:rPr>
              <a:t>$51.9 million</a:t>
            </a:r>
            <a:endParaRPr sz="10567">
              <a:solidFill>
                <a:srgbClr val="1B3859"/>
              </a:solidFill>
            </a:endParaRPr>
          </a:p>
          <a:p>
            <a:pPr indent="0" lvl="0" marL="0" rtl="0" algn="ctr">
              <a:spcBef>
                <a:spcPts val="0"/>
              </a:spcBef>
              <a:spcAft>
                <a:spcPts val="0"/>
              </a:spcAft>
              <a:buNone/>
            </a:pPr>
            <a:r>
              <a:rPr lang="en" sz="2000">
                <a:solidFill>
                  <a:srgbClr val="1B3859"/>
                </a:solidFill>
              </a:rPr>
              <a:t>Fiscal Year 2027 Approved Budget</a:t>
            </a:r>
            <a:endParaRPr sz="2000">
              <a:solidFill>
                <a:srgbClr val="1B3859"/>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57"/>
          <p:cNvSpPr txBox="1"/>
          <p:nvPr>
            <p:ph type="title"/>
          </p:nvPr>
        </p:nvSpPr>
        <p:spPr>
          <a:xfrm>
            <a:off x="555450" y="180650"/>
            <a:ext cx="8033100" cy="2954400"/>
          </a:xfrm>
          <a:prstGeom prst="rect">
            <a:avLst/>
          </a:prstGeom>
        </p:spPr>
        <p:txBody>
          <a:bodyPr anchorCtr="0" anchor="b" bIns="68575" lIns="68575" spcFirstLastPara="1" rIns="68575" wrap="square" tIns="68575">
            <a:normAutofit/>
          </a:bodyPr>
          <a:lstStyle/>
          <a:p>
            <a:pPr indent="0" lvl="0" marL="0" rtl="0" algn="ctr">
              <a:spcBef>
                <a:spcPts val="0"/>
              </a:spcBef>
              <a:spcAft>
                <a:spcPts val="0"/>
              </a:spcAft>
              <a:buNone/>
            </a:pPr>
            <a:r>
              <a:rPr lang="en" sz="10567">
                <a:solidFill>
                  <a:srgbClr val="1B3859"/>
                </a:solidFill>
              </a:rPr>
              <a:t>$55.2 million</a:t>
            </a:r>
            <a:endParaRPr sz="10567">
              <a:solidFill>
                <a:srgbClr val="1B3859"/>
              </a:solidFill>
            </a:endParaRPr>
          </a:p>
          <a:p>
            <a:pPr indent="0" lvl="0" marL="0" rtl="0" algn="ctr">
              <a:spcBef>
                <a:spcPts val="0"/>
              </a:spcBef>
              <a:spcAft>
                <a:spcPts val="0"/>
              </a:spcAft>
              <a:buNone/>
            </a:pPr>
            <a:r>
              <a:rPr lang="en" sz="2000">
                <a:solidFill>
                  <a:srgbClr val="1B3859"/>
                </a:solidFill>
              </a:rPr>
              <a:t>Fiscal Year 2028 Projected Budget</a:t>
            </a:r>
            <a:endParaRPr sz="2000">
              <a:solidFill>
                <a:srgbClr val="1B3859"/>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58"/>
          <p:cNvSpPr txBox="1"/>
          <p:nvPr>
            <p:ph type="title"/>
          </p:nvPr>
        </p:nvSpPr>
        <p:spPr>
          <a:xfrm>
            <a:off x="555450" y="180650"/>
            <a:ext cx="8033100" cy="2954400"/>
          </a:xfrm>
          <a:prstGeom prst="rect">
            <a:avLst/>
          </a:prstGeom>
        </p:spPr>
        <p:txBody>
          <a:bodyPr anchorCtr="0" anchor="b" bIns="68575" lIns="68575" spcFirstLastPara="1" rIns="68575" wrap="square" tIns="68575">
            <a:normAutofit/>
          </a:bodyPr>
          <a:lstStyle/>
          <a:p>
            <a:pPr indent="0" lvl="0" marL="0" rtl="0" algn="ctr">
              <a:spcBef>
                <a:spcPts val="0"/>
              </a:spcBef>
              <a:spcAft>
                <a:spcPts val="0"/>
              </a:spcAft>
              <a:buNone/>
            </a:pPr>
            <a:r>
              <a:rPr lang="en" sz="10567">
                <a:solidFill>
                  <a:srgbClr val="1B3859"/>
                </a:solidFill>
              </a:rPr>
              <a:t>6.4%</a:t>
            </a:r>
            <a:endParaRPr sz="10567">
              <a:solidFill>
                <a:srgbClr val="1B3859"/>
              </a:solidFill>
            </a:endParaRPr>
          </a:p>
          <a:p>
            <a:pPr indent="0" lvl="0" marL="0" rtl="0" algn="ctr">
              <a:spcBef>
                <a:spcPts val="0"/>
              </a:spcBef>
              <a:spcAft>
                <a:spcPts val="0"/>
              </a:spcAft>
              <a:buNone/>
            </a:pPr>
            <a:r>
              <a:rPr lang="en" sz="2000">
                <a:solidFill>
                  <a:srgbClr val="1B3859"/>
                </a:solidFill>
              </a:rPr>
              <a:t>Year over Year Projected Increase</a:t>
            </a:r>
            <a:endParaRPr sz="2000">
              <a:solidFill>
                <a:srgbClr val="1B385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59"/>
          <p:cNvSpPr txBox="1"/>
          <p:nvPr>
            <p:ph type="title"/>
          </p:nvPr>
        </p:nvSpPr>
        <p:spPr>
          <a:xfrm>
            <a:off x="555450" y="180650"/>
            <a:ext cx="8033100" cy="3545400"/>
          </a:xfrm>
          <a:prstGeom prst="rect">
            <a:avLst/>
          </a:prstGeom>
        </p:spPr>
        <p:txBody>
          <a:bodyPr anchorCtr="0" anchor="b" bIns="68575" lIns="68575" spcFirstLastPara="1" rIns="68575" wrap="square" tIns="68575">
            <a:normAutofit/>
          </a:bodyPr>
          <a:lstStyle/>
          <a:p>
            <a:pPr indent="0" lvl="0" marL="0" rtl="0" algn="ctr">
              <a:spcBef>
                <a:spcPts val="0"/>
              </a:spcBef>
              <a:spcAft>
                <a:spcPts val="0"/>
              </a:spcAft>
              <a:buNone/>
            </a:pPr>
            <a:r>
              <a:rPr lang="en" sz="10567">
                <a:solidFill>
                  <a:srgbClr val="1B3859"/>
                </a:solidFill>
              </a:rPr>
              <a:t>$18,714</a:t>
            </a:r>
            <a:endParaRPr sz="10567">
              <a:solidFill>
                <a:srgbClr val="1B3859"/>
              </a:solidFill>
            </a:endParaRPr>
          </a:p>
          <a:p>
            <a:pPr indent="0" lvl="0" marL="0" rtl="0" algn="ctr">
              <a:spcBef>
                <a:spcPts val="0"/>
              </a:spcBef>
              <a:spcAft>
                <a:spcPts val="0"/>
              </a:spcAft>
              <a:buNone/>
            </a:pPr>
            <a:r>
              <a:rPr lang="en" sz="2000">
                <a:solidFill>
                  <a:srgbClr val="1B3859"/>
                </a:solidFill>
              </a:rPr>
              <a:t>Projected Cost Per Pupil</a:t>
            </a:r>
            <a:endParaRPr sz="2000">
              <a:solidFill>
                <a:srgbClr val="1B3859"/>
              </a:solidFill>
            </a:endParaRPr>
          </a:p>
          <a:p>
            <a:pPr indent="0" lvl="0" marL="0" rtl="0" algn="ctr">
              <a:spcBef>
                <a:spcPts val="0"/>
              </a:spcBef>
              <a:spcAft>
                <a:spcPts val="0"/>
              </a:spcAft>
              <a:buNone/>
            </a:pPr>
            <a:r>
              <a:rPr lang="en" sz="2000">
                <a:solidFill>
                  <a:srgbClr val="DC2626"/>
                </a:solidFill>
              </a:rPr>
              <a:t>$1,071 over the excess spending threshold</a:t>
            </a:r>
            <a:endParaRPr sz="2000">
              <a:solidFill>
                <a:srgbClr val="DC2626"/>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60"/>
          <p:cNvSpPr txBox="1"/>
          <p:nvPr>
            <p:ph type="title"/>
          </p:nvPr>
        </p:nvSpPr>
        <p:spPr>
          <a:xfrm>
            <a:off x="555450" y="180650"/>
            <a:ext cx="8033100" cy="2954400"/>
          </a:xfrm>
          <a:prstGeom prst="rect">
            <a:avLst/>
          </a:prstGeom>
        </p:spPr>
        <p:txBody>
          <a:bodyPr anchorCtr="0" anchor="b" bIns="68575" lIns="68575" spcFirstLastPara="1" rIns="68575" wrap="square" tIns="68575">
            <a:normAutofit/>
          </a:bodyPr>
          <a:lstStyle/>
          <a:p>
            <a:pPr indent="0" lvl="0" marL="0" rtl="0" algn="ctr">
              <a:spcBef>
                <a:spcPts val="0"/>
              </a:spcBef>
              <a:spcAft>
                <a:spcPts val="0"/>
              </a:spcAft>
              <a:buNone/>
            </a:pPr>
            <a:r>
              <a:rPr lang="en" sz="10567">
                <a:solidFill>
                  <a:srgbClr val="1B3859"/>
                </a:solidFill>
              </a:rPr>
              <a:t>$2.7 million</a:t>
            </a:r>
            <a:endParaRPr sz="10567">
              <a:solidFill>
                <a:srgbClr val="1B3859"/>
              </a:solidFill>
            </a:endParaRPr>
          </a:p>
          <a:p>
            <a:pPr indent="0" lvl="0" marL="0" rtl="0" algn="ctr">
              <a:spcBef>
                <a:spcPts val="0"/>
              </a:spcBef>
              <a:spcAft>
                <a:spcPts val="0"/>
              </a:spcAft>
              <a:buNone/>
            </a:pPr>
            <a:r>
              <a:rPr lang="en" sz="2000">
                <a:solidFill>
                  <a:srgbClr val="1B3859"/>
                </a:solidFill>
              </a:rPr>
              <a:t>Projected Spending Penalty</a:t>
            </a:r>
            <a:endParaRPr sz="2000">
              <a:solidFill>
                <a:srgbClr val="1B385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3" name="Shape 1053"/>
        <p:cNvGrpSpPr/>
        <p:nvPr/>
      </p:nvGrpSpPr>
      <p:grpSpPr>
        <a:xfrm>
          <a:off x="0" y="0"/>
          <a:ext cx="0" cy="0"/>
          <a:chOff x="0" y="0"/>
          <a:chExt cx="0" cy="0"/>
        </a:xfrm>
      </p:grpSpPr>
      <p:sp>
        <p:nvSpPr>
          <p:cNvPr id="1054" name="Google Shape;1054;p61"/>
          <p:cNvSpPr txBox="1"/>
          <p:nvPr/>
        </p:nvSpPr>
        <p:spPr>
          <a:xfrm>
            <a:off x="178675" y="90806"/>
            <a:ext cx="6716700" cy="749400"/>
          </a:xfrm>
          <a:prstGeom prst="rect">
            <a:avLst/>
          </a:prstGeom>
          <a:noFill/>
          <a:ln>
            <a:noFill/>
          </a:ln>
        </p:spPr>
        <p:txBody>
          <a:bodyPr anchorCtr="0" anchor="t" bIns="97625" lIns="97625" spcFirstLastPara="1" rIns="97625" wrap="square" tIns="97625">
            <a:noAutofit/>
          </a:bodyPr>
          <a:lstStyle/>
          <a:p>
            <a:pPr indent="0" lvl="0" marL="0" rtl="0" algn="l">
              <a:spcBef>
                <a:spcPts val="0"/>
              </a:spcBef>
              <a:spcAft>
                <a:spcPts val="0"/>
              </a:spcAft>
              <a:buClr>
                <a:schemeClr val="dk1"/>
              </a:buClr>
              <a:buSzPts val="1175"/>
              <a:buFont typeface="Arial"/>
              <a:buNone/>
            </a:pPr>
            <a:r>
              <a:rPr lang="en" sz="3038">
                <a:solidFill>
                  <a:schemeClr val="dk1"/>
                </a:solidFill>
                <a:latin typeface="Poppins Black"/>
                <a:ea typeface="Poppins Black"/>
                <a:cs typeface="Poppins Black"/>
                <a:sym typeface="Poppins Black"/>
              </a:rPr>
              <a:t>Preliminary</a:t>
            </a:r>
            <a:r>
              <a:rPr lang="en" sz="3038">
                <a:solidFill>
                  <a:schemeClr val="dk1"/>
                </a:solidFill>
                <a:latin typeface="Poppins Black"/>
                <a:ea typeface="Poppins Black"/>
                <a:cs typeface="Poppins Black"/>
                <a:sym typeface="Poppins Black"/>
              </a:rPr>
              <a:t> </a:t>
            </a:r>
            <a:r>
              <a:rPr lang="en" sz="3038">
                <a:solidFill>
                  <a:schemeClr val="dk1"/>
                </a:solidFill>
                <a:latin typeface="Poppins Black"/>
                <a:ea typeface="Poppins Black"/>
                <a:cs typeface="Poppins Black"/>
                <a:sym typeface="Poppins Black"/>
              </a:rPr>
              <a:t>Major Cost Drivers</a:t>
            </a:r>
            <a:endParaRPr sz="3038">
              <a:solidFill>
                <a:schemeClr val="dk1"/>
              </a:solidFill>
              <a:latin typeface="Poppins Black"/>
              <a:ea typeface="Poppins Black"/>
              <a:cs typeface="Poppins Black"/>
              <a:sym typeface="Poppins Black"/>
            </a:endParaRPr>
          </a:p>
          <a:p>
            <a:pPr indent="0" lvl="0" marL="0" rtl="0" algn="l">
              <a:spcBef>
                <a:spcPts val="0"/>
              </a:spcBef>
              <a:spcAft>
                <a:spcPts val="0"/>
              </a:spcAft>
              <a:buClr>
                <a:schemeClr val="dk1"/>
              </a:buClr>
              <a:buSzPts val="1175"/>
              <a:buFont typeface="Arial"/>
              <a:buNone/>
            </a:pPr>
            <a:r>
              <a:t/>
            </a:r>
            <a:endParaRPr sz="1922">
              <a:solidFill>
                <a:schemeClr val="dk1"/>
              </a:solidFill>
              <a:latin typeface="Poppins Black"/>
              <a:ea typeface="Poppins Black"/>
              <a:cs typeface="Poppins Black"/>
              <a:sym typeface="Poppins Black"/>
            </a:endParaRPr>
          </a:p>
          <a:p>
            <a:pPr indent="0" lvl="0" marL="0" rtl="0" algn="l">
              <a:spcBef>
                <a:spcPts val="0"/>
              </a:spcBef>
              <a:spcAft>
                <a:spcPts val="0"/>
              </a:spcAft>
              <a:buNone/>
            </a:pPr>
            <a:r>
              <a:t/>
            </a:r>
            <a:endParaRPr sz="1922">
              <a:solidFill>
                <a:schemeClr val="dk1"/>
              </a:solidFill>
              <a:latin typeface="Poppins Black"/>
              <a:ea typeface="Poppins Black"/>
              <a:cs typeface="Poppins Black"/>
              <a:sym typeface="Poppins Black"/>
            </a:endParaRPr>
          </a:p>
        </p:txBody>
      </p:sp>
      <p:sp>
        <p:nvSpPr>
          <p:cNvPr id="1055" name="Google Shape;1055;p61"/>
          <p:cNvSpPr txBox="1"/>
          <p:nvPr/>
        </p:nvSpPr>
        <p:spPr>
          <a:xfrm>
            <a:off x="178675" y="773850"/>
            <a:ext cx="6826200" cy="427200"/>
          </a:xfrm>
          <a:prstGeom prst="rect">
            <a:avLst/>
          </a:prstGeom>
          <a:noFill/>
          <a:ln>
            <a:noFill/>
          </a:ln>
        </p:spPr>
        <p:txBody>
          <a:bodyPr anchorCtr="0" anchor="t" bIns="97625" lIns="97625" spcFirstLastPara="1" rIns="97625" wrap="square" tIns="97625">
            <a:spAutoFit/>
          </a:bodyPr>
          <a:lstStyle/>
          <a:p>
            <a:pPr indent="0" lvl="0" marL="0" rtl="0" algn="l">
              <a:spcBef>
                <a:spcPts val="0"/>
              </a:spcBef>
              <a:spcAft>
                <a:spcPts val="0"/>
              </a:spcAft>
              <a:buNone/>
            </a:pPr>
            <a:r>
              <a:rPr b="1" lang="en" sz="1495">
                <a:latin typeface="Poppins"/>
                <a:ea typeface="Poppins"/>
                <a:cs typeface="Poppins"/>
                <a:sym typeface="Poppins"/>
              </a:rPr>
              <a:t>FY27 to FY28 | Ranked by Dollar Increase</a:t>
            </a:r>
            <a:endParaRPr b="1" sz="1495">
              <a:latin typeface="Poppins"/>
              <a:ea typeface="Poppins"/>
              <a:cs typeface="Poppins"/>
              <a:sym typeface="Poppins"/>
            </a:endParaRPr>
          </a:p>
        </p:txBody>
      </p:sp>
      <p:sp>
        <p:nvSpPr>
          <p:cNvPr id="1056" name="Google Shape;1056;p61"/>
          <p:cNvSpPr txBox="1"/>
          <p:nvPr/>
        </p:nvSpPr>
        <p:spPr>
          <a:xfrm>
            <a:off x="268958" y="1325750"/>
            <a:ext cx="513900" cy="56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B44647"/>
                </a:solidFill>
                <a:latin typeface="Poppins Black"/>
                <a:ea typeface="Poppins Black"/>
                <a:cs typeface="Poppins Black"/>
                <a:sym typeface="Poppins Black"/>
              </a:rPr>
              <a:t>1.</a:t>
            </a:r>
            <a:endParaRPr sz="2400">
              <a:solidFill>
                <a:srgbClr val="B44647"/>
              </a:solidFill>
              <a:latin typeface="Poppins Black"/>
              <a:ea typeface="Poppins Black"/>
              <a:cs typeface="Poppins Black"/>
              <a:sym typeface="Poppins Black"/>
            </a:endParaRPr>
          </a:p>
        </p:txBody>
      </p:sp>
      <p:sp>
        <p:nvSpPr>
          <p:cNvPr id="1057" name="Google Shape;1057;p61"/>
          <p:cNvSpPr txBox="1"/>
          <p:nvPr/>
        </p:nvSpPr>
        <p:spPr>
          <a:xfrm>
            <a:off x="268883" y="2115925"/>
            <a:ext cx="513900" cy="58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5982B"/>
                </a:solidFill>
                <a:latin typeface="Poppins Black"/>
                <a:ea typeface="Poppins Black"/>
                <a:cs typeface="Poppins Black"/>
                <a:sym typeface="Poppins Black"/>
              </a:rPr>
              <a:t>2.</a:t>
            </a:r>
            <a:endParaRPr sz="2400">
              <a:solidFill>
                <a:srgbClr val="F5982B"/>
              </a:solidFill>
              <a:latin typeface="Poppins Black"/>
              <a:ea typeface="Poppins Black"/>
              <a:cs typeface="Poppins Black"/>
              <a:sym typeface="Poppins Black"/>
            </a:endParaRPr>
          </a:p>
        </p:txBody>
      </p:sp>
      <p:sp>
        <p:nvSpPr>
          <p:cNvPr id="1058" name="Google Shape;1058;p61"/>
          <p:cNvSpPr txBox="1"/>
          <p:nvPr/>
        </p:nvSpPr>
        <p:spPr>
          <a:xfrm>
            <a:off x="268958" y="2870700"/>
            <a:ext cx="513900" cy="56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BE8D26"/>
                </a:solidFill>
                <a:latin typeface="Poppins Black"/>
                <a:ea typeface="Poppins Black"/>
                <a:cs typeface="Poppins Black"/>
                <a:sym typeface="Poppins Black"/>
              </a:rPr>
              <a:t>3.</a:t>
            </a:r>
            <a:endParaRPr sz="2400">
              <a:solidFill>
                <a:srgbClr val="BE8D26"/>
              </a:solidFill>
              <a:latin typeface="Poppins Black"/>
              <a:ea typeface="Poppins Black"/>
              <a:cs typeface="Poppins Black"/>
              <a:sym typeface="Poppins Black"/>
            </a:endParaRPr>
          </a:p>
        </p:txBody>
      </p:sp>
      <p:sp>
        <p:nvSpPr>
          <p:cNvPr id="1059" name="Google Shape;1059;p61"/>
          <p:cNvSpPr txBox="1"/>
          <p:nvPr/>
        </p:nvSpPr>
        <p:spPr>
          <a:xfrm>
            <a:off x="268958" y="3621775"/>
            <a:ext cx="513900" cy="58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44AA68"/>
                </a:solidFill>
                <a:latin typeface="Poppins Black"/>
                <a:ea typeface="Poppins Black"/>
                <a:cs typeface="Poppins Black"/>
                <a:sym typeface="Poppins Black"/>
              </a:rPr>
              <a:t>4.</a:t>
            </a:r>
            <a:endParaRPr sz="2400">
              <a:solidFill>
                <a:srgbClr val="44AA68"/>
              </a:solidFill>
              <a:latin typeface="Poppins Black"/>
              <a:ea typeface="Poppins Black"/>
              <a:cs typeface="Poppins Black"/>
              <a:sym typeface="Poppins Black"/>
            </a:endParaRPr>
          </a:p>
        </p:txBody>
      </p:sp>
      <p:sp>
        <p:nvSpPr>
          <p:cNvPr id="1060" name="Google Shape;1060;p61"/>
          <p:cNvSpPr txBox="1"/>
          <p:nvPr/>
        </p:nvSpPr>
        <p:spPr>
          <a:xfrm>
            <a:off x="693724" y="1290066"/>
            <a:ext cx="37314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Poppins ExtraBold"/>
                <a:ea typeface="Poppins ExtraBold"/>
                <a:cs typeface="Poppins ExtraBold"/>
                <a:sym typeface="Poppins ExtraBold"/>
              </a:rPr>
              <a:t>District Wide Salaries </a:t>
            </a:r>
            <a:endParaRPr sz="1500">
              <a:solidFill>
                <a:schemeClr val="dk1"/>
              </a:solidFill>
              <a:latin typeface="Poppins ExtraBold"/>
              <a:ea typeface="Poppins ExtraBold"/>
              <a:cs typeface="Poppins ExtraBold"/>
              <a:sym typeface="Poppins ExtraBold"/>
            </a:endParaRPr>
          </a:p>
          <a:p>
            <a:pPr indent="0" lvl="0" marL="0" rtl="0" algn="l">
              <a:spcBef>
                <a:spcPts val="0"/>
              </a:spcBef>
              <a:spcAft>
                <a:spcPts val="0"/>
              </a:spcAft>
              <a:buNone/>
            </a:pPr>
            <a:r>
              <a:rPr lang="en" sz="900">
                <a:solidFill>
                  <a:schemeClr val="dk1"/>
                </a:solidFill>
                <a:latin typeface="Poppins"/>
                <a:ea typeface="Poppins"/>
                <a:cs typeface="Poppins"/>
                <a:sym typeface="Poppins"/>
              </a:rPr>
              <a:t>Negotiated agreements for Teachers, Support Staff and for non-unioned support staff</a:t>
            </a:r>
            <a:endParaRPr sz="900">
              <a:solidFill>
                <a:schemeClr val="dk1"/>
              </a:solidFill>
              <a:latin typeface="Poppins"/>
              <a:ea typeface="Poppins"/>
              <a:cs typeface="Poppins"/>
              <a:sym typeface="Poppins"/>
            </a:endParaRPr>
          </a:p>
        </p:txBody>
      </p:sp>
      <p:sp>
        <p:nvSpPr>
          <p:cNvPr id="1061" name="Google Shape;1061;p61"/>
          <p:cNvSpPr txBox="1"/>
          <p:nvPr/>
        </p:nvSpPr>
        <p:spPr>
          <a:xfrm>
            <a:off x="693725" y="2115922"/>
            <a:ext cx="5063700" cy="4887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0" lang="en" sz="1500">
                <a:solidFill>
                  <a:srgbClr val="000000"/>
                </a:solidFill>
                <a:latin typeface="Poppins ExtraBold"/>
                <a:ea typeface="Poppins ExtraBold"/>
                <a:cs typeface="Poppins ExtraBold"/>
                <a:sym typeface="Poppins ExtraBold"/>
              </a:rPr>
              <a:t>Health Care Costs</a:t>
            </a:r>
            <a:endParaRPr b="0" sz="1500">
              <a:solidFill>
                <a:srgbClr val="000000"/>
              </a:solidFill>
              <a:latin typeface="Poppins ExtraBold"/>
              <a:ea typeface="Poppins ExtraBold"/>
              <a:cs typeface="Poppins ExtraBold"/>
              <a:sym typeface="Poppins ExtraBold"/>
            </a:endParaRPr>
          </a:p>
        </p:txBody>
      </p:sp>
      <p:sp>
        <p:nvSpPr>
          <p:cNvPr id="1062" name="Google Shape;1062;p61"/>
          <p:cNvSpPr txBox="1"/>
          <p:nvPr/>
        </p:nvSpPr>
        <p:spPr>
          <a:xfrm>
            <a:off x="693725" y="2870702"/>
            <a:ext cx="5063700" cy="4887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0" lang="en" sz="1163">
                <a:solidFill>
                  <a:srgbClr val="000000"/>
                </a:solidFill>
                <a:latin typeface="Poppins ExtraBold"/>
                <a:ea typeface="Poppins ExtraBold"/>
                <a:cs typeface="Poppins ExtraBold"/>
                <a:sym typeface="Poppins ExtraBold"/>
              </a:rPr>
              <a:t>SPECIAL EDUCATION Costs (K-12)</a:t>
            </a:r>
            <a:endParaRPr b="0" sz="1163">
              <a:solidFill>
                <a:srgbClr val="000000"/>
              </a:solidFill>
              <a:latin typeface="Poppins ExtraBold"/>
              <a:ea typeface="Poppins ExtraBold"/>
              <a:cs typeface="Poppins ExtraBold"/>
              <a:sym typeface="Poppins ExtraBold"/>
            </a:endParaRPr>
          </a:p>
          <a:p>
            <a:pPr indent="0" lvl="0" marL="0" rtl="0" algn="l">
              <a:spcBef>
                <a:spcPts val="0"/>
              </a:spcBef>
              <a:spcAft>
                <a:spcPts val="0"/>
              </a:spcAft>
              <a:buNone/>
            </a:pPr>
            <a:r>
              <a:rPr b="0" lang="en" sz="698">
                <a:solidFill>
                  <a:srgbClr val="000000"/>
                </a:solidFill>
                <a:latin typeface="Poppins"/>
                <a:ea typeface="Poppins"/>
                <a:cs typeface="Poppins"/>
                <a:sym typeface="Poppins"/>
              </a:rPr>
              <a:t># of IEP’s, increased costs</a:t>
            </a:r>
            <a:endParaRPr b="0" sz="698">
              <a:solidFill>
                <a:srgbClr val="000000"/>
              </a:solidFill>
              <a:latin typeface="Poppins"/>
              <a:ea typeface="Poppins"/>
              <a:cs typeface="Poppins"/>
              <a:sym typeface="Poppins"/>
            </a:endParaRPr>
          </a:p>
        </p:txBody>
      </p:sp>
      <p:sp>
        <p:nvSpPr>
          <p:cNvPr id="1063" name="Google Shape;1063;p61"/>
          <p:cNvSpPr txBox="1"/>
          <p:nvPr/>
        </p:nvSpPr>
        <p:spPr>
          <a:xfrm>
            <a:off x="693724" y="3572183"/>
            <a:ext cx="3695700" cy="5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Poppins ExtraBold"/>
                <a:ea typeface="Poppins ExtraBold"/>
                <a:cs typeface="Poppins ExtraBold"/>
                <a:sym typeface="Poppins ExtraBold"/>
              </a:rPr>
              <a:t>Transportation (General Ed )</a:t>
            </a:r>
            <a:endParaRPr sz="1500">
              <a:solidFill>
                <a:schemeClr val="dk1"/>
              </a:solidFill>
              <a:latin typeface="Poppins ExtraBold"/>
              <a:ea typeface="Poppins ExtraBold"/>
              <a:cs typeface="Poppins ExtraBold"/>
              <a:sym typeface="Poppins ExtraBold"/>
            </a:endParaRPr>
          </a:p>
          <a:p>
            <a:pPr indent="0" lvl="0" marL="0" rtl="0" algn="l">
              <a:spcBef>
                <a:spcPts val="0"/>
              </a:spcBef>
              <a:spcAft>
                <a:spcPts val="0"/>
              </a:spcAft>
              <a:buNone/>
            </a:pPr>
            <a:r>
              <a:rPr lang="en" sz="900">
                <a:solidFill>
                  <a:schemeClr val="dk1"/>
                </a:solidFill>
                <a:latin typeface="Poppins"/>
                <a:ea typeface="Poppins"/>
                <a:cs typeface="Poppins"/>
                <a:sym typeface="Poppins"/>
              </a:rPr>
              <a:t>Rural</a:t>
            </a:r>
            <a:r>
              <a:rPr i="1" lang="en" sz="900">
                <a:solidFill>
                  <a:schemeClr val="dk1"/>
                </a:solidFill>
                <a:latin typeface="Poppins"/>
                <a:ea typeface="Poppins"/>
                <a:cs typeface="Poppins"/>
                <a:sym typeface="Poppins"/>
              </a:rPr>
              <a:t> </a:t>
            </a:r>
            <a:r>
              <a:rPr lang="en" sz="900">
                <a:solidFill>
                  <a:schemeClr val="dk1"/>
                </a:solidFill>
                <a:latin typeface="Poppins"/>
                <a:ea typeface="Poppins"/>
                <a:cs typeface="Poppins"/>
                <a:sym typeface="Poppins"/>
              </a:rPr>
              <a:t>community, limited options, alternative placements transportation, homeless transportation</a:t>
            </a:r>
            <a:endParaRPr sz="900">
              <a:solidFill>
                <a:schemeClr val="dk1"/>
              </a:solidFill>
              <a:latin typeface="Poppins"/>
              <a:ea typeface="Poppins"/>
              <a:cs typeface="Poppins"/>
              <a:sym typeface="Poppins"/>
            </a:endParaRPr>
          </a:p>
        </p:txBody>
      </p:sp>
      <p:sp>
        <p:nvSpPr>
          <p:cNvPr id="1064" name="Google Shape;1064;p61"/>
          <p:cNvSpPr txBox="1"/>
          <p:nvPr/>
        </p:nvSpPr>
        <p:spPr>
          <a:xfrm>
            <a:off x="251200" y="4433417"/>
            <a:ext cx="5063700" cy="4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Poppins ExtraBold"/>
                <a:ea typeface="Poppins ExtraBold"/>
                <a:cs typeface="Poppins ExtraBold"/>
                <a:sym typeface="Poppins ExtraBold"/>
              </a:rPr>
              <a:t>Estimated</a:t>
            </a:r>
            <a:r>
              <a:rPr lang="en" sz="1700">
                <a:solidFill>
                  <a:schemeClr val="lt1"/>
                </a:solidFill>
                <a:latin typeface="Poppins ExtraBold"/>
                <a:ea typeface="Poppins ExtraBold"/>
                <a:cs typeface="Poppins ExtraBold"/>
                <a:sym typeface="Poppins ExtraBold"/>
              </a:rPr>
              <a:t>  increase</a:t>
            </a:r>
            <a:r>
              <a:rPr lang="en" sz="1900">
                <a:solidFill>
                  <a:schemeClr val="lt1"/>
                </a:solidFill>
                <a:latin typeface="Poppins ExtraBold"/>
                <a:ea typeface="Poppins ExtraBold"/>
                <a:cs typeface="Poppins ExtraBold"/>
                <a:sym typeface="Poppins ExtraBold"/>
              </a:rPr>
              <a:t>: $3,339,273</a:t>
            </a:r>
            <a:endParaRPr sz="1900">
              <a:solidFill>
                <a:schemeClr val="lt1"/>
              </a:solidFill>
              <a:latin typeface="Poppins"/>
              <a:ea typeface="Poppins"/>
              <a:cs typeface="Poppins"/>
              <a:sym typeface="Poppins"/>
            </a:endParaRPr>
          </a:p>
        </p:txBody>
      </p:sp>
      <p:sp>
        <p:nvSpPr>
          <p:cNvPr id="1065" name="Google Shape;1065;p61"/>
          <p:cNvSpPr txBox="1"/>
          <p:nvPr/>
        </p:nvSpPr>
        <p:spPr>
          <a:xfrm>
            <a:off x="3994950" y="1360825"/>
            <a:ext cx="2900400" cy="488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rgbClr val="B44647"/>
                </a:solidFill>
                <a:latin typeface="Poppins Black"/>
                <a:ea typeface="Poppins Black"/>
                <a:cs typeface="Poppins Black"/>
                <a:sym typeface="Poppins Black"/>
              </a:rPr>
              <a:t>$2,114,801</a:t>
            </a:r>
            <a:r>
              <a:rPr lang="en" sz="2000">
                <a:solidFill>
                  <a:srgbClr val="B44647"/>
                </a:solidFill>
                <a:latin typeface="Poppins Black"/>
                <a:ea typeface="Poppins Black"/>
                <a:cs typeface="Poppins Black"/>
                <a:sym typeface="Poppins Black"/>
              </a:rPr>
              <a:t>   </a:t>
            </a:r>
            <a:r>
              <a:rPr lang="en" sz="1600">
                <a:solidFill>
                  <a:schemeClr val="dk1"/>
                </a:solidFill>
                <a:latin typeface="Poppins"/>
                <a:ea typeface="Poppins"/>
                <a:cs typeface="Poppins"/>
                <a:sym typeface="Poppins"/>
              </a:rPr>
              <a:t>7.8%</a:t>
            </a:r>
            <a:endParaRPr sz="1600">
              <a:solidFill>
                <a:schemeClr val="dk1"/>
              </a:solidFill>
              <a:latin typeface="Poppins"/>
              <a:ea typeface="Poppins"/>
              <a:cs typeface="Poppins"/>
              <a:sym typeface="Poppins"/>
            </a:endParaRPr>
          </a:p>
        </p:txBody>
      </p:sp>
      <p:sp>
        <p:nvSpPr>
          <p:cNvPr id="1066" name="Google Shape;1066;p61"/>
          <p:cNvSpPr txBox="1"/>
          <p:nvPr/>
        </p:nvSpPr>
        <p:spPr>
          <a:xfrm>
            <a:off x="3886448" y="2134229"/>
            <a:ext cx="3009000" cy="4518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ctr">
              <a:spcBef>
                <a:spcPts val="0"/>
              </a:spcBef>
              <a:spcAft>
                <a:spcPts val="0"/>
              </a:spcAft>
              <a:buNone/>
            </a:pPr>
            <a:r>
              <a:rPr lang="en" sz="2300">
                <a:solidFill>
                  <a:srgbClr val="F5982B"/>
                </a:solidFill>
                <a:latin typeface="Poppins Black"/>
                <a:ea typeface="Poppins Black"/>
                <a:cs typeface="Poppins Black"/>
                <a:sym typeface="Poppins Black"/>
              </a:rPr>
              <a:t>                  </a:t>
            </a:r>
            <a:r>
              <a:rPr b="0" lang="en" sz="2300">
                <a:solidFill>
                  <a:srgbClr val="F5982B"/>
                </a:solidFill>
                <a:latin typeface="Poppins Black"/>
                <a:ea typeface="Poppins Black"/>
                <a:cs typeface="Poppins Black"/>
                <a:sym typeface="Poppins Black"/>
              </a:rPr>
              <a:t>$675,624</a:t>
            </a:r>
            <a:r>
              <a:rPr b="0" lang="en" sz="1680">
                <a:solidFill>
                  <a:srgbClr val="F5982B"/>
                </a:solidFill>
                <a:latin typeface="Poppins Black"/>
                <a:ea typeface="Poppins Black"/>
                <a:cs typeface="Poppins Black"/>
                <a:sym typeface="Poppins Black"/>
              </a:rPr>
              <a:t>   </a:t>
            </a:r>
            <a:r>
              <a:rPr b="0" lang="en" sz="1620">
                <a:solidFill>
                  <a:srgbClr val="000000"/>
                </a:solidFill>
                <a:latin typeface="Poppins"/>
                <a:ea typeface="Poppins"/>
                <a:cs typeface="Poppins"/>
                <a:sym typeface="Poppins"/>
              </a:rPr>
              <a:t>10%</a:t>
            </a:r>
            <a:endParaRPr b="0" sz="2180">
              <a:solidFill>
                <a:srgbClr val="F5982B"/>
              </a:solidFill>
              <a:latin typeface="Poppins Black"/>
              <a:ea typeface="Poppins Black"/>
              <a:cs typeface="Poppins Black"/>
              <a:sym typeface="Poppins Black"/>
            </a:endParaRPr>
          </a:p>
        </p:txBody>
      </p:sp>
      <p:sp>
        <p:nvSpPr>
          <p:cNvPr id="1067" name="Google Shape;1067;p61"/>
          <p:cNvSpPr txBox="1"/>
          <p:nvPr/>
        </p:nvSpPr>
        <p:spPr>
          <a:xfrm>
            <a:off x="3856396" y="2889580"/>
            <a:ext cx="3039000" cy="4518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ctr">
              <a:spcBef>
                <a:spcPts val="0"/>
              </a:spcBef>
              <a:spcAft>
                <a:spcPts val="0"/>
              </a:spcAft>
              <a:buNone/>
            </a:pPr>
            <a:r>
              <a:rPr lang="en" sz="2300">
                <a:solidFill>
                  <a:srgbClr val="BE8D26"/>
                </a:solidFill>
                <a:latin typeface="Poppins Black"/>
                <a:ea typeface="Poppins Black"/>
                <a:cs typeface="Poppins Black"/>
                <a:sym typeface="Poppins Black"/>
              </a:rPr>
              <a:t>                    </a:t>
            </a:r>
            <a:r>
              <a:rPr b="0" lang="en" sz="2300">
                <a:solidFill>
                  <a:srgbClr val="BE8D26"/>
                </a:solidFill>
                <a:latin typeface="Poppins Black"/>
                <a:ea typeface="Poppins Black"/>
                <a:cs typeface="Poppins Black"/>
                <a:sym typeface="Poppins Black"/>
              </a:rPr>
              <a:t>$407,122</a:t>
            </a:r>
            <a:r>
              <a:rPr b="0" lang="en" sz="1680">
                <a:solidFill>
                  <a:srgbClr val="BE8D26"/>
                </a:solidFill>
                <a:latin typeface="Poppins Black"/>
                <a:ea typeface="Poppins Black"/>
                <a:cs typeface="Poppins Black"/>
                <a:sym typeface="Poppins Black"/>
              </a:rPr>
              <a:t>   </a:t>
            </a:r>
            <a:r>
              <a:rPr b="0" lang="en" sz="1620">
                <a:solidFill>
                  <a:srgbClr val="000000"/>
                </a:solidFill>
                <a:latin typeface="Poppins"/>
                <a:ea typeface="Poppins"/>
                <a:cs typeface="Poppins"/>
                <a:sym typeface="Poppins"/>
              </a:rPr>
              <a:t>8.0%</a:t>
            </a:r>
            <a:endParaRPr b="0" sz="2180">
              <a:solidFill>
                <a:srgbClr val="BE8D26"/>
              </a:solidFill>
              <a:latin typeface="Poppins Black"/>
              <a:ea typeface="Poppins Black"/>
              <a:cs typeface="Poppins Black"/>
              <a:sym typeface="Poppins Black"/>
            </a:endParaRPr>
          </a:p>
        </p:txBody>
      </p:sp>
      <p:sp>
        <p:nvSpPr>
          <p:cNvPr id="1068" name="Google Shape;1068;p61"/>
          <p:cNvSpPr txBox="1"/>
          <p:nvPr/>
        </p:nvSpPr>
        <p:spPr>
          <a:xfrm>
            <a:off x="4425125" y="3635550"/>
            <a:ext cx="2470200" cy="4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44AA68"/>
                </a:solidFill>
                <a:latin typeface="Poppins Black"/>
                <a:ea typeface="Poppins Black"/>
                <a:cs typeface="Poppins Black"/>
                <a:sym typeface="Poppins Black"/>
              </a:rPr>
              <a:t>         $141,727</a:t>
            </a:r>
            <a:r>
              <a:rPr lang="en" sz="1900">
                <a:solidFill>
                  <a:srgbClr val="B44647"/>
                </a:solidFill>
                <a:latin typeface="Poppins Black"/>
                <a:ea typeface="Poppins Black"/>
                <a:cs typeface="Poppins Black"/>
                <a:sym typeface="Poppins Black"/>
              </a:rPr>
              <a:t>  </a:t>
            </a:r>
            <a:r>
              <a:rPr lang="en" sz="1600">
                <a:solidFill>
                  <a:schemeClr val="dk1"/>
                </a:solidFill>
                <a:latin typeface="Poppins"/>
                <a:ea typeface="Poppins"/>
                <a:cs typeface="Poppins"/>
                <a:sym typeface="Poppins"/>
              </a:rPr>
              <a:t>8.0%</a:t>
            </a:r>
            <a:endParaRPr sz="1600">
              <a:solidFill>
                <a:schemeClr val="dk1"/>
              </a:solidFill>
              <a:latin typeface="Poppins"/>
              <a:ea typeface="Poppins"/>
              <a:cs typeface="Poppins"/>
              <a:sym typeface="Poppins"/>
            </a:endParaRPr>
          </a:p>
        </p:txBody>
      </p:sp>
      <p:sp>
        <p:nvSpPr>
          <p:cNvPr id="1069" name="Google Shape;1069;p61"/>
          <p:cNvSpPr txBox="1"/>
          <p:nvPr/>
        </p:nvSpPr>
        <p:spPr>
          <a:xfrm>
            <a:off x="4425125" y="4459426"/>
            <a:ext cx="2470200" cy="42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lt1"/>
                </a:solidFill>
                <a:latin typeface="Poppins"/>
                <a:ea typeface="Poppins"/>
                <a:cs typeface="Poppins"/>
                <a:sym typeface="Poppins"/>
              </a:rPr>
              <a:t>6.436% overall growth</a:t>
            </a:r>
            <a:endParaRPr sz="1500">
              <a:solidFill>
                <a:schemeClr val="lt1"/>
              </a:solidFill>
              <a:latin typeface="Poppins"/>
              <a:ea typeface="Poppins"/>
              <a:cs typeface="Poppins"/>
              <a:sym typeface="Poppins"/>
            </a:endParaRPr>
          </a:p>
        </p:txBody>
      </p:sp>
      <p:sp>
        <p:nvSpPr>
          <p:cNvPr id="1070" name="Google Shape;107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071" name="Google Shape;1071;p61"/>
          <p:cNvGrpSpPr/>
          <p:nvPr/>
        </p:nvGrpSpPr>
        <p:grpSpPr>
          <a:xfrm>
            <a:off x="7591425" y="0"/>
            <a:ext cx="1143000" cy="5143500"/>
            <a:chOff x="7591425" y="0"/>
            <a:chExt cx="1143000" cy="5143500"/>
          </a:xfrm>
        </p:grpSpPr>
        <p:sp>
          <p:nvSpPr>
            <p:cNvPr id="1072" name="Google Shape;1072;p61"/>
            <p:cNvSpPr/>
            <p:nvPr/>
          </p:nvSpPr>
          <p:spPr>
            <a:xfrm>
              <a:off x="7591425" y="0"/>
              <a:ext cx="1143000" cy="5143500"/>
            </a:xfrm>
            <a:prstGeom prst="rect">
              <a:avLst/>
            </a:prstGeom>
            <a:solidFill>
              <a:srgbClr val="91C22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3" name="Google Shape;1073;p61"/>
            <p:cNvSpPr txBox="1"/>
            <p:nvPr/>
          </p:nvSpPr>
          <p:spPr>
            <a:xfrm rot="-5400000">
              <a:off x="5591175" y="2095500"/>
              <a:ext cx="5143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3330">
                  <a:solidFill>
                    <a:srgbClr val="F0FDF4"/>
                  </a:solidFill>
                  <a:latin typeface="Poppins Light"/>
                  <a:ea typeface="Poppins Light"/>
                  <a:cs typeface="Poppins Light"/>
                  <a:sym typeface="Poppins Light"/>
                </a:rPr>
                <a:t>HUUSD SCHOOL DISTRICT</a:t>
              </a:r>
              <a:endParaRPr b="0" sz="3330">
                <a:solidFill>
                  <a:srgbClr val="FFFFFF"/>
                </a:solidFill>
                <a:latin typeface="Poppins Black"/>
                <a:ea typeface="Poppins Black"/>
                <a:cs typeface="Poppins Black"/>
                <a:sym typeface="Poppins Black"/>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62"/>
          <p:cNvSpPr txBox="1"/>
          <p:nvPr>
            <p:ph type="title"/>
          </p:nvPr>
        </p:nvSpPr>
        <p:spPr>
          <a:xfrm>
            <a:off x="25" y="67850"/>
            <a:ext cx="9144000" cy="8664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85000"/>
              </a:lnSpc>
              <a:spcBef>
                <a:spcPts val="0"/>
              </a:spcBef>
              <a:spcAft>
                <a:spcPts val="0"/>
              </a:spcAft>
              <a:buClr>
                <a:srgbClr val="833C0B"/>
              </a:buClr>
              <a:buSzPct val="89189"/>
              <a:buFont typeface="Century Gothic"/>
              <a:buNone/>
            </a:pPr>
            <a:r>
              <a:t/>
            </a:r>
            <a:endParaRPr sz="3700">
              <a:solidFill>
                <a:srgbClr val="1B3859"/>
              </a:solidFill>
              <a:latin typeface="Poppins Black"/>
              <a:ea typeface="Poppins Black"/>
              <a:cs typeface="Poppins Black"/>
              <a:sym typeface="Poppins Black"/>
            </a:endParaRPr>
          </a:p>
          <a:p>
            <a:pPr indent="0" lvl="0" marL="0" marR="0" rtl="0" algn="ctr">
              <a:lnSpc>
                <a:spcPct val="85000"/>
              </a:lnSpc>
              <a:spcBef>
                <a:spcPts val="0"/>
              </a:spcBef>
              <a:spcAft>
                <a:spcPts val="0"/>
              </a:spcAft>
              <a:buClr>
                <a:srgbClr val="833C0B"/>
              </a:buClr>
              <a:buSzPct val="89189"/>
              <a:buFont typeface="Century Gothic"/>
              <a:buNone/>
            </a:pPr>
            <a:r>
              <a:rPr lang="en" sz="3700">
                <a:solidFill>
                  <a:srgbClr val="1B3859"/>
                </a:solidFill>
                <a:latin typeface="Poppins Black"/>
                <a:ea typeface="Poppins Black"/>
                <a:cs typeface="Poppins Black"/>
                <a:sym typeface="Poppins Black"/>
              </a:rPr>
              <a:t>Preliminary FY28</a:t>
            </a:r>
            <a:r>
              <a:rPr i="0" lang="en" sz="3700" u="none" cap="none" strike="noStrike">
                <a:solidFill>
                  <a:srgbClr val="1B3859"/>
                </a:solidFill>
                <a:latin typeface="Poppins Black"/>
                <a:ea typeface="Poppins Black"/>
                <a:cs typeface="Poppins Black"/>
                <a:sym typeface="Poppins Black"/>
              </a:rPr>
              <a:t> </a:t>
            </a:r>
            <a:r>
              <a:rPr lang="en" sz="3700">
                <a:solidFill>
                  <a:srgbClr val="1B3859"/>
                </a:solidFill>
                <a:latin typeface="Poppins Black"/>
                <a:ea typeface="Poppins Black"/>
                <a:cs typeface="Poppins Black"/>
                <a:sym typeface="Poppins Black"/>
              </a:rPr>
              <a:t>HUUSD</a:t>
            </a:r>
            <a:r>
              <a:rPr i="0" lang="en" sz="3700" u="none" cap="none" strike="noStrike">
                <a:solidFill>
                  <a:srgbClr val="1B3859"/>
                </a:solidFill>
                <a:latin typeface="Poppins Black"/>
                <a:ea typeface="Poppins Black"/>
                <a:cs typeface="Poppins Black"/>
                <a:sym typeface="Poppins Black"/>
              </a:rPr>
              <a:t> Budget</a:t>
            </a:r>
            <a:endParaRPr i="0" sz="3700" u="none" cap="none" strike="noStrike">
              <a:solidFill>
                <a:srgbClr val="1B3859"/>
              </a:solidFill>
              <a:latin typeface="Poppins Black"/>
              <a:ea typeface="Poppins Black"/>
              <a:cs typeface="Poppins Black"/>
              <a:sym typeface="Poppins Black"/>
            </a:endParaRPr>
          </a:p>
          <a:p>
            <a:pPr indent="0" lvl="0" marL="0" marR="0" rtl="0" algn="ctr">
              <a:lnSpc>
                <a:spcPct val="85000"/>
              </a:lnSpc>
              <a:spcBef>
                <a:spcPts val="0"/>
              </a:spcBef>
              <a:spcAft>
                <a:spcPts val="0"/>
              </a:spcAft>
              <a:buClr>
                <a:srgbClr val="833C0B"/>
              </a:buClr>
              <a:buSzPct val="89189"/>
              <a:buFont typeface="Century Gothic"/>
              <a:buNone/>
            </a:pPr>
            <a:r>
              <a:t/>
            </a:r>
            <a:endParaRPr sz="3700">
              <a:solidFill>
                <a:srgbClr val="1B3859"/>
              </a:solidFill>
              <a:latin typeface="Poppins Black"/>
              <a:ea typeface="Poppins Black"/>
              <a:cs typeface="Poppins Black"/>
              <a:sym typeface="Poppins Black"/>
            </a:endParaRPr>
          </a:p>
        </p:txBody>
      </p:sp>
      <p:graphicFrame>
        <p:nvGraphicFramePr>
          <p:cNvPr id="1079" name="Google Shape;1079;p62"/>
          <p:cNvGraphicFramePr/>
          <p:nvPr/>
        </p:nvGraphicFramePr>
        <p:xfrm>
          <a:off x="300802" y="997100"/>
          <a:ext cx="3000000" cy="3000000"/>
        </p:xfrm>
        <a:graphic>
          <a:graphicData uri="http://schemas.openxmlformats.org/drawingml/2006/table">
            <a:tbl>
              <a:tblPr bandRow="1" firstRow="1">
                <a:noFill/>
                <a:tableStyleId>{1B186099-4DFA-47FD-87C0-A4B7D03E1858}</a:tableStyleId>
              </a:tblPr>
              <a:tblGrid>
                <a:gridCol w="2687250"/>
                <a:gridCol w="1633550"/>
                <a:gridCol w="1468850"/>
                <a:gridCol w="1439900"/>
                <a:gridCol w="1312850"/>
              </a:tblGrid>
              <a:tr h="1037575">
                <a:tc>
                  <a:txBody>
                    <a:bodyPr/>
                    <a:lstStyle/>
                    <a:p>
                      <a:pPr indent="0" lvl="0" marL="0" marR="0" rtl="0" algn="ctr">
                        <a:lnSpc>
                          <a:spcPct val="100000"/>
                        </a:lnSpc>
                        <a:spcBef>
                          <a:spcPts val="0"/>
                        </a:spcBef>
                        <a:spcAft>
                          <a:spcPts val="0"/>
                        </a:spcAft>
                        <a:buClr>
                          <a:srgbClr val="000000"/>
                        </a:buClr>
                        <a:buSzPts val="1800"/>
                        <a:buFont typeface="Arial"/>
                        <a:buNone/>
                      </a:pPr>
                      <a:r>
                        <a:t/>
                      </a:r>
                      <a:endParaRPr sz="1600" u="none" cap="none" strike="noStrike">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600">
                          <a:latin typeface="Poppins"/>
                          <a:ea typeface="Poppins"/>
                          <a:cs typeface="Poppins"/>
                          <a:sym typeface="Poppins"/>
                        </a:rPr>
                        <a:t>FY28</a:t>
                      </a:r>
                      <a:endParaRPr sz="1600">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800"/>
                        <a:buFont typeface="Arial"/>
                        <a:buNone/>
                      </a:pPr>
                      <a:r>
                        <a:rPr lang="en" sz="1600" u="none" cap="none" strike="noStrike">
                          <a:solidFill>
                            <a:schemeClr val="dk1"/>
                          </a:solidFill>
                          <a:latin typeface="Poppins"/>
                          <a:ea typeface="Poppins"/>
                          <a:cs typeface="Poppins"/>
                          <a:sym typeface="Poppins"/>
                        </a:rPr>
                        <a:t>Proposed Budget</a:t>
                      </a:r>
                      <a:endParaRPr sz="900" u="none" cap="none" strike="noStrike">
                        <a:solidFill>
                          <a:schemeClr val="dk1"/>
                        </a:solidFill>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None/>
                      </a:pPr>
                      <a:r>
                        <a:rPr lang="en" sz="1600">
                          <a:latin typeface="Poppins"/>
                          <a:ea typeface="Poppins"/>
                          <a:cs typeface="Poppins"/>
                          <a:sym typeface="Poppins"/>
                        </a:rPr>
                        <a:t>FY27 Budget</a:t>
                      </a:r>
                      <a:endParaRPr sz="1600" u="none" cap="none" strike="noStrike">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600" u="none" cap="none" strike="noStrike">
                          <a:latin typeface="Poppins"/>
                          <a:ea typeface="Poppins"/>
                          <a:cs typeface="Poppins"/>
                          <a:sym typeface="Poppins"/>
                        </a:rPr>
                        <a:t>Difference</a:t>
                      </a:r>
                      <a:endParaRPr sz="900" u="none" cap="none" strike="noStrike">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300">
                          <a:latin typeface="Poppins"/>
                          <a:ea typeface="Poppins"/>
                          <a:cs typeface="Poppins"/>
                          <a:sym typeface="Poppins"/>
                        </a:rPr>
                        <a:t>FY28 ESTIMATED HUUSD Homestead Tax Rate Increase</a:t>
                      </a:r>
                      <a:endParaRPr sz="900" u="none" cap="none" strike="noStrike">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chemeClr val="accent4"/>
                    </a:solidFill>
                  </a:tcPr>
                </a:tc>
              </a:tr>
              <a:tr h="591050">
                <a:tc>
                  <a:txBody>
                    <a:bodyPr/>
                    <a:lstStyle/>
                    <a:p>
                      <a:pPr indent="0" lvl="0" marL="0" marR="0" rtl="0" algn="ctr">
                        <a:lnSpc>
                          <a:spcPct val="100000"/>
                        </a:lnSpc>
                        <a:spcBef>
                          <a:spcPts val="0"/>
                        </a:spcBef>
                        <a:spcAft>
                          <a:spcPts val="0"/>
                        </a:spcAft>
                        <a:buClr>
                          <a:srgbClr val="000000"/>
                        </a:buClr>
                        <a:buSzPts val="1800"/>
                        <a:buFont typeface="Arial"/>
                        <a:buNone/>
                      </a:pPr>
                      <a:r>
                        <a:rPr b="1" lang="en" sz="1600" u="none" cap="none" strike="noStrike">
                          <a:latin typeface="Poppins"/>
                          <a:ea typeface="Poppins"/>
                          <a:cs typeface="Poppins"/>
                          <a:sym typeface="Poppins"/>
                        </a:rPr>
                        <a:t>Total Budget</a:t>
                      </a:r>
                      <a:endParaRPr sz="900" u="none" cap="none" strike="noStrike">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rgbClr val="56BCC7"/>
                    </a:solidFill>
                  </a:tcPr>
                </a:tc>
                <a:tc>
                  <a:txBody>
                    <a:bodyPr/>
                    <a:lstStyle/>
                    <a:p>
                      <a:pPr indent="0" lvl="0" marL="0" rtl="0" algn="l">
                        <a:spcBef>
                          <a:spcPts val="0"/>
                        </a:spcBef>
                        <a:spcAft>
                          <a:spcPts val="0"/>
                        </a:spcAft>
                        <a:buNone/>
                      </a:pPr>
                      <a:r>
                        <a:rPr b="1" lang="en" sz="1500">
                          <a:latin typeface="Poppins"/>
                          <a:ea typeface="Poppins"/>
                          <a:cs typeface="Poppins"/>
                          <a:sym typeface="Poppins"/>
                        </a:rPr>
                        <a:t>$55,224,120</a:t>
                      </a:r>
                      <a:endParaRPr b="1" sz="1500">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 sz="1500" u="none" cap="none" strike="noStrike">
                          <a:solidFill>
                            <a:schemeClr val="dk1"/>
                          </a:solidFill>
                          <a:latin typeface="Poppins"/>
                          <a:ea typeface="Poppins"/>
                          <a:cs typeface="Poppins"/>
                          <a:sym typeface="Poppins"/>
                        </a:rPr>
                        <a:t>$</a:t>
                      </a:r>
                      <a:r>
                        <a:rPr b="1" lang="en" sz="1500">
                          <a:latin typeface="Poppins"/>
                          <a:ea typeface="Poppins"/>
                          <a:cs typeface="Poppins"/>
                          <a:sym typeface="Poppins"/>
                        </a:rPr>
                        <a:t>51,884,847</a:t>
                      </a:r>
                      <a:endParaRPr sz="800" u="none" cap="none" strike="noStrike">
                        <a:solidFill>
                          <a:schemeClr val="dk1"/>
                        </a:solidFill>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rgbClr val="56BCC7"/>
                    </a:solidFill>
                  </a:tcPr>
                </a:tc>
                <a:tc>
                  <a:txBody>
                    <a:bodyPr/>
                    <a:lstStyle/>
                    <a:p>
                      <a:pPr indent="0" lvl="0" marL="0" rtl="0" algn="l">
                        <a:spcBef>
                          <a:spcPts val="0"/>
                        </a:spcBef>
                        <a:spcAft>
                          <a:spcPts val="0"/>
                        </a:spcAft>
                        <a:buNone/>
                      </a:pPr>
                      <a:r>
                        <a:t/>
                      </a:r>
                      <a:endParaRPr b="1" sz="1500">
                        <a:latin typeface="Poppins"/>
                        <a:ea typeface="Poppins"/>
                        <a:cs typeface="Poppins"/>
                        <a:sym typeface="Poppins"/>
                      </a:endParaRPr>
                    </a:p>
                    <a:p>
                      <a:pPr indent="0" lvl="0" marL="0" rtl="0" algn="l">
                        <a:spcBef>
                          <a:spcPts val="0"/>
                        </a:spcBef>
                        <a:spcAft>
                          <a:spcPts val="0"/>
                        </a:spcAft>
                        <a:buNone/>
                      </a:pPr>
                      <a:r>
                        <a:rPr b="1" lang="en" sz="1500">
                          <a:latin typeface="Poppins"/>
                          <a:ea typeface="Poppins"/>
                          <a:cs typeface="Poppins"/>
                          <a:sym typeface="Poppins"/>
                        </a:rPr>
                        <a:t>   $3,339,273</a:t>
                      </a:r>
                      <a:endParaRPr b="1" sz="1500">
                        <a:latin typeface="Poppins"/>
                        <a:ea typeface="Poppins"/>
                        <a:cs typeface="Poppins"/>
                        <a:sym typeface="Poppins"/>
                      </a:endParaRPr>
                    </a:p>
                    <a:p>
                      <a:pPr indent="0" lvl="0" marL="0" rtl="0" algn="l">
                        <a:spcBef>
                          <a:spcPts val="0"/>
                        </a:spcBef>
                        <a:spcAft>
                          <a:spcPts val="0"/>
                        </a:spcAft>
                        <a:buNone/>
                      </a:pPr>
                      <a:r>
                        <a:t/>
                      </a:r>
                      <a:endParaRPr sz="1100">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rgbClr val="56BCC7"/>
                    </a:solidFill>
                  </a:tcPr>
                </a:tc>
                <a:tc>
                  <a:txBody>
                    <a:bodyPr/>
                    <a:lstStyle/>
                    <a:p>
                      <a:pPr indent="0" lvl="0" marL="0" rtl="0" algn="ctr">
                        <a:spcBef>
                          <a:spcPts val="0"/>
                        </a:spcBef>
                        <a:spcAft>
                          <a:spcPts val="0"/>
                        </a:spcAft>
                        <a:buNone/>
                      </a:pPr>
                      <a:r>
                        <a:rPr b="1" lang="en" sz="1500">
                          <a:latin typeface="Poppins"/>
                          <a:ea typeface="Poppins"/>
                          <a:cs typeface="Poppins"/>
                          <a:sym typeface="Poppins"/>
                        </a:rPr>
                        <a:t>6.436%</a:t>
                      </a:r>
                      <a:endParaRPr b="1" sz="1500">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chemeClr val="accent4"/>
                    </a:solidFill>
                  </a:tcPr>
                </a:tc>
              </a:tr>
            </a:tbl>
          </a:graphicData>
        </a:graphic>
      </p:graphicFrame>
      <p:graphicFrame>
        <p:nvGraphicFramePr>
          <p:cNvPr id="1080" name="Google Shape;1080;p62"/>
          <p:cNvGraphicFramePr/>
          <p:nvPr/>
        </p:nvGraphicFramePr>
        <p:xfrm>
          <a:off x="300802" y="3583850"/>
          <a:ext cx="3000000" cy="3000000"/>
        </p:xfrm>
        <a:graphic>
          <a:graphicData uri="http://schemas.openxmlformats.org/drawingml/2006/table">
            <a:tbl>
              <a:tblPr bandRow="1" firstRow="1">
                <a:noFill/>
                <a:tableStyleId>{1B186099-4DFA-47FD-87C0-A4B7D03E1858}</a:tableStyleId>
              </a:tblPr>
              <a:tblGrid>
                <a:gridCol w="2713100"/>
                <a:gridCol w="1607700"/>
                <a:gridCol w="1468850"/>
                <a:gridCol w="1439900"/>
                <a:gridCol w="1312850"/>
              </a:tblGrid>
              <a:tr h="644775">
                <a:tc>
                  <a:txBody>
                    <a:bodyPr/>
                    <a:lstStyle/>
                    <a:p>
                      <a:pPr indent="0" lvl="0" marL="0" marR="0" rtl="0" algn="ctr">
                        <a:lnSpc>
                          <a:spcPct val="100000"/>
                        </a:lnSpc>
                        <a:spcBef>
                          <a:spcPts val="0"/>
                        </a:spcBef>
                        <a:spcAft>
                          <a:spcPts val="0"/>
                        </a:spcAft>
                        <a:buClr>
                          <a:srgbClr val="000000"/>
                        </a:buClr>
                        <a:buSzPts val="1800"/>
                        <a:buFont typeface="Arial"/>
                        <a:buNone/>
                      </a:pPr>
                      <a:r>
                        <a:rPr b="1" lang="en" sz="1600" u="none" cap="none" strike="noStrike">
                          <a:latin typeface="Poppins"/>
                          <a:ea typeface="Poppins"/>
                          <a:cs typeface="Poppins"/>
                          <a:sym typeface="Poppins"/>
                        </a:rPr>
                        <a:t>Education Spending Per </a:t>
                      </a:r>
                      <a:r>
                        <a:rPr b="1" lang="en" sz="1600">
                          <a:latin typeface="Poppins"/>
                          <a:ea typeface="Poppins"/>
                          <a:cs typeface="Poppins"/>
                          <a:sym typeface="Poppins"/>
                        </a:rPr>
                        <a:t>LTW ADM</a:t>
                      </a:r>
                      <a:endParaRPr sz="900" u="none" cap="none" strike="noStrike">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rgbClr val="56BCC7"/>
                    </a:solidFill>
                  </a:tcPr>
                </a:tc>
                <a:tc>
                  <a:txBody>
                    <a:bodyPr/>
                    <a:lstStyle/>
                    <a:p>
                      <a:pPr indent="0" lvl="0" marL="0" rtl="0" algn="ctr">
                        <a:spcBef>
                          <a:spcPts val="0"/>
                        </a:spcBef>
                        <a:spcAft>
                          <a:spcPts val="0"/>
                        </a:spcAft>
                        <a:buNone/>
                      </a:pPr>
                      <a:r>
                        <a:rPr b="1" lang="en" sz="1500">
                          <a:latin typeface="Poppins"/>
                          <a:ea typeface="Poppins"/>
                          <a:cs typeface="Poppins"/>
                          <a:sym typeface="Poppins"/>
                        </a:rPr>
                        <a:t>$1</a:t>
                      </a:r>
                      <a:r>
                        <a:rPr lang="en" sz="1500">
                          <a:latin typeface="Poppins"/>
                          <a:ea typeface="Poppins"/>
                          <a:cs typeface="Poppins"/>
                          <a:sym typeface="Poppins"/>
                        </a:rPr>
                        <a:t>7,623</a:t>
                      </a:r>
                      <a:endParaRPr b="1" sz="1500">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 sz="1500" u="none" cap="none" strike="noStrike">
                          <a:solidFill>
                            <a:schemeClr val="dk1"/>
                          </a:solidFill>
                          <a:latin typeface="Poppins"/>
                          <a:ea typeface="Poppins"/>
                          <a:cs typeface="Poppins"/>
                          <a:sym typeface="Poppins"/>
                        </a:rPr>
                        <a:t>$</a:t>
                      </a:r>
                      <a:r>
                        <a:rPr b="1" lang="en" sz="1500">
                          <a:latin typeface="Poppins"/>
                          <a:ea typeface="Poppins"/>
                          <a:cs typeface="Poppins"/>
                          <a:sym typeface="Poppins"/>
                        </a:rPr>
                        <a:t>1</a:t>
                      </a:r>
                      <a:r>
                        <a:rPr lang="en" sz="1500">
                          <a:latin typeface="Poppins"/>
                          <a:ea typeface="Poppins"/>
                          <a:cs typeface="Poppins"/>
                          <a:sym typeface="Poppins"/>
                        </a:rPr>
                        <a:t>6,229</a:t>
                      </a:r>
                      <a:endParaRPr sz="800" u="none" cap="none" strike="noStrike">
                        <a:solidFill>
                          <a:schemeClr val="dk1"/>
                        </a:solidFill>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rgbClr val="56BCC7"/>
                    </a:solidFill>
                  </a:tcPr>
                </a:tc>
                <a:tc>
                  <a:txBody>
                    <a:bodyPr/>
                    <a:lstStyle/>
                    <a:p>
                      <a:pPr indent="0" lvl="0" marL="0" rtl="0" algn="ctr">
                        <a:spcBef>
                          <a:spcPts val="0"/>
                        </a:spcBef>
                        <a:spcAft>
                          <a:spcPts val="0"/>
                        </a:spcAft>
                        <a:buNone/>
                      </a:pPr>
                      <a:r>
                        <a:rPr b="1" lang="en" sz="1500">
                          <a:latin typeface="Poppins"/>
                          <a:ea typeface="Poppins"/>
                          <a:cs typeface="Poppins"/>
                          <a:sym typeface="Poppins"/>
                        </a:rPr>
                        <a:t>$</a:t>
                      </a:r>
                      <a:r>
                        <a:rPr lang="en" sz="1500">
                          <a:latin typeface="Poppins"/>
                          <a:ea typeface="Poppins"/>
                          <a:cs typeface="Poppins"/>
                          <a:sym typeface="Poppins"/>
                        </a:rPr>
                        <a:t>1,395</a:t>
                      </a:r>
                      <a:endParaRPr b="1" sz="1500">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rgbClr val="56BCC7"/>
                    </a:solidFill>
                  </a:tcPr>
                </a:tc>
                <a:tc>
                  <a:txBody>
                    <a:bodyPr/>
                    <a:lstStyle/>
                    <a:p>
                      <a:pPr indent="0" lvl="0" marL="0" rtl="0" algn="ctr">
                        <a:spcBef>
                          <a:spcPts val="0"/>
                        </a:spcBef>
                        <a:spcAft>
                          <a:spcPts val="0"/>
                        </a:spcAft>
                        <a:buNone/>
                      </a:pPr>
                      <a:r>
                        <a:rPr lang="en" sz="1500">
                          <a:latin typeface="Poppins"/>
                          <a:ea typeface="Poppins"/>
                          <a:cs typeface="Poppins"/>
                          <a:sym typeface="Poppins"/>
                        </a:rPr>
                        <a:t>8.59</a:t>
                      </a:r>
                      <a:r>
                        <a:rPr b="1" lang="en" sz="1500">
                          <a:latin typeface="Poppins"/>
                          <a:ea typeface="Poppins"/>
                          <a:cs typeface="Poppins"/>
                          <a:sym typeface="Poppins"/>
                        </a:rPr>
                        <a:t>%</a:t>
                      </a:r>
                      <a:endParaRPr b="1" sz="1500">
                        <a:latin typeface="Poppins"/>
                        <a:ea typeface="Poppins"/>
                        <a:cs typeface="Poppins"/>
                        <a:sym typeface="Poppins"/>
                      </a:endParaRPr>
                    </a:p>
                  </a:txBody>
                  <a:tcPr marT="34300" marB="34300" marR="68600" marL="68600" anchor="ctr">
                    <a:lnL cap="flat" cmpd="sng" w="19050">
                      <a:solidFill>
                        <a:srgbClr val="1B3859"/>
                      </a:solidFill>
                      <a:prstDash val="solid"/>
                      <a:round/>
                      <a:headEnd len="sm" w="sm" type="none"/>
                      <a:tailEnd len="sm" w="sm" type="none"/>
                    </a:lnL>
                    <a:lnR cap="flat" cmpd="sng" w="19050">
                      <a:solidFill>
                        <a:srgbClr val="1B3859"/>
                      </a:solidFill>
                      <a:prstDash val="solid"/>
                      <a:round/>
                      <a:headEnd len="sm" w="sm" type="none"/>
                      <a:tailEnd len="sm" w="sm" type="none"/>
                    </a:lnR>
                    <a:lnT cap="flat" cmpd="sng" w="19050">
                      <a:solidFill>
                        <a:srgbClr val="1B3859"/>
                      </a:solidFill>
                      <a:prstDash val="solid"/>
                      <a:round/>
                      <a:headEnd len="sm" w="sm" type="none"/>
                      <a:tailEnd len="sm" w="sm" type="none"/>
                    </a:lnT>
                    <a:lnB cap="flat" cmpd="sng" w="19050">
                      <a:solidFill>
                        <a:srgbClr val="1B3859"/>
                      </a:solidFill>
                      <a:prstDash val="solid"/>
                      <a:round/>
                      <a:headEnd len="sm" w="sm" type="none"/>
                      <a:tailEnd len="sm" w="sm" type="none"/>
                    </a:lnB>
                    <a:solidFill>
                      <a:schemeClr val="accent4"/>
                    </a:solidFill>
                  </a:tcPr>
                </a:tc>
              </a:tr>
            </a:tbl>
          </a:graphicData>
        </a:graphic>
      </p:graphicFrame>
      <p:sp>
        <p:nvSpPr>
          <p:cNvPr id="1081" name="Google Shape;1081;p62"/>
          <p:cNvSpPr txBox="1"/>
          <p:nvPr/>
        </p:nvSpPr>
        <p:spPr>
          <a:xfrm>
            <a:off x="7530350" y="3154400"/>
            <a:ext cx="13299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Poppins"/>
                <a:ea typeface="Poppins"/>
                <a:cs typeface="Poppins"/>
                <a:sym typeface="Poppins"/>
              </a:rPr>
              <a:t>% Change</a:t>
            </a:r>
            <a:endParaRPr b="1" sz="1300">
              <a:solidFill>
                <a:schemeClr val="dk1"/>
              </a:solidFill>
              <a:latin typeface="Poppins"/>
              <a:ea typeface="Poppins"/>
              <a:cs typeface="Poppins"/>
              <a:sym typeface="Poppins"/>
            </a:endParaRPr>
          </a:p>
        </p:txBody>
      </p:sp>
      <p:sp>
        <p:nvSpPr>
          <p:cNvPr id="1082" name="Google Shape;1082;p62"/>
          <p:cNvSpPr txBox="1"/>
          <p:nvPr>
            <p:ph idx="12" type="sldNum"/>
          </p:nvPr>
        </p:nvSpPr>
        <p:spPr>
          <a:xfrm>
            <a:off x="7627346" y="4800601"/>
            <a:ext cx="831000" cy="240600"/>
          </a:xfrm>
          <a:prstGeom prst="rect">
            <a:avLst/>
          </a:prstGeom>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6" name="Shape 1086"/>
        <p:cNvGrpSpPr/>
        <p:nvPr/>
      </p:nvGrpSpPr>
      <p:grpSpPr>
        <a:xfrm>
          <a:off x="0" y="0"/>
          <a:ext cx="0" cy="0"/>
          <a:chOff x="0" y="0"/>
          <a:chExt cx="0" cy="0"/>
        </a:xfrm>
      </p:grpSpPr>
      <p:sp>
        <p:nvSpPr>
          <p:cNvPr id="1087" name="Google Shape;1087;p63"/>
          <p:cNvSpPr txBox="1"/>
          <p:nvPr/>
        </p:nvSpPr>
        <p:spPr>
          <a:xfrm>
            <a:off x="381000" y="381000"/>
            <a:ext cx="5715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1B3859"/>
                </a:solidFill>
                <a:latin typeface="Poppins ExtraBold"/>
                <a:ea typeface="Poppins ExtraBold"/>
                <a:cs typeface="Poppins ExtraBold"/>
                <a:sym typeface="Poppins ExtraBold"/>
              </a:rPr>
              <a:t>HUUSD Budget Growth</a:t>
            </a:r>
            <a:endParaRPr b="0" sz="2600">
              <a:solidFill>
                <a:srgbClr val="1B3859"/>
              </a:solidFill>
              <a:latin typeface="Poppins ExtraBold"/>
              <a:ea typeface="Poppins ExtraBold"/>
              <a:cs typeface="Poppins ExtraBold"/>
              <a:sym typeface="Poppins ExtraBold"/>
            </a:endParaRPr>
          </a:p>
          <a:p>
            <a:pPr indent="0" lvl="0" marL="0" rtl="0" algn="l">
              <a:spcBef>
                <a:spcPts val="375"/>
              </a:spcBef>
              <a:spcAft>
                <a:spcPts val="0"/>
              </a:spcAft>
              <a:buNone/>
            </a:pPr>
            <a:r>
              <a:rPr lang="en" sz="1100">
                <a:solidFill>
                  <a:srgbClr val="475569"/>
                </a:solidFill>
                <a:latin typeface="Poppins Medium"/>
                <a:ea typeface="Poppins Medium"/>
                <a:cs typeface="Poppins Medium"/>
                <a:sym typeface="Poppins Medium"/>
              </a:rPr>
              <a:t>Approved B</a:t>
            </a:r>
            <a:r>
              <a:rPr b="0" lang="en" sz="1100">
                <a:solidFill>
                  <a:srgbClr val="475569"/>
                </a:solidFill>
                <a:latin typeface="Poppins Medium"/>
                <a:ea typeface="Poppins Medium"/>
                <a:cs typeface="Poppins Medium"/>
                <a:sym typeface="Poppins Medium"/>
              </a:rPr>
              <a:t>udgets through FY2027 • </a:t>
            </a:r>
            <a:r>
              <a:rPr b="1" lang="en" sz="1100">
                <a:solidFill>
                  <a:schemeClr val="accent4"/>
                </a:solidFill>
                <a:latin typeface="Poppins"/>
                <a:ea typeface="Poppins"/>
                <a:cs typeface="Poppins"/>
                <a:sym typeface="Poppins"/>
              </a:rPr>
              <a:t>FY2028* projected</a:t>
            </a:r>
            <a:endParaRPr b="1" sz="1100">
              <a:solidFill>
                <a:schemeClr val="accent4"/>
              </a:solidFill>
              <a:latin typeface="Poppins"/>
              <a:ea typeface="Poppins"/>
              <a:cs typeface="Poppins"/>
              <a:sym typeface="Poppins"/>
            </a:endParaRPr>
          </a:p>
        </p:txBody>
      </p:sp>
      <p:grpSp>
        <p:nvGrpSpPr>
          <p:cNvPr id="1088" name="Google Shape;1088;p63"/>
          <p:cNvGrpSpPr/>
          <p:nvPr/>
        </p:nvGrpSpPr>
        <p:grpSpPr>
          <a:xfrm>
            <a:off x="6096000" y="381000"/>
            <a:ext cx="2667000" cy="4381500"/>
            <a:chOff x="0" y="0"/>
            <a:chExt cx="2667000" cy="4381500"/>
          </a:xfrm>
        </p:grpSpPr>
        <p:sp>
          <p:nvSpPr>
            <p:cNvPr id="1089" name="Google Shape;1089;p63"/>
            <p:cNvSpPr/>
            <p:nvPr/>
          </p:nvSpPr>
          <p:spPr>
            <a:xfrm>
              <a:off x="0" y="0"/>
              <a:ext cx="2667000" cy="4381500"/>
            </a:xfrm>
            <a:prstGeom prst="roundRect">
              <a:avLst>
                <a:gd fmla="val 5714"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0" name="Google Shape;1090;p63"/>
            <p:cNvSpPr txBox="1"/>
            <p:nvPr/>
          </p:nvSpPr>
          <p:spPr>
            <a:xfrm>
              <a:off x="228600" y="228600"/>
              <a:ext cx="2209800" cy="392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FFAB40"/>
                  </a:solidFill>
                  <a:latin typeface="Poppins ExtraBold"/>
                  <a:ea typeface="Poppins ExtraBold"/>
                  <a:cs typeface="Poppins ExtraBold"/>
                  <a:sym typeface="Poppins ExtraBold"/>
                </a:rPr>
                <a:t>Budget Growth</a:t>
              </a:r>
              <a:endParaRPr b="0" sz="1600">
                <a:solidFill>
                  <a:srgbClr val="FFAB40"/>
                </a:solidFill>
                <a:latin typeface="Poppins ExtraBold"/>
                <a:ea typeface="Poppins ExtraBold"/>
                <a:cs typeface="Poppins ExtraBold"/>
                <a:sym typeface="Poppins ExtraBold"/>
              </a:endParaRPr>
            </a:p>
            <a:p>
              <a:pPr indent="0" lvl="0" marL="0" rtl="0" algn="l">
                <a:spcBef>
                  <a:spcPts val="1125"/>
                </a:spcBef>
                <a:spcAft>
                  <a:spcPts val="0"/>
                </a:spcAft>
                <a:buNone/>
              </a:pPr>
              <a:r>
                <a:rPr b="0" lang="en" sz="1000">
                  <a:solidFill>
                    <a:srgbClr val="94A3B8"/>
                  </a:solidFill>
                  <a:latin typeface="Poppins SemiBold"/>
                  <a:ea typeface="Poppins SemiBold"/>
                  <a:cs typeface="Poppins SemiBold"/>
                  <a:sym typeface="Poppins SemiBold"/>
                </a:rPr>
                <a:t>FY2023 Budget</a:t>
              </a:r>
              <a:endParaRPr b="0" sz="1000">
                <a:solidFill>
                  <a:srgbClr val="94A3B8"/>
                </a:solidFill>
                <a:latin typeface="Poppins SemiBold"/>
                <a:ea typeface="Poppins SemiBold"/>
                <a:cs typeface="Poppins SemiBold"/>
                <a:sym typeface="Poppins SemiBold"/>
              </a:endParaRPr>
            </a:p>
            <a:p>
              <a:pPr indent="0" lvl="0" marL="0" rtl="0" algn="l">
                <a:spcBef>
                  <a:spcPts val="0"/>
                </a:spcBef>
                <a:spcAft>
                  <a:spcPts val="0"/>
                </a:spcAft>
                <a:buNone/>
              </a:pPr>
              <a:r>
                <a:rPr b="0" lang="en" sz="2200">
                  <a:solidFill>
                    <a:srgbClr val="FFFFFF"/>
                  </a:solidFill>
                  <a:latin typeface="Poppins ExtraBold"/>
                  <a:ea typeface="Poppins ExtraBold"/>
                  <a:cs typeface="Poppins ExtraBold"/>
                  <a:sym typeface="Poppins ExtraBold"/>
                </a:rPr>
                <a:t>$42.66M</a:t>
              </a:r>
              <a:endParaRPr b="0" sz="2200">
                <a:solidFill>
                  <a:srgbClr val="FFFFFF"/>
                </a:solidFill>
                <a:latin typeface="Poppins ExtraBold"/>
                <a:ea typeface="Poppins ExtraBold"/>
                <a:cs typeface="Poppins ExtraBold"/>
                <a:sym typeface="Poppins ExtraBold"/>
              </a:endParaRPr>
            </a:p>
            <a:p>
              <a:pPr indent="0" lvl="0" marL="0" rtl="0" algn="l">
                <a:spcBef>
                  <a:spcPts val="1125"/>
                </a:spcBef>
                <a:spcAft>
                  <a:spcPts val="0"/>
                </a:spcAft>
                <a:buNone/>
              </a:pPr>
              <a:r>
                <a:rPr b="0" lang="en" sz="1000">
                  <a:solidFill>
                    <a:srgbClr val="94A3B8"/>
                  </a:solidFill>
                  <a:latin typeface="Poppins SemiBold"/>
                  <a:ea typeface="Poppins SemiBold"/>
                  <a:cs typeface="Poppins SemiBold"/>
                  <a:sym typeface="Poppins SemiBold"/>
                </a:rPr>
                <a:t>FY2027 Approved</a:t>
              </a:r>
              <a:endParaRPr b="0" sz="1000">
                <a:solidFill>
                  <a:srgbClr val="94A3B8"/>
                </a:solidFill>
                <a:latin typeface="Poppins SemiBold"/>
                <a:ea typeface="Poppins SemiBold"/>
                <a:cs typeface="Poppins SemiBold"/>
                <a:sym typeface="Poppins SemiBold"/>
              </a:endParaRPr>
            </a:p>
            <a:p>
              <a:pPr indent="0" lvl="0" marL="0" rtl="0" algn="l">
                <a:spcBef>
                  <a:spcPts val="0"/>
                </a:spcBef>
                <a:spcAft>
                  <a:spcPts val="0"/>
                </a:spcAft>
                <a:buNone/>
              </a:pPr>
              <a:r>
                <a:rPr b="0" lang="en" sz="2200">
                  <a:solidFill>
                    <a:srgbClr val="FFFFFF"/>
                  </a:solidFill>
                  <a:latin typeface="Poppins ExtraBold"/>
                  <a:ea typeface="Poppins ExtraBold"/>
                  <a:cs typeface="Poppins ExtraBold"/>
                  <a:sym typeface="Poppins ExtraBold"/>
                </a:rPr>
                <a:t>$51.88M</a:t>
              </a:r>
              <a:endParaRPr b="0" sz="2200">
                <a:solidFill>
                  <a:srgbClr val="FFFFFF"/>
                </a:solidFill>
                <a:latin typeface="Poppins ExtraBold"/>
                <a:ea typeface="Poppins ExtraBold"/>
                <a:cs typeface="Poppins ExtraBold"/>
                <a:sym typeface="Poppins ExtraBold"/>
              </a:endParaRPr>
            </a:p>
            <a:p>
              <a:pPr indent="0" lvl="0" marL="0" rtl="0" algn="l">
                <a:spcBef>
                  <a:spcPts val="1125"/>
                </a:spcBef>
                <a:spcAft>
                  <a:spcPts val="0"/>
                </a:spcAft>
                <a:buNone/>
              </a:pPr>
              <a:r>
                <a:rPr b="0" lang="en" sz="1000">
                  <a:solidFill>
                    <a:srgbClr val="94A3B8"/>
                  </a:solidFill>
                  <a:latin typeface="Poppins SemiBold"/>
                  <a:ea typeface="Poppins SemiBold"/>
                  <a:cs typeface="Poppins SemiBold"/>
                  <a:sym typeface="Poppins SemiBold"/>
                </a:rPr>
                <a:t>FY2028 Projected</a:t>
              </a:r>
              <a:endParaRPr b="0" sz="1000">
                <a:solidFill>
                  <a:srgbClr val="94A3B8"/>
                </a:solidFill>
                <a:latin typeface="Poppins SemiBold"/>
                <a:ea typeface="Poppins SemiBold"/>
                <a:cs typeface="Poppins SemiBold"/>
                <a:sym typeface="Poppins SemiBold"/>
              </a:endParaRPr>
            </a:p>
            <a:p>
              <a:pPr indent="0" lvl="0" marL="0" rtl="0" algn="l">
                <a:spcBef>
                  <a:spcPts val="0"/>
                </a:spcBef>
                <a:spcAft>
                  <a:spcPts val="0"/>
                </a:spcAft>
                <a:buNone/>
              </a:pPr>
              <a:r>
                <a:rPr b="0" lang="en" sz="2200">
                  <a:solidFill>
                    <a:srgbClr val="56BCC7"/>
                  </a:solidFill>
                  <a:latin typeface="Poppins ExtraBold"/>
                  <a:ea typeface="Poppins ExtraBold"/>
                  <a:cs typeface="Poppins ExtraBold"/>
                  <a:sym typeface="Poppins ExtraBold"/>
                </a:rPr>
                <a:t>$55.22M</a:t>
              </a:r>
              <a:endParaRPr b="0" sz="2200">
                <a:solidFill>
                  <a:srgbClr val="56BCC7"/>
                </a:solidFill>
                <a:latin typeface="Poppins ExtraBold"/>
                <a:ea typeface="Poppins ExtraBold"/>
                <a:cs typeface="Poppins ExtraBold"/>
                <a:sym typeface="Poppins ExtraBold"/>
              </a:endParaRPr>
            </a:p>
            <a:p>
              <a:pPr indent="0" lvl="0" marL="0" rtl="0" algn="l">
                <a:spcBef>
                  <a:spcPts val="1125"/>
                </a:spcBef>
                <a:spcAft>
                  <a:spcPts val="0"/>
                </a:spcAft>
                <a:buNone/>
              </a:pPr>
              <a:r>
                <a:rPr b="0" lang="en" sz="1000">
                  <a:solidFill>
                    <a:srgbClr val="94A3B8"/>
                  </a:solidFill>
                  <a:latin typeface="Poppins SemiBold"/>
                  <a:ea typeface="Poppins SemiBold"/>
                  <a:cs typeface="Poppins SemiBold"/>
                  <a:sym typeface="Poppins SemiBold"/>
                </a:rPr>
                <a:t>Overall Increase</a:t>
              </a:r>
              <a:endParaRPr b="0" sz="1000">
                <a:solidFill>
                  <a:srgbClr val="94A3B8"/>
                </a:solidFill>
                <a:latin typeface="Poppins SemiBold"/>
                <a:ea typeface="Poppins SemiBold"/>
                <a:cs typeface="Poppins SemiBold"/>
                <a:sym typeface="Poppins SemiBold"/>
              </a:endParaRPr>
            </a:p>
            <a:p>
              <a:pPr indent="0" lvl="0" marL="0" rtl="0" algn="l">
                <a:spcBef>
                  <a:spcPts val="0"/>
                </a:spcBef>
                <a:spcAft>
                  <a:spcPts val="0"/>
                </a:spcAft>
                <a:buNone/>
              </a:pPr>
              <a:r>
                <a:rPr b="0" lang="en" sz="2400">
                  <a:solidFill>
                    <a:srgbClr val="FFAB40"/>
                  </a:solidFill>
                  <a:latin typeface="Poppins ExtraBold"/>
                  <a:ea typeface="Poppins ExtraBold"/>
                  <a:cs typeface="Poppins ExtraBold"/>
                  <a:sym typeface="Poppins ExtraBold"/>
                </a:rPr>
                <a:t>+$12.57M</a:t>
              </a:r>
              <a:endParaRPr b="0" sz="2400">
                <a:solidFill>
                  <a:srgbClr val="FFAB40"/>
                </a:solidFill>
                <a:latin typeface="Poppins ExtraBold"/>
                <a:ea typeface="Poppins ExtraBold"/>
                <a:cs typeface="Poppins ExtraBold"/>
                <a:sym typeface="Poppins ExtraBold"/>
              </a:endParaRPr>
            </a:p>
            <a:p>
              <a:pPr indent="0" lvl="0" marL="0" rtl="0" algn="l">
                <a:spcBef>
                  <a:spcPts val="0"/>
                </a:spcBef>
                <a:spcAft>
                  <a:spcPts val="0"/>
                </a:spcAft>
                <a:buNone/>
              </a:pPr>
              <a:r>
                <a:rPr b="1" lang="en" sz="1200">
                  <a:solidFill>
                    <a:srgbClr val="56BCC7"/>
                  </a:solidFill>
                  <a:latin typeface="Poppins"/>
                  <a:ea typeface="Poppins"/>
                  <a:cs typeface="Poppins"/>
                  <a:sym typeface="Poppins"/>
                </a:rPr>
                <a:t>+29.5% Growth</a:t>
              </a:r>
              <a:endParaRPr b="1" sz="1200">
                <a:solidFill>
                  <a:srgbClr val="56BCC7"/>
                </a:solidFill>
                <a:latin typeface="Poppins"/>
                <a:ea typeface="Poppins"/>
                <a:cs typeface="Poppins"/>
                <a:sym typeface="Poppins"/>
              </a:endParaRPr>
            </a:p>
          </p:txBody>
        </p:sp>
      </p:grpSp>
      <p:grpSp>
        <p:nvGrpSpPr>
          <p:cNvPr id="1091" name="Google Shape;1091;p63"/>
          <p:cNvGrpSpPr/>
          <p:nvPr/>
        </p:nvGrpSpPr>
        <p:grpSpPr>
          <a:xfrm>
            <a:off x="381000" y="1419225"/>
            <a:ext cx="5540174" cy="2706900"/>
            <a:chOff x="0" y="180975"/>
            <a:chExt cx="5540174" cy="2706900"/>
          </a:xfrm>
        </p:grpSpPr>
        <p:cxnSp>
          <p:nvCxnSpPr>
            <p:cNvPr id="1092" name="Google Shape;1092;p63"/>
            <p:cNvCxnSpPr/>
            <p:nvPr/>
          </p:nvCxnSpPr>
          <p:spPr>
            <a:xfrm>
              <a:off x="571500" y="285750"/>
              <a:ext cx="47625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93" name="Google Shape;1093;p63"/>
            <p:cNvSpPr txBox="1"/>
            <p:nvPr/>
          </p:nvSpPr>
          <p:spPr>
            <a:xfrm>
              <a:off x="0" y="247650"/>
              <a:ext cx="294300" cy="15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94">
                  <a:solidFill>
                    <a:srgbClr val="64748B"/>
                  </a:solidFill>
                  <a:latin typeface="Poppins SemiBold"/>
                  <a:ea typeface="Poppins SemiBold"/>
                  <a:cs typeface="Poppins SemiBold"/>
                  <a:sym typeface="Poppins SemiBold"/>
                </a:rPr>
                <a:t>55.0M</a:t>
              </a:r>
              <a:endParaRPr b="0" sz="694">
                <a:solidFill>
                  <a:srgbClr val="64748B"/>
                </a:solidFill>
                <a:latin typeface="Poppins SemiBold"/>
                <a:ea typeface="Poppins SemiBold"/>
                <a:cs typeface="Poppins SemiBold"/>
                <a:sym typeface="Poppins SemiBold"/>
              </a:endParaRPr>
            </a:p>
          </p:txBody>
        </p:sp>
        <p:pic>
          <p:nvPicPr>
            <p:cNvPr id="1094" name="Google Shape;1094;p63"/>
            <p:cNvPicPr preferRelativeResize="0"/>
            <p:nvPr/>
          </p:nvPicPr>
          <p:blipFill rotWithShape="1">
            <a:blip r:embed="rId4">
              <a:alphaModFix/>
            </a:blip>
            <a:srcRect b="0" l="0" r="0" t="0"/>
            <a:stretch/>
          </p:blipFill>
          <p:spPr>
            <a:xfrm>
              <a:off x="571500" y="1042988"/>
              <a:ext cx="4762500" cy="9600"/>
            </a:xfrm>
            <a:prstGeom prst="rect">
              <a:avLst/>
            </a:prstGeom>
            <a:noFill/>
            <a:ln>
              <a:noFill/>
            </a:ln>
          </p:spPr>
        </p:pic>
        <p:sp>
          <p:nvSpPr>
            <p:cNvPr id="1095" name="Google Shape;1095;p63"/>
            <p:cNvSpPr txBox="1"/>
            <p:nvPr/>
          </p:nvSpPr>
          <p:spPr>
            <a:xfrm>
              <a:off x="0" y="1009650"/>
              <a:ext cx="294300" cy="15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94">
                  <a:solidFill>
                    <a:srgbClr val="64748B"/>
                  </a:solidFill>
                  <a:latin typeface="Poppins SemiBold"/>
                  <a:ea typeface="Poppins SemiBold"/>
                  <a:cs typeface="Poppins SemiBold"/>
                  <a:sym typeface="Poppins SemiBold"/>
                </a:rPr>
                <a:t>50.0M</a:t>
              </a:r>
              <a:endParaRPr b="0" sz="694">
                <a:solidFill>
                  <a:srgbClr val="64748B"/>
                </a:solidFill>
                <a:latin typeface="Poppins SemiBold"/>
                <a:ea typeface="Poppins SemiBold"/>
                <a:cs typeface="Poppins SemiBold"/>
                <a:sym typeface="Poppins SemiBold"/>
              </a:endParaRPr>
            </a:p>
          </p:txBody>
        </p:sp>
        <p:pic>
          <p:nvPicPr>
            <p:cNvPr id="1096" name="Google Shape;1096;p63"/>
            <p:cNvPicPr preferRelativeResize="0"/>
            <p:nvPr/>
          </p:nvPicPr>
          <p:blipFill rotWithShape="1">
            <a:blip r:embed="rId4">
              <a:alphaModFix/>
            </a:blip>
            <a:srcRect b="0" l="0" r="0" t="0"/>
            <a:stretch/>
          </p:blipFill>
          <p:spPr>
            <a:xfrm>
              <a:off x="571500" y="1804988"/>
              <a:ext cx="4762500" cy="9600"/>
            </a:xfrm>
            <a:prstGeom prst="rect">
              <a:avLst/>
            </a:prstGeom>
            <a:noFill/>
            <a:ln>
              <a:noFill/>
            </a:ln>
          </p:spPr>
        </p:pic>
        <p:sp>
          <p:nvSpPr>
            <p:cNvPr id="1097" name="Google Shape;1097;p63"/>
            <p:cNvSpPr txBox="1"/>
            <p:nvPr/>
          </p:nvSpPr>
          <p:spPr>
            <a:xfrm>
              <a:off x="0" y="1771650"/>
              <a:ext cx="294300" cy="15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94">
                  <a:solidFill>
                    <a:srgbClr val="64748B"/>
                  </a:solidFill>
                  <a:latin typeface="Poppins SemiBold"/>
                  <a:ea typeface="Poppins SemiBold"/>
                  <a:cs typeface="Poppins SemiBold"/>
                  <a:sym typeface="Poppins SemiBold"/>
                </a:rPr>
                <a:t>45.0M</a:t>
              </a:r>
              <a:endParaRPr b="0" sz="694">
                <a:solidFill>
                  <a:srgbClr val="64748B"/>
                </a:solidFill>
                <a:latin typeface="Poppins SemiBold"/>
                <a:ea typeface="Poppins SemiBold"/>
                <a:cs typeface="Poppins SemiBold"/>
                <a:sym typeface="Poppins SemiBold"/>
              </a:endParaRPr>
            </a:p>
          </p:txBody>
        </p:sp>
        <p:cxnSp>
          <p:nvCxnSpPr>
            <p:cNvPr id="1098" name="Google Shape;1098;p63"/>
            <p:cNvCxnSpPr/>
            <p:nvPr/>
          </p:nvCxnSpPr>
          <p:spPr>
            <a:xfrm>
              <a:off x="571500" y="2571750"/>
              <a:ext cx="4762500" cy="0"/>
            </a:xfrm>
            <a:prstGeom prst="straightConnector1">
              <a:avLst/>
            </a:prstGeom>
            <a:solidFill>
              <a:srgbClr val="FFFFFF"/>
            </a:solidFill>
            <a:ln cap="flat" cmpd="sng" w="14300">
              <a:solidFill>
                <a:srgbClr val="64748B"/>
              </a:solidFill>
              <a:prstDash val="solid"/>
              <a:round/>
              <a:headEnd len="sm" w="sm" type="none"/>
              <a:tailEnd len="sm" w="sm" type="none"/>
            </a:ln>
          </p:spPr>
        </p:cxnSp>
        <p:sp>
          <p:nvSpPr>
            <p:cNvPr id="1099" name="Google Shape;1099;p63"/>
            <p:cNvSpPr txBox="1"/>
            <p:nvPr/>
          </p:nvSpPr>
          <p:spPr>
            <a:xfrm>
              <a:off x="0" y="2533650"/>
              <a:ext cx="294300" cy="15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94">
                  <a:solidFill>
                    <a:srgbClr val="64748B"/>
                  </a:solidFill>
                  <a:latin typeface="Poppins SemiBold"/>
                  <a:ea typeface="Poppins SemiBold"/>
                  <a:cs typeface="Poppins SemiBold"/>
                  <a:sym typeface="Poppins SemiBold"/>
                </a:rPr>
                <a:t>40.0M</a:t>
              </a:r>
              <a:endParaRPr b="0" sz="694">
                <a:solidFill>
                  <a:srgbClr val="64748B"/>
                </a:solidFill>
                <a:latin typeface="Poppins SemiBold"/>
                <a:ea typeface="Poppins SemiBold"/>
                <a:cs typeface="Poppins SemiBold"/>
                <a:sym typeface="Poppins SemiBold"/>
              </a:endParaRPr>
            </a:p>
          </p:txBody>
        </p:sp>
        <p:sp>
          <p:nvSpPr>
            <p:cNvPr id="1100" name="Google Shape;1100;p63"/>
            <p:cNvSpPr txBox="1"/>
            <p:nvPr/>
          </p:nvSpPr>
          <p:spPr>
            <a:xfrm>
              <a:off x="394907" y="2733675"/>
              <a:ext cx="3531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64748B"/>
                  </a:solidFill>
                  <a:latin typeface="Poppins"/>
                  <a:ea typeface="Poppins"/>
                  <a:cs typeface="Poppins"/>
                  <a:sym typeface="Poppins"/>
                </a:rPr>
                <a:t>FY2023</a:t>
              </a:r>
              <a:endParaRPr b="1" sz="750">
                <a:solidFill>
                  <a:srgbClr val="64748B"/>
                </a:solidFill>
                <a:latin typeface="Poppins"/>
                <a:ea typeface="Poppins"/>
                <a:cs typeface="Poppins"/>
                <a:sym typeface="Poppins"/>
              </a:endParaRPr>
            </a:p>
          </p:txBody>
        </p:sp>
        <p:sp>
          <p:nvSpPr>
            <p:cNvPr id="1101" name="Google Shape;1101;p63"/>
            <p:cNvSpPr txBox="1"/>
            <p:nvPr/>
          </p:nvSpPr>
          <p:spPr>
            <a:xfrm>
              <a:off x="1347406" y="2733675"/>
              <a:ext cx="3531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64748B"/>
                  </a:solidFill>
                  <a:latin typeface="Poppins"/>
                  <a:ea typeface="Poppins"/>
                  <a:cs typeface="Poppins"/>
                  <a:sym typeface="Poppins"/>
                </a:rPr>
                <a:t>FY2024</a:t>
              </a:r>
              <a:endParaRPr b="1" sz="750">
                <a:solidFill>
                  <a:srgbClr val="64748B"/>
                </a:solidFill>
                <a:latin typeface="Poppins"/>
                <a:ea typeface="Poppins"/>
                <a:cs typeface="Poppins"/>
                <a:sym typeface="Poppins"/>
              </a:endParaRPr>
            </a:p>
          </p:txBody>
        </p:sp>
        <p:sp>
          <p:nvSpPr>
            <p:cNvPr id="1102" name="Google Shape;1102;p63"/>
            <p:cNvSpPr txBox="1"/>
            <p:nvPr/>
          </p:nvSpPr>
          <p:spPr>
            <a:xfrm>
              <a:off x="2299907" y="2733675"/>
              <a:ext cx="3531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64748B"/>
                  </a:solidFill>
                  <a:latin typeface="Poppins"/>
                  <a:ea typeface="Poppins"/>
                  <a:cs typeface="Poppins"/>
                  <a:sym typeface="Poppins"/>
                </a:rPr>
                <a:t>FY2025</a:t>
              </a:r>
              <a:endParaRPr b="1" sz="750">
                <a:solidFill>
                  <a:srgbClr val="64748B"/>
                </a:solidFill>
                <a:latin typeface="Poppins"/>
                <a:ea typeface="Poppins"/>
                <a:cs typeface="Poppins"/>
                <a:sym typeface="Poppins"/>
              </a:endParaRPr>
            </a:p>
          </p:txBody>
        </p:sp>
        <p:sp>
          <p:nvSpPr>
            <p:cNvPr id="1103" name="Google Shape;1103;p63"/>
            <p:cNvSpPr txBox="1"/>
            <p:nvPr/>
          </p:nvSpPr>
          <p:spPr>
            <a:xfrm>
              <a:off x="3252407" y="2733675"/>
              <a:ext cx="3531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64748B"/>
                  </a:solidFill>
                  <a:latin typeface="Poppins"/>
                  <a:ea typeface="Poppins"/>
                  <a:cs typeface="Poppins"/>
                  <a:sym typeface="Poppins"/>
                </a:rPr>
                <a:t>FY2026</a:t>
              </a:r>
              <a:endParaRPr b="1" sz="750">
                <a:solidFill>
                  <a:srgbClr val="64748B"/>
                </a:solidFill>
                <a:latin typeface="Poppins"/>
                <a:ea typeface="Poppins"/>
                <a:cs typeface="Poppins"/>
                <a:sym typeface="Poppins"/>
              </a:endParaRPr>
            </a:p>
          </p:txBody>
        </p:sp>
        <p:sp>
          <p:nvSpPr>
            <p:cNvPr id="1104" name="Google Shape;1104;p63"/>
            <p:cNvSpPr txBox="1"/>
            <p:nvPr/>
          </p:nvSpPr>
          <p:spPr>
            <a:xfrm>
              <a:off x="4204907" y="2733675"/>
              <a:ext cx="3531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64748B"/>
                  </a:solidFill>
                  <a:latin typeface="Poppins"/>
                  <a:ea typeface="Poppins"/>
                  <a:cs typeface="Poppins"/>
                  <a:sym typeface="Poppins"/>
                </a:rPr>
                <a:t>FY2027</a:t>
              </a:r>
              <a:endParaRPr b="1" sz="750">
                <a:solidFill>
                  <a:srgbClr val="64748B"/>
                </a:solidFill>
                <a:latin typeface="Poppins"/>
                <a:ea typeface="Poppins"/>
                <a:cs typeface="Poppins"/>
                <a:sym typeface="Poppins"/>
              </a:endParaRPr>
            </a:p>
          </p:txBody>
        </p:sp>
        <p:sp>
          <p:nvSpPr>
            <p:cNvPr id="1105" name="Google Shape;1105;p63"/>
            <p:cNvSpPr txBox="1"/>
            <p:nvPr/>
          </p:nvSpPr>
          <p:spPr>
            <a:xfrm>
              <a:off x="5127974" y="2733675"/>
              <a:ext cx="4122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chemeClr val="dk1"/>
                  </a:solidFill>
                  <a:latin typeface="Poppins ExtraBold"/>
                  <a:ea typeface="Poppins ExtraBold"/>
                  <a:cs typeface="Poppins ExtraBold"/>
                  <a:sym typeface="Poppins ExtraBold"/>
                </a:rPr>
                <a:t>F</a:t>
              </a:r>
              <a:r>
                <a:rPr lang="en" sz="750">
                  <a:solidFill>
                    <a:schemeClr val="dk1"/>
                  </a:solidFill>
                  <a:latin typeface="Poppins ExtraBold"/>
                  <a:ea typeface="Poppins ExtraBold"/>
                  <a:cs typeface="Poppins ExtraBold"/>
                  <a:sym typeface="Poppins ExtraBold"/>
                </a:rPr>
                <a:t>Y2028*</a:t>
              </a:r>
              <a:endParaRPr sz="750">
                <a:solidFill>
                  <a:schemeClr val="dk1"/>
                </a:solidFill>
                <a:latin typeface="Poppins ExtraBold"/>
                <a:ea typeface="Poppins ExtraBold"/>
                <a:cs typeface="Poppins ExtraBold"/>
                <a:sym typeface="Poppins ExtraBold"/>
              </a:endParaRPr>
            </a:p>
          </p:txBody>
        </p:sp>
        <p:pic>
          <p:nvPicPr>
            <p:cNvPr id="1106" name="Google Shape;1106;p63"/>
            <p:cNvPicPr preferRelativeResize="0"/>
            <p:nvPr/>
          </p:nvPicPr>
          <p:blipFill rotWithShape="1">
            <a:blip r:embed="rId5">
              <a:alphaModFix/>
            </a:blip>
            <a:srcRect b="0" l="0" r="0" t="0"/>
            <a:stretch/>
          </p:blipFill>
          <p:spPr>
            <a:xfrm>
              <a:off x="533400" y="209550"/>
              <a:ext cx="4838700" cy="1990800"/>
            </a:xfrm>
            <a:prstGeom prst="rect">
              <a:avLst/>
            </a:prstGeom>
            <a:noFill/>
            <a:ln>
              <a:noFill/>
            </a:ln>
          </p:spPr>
        </p:pic>
        <p:sp>
          <p:nvSpPr>
            <p:cNvPr id="1107" name="Google Shape;1107;p63"/>
            <p:cNvSpPr/>
            <p:nvPr/>
          </p:nvSpPr>
          <p:spPr>
            <a:xfrm>
              <a:off x="571500" y="247650"/>
              <a:ext cx="4762500" cy="1914600"/>
            </a:xfrm>
            <a:custGeom>
              <a:rect b="b" l="l" r="r" t="t"/>
              <a:pathLst>
                <a:path extrusionOk="0" h="120000" w="120000">
                  <a:moveTo>
                    <a:pt x="0" y="120000"/>
                  </a:moveTo>
                  <a:lnTo>
                    <a:pt x="24000" y="93731"/>
                  </a:lnTo>
                  <a:lnTo>
                    <a:pt x="48000" y="70448"/>
                  </a:lnTo>
                  <a:lnTo>
                    <a:pt x="72000" y="57910"/>
                  </a:lnTo>
                  <a:lnTo>
                    <a:pt x="96000" y="32239"/>
                  </a:lnTo>
                  <a:lnTo>
                    <a:pt x="120000" y="0"/>
                  </a:lnTo>
                </a:path>
              </a:pathLst>
            </a:custGeom>
            <a:solidFill>
              <a:srgbClr val="000000">
                <a:alpha val="0"/>
              </a:srgbClr>
            </a:solidFill>
            <a:ln cap="rnd" cmpd="sng" w="38100">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8" name="Google Shape;1108;p63"/>
            <p:cNvSpPr/>
            <p:nvPr/>
          </p:nvSpPr>
          <p:spPr>
            <a:xfrm>
              <a:off x="523875" y="2114550"/>
              <a:ext cx="95400" cy="95400"/>
            </a:xfrm>
            <a:prstGeom prst="ellipse">
              <a:avLst/>
            </a:prstGeom>
            <a:solidFill>
              <a:srgbClr val="FFFFFF"/>
            </a:solidFill>
            <a:ln cap="flat" cmpd="sng" w="28575">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9" name="Google Shape;1109;p63"/>
            <p:cNvSpPr/>
            <p:nvPr/>
          </p:nvSpPr>
          <p:spPr>
            <a:xfrm>
              <a:off x="1476375" y="1695450"/>
              <a:ext cx="95400" cy="95400"/>
            </a:xfrm>
            <a:prstGeom prst="ellipse">
              <a:avLst/>
            </a:prstGeom>
            <a:solidFill>
              <a:srgbClr val="FFFFFF"/>
            </a:solidFill>
            <a:ln cap="flat" cmpd="sng" w="28575">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0" name="Google Shape;1110;p63"/>
            <p:cNvSpPr/>
            <p:nvPr/>
          </p:nvSpPr>
          <p:spPr>
            <a:xfrm>
              <a:off x="2428875" y="1323975"/>
              <a:ext cx="95400" cy="95400"/>
            </a:xfrm>
            <a:prstGeom prst="ellipse">
              <a:avLst/>
            </a:prstGeom>
            <a:solidFill>
              <a:srgbClr val="FFFFFF"/>
            </a:solidFill>
            <a:ln cap="flat" cmpd="sng" w="28575">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1" name="Google Shape;1111;p63"/>
            <p:cNvSpPr/>
            <p:nvPr/>
          </p:nvSpPr>
          <p:spPr>
            <a:xfrm>
              <a:off x="3381375" y="1123950"/>
              <a:ext cx="95400" cy="95400"/>
            </a:xfrm>
            <a:prstGeom prst="ellipse">
              <a:avLst/>
            </a:prstGeom>
            <a:solidFill>
              <a:srgbClr val="FFFFFF"/>
            </a:solidFill>
            <a:ln cap="flat" cmpd="sng" w="28575">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2" name="Google Shape;1112;p63"/>
            <p:cNvSpPr/>
            <p:nvPr/>
          </p:nvSpPr>
          <p:spPr>
            <a:xfrm>
              <a:off x="4333875" y="714375"/>
              <a:ext cx="95400" cy="95400"/>
            </a:xfrm>
            <a:prstGeom prst="ellipse">
              <a:avLst/>
            </a:prstGeom>
            <a:solidFill>
              <a:srgbClr val="FFFFFF"/>
            </a:solidFill>
            <a:ln cap="flat" cmpd="sng" w="28575">
              <a:solidFill>
                <a:srgbClr val="346F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3" name="Google Shape;1113;p63"/>
            <p:cNvSpPr/>
            <p:nvPr/>
          </p:nvSpPr>
          <p:spPr>
            <a:xfrm>
              <a:off x="5267325" y="180975"/>
              <a:ext cx="133500" cy="133500"/>
            </a:xfrm>
            <a:prstGeom prst="ellipse">
              <a:avLst/>
            </a:prstGeom>
            <a:solidFill>
              <a:srgbClr val="FFAB40"/>
            </a:solidFill>
            <a:ln cap="flat" cmpd="sng" w="28575">
              <a:solidFill>
                <a:srgbClr val="1B385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14" name="Google Shape;1114;p63"/>
          <p:cNvSpPr txBox="1"/>
          <p:nvPr/>
        </p:nvSpPr>
        <p:spPr>
          <a:xfrm>
            <a:off x="381000" y="4429125"/>
            <a:ext cx="5524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3">
                <a:solidFill>
                  <a:srgbClr val="1B3859"/>
                </a:solidFill>
                <a:latin typeface="Poppins"/>
                <a:ea typeface="Poppins"/>
                <a:cs typeface="Poppins"/>
                <a:sym typeface="Poppins"/>
              </a:rPr>
              <a:t>Year-over-Year Increase:</a:t>
            </a:r>
            <a:r>
              <a:rPr b="0" lang="en" sz="723">
                <a:solidFill>
                  <a:srgbClr val="64748B"/>
                </a:solidFill>
                <a:latin typeface="Poppins SemiBold"/>
                <a:ea typeface="Poppins SemiBold"/>
                <a:cs typeface="Poppins SemiBold"/>
                <a:sym typeface="Poppins SemiBold"/>
              </a:rPr>
              <a:t> 5.60% (FY24) • 6.50% (FY25) • 5.40% (FY26) • 2.75% (FY27) • 5.43% (FY28*) • 6.43% projected overall</a:t>
            </a:r>
            <a:endParaRPr b="0" sz="723">
              <a:solidFill>
                <a:srgbClr val="64748B"/>
              </a:solidFill>
              <a:latin typeface="Poppins SemiBold"/>
              <a:ea typeface="Poppins SemiBold"/>
              <a:cs typeface="Poppins SemiBold"/>
              <a:sym typeface="Poppins SemiBold"/>
            </a:endParaRPr>
          </a:p>
          <a:p>
            <a:pPr indent="0" lvl="0" marL="0" rtl="0" algn="l">
              <a:spcBef>
                <a:spcPts val="225"/>
              </a:spcBef>
              <a:spcAft>
                <a:spcPts val="0"/>
              </a:spcAft>
              <a:buNone/>
            </a:pPr>
            <a:r>
              <a:rPr lang="en" sz="723">
                <a:solidFill>
                  <a:srgbClr val="94A3B8"/>
                </a:solidFill>
                <a:latin typeface="Poppins"/>
                <a:ea typeface="Poppins"/>
                <a:cs typeface="Poppins"/>
                <a:sym typeface="Poppins"/>
              </a:rPr>
              <a:t>Source: HUUSD budget data provided. *FY2028 is projected.</a:t>
            </a:r>
            <a:endParaRPr sz="723">
              <a:solidFill>
                <a:srgbClr val="94A3B8"/>
              </a:solidFill>
              <a:latin typeface="Poppins"/>
              <a:ea typeface="Poppins"/>
              <a:cs typeface="Poppins"/>
              <a:sym typeface="Poppi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8" name="Shape 1118"/>
        <p:cNvGrpSpPr/>
        <p:nvPr/>
      </p:nvGrpSpPr>
      <p:grpSpPr>
        <a:xfrm>
          <a:off x="0" y="0"/>
          <a:ext cx="0" cy="0"/>
          <a:chOff x="0" y="0"/>
          <a:chExt cx="0" cy="0"/>
        </a:xfrm>
      </p:grpSpPr>
      <p:grpSp>
        <p:nvGrpSpPr>
          <p:cNvPr id="1119" name="Google Shape;1119;p64"/>
          <p:cNvGrpSpPr/>
          <p:nvPr/>
        </p:nvGrpSpPr>
        <p:grpSpPr>
          <a:xfrm>
            <a:off x="381000" y="238125"/>
            <a:ext cx="8382000" cy="619200"/>
            <a:chOff x="0" y="0"/>
            <a:chExt cx="8382000" cy="619200"/>
          </a:xfrm>
        </p:grpSpPr>
        <p:sp>
          <p:nvSpPr>
            <p:cNvPr id="1120" name="Google Shape;1120;p64"/>
            <p:cNvSpPr/>
            <p:nvPr/>
          </p:nvSpPr>
          <p:spPr>
            <a:xfrm>
              <a:off x="0" y="0"/>
              <a:ext cx="8382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1" name="Google Shape;1121;p64"/>
            <p:cNvSpPr txBox="1"/>
            <p:nvPr/>
          </p:nvSpPr>
          <p:spPr>
            <a:xfrm>
              <a:off x="0" y="0"/>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How did we get here?</a:t>
              </a:r>
              <a:endParaRPr b="0" sz="2400">
                <a:solidFill>
                  <a:srgbClr val="1B3859"/>
                </a:solidFill>
                <a:latin typeface="Poppins ExtraBold"/>
                <a:ea typeface="Poppins ExtraBold"/>
                <a:cs typeface="Poppins ExtraBold"/>
                <a:sym typeface="Poppins ExtraBold"/>
              </a:endParaRPr>
            </a:p>
            <a:p>
              <a:pPr indent="0" lvl="0" marL="0" rtl="0" algn="l">
                <a:spcBef>
                  <a:spcPts val="400"/>
                </a:spcBef>
                <a:spcAft>
                  <a:spcPts val="0"/>
                </a:spcAft>
                <a:buNone/>
              </a:pPr>
              <a:r>
                <a:rPr b="0" lang="en" sz="1050">
                  <a:solidFill>
                    <a:srgbClr val="475569"/>
                  </a:solidFill>
                  <a:latin typeface="Poppins"/>
                  <a:ea typeface="Poppins"/>
                  <a:cs typeface="Poppins"/>
                  <a:sym typeface="Poppins"/>
                </a:rPr>
                <a:t>Key historical and structural factors limiting the District's financial flexibility</a:t>
              </a:r>
              <a:endParaRPr b="0" sz="1050">
                <a:solidFill>
                  <a:srgbClr val="475569"/>
                </a:solidFill>
                <a:latin typeface="Poppins"/>
                <a:ea typeface="Poppins"/>
                <a:cs typeface="Poppins"/>
                <a:sym typeface="Poppins"/>
              </a:endParaRPr>
            </a:p>
          </p:txBody>
        </p:sp>
      </p:grpSp>
      <p:grpSp>
        <p:nvGrpSpPr>
          <p:cNvPr id="1122" name="Google Shape;1122;p64"/>
          <p:cNvGrpSpPr/>
          <p:nvPr/>
        </p:nvGrpSpPr>
        <p:grpSpPr>
          <a:xfrm>
            <a:off x="381000" y="1000125"/>
            <a:ext cx="2628900" cy="1381200"/>
            <a:chOff x="0" y="0"/>
            <a:chExt cx="2628900" cy="1381200"/>
          </a:xfrm>
        </p:grpSpPr>
        <p:sp>
          <p:nvSpPr>
            <p:cNvPr id="1123" name="Google Shape;1123;p64"/>
            <p:cNvSpPr/>
            <p:nvPr/>
          </p:nvSpPr>
          <p:spPr>
            <a:xfrm>
              <a:off x="0" y="0"/>
              <a:ext cx="26289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4" name="Google Shape;1124;p64"/>
            <p:cNvSpPr/>
            <p:nvPr/>
          </p:nvSpPr>
          <p:spPr>
            <a:xfrm>
              <a:off x="0" y="0"/>
              <a:ext cx="47700" cy="1381200"/>
            </a:xfrm>
            <a:prstGeom prst="roundRect">
              <a:avLst>
                <a:gd fmla="val 4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5" name="Google Shape;1125;p64"/>
            <p:cNvSpPr txBox="1"/>
            <p:nvPr/>
          </p:nvSpPr>
          <p:spPr>
            <a:xfrm>
              <a:off x="171450" y="0"/>
              <a:ext cx="23337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Spending Threshold Limits</a:t>
              </a:r>
              <a:endParaRPr b="1" sz="1100">
                <a:solidFill>
                  <a:srgbClr val="1B3859"/>
                </a:solidFill>
                <a:latin typeface="Poppins"/>
                <a:ea typeface="Poppins"/>
                <a:cs typeface="Poppins"/>
                <a:sym typeface="Poppins"/>
              </a:endParaRPr>
            </a:p>
            <a:p>
              <a:pPr indent="0" lvl="0" marL="0" rtl="0" algn="l">
                <a:spcBef>
                  <a:spcPts val="500"/>
                </a:spcBef>
                <a:spcAft>
                  <a:spcPts val="0"/>
                </a:spcAft>
                <a:buNone/>
              </a:pPr>
              <a:r>
                <a:rPr b="0" lang="en" sz="950">
                  <a:solidFill>
                    <a:srgbClr val="475569"/>
                  </a:solidFill>
                  <a:latin typeface="Poppins"/>
                  <a:ea typeface="Poppins"/>
                  <a:cs typeface="Poppins"/>
                  <a:sym typeface="Poppins"/>
                </a:rPr>
                <a:t>The last ten years of </a:t>
              </a:r>
              <a:r>
                <a:rPr b="1" lang="en" sz="950">
                  <a:solidFill>
                    <a:srgbClr val="475569"/>
                  </a:solidFill>
                  <a:latin typeface="Poppins"/>
                  <a:ea typeface="Poppins"/>
                  <a:cs typeface="Poppins"/>
                  <a:sym typeface="Poppins"/>
                </a:rPr>
                <a:t>operating near the excess spending threshold</a:t>
              </a:r>
              <a:r>
                <a:rPr b="0" lang="en" sz="950">
                  <a:solidFill>
                    <a:srgbClr val="475569"/>
                  </a:solidFill>
                  <a:latin typeface="Poppins"/>
                  <a:ea typeface="Poppins"/>
                  <a:cs typeface="Poppins"/>
                  <a:sym typeface="Poppins"/>
                </a:rPr>
                <a:t> have limited the District's financial flexibility.</a:t>
              </a:r>
              <a:endParaRPr b="0" sz="950">
                <a:solidFill>
                  <a:srgbClr val="475569"/>
                </a:solidFill>
                <a:latin typeface="Poppins"/>
                <a:ea typeface="Poppins"/>
                <a:cs typeface="Poppins"/>
                <a:sym typeface="Poppins"/>
              </a:endParaRPr>
            </a:p>
          </p:txBody>
        </p:sp>
      </p:grpSp>
      <p:grpSp>
        <p:nvGrpSpPr>
          <p:cNvPr id="1126" name="Google Shape;1126;p64"/>
          <p:cNvGrpSpPr/>
          <p:nvPr/>
        </p:nvGrpSpPr>
        <p:grpSpPr>
          <a:xfrm>
            <a:off x="3257550" y="1000125"/>
            <a:ext cx="2628900" cy="1381200"/>
            <a:chOff x="0" y="0"/>
            <a:chExt cx="2628900" cy="1381200"/>
          </a:xfrm>
        </p:grpSpPr>
        <p:sp>
          <p:nvSpPr>
            <p:cNvPr id="1127" name="Google Shape;1127;p64"/>
            <p:cNvSpPr/>
            <p:nvPr/>
          </p:nvSpPr>
          <p:spPr>
            <a:xfrm>
              <a:off x="0" y="0"/>
              <a:ext cx="26289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8" name="Google Shape;1128;p64"/>
            <p:cNvSpPr/>
            <p:nvPr/>
          </p:nvSpPr>
          <p:spPr>
            <a:xfrm>
              <a:off x="0" y="0"/>
              <a:ext cx="47700" cy="1381200"/>
            </a:xfrm>
            <a:prstGeom prst="roundRect">
              <a:avLst>
                <a:gd fmla="val 40000" name="adj"/>
              </a:avLst>
            </a:prstGeom>
            <a:solidFill>
              <a:srgbClr val="B446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9" name="Google Shape;1129;p64"/>
            <p:cNvSpPr txBox="1"/>
            <p:nvPr/>
          </p:nvSpPr>
          <p:spPr>
            <a:xfrm>
              <a:off x="171450" y="0"/>
              <a:ext cx="23337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Rising Cost of Education</a:t>
              </a:r>
              <a:endParaRPr b="1" sz="1100">
                <a:solidFill>
                  <a:srgbClr val="1B3859"/>
                </a:solidFill>
                <a:latin typeface="Poppins"/>
                <a:ea typeface="Poppins"/>
                <a:cs typeface="Poppins"/>
                <a:sym typeface="Poppins"/>
              </a:endParaRPr>
            </a:p>
            <a:p>
              <a:pPr indent="0" lvl="0" marL="0" rtl="0" algn="l">
                <a:spcBef>
                  <a:spcPts val="500"/>
                </a:spcBef>
                <a:spcAft>
                  <a:spcPts val="0"/>
                </a:spcAft>
                <a:buNone/>
              </a:pPr>
              <a:r>
                <a:rPr b="0" lang="en" sz="950">
                  <a:solidFill>
                    <a:srgbClr val="475569"/>
                  </a:solidFill>
                  <a:latin typeface="Poppins"/>
                  <a:ea typeface="Poppins"/>
                  <a:cs typeface="Poppins"/>
                  <a:sym typeface="Poppins"/>
                </a:rPr>
                <a:t>The cost of education has continued to increase, particularly salaries, </a:t>
              </a:r>
              <a:r>
                <a:rPr b="1" lang="en" sz="950">
                  <a:solidFill>
                    <a:srgbClr val="475569"/>
                  </a:solidFill>
                  <a:latin typeface="Poppins"/>
                  <a:ea typeface="Poppins"/>
                  <a:cs typeface="Poppins"/>
                  <a:sym typeface="Poppins"/>
                </a:rPr>
                <a:t>health insurance</a:t>
              </a:r>
              <a:r>
                <a:rPr b="0" lang="en" sz="950">
                  <a:solidFill>
                    <a:srgbClr val="475569"/>
                  </a:solidFill>
                  <a:latin typeface="Poppins"/>
                  <a:ea typeface="Poppins"/>
                  <a:cs typeface="Poppins"/>
                  <a:sym typeface="Poppins"/>
                </a:rPr>
                <a:t>, transportation, facilities, and other operating costs.</a:t>
              </a:r>
              <a:endParaRPr b="0" sz="950">
                <a:solidFill>
                  <a:srgbClr val="475569"/>
                </a:solidFill>
                <a:latin typeface="Poppins"/>
                <a:ea typeface="Poppins"/>
                <a:cs typeface="Poppins"/>
                <a:sym typeface="Poppins"/>
              </a:endParaRPr>
            </a:p>
          </p:txBody>
        </p:sp>
      </p:grpSp>
      <p:grpSp>
        <p:nvGrpSpPr>
          <p:cNvPr id="1130" name="Google Shape;1130;p64"/>
          <p:cNvGrpSpPr/>
          <p:nvPr/>
        </p:nvGrpSpPr>
        <p:grpSpPr>
          <a:xfrm>
            <a:off x="6134100" y="1000125"/>
            <a:ext cx="2628900" cy="1381200"/>
            <a:chOff x="0" y="0"/>
            <a:chExt cx="2628900" cy="1381200"/>
          </a:xfrm>
        </p:grpSpPr>
        <p:sp>
          <p:nvSpPr>
            <p:cNvPr id="1131" name="Google Shape;1131;p64"/>
            <p:cNvSpPr/>
            <p:nvPr/>
          </p:nvSpPr>
          <p:spPr>
            <a:xfrm>
              <a:off x="0" y="0"/>
              <a:ext cx="26289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2" name="Google Shape;1132;p64"/>
            <p:cNvSpPr/>
            <p:nvPr/>
          </p:nvSpPr>
          <p:spPr>
            <a:xfrm>
              <a:off x="0" y="0"/>
              <a:ext cx="47700" cy="1381200"/>
            </a:xfrm>
            <a:prstGeom prst="roundRect">
              <a:avLst>
                <a:gd fmla="val 40000" name="adj"/>
              </a:avLst>
            </a:prstGeom>
            <a:solidFill>
              <a:srgbClr val="4A829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3" name="Google Shape;1133;p64"/>
            <p:cNvSpPr txBox="1"/>
            <p:nvPr/>
          </p:nvSpPr>
          <p:spPr>
            <a:xfrm>
              <a:off x="171450" y="0"/>
              <a:ext cx="23337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External Cost Pressures</a:t>
              </a:r>
              <a:endParaRPr b="1" sz="1100">
                <a:solidFill>
                  <a:srgbClr val="1B3859"/>
                </a:solidFill>
                <a:latin typeface="Poppins"/>
                <a:ea typeface="Poppins"/>
                <a:cs typeface="Poppins"/>
                <a:sym typeface="Poppins"/>
              </a:endParaRPr>
            </a:p>
            <a:p>
              <a:pPr indent="0" lvl="0" marL="0" rtl="0" algn="l">
                <a:spcBef>
                  <a:spcPts val="500"/>
                </a:spcBef>
                <a:spcAft>
                  <a:spcPts val="0"/>
                </a:spcAft>
                <a:buNone/>
              </a:pPr>
              <a:r>
                <a:rPr b="0" lang="en" sz="950">
                  <a:solidFill>
                    <a:srgbClr val="475569"/>
                  </a:solidFill>
                  <a:latin typeface="Poppins"/>
                  <a:ea typeface="Poppins"/>
                  <a:cs typeface="Poppins"/>
                  <a:sym typeface="Poppins"/>
                </a:rPr>
                <a:t>Many cost increases are </a:t>
              </a:r>
              <a:r>
                <a:rPr b="1" lang="en" sz="950">
                  <a:solidFill>
                    <a:srgbClr val="475569"/>
                  </a:solidFill>
                  <a:latin typeface="Poppins"/>
                  <a:ea typeface="Poppins"/>
                  <a:cs typeface="Poppins"/>
                  <a:sym typeface="Poppins"/>
                </a:rPr>
                <a:t>outside the District's direct control</a:t>
              </a:r>
              <a:r>
                <a:rPr b="0" lang="en" sz="950">
                  <a:solidFill>
                    <a:srgbClr val="475569"/>
                  </a:solidFill>
                  <a:latin typeface="Poppins"/>
                  <a:ea typeface="Poppins"/>
                  <a:cs typeface="Poppins"/>
                  <a:sym typeface="Poppins"/>
                </a:rPr>
                <a:t>, while opportunities to reduce costs without affecting students have become increasingly limited.</a:t>
              </a:r>
              <a:endParaRPr b="0" sz="950">
                <a:solidFill>
                  <a:srgbClr val="475569"/>
                </a:solidFill>
                <a:latin typeface="Poppins"/>
                <a:ea typeface="Poppins"/>
                <a:cs typeface="Poppins"/>
                <a:sym typeface="Poppins"/>
              </a:endParaRPr>
            </a:p>
          </p:txBody>
        </p:sp>
      </p:grpSp>
      <p:grpSp>
        <p:nvGrpSpPr>
          <p:cNvPr id="1134" name="Google Shape;1134;p64"/>
          <p:cNvGrpSpPr/>
          <p:nvPr/>
        </p:nvGrpSpPr>
        <p:grpSpPr>
          <a:xfrm>
            <a:off x="381000" y="2524125"/>
            <a:ext cx="4067100" cy="1381200"/>
            <a:chOff x="0" y="0"/>
            <a:chExt cx="4067100" cy="1381200"/>
          </a:xfrm>
        </p:grpSpPr>
        <p:sp>
          <p:nvSpPr>
            <p:cNvPr id="1135" name="Google Shape;1135;p64"/>
            <p:cNvSpPr/>
            <p:nvPr/>
          </p:nvSpPr>
          <p:spPr>
            <a:xfrm>
              <a:off x="0" y="0"/>
              <a:ext cx="40671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6" name="Google Shape;1136;p64"/>
            <p:cNvSpPr/>
            <p:nvPr/>
          </p:nvSpPr>
          <p:spPr>
            <a:xfrm>
              <a:off x="0" y="0"/>
              <a:ext cx="47700" cy="1381200"/>
            </a:xfrm>
            <a:prstGeom prst="roundRect">
              <a:avLst>
                <a:gd fmla="val 40000"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7" name="Google Shape;1137;p64"/>
            <p:cNvSpPr txBox="1"/>
            <p:nvPr/>
          </p:nvSpPr>
          <p:spPr>
            <a:xfrm>
              <a:off x="190500" y="0"/>
              <a:ext cx="37338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Significant Prior Reductions</a:t>
              </a:r>
              <a:endParaRPr b="1" sz="1100">
                <a:solidFill>
                  <a:srgbClr val="1B3859"/>
                </a:solidFill>
                <a:latin typeface="Poppins"/>
                <a:ea typeface="Poppins"/>
                <a:cs typeface="Poppins"/>
                <a:sym typeface="Poppins"/>
              </a:endParaRPr>
            </a:p>
            <a:p>
              <a:pPr indent="0" lvl="0" marL="0" rtl="0" algn="l">
                <a:spcBef>
                  <a:spcPts val="500"/>
                </a:spcBef>
                <a:spcAft>
                  <a:spcPts val="0"/>
                </a:spcAft>
                <a:buNone/>
              </a:pPr>
              <a:r>
                <a:rPr b="0" lang="en" sz="950">
                  <a:solidFill>
                    <a:srgbClr val="475569"/>
                  </a:solidFill>
                  <a:latin typeface="Poppins"/>
                  <a:ea typeface="Poppins"/>
                  <a:cs typeface="Poppins"/>
                  <a:sym typeface="Poppins"/>
                </a:rPr>
                <a:t>HUUSD has already made significant reductions—approximately </a:t>
              </a:r>
              <a:r>
                <a:rPr b="1" lang="en" sz="950">
                  <a:solidFill>
                    <a:srgbClr val="1B3859"/>
                  </a:solidFill>
                  <a:latin typeface="Poppins"/>
                  <a:ea typeface="Poppins"/>
                  <a:cs typeface="Poppins"/>
                  <a:sym typeface="Poppins"/>
                </a:rPr>
                <a:t>$7.2 million over three years</a:t>
              </a:r>
              <a:r>
                <a:rPr b="0" lang="en" sz="950">
                  <a:solidFill>
                    <a:srgbClr val="475569"/>
                  </a:solidFill>
                  <a:latin typeface="Poppins"/>
                  <a:ea typeface="Poppins"/>
                  <a:cs typeface="Poppins"/>
                  <a:sym typeface="Poppins"/>
                </a:rPr>
                <a:t> and </a:t>
              </a:r>
              <a:r>
                <a:rPr b="1" lang="en" sz="950">
                  <a:solidFill>
                    <a:srgbClr val="1B3859"/>
                  </a:solidFill>
                  <a:latin typeface="Poppins"/>
                  <a:ea typeface="Poppins"/>
                  <a:cs typeface="Poppins"/>
                  <a:sym typeface="Poppins"/>
                </a:rPr>
                <a:t>more than 53 positions</a:t>
              </a:r>
              <a:r>
                <a:rPr b="0" lang="en" sz="950">
                  <a:solidFill>
                    <a:srgbClr val="475569"/>
                  </a:solidFill>
                  <a:latin typeface="Poppins"/>
                  <a:ea typeface="Poppins"/>
                  <a:cs typeface="Poppins"/>
                  <a:sym typeface="Poppins"/>
                </a:rPr>
                <a:t>.</a:t>
              </a:r>
              <a:endParaRPr b="0" sz="950">
                <a:solidFill>
                  <a:srgbClr val="475569"/>
                </a:solidFill>
                <a:latin typeface="Poppins"/>
                <a:ea typeface="Poppins"/>
                <a:cs typeface="Poppins"/>
                <a:sym typeface="Poppins"/>
              </a:endParaRPr>
            </a:p>
          </p:txBody>
        </p:sp>
      </p:grpSp>
      <p:grpSp>
        <p:nvGrpSpPr>
          <p:cNvPr id="1138" name="Google Shape;1138;p64"/>
          <p:cNvGrpSpPr/>
          <p:nvPr/>
        </p:nvGrpSpPr>
        <p:grpSpPr>
          <a:xfrm>
            <a:off x="4695825" y="2524125"/>
            <a:ext cx="4067100" cy="1381200"/>
            <a:chOff x="0" y="0"/>
            <a:chExt cx="4067100" cy="1381200"/>
          </a:xfrm>
        </p:grpSpPr>
        <p:sp>
          <p:nvSpPr>
            <p:cNvPr id="1139" name="Google Shape;1139;p64"/>
            <p:cNvSpPr/>
            <p:nvPr/>
          </p:nvSpPr>
          <p:spPr>
            <a:xfrm>
              <a:off x="0" y="0"/>
              <a:ext cx="4067100" cy="1381200"/>
            </a:xfrm>
            <a:prstGeom prst="roundRect">
              <a:avLst>
                <a:gd fmla="val 68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0" name="Google Shape;1140;p64"/>
            <p:cNvSpPr/>
            <p:nvPr/>
          </p:nvSpPr>
          <p:spPr>
            <a:xfrm>
              <a:off x="0" y="0"/>
              <a:ext cx="47700" cy="1381200"/>
            </a:xfrm>
            <a:prstGeom prst="roundRect">
              <a:avLst>
                <a:gd fmla="val 40000" name="adj"/>
              </a:avLst>
            </a:prstGeom>
            <a:solidFill>
              <a:srgbClr val="5A7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1" name="Google Shape;1141;p64"/>
            <p:cNvSpPr txBox="1"/>
            <p:nvPr/>
          </p:nvSpPr>
          <p:spPr>
            <a:xfrm>
              <a:off x="190500" y="0"/>
              <a:ext cx="3733800" cy="13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3859"/>
                  </a:solidFill>
                  <a:latin typeface="Poppins"/>
                  <a:ea typeface="Poppins"/>
                  <a:cs typeface="Poppins"/>
                  <a:sym typeface="Poppins"/>
                </a:rPr>
                <a:t>Enrollment &amp; Campus Infrastructure</a:t>
              </a:r>
              <a:endParaRPr b="1" sz="1100">
                <a:solidFill>
                  <a:srgbClr val="1B3859"/>
                </a:solidFill>
                <a:latin typeface="Poppins"/>
                <a:ea typeface="Poppins"/>
                <a:cs typeface="Poppins"/>
                <a:sym typeface="Poppins"/>
              </a:endParaRPr>
            </a:p>
            <a:p>
              <a:pPr indent="0" lvl="0" marL="0" rtl="0" algn="l">
                <a:spcBef>
                  <a:spcPts val="500"/>
                </a:spcBef>
                <a:spcAft>
                  <a:spcPts val="0"/>
                </a:spcAft>
                <a:buNone/>
              </a:pPr>
              <a:r>
                <a:rPr b="1" lang="en" sz="950">
                  <a:solidFill>
                    <a:srgbClr val="475569"/>
                  </a:solidFill>
                  <a:latin typeface="Poppins"/>
                  <a:ea typeface="Poppins"/>
                  <a:cs typeface="Poppins"/>
                  <a:sym typeface="Poppins"/>
                </a:rPr>
                <a:t>Enrollment has declined</a:t>
              </a:r>
              <a:r>
                <a:rPr b="0" lang="en" sz="950">
                  <a:solidFill>
                    <a:srgbClr val="475569"/>
                  </a:solidFill>
                  <a:latin typeface="Poppins"/>
                  <a:ea typeface="Poppins"/>
                  <a:cs typeface="Poppins"/>
                  <a:sym typeface="Poppins"/>
                </a:rPr>
                <a:t> and shifted among our communities, but the District continues to operate seven campus’ with substantial fixed costs.</a:t>
              </a:r>
              <a:endParaRPr b="0" sz="950">
                <a:solidFill>
                  <a:srgbClr val="475569"/>
                </a:solidFill>
                <a:latin typeface="Poppins"/>
                <a:ea typeface="Poppins"/>
                <a:cs typeface="Poppins"/>
                <a:sym typeface="Poppins"/>
              </a:endParaRPr>
            </a:p>
          </p:txBody>
        </p:sp>
      </p:grpSp>
      <p:grpSp>
        <p:nvGrpSpPr>
          <p:cNvPr id="1142" name="Google Shape;1142;p64"/>
          <p:cNvGrpSpPr/>
          <p:nvPr/>
        </p:nvGrpSpPr>
        <p:grpSpPr>
          <a:xfrm>
            <a:off x="381000" y="4076700"/>
            <a:ext cx="8382000" cy="552600"/>
            <a:chOff x="0" y="0"/>
            <a:chExt cx="8382000" cy="552600"/>
          </a:xfrm>
        </p:grpSpPr>
        <p:sp>
          <p:nvSpPr>
            <p:cNvPr id="1143" name="Google Shape;1143;p64"/>
            <p:cNvSpPr/>
            <p:nvPr/>
          </p:nvSpPr>
          <p:spPr>
            <a:xfrm>
              <a:off x="0" y="0"/>
              <a:ext cx="8382000" cy="552600"/>
            </a:xfrm>
            <a:prstGeom prst="roundRect">
              <a:avLst>
                <a:gd fmla="val 17241"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4" name="Google Shape;1144;p64"/>
            <p:cNvSpPr txBox="1"/>
            <p:nvPr/>
          </p:nvSpPr>
          <p:spPr>
            <a:xfrm>
              <a:off x="0" y="0"/>
              <a:ext cx="8382000" cy="552600"/>
            </a:xfrm>
            <a:prstGeom prst="rect">
              <a:avLst/>
            </a:prstGeom>
            <a:noFill/>
            <a:ln>
              <a:noFill/>
            </a:ln>
          </p:spPr>
          <p:txBody>
            <a:bodyPr anchorCtr="0" anchor="ctr" bIns="0" lIns="190500" spcFirstLastPara="1" rIns="190500" wrap="square" tIns="0">
              <a:noAutofit/>
            </a:bodyPr>
            <a:lstStyle/>
            <a:p>
              <a:pPr indent="0" lvl="0" marL="0" rtl="0" algn="ctr">
                <a:spcBef>
                  <a:spcPts val="0"/>
                </a:spcBef>
                <a:spcAft>
                  <a:spcPts val="0"/>
                </a:spcAft>
                <a:buNone/>
              </a:pPr>
              <a:r>
                <a:rPr b="1" lang="en" sz="1100">
                  <a:solidFill>
                    <a:srgbClr val="FFFFFF"/>
                  </a:solidFill>
                  <a:latin typeface="Poppins"/>
                  <a:ea typeface="Poppins"/>
                  <a:cs typeface="Poppins"/>
                  <a:sym typeface="Poppins"/>
                </a:rPr>
                <a:t>Incremental reductions alone are no longer sufficient to address the underlying structural pressures.</a:t>
              </a:r>
              <a:endParaRPr b="1" sz="1100">
                <a:solidFill>
                  <a:srgbClr val="FFFFFF"/>
                </a:solidFill>
                <a:latin typeface="Poppins"/>
                <a:ea typeface="Poppins"/>
                <a:cs typeface="Poppins"/>
                <a:sym typeface="Poppins"/>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8" name="Shape 1148"/>
        <p:cNvGrpSpPr/>
        <p:nvPr/>
      </p:nvGrpSpPr>
      <p:grpSpPr>
        <a:xfrm>
          <a:off x="0" y="0"/>
          <a:ext cx="0" cy="0"/>
          <a:chOff x="0" y="0"/>
          <a:chExt cx="0" cy="0"/>
        </a:xfrm>
      </p:grpSpPr>
      <p:sp>
        <p:nvSpPr>
          <p:cNvPr id="1149" name="Google Shape;1149;p65"/>
          <p:cNvSpPr txBox="1"/>
          <p:nvPr/>
        </p:nvSpPr>
        <p:spPr>
          <a:xfrm>
            <a:off x="381000" y="3048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What have we done to reduce expenses?</a:t>
            </a:r>
            <a:endParaRPr b="0" sz="2400">
              <a:solidFill>
                <a:srgbClr val="1B3859"/>
              </a:solidFill>
              <a:latin typeface="Poppins ExtraBold"/>
              <a:ea typeface="Poppins ExtraBold"/>
              <a:cs typeface="Poppins ExtraBold"/>
              <a:sym typeface="Poppins ExtraBold"/>
            </a:endParaRPr>
          </a:p>
          <a:p>
            <a:pPr indent="0" lvl="0" marL="0" rtl="0" algn="l">
              <a:spcBef>
                <a:spcPts val="300"/>
              </a:spcBef>
              <a:spcAft>
                <a:spcPts val="0"/>
              </a:spcAft>
              <a:buNone/>
            </a:pPr>
            <a:r>
              <a:rPr b="0" lang="en" sz="1100">
                <a:solidFill>
                  <a:srgbClr val="64748B"/>
                </a:solidFill>
                <a:latin typeface="Poppins"/>
                <a:ea typeface="Poppins"/>
                <a:cs typeface="Poppins"/>
                <a:sym typeface="Poppins"/>
              </a:rPr>
              <a:t>Summary of district financial and staffing adjustments over the past 3 years</a:t>
            </a:r>
            <a:endParaRPr b="0" sz="1100">
              <a:solidFill>
                <a:srgbClr val="64748B"/>
              </a:solidFill>
              <a:latin typeface="Poppins"/>
              <a:ea typeface="Poppins"/>
              <a:cs typeface="Poppins"/>
              <a:sym typeface="Poppins"/>
            </a:endParaRPr>
          </a:p>
        </p:txBody>
      </p:sp>
      <p:grpSp>
        <p:nvGrpSpPr>
          <p:cNvPr id="1150" name="Google Shape;1150;p65"/>
          <p:cNvGrpSpPr/>
          <p:nvPr/>
        </p:nvGrpSpPr>
        <p:grpSpPr>
          <a:xfrm>
            <a:off x="381000" y="1190625"/>
            <a:ext cx="4057800" cy="2238300"/>
            <a:chOff x="0" y="0"/>
            <a:chExt cx="4057800" cy="2238300"/>
          </a:xfrm>
        </p:grpSpPr>
        <p:sp>
          <p:nvSpPr>
            <p:cNvPr id="1151" name="Google Shape;1151;p65"/>
            <p:cNvSpPr/>
            <p:nvPr/>
          </p:nvSpPr>
          <p:spPr>
            <a:xfrm>
              <a:off x="0" y="0"/>
              <a:ext cx="4057800" cy="2238300"/>
            </a:xfrm>
            <a:prstGeom prst="roundRect">
              <a:avLst>
                <a:gd fmla="val 425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2" name="Google Shape;1152;p65"/>
            <p:cNvSpPr/>
            <p:nvPr/>
          </p:nvSpPr>
          <p:spPr>
            <a:xfrm>
              <a:off x="0" y="0"/>
              <a:ext cx="4057800" cy="57300"/>
            </a:xfrm>
            <a:prstGeom prst="roundRect">
              <a:avLst>
                <a:gd fmla="val 50000" name="adj"/>
              </a:avLst>
            </a:prstGeom>
            <a:solidFill>
              <a:srgbClr val="0063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3" name="Google Shape;1153;p65"/>
            <p:cNvSpPr txBox="1"/>
            <p:nvPr/>
          </p:nvSpPr>
          <p:spPr>
            <a:xfrm>
              <a:off x="228600" y="190500"/>
              <a:ext cx="36006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63A0"/>
                  </a:solidFill>
                  <a:latin typeface="Poppins"/>
                  <a:ea typeface="Poppins"/>
                  <a:cs typeface="Poppins"/>
                  <a:sym typeface="Poppins"/>
                </a:rPr>
                <a:t>Financial Impact</a:t>
              </a:r>
              <a:endParaRPr b="1" sz="900">
                <a:solidFill>
                  <a:srgbClr val="0063A0"/>
                </a:solidFill>
                <a:latin typeface="Poppins"/>
                <a:ea typeface="Poppins"/>
                <a:cs typeface="Poppins"/>
                <a:sym typeface="Poppins"/>
              </a:endParaRPr>
            </a:p>
            <a:p>
              <a:pPr indent="0" lvl="0" marL="0" rtl="0" algn="l">
                <a:spcBef>
                  <a:spcPts val="600"/>
                </a:spcBef>
                <a:spcAft>
                  <a:spcPts val="0"/>
                </a:spcAft>
                <a:buNone/>
              </a:pPr>
              <a:r>
                <a:rPr b="0" lang="en" sz="4200">
                  <a:solidFill>
                    <a:srgbClr val="0063A0"/>
                  </a:solidFill>
                  <a:latin typeface="Poppins ExtraBold"/>
                  <a:ea typeface="Poppins ExtraBold"/>
                  <a:cs typeface="Poppins ExtraBold"/>
                  <a:sym typeface="Poppins ExtraBold"/>
                </a:rPr>
                <a:t>$7.2 M</a:t>
              </a:r>
              <a:endParaRPr b="0" sz="4200">
                <a:solidFill>
                  <a:srgbClr val="0063A0"/>
                </a:solidFill>
                <a:latin typeface="Poppins ExtraBold"/>
                <a:ea typeface="Poppins ExtraBold"/>
                <a:cs typeface="Poppins ExtraBold"/>
                <a:sym typeface="Poppins ExtraBold"/>
              </a:endParaRPr>
            </a:p>
            <a:p>
              <a:pPr indent="0" lvl="0" marL="0" rtl="0" algn="l">
                <a:spcBef>
                  <a:spcPts val="150"/>
                </a:spcBef>
                <a:spcAft>
                  <a:spcPts val="0"/>
                </a:spcAft>
                <a:buNone/>
              </a:pPr>
              <a:r>
                <a:rPr b="1" lang="en" sz="1300">
                  <a:solidFill>
                    <a:srgbClr val="1B3859"/>
                  </a:solidFill>
                  <a:latin typeface="Poppins"/>
                  <a:ea typeface="Poppins"/>
                  <a:cs typeface="Poppins"/>
                  <a:sym typeface="Poppins"/>
                </a:rPr>
                <a:t>Reduction in Expenses</a:t>
              </a:r>
              <a:endParaRPr b="1" sz="1300">
                <a:solidFill>
                  <a:srgbClr val="1B3859"/>
                </a:solidFill>
                <a:latin typeface="Poppins"/>
                <a:ea typeface="Poppins"/>
                <a:cs typeface="Poppins"/>
                <a:sym typeface="Poppins"/>
              </a:endParaRPr>
            </a:p>
            <a:p>
              <a:pPr indent="0" lvl="0" marL="0" rtl="0" algn="l">
                <a:spcBef>
                  <a:spcPts val="600"/>
                </a:spcBef>
                <a:spcAft>
                  <a:spcPts val="0"/>
                </a:spcAft>
                <a:buNone/>
              </a:pPr>
              <a:r>
                <a:rPr b="0" lang="en" sz="1000">
                  <a:solidFill>
                    <a:srgbClr val="475569"/>
                  </a:solidFill>
                  <a:latin typeface="Poppins"/>
                  <a:ea typeface="Poppins"/>
                  <a:cs typeface="Poppins"/>
                  <a:sym typeface="Poppins"/>
                </a:rPr>
                <a:t>Achieved over the last 3 fiscal years through operational, program, and service efficiency adjustments.</a:t>
              </a:r>
              <a:endParaRPr b="0" sz="1000">
                <a:solidFill>
                  <a:srgbClr val="475569"/>
                </a:solidFill>
                <a:latin typeface="Poppins"/>
                <a:ea typeface="Poppins"/>
                <a:cs typeface="Poppins"/>
                <a:sym typeface="Poppins"/>
              </a:endParaRPr>
            </a:p>
          </p:txBody>
        </p:sp>
      </p:grpSp>
      <p:grpSp>
        <p:nvGrpSpPr>
          <p:cNvPr id="1154" name="Google Shape;1154;p65"/>
          <p:cNvGrpSpPr/>
          <p:nvPr/>
        </p:nvGrpSpPr>
        <p:grpSpPr>
          <a:xfrm>
            <a:off x="4705350" y="1190625"/>
            <a:ext cx="4057800" cy="2238300"/>
            <a:chOff x="0" y="0"/>
            <a:chExt cx="4057800" cy="2238300"/>
          </a:xfrm>
        </p:grpSpPr>
        <p:sp>
          <p:nvSpPr>
            <p:cNvPr id="1155" name="Google Shape;1155;p65"/>
            <p:cNvSpPr/>
            <p:nvPr/>
          </p:nvSpPr>
          <p:spPr>
            <a:xfrm>
              <a:off x="0" y="0"/>
              <a:ext cx="4057800" cy="2238300"/>
            </a:xfrm>
            <a:prstGeom prst="roundRect">
              <a:avLst>
                <a:gd fmla="val 425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6" name="Google Shape;1156;p65"/>
            <p:cNvSpPr/>
            <p:nvPr/>
          </p:nvSpPr>
          <p:spPr>
            <a:xfrm>
              <a:off x="0" y="0"/>
              <a:ext cx="4057800" cy="573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7" name="Google Shape;1157;p65"/>
            <p:cNvSpPr txBox="1"/>
            <p:nvPr/>
          </p:nvSpPr>
          <p:spPr>
            <a:xfrm>
              <a:off x="228600" y="190500"/>
              <a:ext cx="36006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346F90"/>
                  </a:solidFill>
                  <a:latin typeface="Poppins"/>
                  <a:ea typeface="Poppins"/>
                  <a:cs typeface="Poppins"/>
                  <a:sym typeface="Poppins"/>
                </a:rPr>
                <a:t>Personnel Impact</a:t>
              </a:r>
              <a:endParaRPr b="1" sz="900">
                <a:solidFill>
                  <a:srgbClr val="346F90"/>
                </a:solidFill>
                <a:latin typeface="Poppins"/>
                <a:ea typeface="Poppins"/>
                <a:cs typeface="Poppins"/>
                <a:sym typeface="Poppins"/>
              </a:endParaRPr>
            </a:p>
            <a:p>
              <a:pPr indent="0" lvl="0" marL="0" rtl="0" algn="l">
                <a:spcBef>
                  <a:spcPts val="600"/>
                </a:spcBef>
                <a:spcAft>
                  <a:spcPts val="0"/>
                </a:spcAft>
                <a:buNone/>
              </a:pPr>
              <a:r>
                <a:rPr b="0" lang="en" sz="4200">
                  <a:solidFill>
                    <a:srgbClr val="346F90"/>
                  </a:solidFill>
                  <a:latin typeface="Poppins ExtraBold"/>
                  <a:ea typeface="Poppins ExtraBold"/>
                  <a:cs typeface="Poppins ExtraBold"/>
                  <a:sym typeface="Poppins ExtraBold"/>
                </a:rPr>
                <a:t>~53</a:t>
              </a:r>
              <a:endParaRPr b="0" sz="4200">
                <a:solidFill>
                  <a:srgbClr val="346F90"/>
                </a:solidFill>
                <a:latin typeface="Poppins ExtraBold"/>
                <a:ea typeface="Poppins ExtraBold"/>
                <a:cs typeface="Poppins ExtraBold"/>
                <a:sym typeface="Poppins ExtraBold"/>
              </a:endParaRPr>
            </a:p>
            <a:p>
              <a:pPr indent="0" lvl="0" marL="0" rtl="0" algn="l">
                <a:spcBef>
                  <a:spcPts val="150"/>
                </a:spcBef>
                <a:spcAft>
                  <a:spcPts val="0"/>
                </a:spcAft>
                <a:buNone/>
              </a:pPr>
              <a:r>
                <a:rPr b="1" lang="en" sz="1300">
                  <a:solidFill>
                    <a:srgbClr val="1B3859"/>
                  </a:solidFill>
                  <a:latin typeface="Poppins"/>
                  <a:ea typeface="Poppins"/>
                  <a:cs typeface="Poppins"/>
                  <a:sym typeface="Poppins"/>
                </a:rPr>
                <a:t>Staff Positions Reduced</a:t>
              </a:r>
              <a:endParaRPr b="1" sz="1300">
                <a:solidFill>
                  <a:srgbClr val="1B3859"/>
                </a:solidFill>
                <a:latin typeface="Poppins"/>
                <a:ea typeface="Poppins"/>
                <a:cs typeface="Poppins"/>
                <a:sym typeface="Poppins"/>
              </a:endParaRPr>
            </a:p>
            <a:p>
              <a:pPr indent="0" lvl="0" marL="0" rtl="0" algn="l">
                <a:spcBef>
                  <a:spcPts val="600"/>
                </a:spcBef>
                <a:spcAft>
                  <a:spcPts val="0"/>
                </a:spcAft>
                <a:buNone/>
              </a:pPr>
              <a:r>
                <a:rPr b="0" lang="en" sz="1000">
                  <a:solidFill>
                    <a:srgbClr val="475569"/>
                  </a:solidFill>
                  <a:latin typeface="Poppins"/>
                  <a:ea typeface="Poppins"/>
                  <a:cs typeface="Poppins"/>
                  <a:sym typeface="Poppins"/>
                </a:rPr>
                <a:t>Reductions across classroom teachers, administrative leadership, interventionists, nurses and support staff.</a:t>
              </a:r>
              <a:endParaRPr b="0" sz="1000">
                <a:solidFill>
                  <a:srgbClr val="475569"/>
                </a:solidFill>
                <a:latin typeface="Poppins"/>
                <a:ea typeface="Poppins"/>
                <a:cs typeface="Poppins"/>
                <a:sym typeface="Poppins"/>
              </a:endParaRPr>
            </a:p>
          </p:txBody>
        </p:sp>
      </p:grpSp>
      <p:grpSp>
        <p:nvGrpSpPr>
          <p:cNvPr id="1158" name="Google Shape;1158;p65"/>
          <p:cNvGrpSpPr/>
          <p:nvPr/>
        </p:nvGrpSpPr>
        <p:grpSpPr>
          <a:xfrm>
            <a:off x="381000" y="3667125"/>
            <a:ext cx="8382000" cy="952500"/>
            <a:chOff x="0" y="0"/>
            <a:chExt cx="8382000" cy="952500"/>
          </a:xfrm>
        </p:grpSpPr>
        <p:sp>
          <p:nvSpPr>
            <p:cNvPr id="1159" name="Google Shape;1159;p65"/>
            <p:cNvSpPr/>
            <p:nvPr/>
          </p:nvSpPr>
          <p:spPr>
            <a:xfrm>
              <a:off x="0" y="0"/>
              <a:ext cx="8382000" cy="952500"/>
            </a:xfrm>
            <a:prstGeom prst="roundRect">
              <a:avLst>
                <a:gd fmla="val 1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0" name="Google Shape;1160;p65"/>
            <p:cNvSpPr txBox="1"/>
            <p:nvPr/>
          </p:nvSpPr>
          <p:spPr>
            <a:xfrm>
              <a:off x="228600" y="152400"/>
              <a:ext cx="79248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93C5FD"/>
                  </a:solidFill>
                  <a:latin typeface="Poppins"/>
                  <a:ea typeface="Poppins"/>
                  <a:cs typeface="Poppins"/>
                  <a:sym typeface="Poppins"/>
                </a:rPr>
                <a:t>Strategic Multi-Year Expense Management</a:t>
              </a:r>
              <a:endParaRPr b="1" sz="1100">
                <a:solidFill>
                  <a:srgbClr val="93C5FD"/>
                </a:solidFill>
                <a:latin typeface="Poppins"/>
                <a:ea typeface="Poppins"/>
                <a:cs typeface="Poppins"/>
                <a:sym typeface="Poppins"/>
              </a:endParaRPr>
            </a:p>
            <a:p>
              <a:pPr indent="0" lvl="0" marL="0" rtl="0" algn="l">
                <a:spcBef>
                  <a:spcPts val="300"/>
                </a:spcBef>
                <a:spcAft>
                  <a:spcPts val="0"/>
                </a:spcAft>
                <a:buNone/>
              </a:pPr>
              <a:r>
                <a:rPr b="0" lang="en" sz="1000">
                  <a:solidFill>
                    <a:srgbClr val="E2E8F0"/>
                  </a:solidFill>
                  <a:latin typeface="Poppins"/>
                  <a:ea typeface="Poppins"/>
                  <a:cs typeface="Poppins"/>
                  <a:sym typeface="Poppins"/>
                </a:rPr>
                <a:t>Reductions were executed across consecutive budget cycles, targeting administrative efficiencies, program adjustments, class consolidation, and operational route optimizations.</a:t>
              </a:r>
              <a:endParaRPr b="0" sz="1000">
                <a:solidFill>
                  <a:srgbClr val="E2E8F0"/>
                </a:solidFill>
                <a:latin typeface="Poppins"/>
                <a:ea typeface="Poppins"/>
                <a:cs typeface="Poppins"/>
                <a:sym typeface="Poppins"/>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4" name="Shape 1164"/>
        <p:cNvGrpSpPr/>
        <p:nvPr/>
      </p:nvGrpSpPr>
      <p:grpSpPr>
        <a:xfrm>
          <a:off x="0" y="0"/>
          <a:ext cx="0" cy="0"/>
          <a:chOff x="0" y="0"/>
          <a:chExt cx="0" cy="0"/>
        </a:xfrm>
      </p:grpSpPr>
      <p:sp>
        <p:nvSpPr>
          <p:cNvPr id="1165" name="Google Shape;1165;p66"/>
          <p:cNvSpPr txBox="1"/>
          <p:nvPr/>
        </p:nvSpPr>
        <p:spPr>
          <a:xfrm>
            <a:off x="381000" y="266700"/>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B3859"/>
                </a:solidFill>
                <a:latin typeface="Poppins"/>
                <a:ea typeface="Poppins"/>
                <a:cs typeface="Poppins"/>
                <a:sym typeface="Poppins"/>
              </a:rPr>
              <a:t>Average Salary &amp; Benefits</a:t>
            </a:r>
            <a:endParaRPr b="1" sz="2400">
              <a:solidFill>
                <a:srgbClr val="1B3859"/>
              </a:solidFill>
              <a:latin typeface="Poppins"/>
              <a:ea typeface="Poppins"/>
              <a:cs typeface="Poppins"/>
              <a:sym typeface="Poppins"/>
            </a:endParaRPr>
          </a:p>
          <a:p>
            <a:pPr indent="0" lvl="0" marL="0" rtl="0" algn="l">
              <a:spcBef>
                <a:spcPts val="300"/>
              </a:spcBef>
              <a:spcAft>
                <a:spcPts val="0"/>
              </a:spcAft>
              <a:buNone/>
            </a:pPr>
            <a:r>
              <a:rPr lang="en" sz="1100">
                <a:solidFill>
                  <a:srgbClr val="64748B"/>
                </a:solidFill>
                <a:latin typeface="Poppins"/>
                <a:ea typeface="Poppins"/>
                <a:cs typeface="Poppins"/>
                <a:sym typeface="Poppins"/>
              </a:rPr>
              <a:t>Position compensation analysis and targeted reductions to meet budget goals</a:t>
            </a:r>
            <a:endParaRPr sz="1100">
              <a:solidFill>
                <a:srgbClr val="64748B"/>
              </a:solidFill>
              <a:latin typeface="Poppins"/>
              <a:ea typeface="Poppins"/>
              <a:cs typeface="Poppins"/>
              <a:sym typeface="Poppins"/>
            </a:endParaRPr>
          </a:p>
        </p:txBody>
      </p:sp>
      <p:grpSp>
        <p:nvGrpSpPr>
          <p:cNvPr id="1166" name="Google Shape;1166;p66"/>
          <p:cNvGrpSpPr/>
          <p:nvPr/>
        </p:nvGrpSpPr>
        <p:grpSpPr>
          <a:xfrm>
            <a:off x="381000" y="1000125"/>
            <a:ext cx="5524500" cy="362100"/>
            <a:chOff x="0" y="0"/>
            <a:chExt cx="5524500" cy="362100"/>
          </a:xfrm>
        </p:grpSpPr>
        <p:sp>
          <p:nvSpPr>
            <p:cNvPr id="1167" name="Google Shape;1167;p66"/>
            <p:cNvSpPr/>
            <p:nvPr/>
          </p:nvSpPr>
          <p:spPr>
            <a:xfrm>
              <a:off x="0" y="0"/>
              <a:ext cx="5524500" cy="362100"/>
            </a:xfrm>
            <a:prstGeom prst="roundRect">
              <a:avLst>
                <a:gd fmla="val 15789"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8" name="Google Shape;1168;p66"/>
            <p:cNvSpPr txBox="1"/>
            <p:nvPr/>
          </p:nvSpPr>
          <p:spPr>
            <a:xfrm>
              <a:off x="0" y="0"/>
              <a:ext cx="5524500" cy="3621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000">
                  <a:solidFill>
                    <a:srgbClr val="FFFFFF"/>
                  </a:solidFill>
                  <a:latin typeface="Poppins SemiBold"/>
                  <a:ea typeface="Poppins SemiBold"/>
                  <a:cs typeface="Poppins SemiBold"/>
                  <a:sym typeface="Poppins SemiBold"/>
                </a:rPr>
                <a:t>Role / Position Avg. Salary &amp; Benefits Positions to Cut</a:t>
              </a:r>
              <a:endParaRPr b="0" sz="1000">
                <a:solidFill>
                  <a:srgbClr val="FFFFFF"/>
                </a:solidFill>
                <a:latin typeface="Poppins SemiBold"/>
                <a:ea typeface="Poppins SemiBold"/>
                <a:cs typeface="Poppins SemiBold"/>
                <a:sym typeface="Poppins SemiBold"/>
              </a:endParaRPr>
            </a:p>
          </p:txBody>
        </p:sp>
      </p:grpSp>
      <p:grpSp>
        <p:nvGrpSpPr>
          <p:cNvPr id="1169" name="Google Shape;1169;p66"/>
          <p:cNvGrpSpPr/>
          <p:nvPr/>
        </p:nvGrpSpPr>
        <p:grpSpPr>
          <a:xfrm>
            <a:off x="381000" y="1428750"/>
            <a:ext cx="5524500" cy="438300"/>
            <a:chOff x="0" y="0"/>
            <a:chExt cx="5524500" cy="438300"/>
          </a:xfrm>
        </p:grpSpPr>
        <p:sp>
          <p:nvSpPr>
            <p:cNvPr id="1170" name="Google Shape;1170;p66"/>
            <p:cNvSpPr/>
            <p:nvPr/>
          </p:nvSpPr>
          <p:spPr>
            <a:xfrm>
              <a:off x="0" y="0"/>
              <a:ext cx="5524500" cy="438300"/>
            </a:xfrm>
            <a:prstGeom prst="roundRect">
              <a:avLst>
                <a:gd fmla="val 130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1" name="Google Shape;1171;p66"/>
            <p:cNvSpPr txBox="1"/>
            <p:nvPr/>
          </p:nvSpPr>
          <p:spPr>
            <a:xfrm>
              <a:off x="0" y="0"/>
              <a:ext cx="5524500" cy="4383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100">
                  <a:solidFill>
                    <a:srgbClr val="1B3859"/>
                  </a:solidFill>
                  <a:latin typeface="Poppins SemiBold"/>
                  <a:ea typeface="Poppins SemiBold"/>
                  <a:cs typeface="Poppins SemiBold"/>
                  <a:sym typeface="Poppins SemiBold"/>
                </a:rPr>
                <a:t>Teachers</a:t>
              </a:r>
              <a:r>
                <a:rPr lang="en" sz="1100">
                  <a:latin typeface="Poppins"/>
                  <a:ea typeface="Poppins"/>
                  <a:cs typeface="Poppins"/>
                  <a:sym typeface="Poppins"/>
                </a:rPr>
                <a:t> </a:t>
              </a:r>
              <a:r>
                <a:rPr b="0" lang="en" sz="1100">
                  <a:solidFill>
                    <a:srgbClr val="0F172A"/>
                  </a:solidFill>
                  <a:latin typeface="Poppins Medium"/>
                  <a:ea typeface="Poppins Medium"/>
                  <a:cs typeface="Poppins Medium"/>
                  <a:sym typeface="Poppins Medium"/>
                </a:rPr>
                <a:t>$135,000</a:t>
              </a:r>
              <a:r>
                <a:rPr lang="en" sz="1100">
                  <a:latin typeface="Poppins"/>
                  <a:ea typeface="Poppins"/>
                  <a:cs typeface="Poppins"/>
                  <a:sym typeface="Poppins"/>
                </a:rPr>
                <a:t> </a:t>
              </a:r>
              <a:r>
                <a:rPr b="1" lang="en" sz="1100">
                  <a:solidFill>
                    <a:srgbClr val="64748B"/>
                  </a:solidFill>
                  <a:latin typeface="Poppins"/>
                  <a:ea typeface="Poppins"/>
                  <a:cs typeface="Poppins"/>
                  <a:sym typeface="Poppins"/>
                </a:rPr>
                <a:t>?</a:t>
              </a:r>
              <a:endParaRPr sz="1100">
                <a:latin typeface="Poppins"/>
                <a:ea typeface="Poppins"/>
                <a:cs typeface="Poppins"/>
                <a:sym typeface="Poppins"/>
              </a:endParaRPr>
            </a:p>
          </p:txBody>
        </p:sp>
      </p:grpSp>
      <p:grpSp>
        <p:nvGrpSpPr>
          <p:cNvPr id="1172" name="Google Shape;1172;p66"/>
          <p:cNvGrpSpPr/>
          <p:nvPr/>
        </p:nvGrpSpPr>
        <p:grpSpPr>
          <a:xfrm>
            <a:off x="381000" y="1924050"/>
            <a:ext cx="5524500" cy="438300"/>
            <a:chOff x="0" y="0"/>
            <a:chExt cx="5524500" cy="438300"/>
          </a:xfrm>
        </p:grpSpPr>
        <p:sp>
          <p:nvSpPr>
            <p:cNvPr id="1173" name="Google Shape;1173;p66"/>
            <p:cNvSpPr/>
            <p:nvPr/>
          </p:nvSpPr>
          <p:spPr>
            <a:xfrm>
              <a:off x="0" y="0"/>
              <a:ext cx="5524500" cy="438300"/>
            </a:xfrm>
            <a:prstGeom prst="roundRect">
              <a:avLst>
                <a:gd fmla="val 130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4" name="Google Shape;1174;p66"/>
            <p:cNvSpPr txBox="1"/>
            <p:nvPr/>
          </p:nvSpPr>
          <p:spPr>
            <a:xfrm>
              <a:off x="0" y="0"/>
              <a:ext cx="5524500" cy="4383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100">
                  <a:solidFill>
                    <a:srgbClr val="1B3859"/>
                  </a:solidFill>
                  <a:latin typeface="Poppins SemiBold"/>
                  <a:ea typeface="Poppins SemiBold"/>
                  <a:cs typeface="Poppins SemiBold"/>
                  <a:sym typeface="Poppins SemiBold"/>
                </a:rPr>
                <a:t>Technology</a:t>
              </a:r>
              <a:r>
                <a:rPr lang="en" sz="1100">
                  <a:latin typeface="Poppins"/>
                  <a:ea typeface="Poppins"/>
                  <a:cs typeface="Poppins"/>
                  <a:sym typeface="Poppins"/>
                </a:rPr>
                <a:t> </a:t>
              </a:r>
              <a:r>
                <a:rPr b="0" lang="en" sz="1100">
                  <a:solidFill>
                    <a:srgbClr val="0F172A"/>
                  </a:solidFill>
                  <a:latin typeface="Poppins Medium"/>
                  <a:ea typeface="Poppins Medium"/>
                  <a:cs typeface="Poppins Medium"/>
                  <a:sym typeface="Poppins Medium"/>
                </a:rPr>
                <a:t>$119,400</a:t>
              </a:r>
              <a:r>
                <a:rPr lang="en" sz="1100">
                  <a:latin typeface="Poppins"/>
                  <a:ea typeface="Poppins"/>
                  <a:cs typeface="Poppins"/>
                  <a:sym typeface="Poppins"/>
                </a:rPr>
                <a:t> </a:t>
              </a:r>
              <a:r>
                <a:rPr b="1" lang="en" sz="1100">
                  <a:solidFill>
                    <a:srgbClr val="64748B"/>
                  </a:solidFill>
                  <a:latin typeface="Poppins"/>
                  <a:ea typeface="Poppins"/>
                  <a:cs typeface="Poppins"/>
                  <a:sym typeface="Poppins"/>
                </a:rPr>
                <a:t>?</a:t>
              </a:r>
              <a:endParaRPr sz="1100">
                <a:latin typeface="Poppins"/>
                <a:ea typeface="Poppins"/>
                <a:cs typeface="Poppins"/>
                <a:sym typeface="Poppins"/>
              </a:endParaRPr>
            </a:p>
          </p:txBody>
        </p:sp>
      </p:grpSp>
      <p:grpSp>
        <p:nvGrpSpPr>
          <p:cNvPr id="1175" name="Google Shape;1175;p66"/>
          <p:cNvGrpSpPr/>
          <p:nvPr/>
        </p:nvGrpSpPr>
        <p:grpSpPr>
          <a:xfrm>
            <a:off x="381000" y="2419350"/>
            <a:ext cx="5524500" cy="438300"/>
            <a:chOff x="0" y="0"/>
            <a:chExt cx="5524500" cy="438300"/>
          </a:xfrm>
        </p:grpSpPr>
        <p:sp>
          <p:nvSpPr>
            <p:cNvPr id="1176" name="Google Shape;1176;p66"/>
            <p:cNvSpPr/>
            <p:nvPr/>
          </p:nvSpPr>
          <p:spPr>
            <a:xfrm>
              <a:off x="0" y="0"/>
              <a:ext cx="5524500" cy="438300"/>
            </a:xfrm>
            <a:prstGeom prst="roundRect">
              <a:avLst>
                <a:gd fmla="val 130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66"/>
            <p:cNvSpPr txBox="1"/>
            <p:nvPr/>
          </p:nvSpPr>
          <p:spPr>
            <a:xfrm>
              <a:off x="0" y="0"/>
              <a:ext cx="5524500" cy="4383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100">
                  <a:solidFill>
                    <a:srgbClr val="1B3859"/>
                  </a:solidFill>
                  <a:latin typeface="Poppins SemiBold"/>
                  <a:ea typeface="Poppins SemiBold"/>
                  <a:cs typeface="Poppins SemiBold"/>
                  <a:sym typeface="Poppins SemiBold"/>
                </a:rPr>
                <a:t>Custodian</a:t>
              </a:r>
              <a:r>
                <a:rPr lang="en" sz="1100">
                  <a:latin typeface="Poppins"/>
                  <a:ea typeface="Poppins"/>
                  <a:cs typeface="Poppins"/>
                  <a:sym typeface="Poppins"/>
                </a:rPr>
                <a:t> </a:t>
              </a:r>
              <a:r>
                <a:rPr b="0" lang="en" sz="1100">
                  <a:solidFill>
                    <a:srgbClr val="0F172A"/>
                  </a:solidFill>
                  <a:latin typeface="Poppins Medium"/>
                  <a:ea typeface="Poppins Medium"/>
                  <a:cs typeface="Poppins Medium"/>
                  <a:sym typeface="Poppins Medium"/>
                </a:rPr>
                <a:t>$106,500</a:t>
              </a:r>
              <a:r>
                <a:rPr lang="en" sz="1100">
                  <a:latin typeface="Poppins"/>
                  <a:ea typeface="Poppins"/>
                  <a:cs typeface="Poppins"/>
                  <a:sym typeface="Poppins"/>
                </a:rPr>
                <a:t> </a:t>
              </a:r>
              <a:r>
                <a:rPr b="1" lang="en" sz="1100">
                  <a:solidFill>
                    <a:srgbClr val="64748B"/>
                  </a:solidFill>
                  <a:latin typeface="Poppins"/>
                  <a:ea typeface="Poppins"/>
                  <a:cs typeface="Poppins"/>
                  <a:sym typeface="Poppins"/>
                </a:rPr>
                <a:t>?</a:t>
              </a:r>
              <a:endParaRPr sz="1100">
                <a:latin typeface="Poppins"/>
                <a:ea typeface="Poppins"/>
                <a:cs typeface="Poppins"/>
                <a:sym typeface="Poppins"/>
              </a:endParaRPr>
            </a:p>
          </p:txBody>
        </p:sp>
      </p:grpSp>
      <p:grpSp>
        <p:nvGrpSpPr>
          <p:cNvPr id="1178" name="Google Shape;1178;p66"/>
          <p:cNvGrpSpPr/>
          <p:nvPr/>
        </p:nvGrpSpPr>
        <p:grpSpPr>
          <a:xfrm>
            <a:off x="381000" y="2914650"/>
            <a:ext cx="5524500" cy="438300"/>
            <a:chOff x="0" y="0"/>
            <a:chExt cx="5524500" cy="438300"/>
          </a:xfrm>
        </p:grpSpPr>
        <p:sp>
          <p:nvSpPr>
            <p:cNvPr id="1179" name="Google Shape;1179;p66"/>
            <p:cNvSpPr/>
            <p:nvPr/>
          </p:nvSpPr>
          <p:spPr>
            <a:xfrm>
              <a:off x="0" y="0"/>
              <a:ext cx="5524500" cy="438300"/>
            </a:xfrm>
            <a:prstGeom prst="roundRect">
              <a:avLst>
                <a:gd fmla="val 130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0" name="Google Shape;1180;p66"/>
            <p:cNvSpPr txBox="1"/>
            <p:nvPr/>
          </p:nvSpPr>
          <p:spPr>
            <a:xfrm>
              <a:off x="0" y="0"/>
              <a:ext cx="5524500" cy="4383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100">
                  <a:solidFill>
                    <a:srgbClr val="1B3859"/>
                  </a:solidFill>
                  <a:latin typeface="Poppins SemiBold"/>
                  <a:ea typeface="Poppins SemiBold"/>
                  <a:cs typeface="Poppins SemiBold"/>
                  <a:sym typeface="Poppins SemiBold"/>
                </a:rPr>
                <a:t>Administrative Assistant</a:t>
              </a:r>
              <a:r>
                <a:rPr lang="en" sz="1100">
                  <a:latin typeface="Poppins"/>
                  <a:ea typeface="Poppins"/>
                  <a:cs typeface="Poppins"/>
                  <a:sym typeface="Poppins"/>
                </a:rPr>
                <a:t> </a:t>
              </a:r>
              <a:r>
                <a:rPr b="0" lang="en" sz="1100">
                  <a:solidFill>
                    <a:srgbClr val="0F172A"/>
                  </a:solidFill>
                  <a:latin typeface="Poppins Medium"/>
                  <a:ea typeface="Poppins Medium"/>
                  <a:cs typeface="Poppins Medium"/>
                  <a:sym typeface="Poppins Medium"/>
                </a:rPr>
                <a:t>$93,400</a:t>
              </a:r>
              <a:r>
                <a:rPr lang="en" sz="1100">
                  <a:latin typeface="Poppins"/>
                  <a:ea typeface="Poppins"/>
                  <a:cs typeface="Poppins"/>
                  <a:sym typeface="Poppins"/>
                </a:rPr>
                <a:t> </a:t>
              </a:r>
              <a:r>
                <a:rPr b="1" lang="en" sz="1100">
                  <a:solidFill>
                    <a:srgbClr val="64748B"/>
                  </a:solidFill>
                  <a:latin typeface="Poppins"/>
                  <a:ea typeface="Poppins"/>
                  <a:cs typeface="Poppins"/>
                  <a:sym typeface="Poppins"/>
                </a:rPr>
                <a:t>?</a:t>
              </a:r>
              <a:endParaRPr sz="1100">
                <a:latin typeface="Poppins"/>
                <a:ea typeface="Poppins"/>
                <a:cs typeface="Poppins"/>
                <a:sym typeface="Poppins"/>
              </a:endParaRPr>
            </a:p>
          </p:txBody>
        </p:sp>
      </p:grpSp>
      <p:grpSp>
        <p:nvGrpSpPr>
          <p:cNvPr id="1181" name="Google Shape;1181;p66"/>
          <p:cNvGrpSpPr/>
          <p:nvPr/>
        </p:nvGrpSpPr>
        <p:grpSpPr>
          <a:xfrm>
            <a:off x="381000" y="3409950"/>
            <a:ext cx="5524500" cy="438300"/>
            <a:chOff x="0" y="0"/>
            <a:chExt cx="5524500" cy="438300"/>
          </a:xfrm>
        </p:grpSpPr>
        <p:sp>
          <p:nvSpPr>
            <p:cNvPr id="1182" name="Google Shape;1182;p66"/>
            <p:cNvSpPr/>
            <p:nvPr/>
          </p:nvSpPr>
          <p:spPr>
            <a:xfrm>
              <a:off x="0" y="0"/>
              <a:ext cx="5524500" cy="438300"/>
            </a:xfrm>
            <a:prstGeom prst="roundRect">
              <a:avLst>
                <a:gd fmla="val 130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p66"/>
            <p:cNvSpPr txBox="1"/>
            <p:nvPr/>
          </p:nvSpPr>
          <p:spPr>
            <a:xfrm>
              <a:off x="0" y="0"/>
              <a:ext cx="5524500" cy="4383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100">
                  <a:solidFill>
                    <a:srgbClr val="1B3859"/>
                  </a:solidFill>
                  <a:latin typeface="Poppins SemiBold"/>
                  <a:ea typeface="Poppins SemiBold"/>
                  <a:cs typeface="Poppins SemiBold"/>
                  <a:sym typeface="Poppins SemiBold"/>
                </a:rPr>
                <a:t>Instructional Assistant</a:t>
              </a:r>
              <a:r>
                <a:rPr lang="en" sz="1100">
                  <a:latin typeface="Poppins"/>
                  <a:ea typeface="Poppins"/>
                  <a:cs typeface="Poppins"/>
                  <a:sym typeface="Poppins"/>
                </a:rPr>
                <a:t> </a:t>
              </a:r>
              <a:r>
                <a:rPr b="0" lang="en" sz="1100">
                  <a:solidFill>
                    <a:srgbClr val="0F172A"/>
                  </a:solidFill>
                  <a:latin typeface="Poppins Medium"/>
                  <a:ea typeface="Poppins Medium"/>
                  <a:cs typeface="Poppins Medium"/>
                  <a:sym typeface="Poppins Medium"/>
                </a:rPr>
                <a:t>$80,250</a:t>
              </a:r>
              <a:r>
                <a:rPr lang="en" sz="1100">
                  <a:latin typeface="Poppins"/>
                  <a:ea typeface="Poppins"/>
                  <a:cs typeface="Poppins"/>
                  <a:sym typeface="Poppins"/>
                </a:rPr>
                <a:t> </a:t>
              </a:r>
              <a:r>
                <a:rPr b="1" lang="en" sz="1100">
                  <a:solidFill>
                    <a:srgbClr val="64748B"/>
                  </a:solidFill>
                  <a:latin typeface="Poppins"/>
                  <a:ea typeface="Poppins"/>
                  <a:cs typeface="Poppins"/>
                  <a:sym typeface="Poppins"/>
                </a:rPr>
                <a:t>?</a:t>
              </a:r>
              <a:endParaRPr sz="1100">
                <a:latin typeface="Poppins"/>
                <a:ea typeface="Poppins"/>
                <a:cs typeface="Poppins"/>
                <a:sym typeface="Poppins"/>
              </a:endParaRPr>
            </a:p>
          </p:txBody>
        </p:sp>
      </p:grpSp>
      <p:grpSp>
        <p:nvGrpSpPr>
          <p:cNvPr id="1184" name="Google Shape;1184;p66"/>
          <p:cNvGrpSpPr/>
          <p:nvPr/>
        </p:nvGrpSpPr>
        <p:grpSpPr>
          <a:xfrm>
            <a:off x="381000" y="3905250"/>
            <a:ext cx="5524500" cy="438300"/>
            <a:chOff x="0" y="0"/>
            <a:chExt cx="5524500" cy="438300"/>
          </a:xfrm>
        </p:grpSpPr>
        <p:sp>
          <p:nvSpPr>
            <p:cNvPr id="1185" name="Google Shape;1185;p66"/>
            <p:cNvSpPr/>
            <p:nvPr/>
          </p:nvSpPr>
          <p:spPr>
            <a:xfrm>
              <a:off x="0" y="0"/>
              <a:ext cx="5524500" cy="438300"/>
            </a:xfrm>
            <a:prstGeom prst="roundRect">
              <a:avLst>
                <a:gd fmla="val 130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66"/>
            <p:cNvSpPr txBox="1"/>
            <p:nvPr/>
          </p:nvSpPr>
          <p:spPr>
            <a:xfrm>
              <a:off x="0" y="0"/>
              <a:ext cx="5524500" cy="438300"/>
            </a:xfrm>
            <a:prstGeom prst="rect">
              <a:avLst/>
            </a:prstGeom>
            <a:noFill/>
            <a:ln>
              <a:noFill/>
            </a:ln>
          </p:spPr>
          <p:txBody>
            <a:bodyPr anchorCtr="0" anchor="t" bIns="0" lIns="152400" spcFirstLastPara="1" rIns="152400" wrap="square" tIns="0">
              <a:noAutofit/>
            </a:bodyPr>
            <a:lstStyle/>
            <a:p>
              <a:pPr indent="0" lvl="0" marL="0" rtl="0" algn="ctr">
                <a:spcBef>
                  <a:spcPts val="0"/>
                </a:spcBef>
                <a:spcAft>
                  <a:spcPts val="0"/>
                </a:spcAft>
                <a:buNone/>
              </a:pPr>
              <a:r>
                <a:rPr b="0" lang="en" sz="1100">
                  <a:solidFill>
                    <a:srgbClr val="1B3859"/>
                  </a:solidFill>
                  <a:latin typeface="Poppins SemiBold"/>
                  <a:ea typeface="Poppins SemiBold"/>
                  <a:cs typeface="Poppins SemiBold"/>
                  <a:sym typeface="Poppins SemiBold"/>
                </a:rPr>
                <a:t>Food Service</a:t>
              </a:r>
              <a:r>
                <a:rPr lang="en" sz="1100">
                  <a:latin typeface="Poppins"/>
                  <a:ea typeface="Poppins"/>
                  <a:cs typeface="Poppins"/>
                  <a:sym typeface="Poppins"/>
                </a:rPr>
                <a:t> </a:t>
              </a:r>
              <a:r>
                <a:rPr b="0" lang="en" sz="1100">
                  <a:solidFill>
                    <a:srgbClr val="0F172A"/>
                  </a:solidFill>
                  <a:latin typeface="Poppins Medium"/>
                  <a:ea typeface="Poppins Medium"/>
                  <a:cs typeface="Poppins Medium"/>
                  <a:sym typeface="Poppins Medium"/>
                </a:rPr>
                <a:t>$78,500</a:t>
              </a:r>
              <a:r>
                <a:rPr lang="en" sz="1100">
                  <a:latin typeface="Poppins"/>
                  <a:ea typeface="Poppins"/>
                  <a:cs typeface="Poppins"/>
                  <a:sym typeface="Poppins"/>
                </a:rPr>
                <a:t> </a:t>
              </a:r>
              <a:r>
                <a:rPr b="1" lang="en" sz="1100">
                  <a:solidFill>
                    <a:srgbClr val="64748B"/>
                  </a:solidFill>
                  <a:latin typeface="Poppins"/>
                  <a:ea typeface="Poppins"/>
                  <a:cs typeface="Poppins"/>
                  <a:sym typeface="Poppins"/>
                </a:rPr>
                <a:t>?</a:t>
              </a:r>
              <a:endParaRPr sz="1100">
                <a:latin typeface="Poppins"/>
                <a:ea typeface="Poppins"/>
                <a:cs typeface="Poppins"/>
                <a:sym typeface="Poppins"/>
              </a:endParaRPr>
            </a:p>
          </p:txBody>
        </p:sp>
      </p:grpSp>
      <p:grpSp>
        <p:nvGrpSpPr>
          <p:cNvPr id="1187" name="Google Shape;1187;p66"/>
          <p:cNvGrpSpPr/>
          <p:nvPr/>
        </p:nvGrpSpPr>
        <p:grpSpPr>
          <a:xfrm>
            <a:off x="6096000" y="1000125"/>
            <a:ext cx="2667000" cy="3343200"/>
            <a:chOff x="0" y="0"/>
            <a:chExt cx="2667000" cy="3343200"/>
          </a:xfrm>
        </p:grpSpPr>
        <p:sp>
          <p:nvSpPr>
            <p:cNvPr id="1188" name="Google Shape;1188;p66"/>
            <p:cNvSpPr/>
            <p:nvPr/>
          </p:nvSpPr>
          <p:spPr>
            <a:xfrm>
              <a:off x="0" y="0"/>
              <a:ext cx="2667000" cy="3343200"/>
            </a:xfrm>
            <a:prstGeom prst="roundRect">
              <a:avLst>
                <a:gd fmla="val 3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9" name="Google Shape;1189;p66"/>
            <p:cNvSpPr/>
            <p:nvPr/>
          </p:nvSpPr>
          <p:spPr>
            <a:xfrm>
              <a:off x="0" y="0"/>
              <a:ext cx="2667000" cy="57300"/>
            </a:xfrm>
            <a:prstGeom prst="roundRect">
              <a:avLst>
                <a:gd fmla="val 50000" name="adj"/>
              </a:avLst>
            </a:prstGeom>
            <a:solidFill>
              <a:srgbClr val="0063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0" name="Google Shape;1190;p66"/>
            <p:cNvSpPr txBox="1"/>
            <p:nvPr/>
          </p:nvSpPr>
          <p:spPr>
            <a:xfrm>
              <a:off x="0" y="0"/>
              <a:ext cx="2667000" cy="3343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1" lang="en" sz="1300">
                  <a:solidFill>
                    <a:srgbClr val="1B3859"/>
                  </a:solidFill>
                  <a:latin typeface="Poppins"/>
                  <a:ea typeface="Poppins"/>
                  <a:cs typeface="Poppins"/>
                  <a:sym typeface="Poppins"/>
                </a:rPr>
                <a:t>Reduction Planning</a:t>
              </a:r>
              <a:endParaRPr b="1" sz="1300">
                <a:solidFill>
                  <a:srgbClr val="1B3859"/>
                </a:solidFill>
                <a:latin typeface="Poppins"/>
                <a:ea typeface="Poppins"/>
                <a:cs typeface="Poppins"/>
                <a:sym typeface="Poppins"/>
              </a:endParaRPr>
            </a:p>
            <a:p>
              <a:pPr indent="0" lvl="0" marL="0" rtl="0" algn="l">
                <a:spcBef>
                  <a:spcPts val="750"/>
                </a:spcBef>
                <a:spcAft>
                  <a:spcPts val="0"/>
                </a:spcAft>
                <a:buNone/>
              </a:pPr>
              <a:r>
                <a:rPr lang="en" sz="950">
                  <a:solidFill>
                    <a:srgbClr val="475569"/>
                  </a:solidFill>
                  <a:latin typeface="Poppins"/>
                  <a:ea typeface="Poppins"/>
                  <a:cs typeface="Poppins"/>
                  <a:sym typeface="Poppins"/>
                </a:rPr>
                <a:t>Target reductions depend on required expenditure targets across departments.</a:t>
              </a:r>
              <a:endParaRPr sz="950">
                <a:solidFill>
                  <a:srgbClr val="475569"/>
                </a:solidFill>
                <a:latin typeface="Poppins"/>
                <a:ea typeface="Poppins"/>
                <a:cs typeface="Poppins"/>
                <a:sym typeface="Poppins"/>
              </a:endParaRPr>
            </a:p>
            <a:p>
              <a:pPr indent="0" lvl="0" marL="0" rtl="0" algn="l">
                <a:spcBef>
                  <a:spcPts val="1500"/>
                </a:spcBef>
                <a:spcAft>
                  <a:spcPts val="0"/>
                </a:spcAft>
                <a:buNone/>
              </a:pPr>
              <a:r>
                <a:rPr b="0" lang="en" sz="850">
                  <a:solidFill>
                    <a:srgbClr val="64748B"/>
                  </a:solidFill>
                  <a:latin typeface="Poppins SemiBold"/>
                  <a:ea typeface="Poppins SemiBold"/>
                  <a:cs typeface="Poppins SemiBold"/>
                  <a:sym typeface="Poppins SemiBold"/>
                </a:rPr>
                <a:t>HIGHEST AVERAGE COST</a:t>
              </a:r>
              <a:endParaRPr b="0" sz="850">
                <a:solidFill>
                  <a:srgbClr val="64748B"/>
                </a:solidFill>
                <a:latin typeface="Poppins SemiBold"/>
                <a:ea typeface="Poppins SemiBold"/>
                <a:cs typeface="Poppins SemiBold"/>
                <a:sym typeface="Poppins SemiBold"/>
              </a:endParaRPr>
            </a:p>
            <a:p>
              <a:pPr indent="0" lvl="0" marL="0" rtl="0" algn="l">
                <a:spcBef>
                  <a:spcPts val="300"/>
                </a:spcBef>
                <a:spcAft>
                  <a:spcPts val="0"/>
                </a:spcAft>
                <a:buNone/>
              </a:pPr>
              <a:r>
                <a:rPr b="1" lang="en" sz="1500">
                  <a:solidFill>
                    <a:srgbClr val="0063A0"/>
                  </a:solidFill>
                  <a:highlight>
                    <a:srgbClr val="F1F5F9"/>
                  </a:highlight>
                  <a:latin typeface="Poppins"/>
                  <a:ea typeface="Poppins"/>
                  <a:cs typeface="Poppins"/>
                  <a:sym typeface="Poppins"/>
                </a:rPr>
                <a:t>$135,000</a:t>
              </a:r>
              <a:endParaRPr b="1" sz="1500">
                <a:solidFill>
                  <a:srgbClr val="0063A0"/>
                </a:solidFill>
                <a:highlight>
                  <a:srgbClr val="F1F5F9"/>
                </a:highlight>
                <a:latin typeface="Poppins"/>
                <a:ea typeface="Poppins"/>
                <a:cs typeface="Poppins"/>
                <a:sym typeface="Poppins"/>
              </a:endParaRPr>
            </a:p>
            <a:p>
              <a:pPr indent="0" lvl="0" marL="0" rtl="0" algn="l">
                <a:spcBef>
                  <a:spcPts val="150"/>
                </a:spcBef>
                <a:spcAft>
                  <a:spcPts val="0"/>
                </a:spcAft>
                <a:buNone/>
              </a:pPr>
              <a:r>
                <a:rPr lang="en" sz="900">
                  <a:solidFill>
                    <a:srgbClr val="334155"/>
                  </a:solidFill>
                  <a:highlight>
                    <a:srgbClr val="F1F5F9"/>
                  </a:highlight>
                  <a:latin typeface="Poppins"/>
                  <a:ea typeface="Poppins"/>
                  <a:cs typeface="Poppins"/>
                  <a:sym typeface="Poppins"/>
                </a:rPr>
                <a:t>Teachers</a:t>
              </a:r>
              <a:endParaRPr sz="900">
                <a:solidFill>
                  <a:srgbClr val="334155"/>
                </a:solidFill>
                <a:highlight>
                  <a:srgbClr val="F1F5F9"/>
                </a:highlight>
                <a:latin typeface="Poppins"/>
                <a:ea typeface="Poppins"/>
                <a:cs typeface="Poppins"/>
                <a:sym typeface="Poppins"/>
              </a:endParaRPr>
            </a:p>
            <a:p>
              <a:pPr indent="0" lvl="0" marL="0" rtl="0" algn="l">
                <a:spcBef>
                  <a:spcPts val="900"/>
                </a:spcBef>
                <a:spcAft>
                  <a:spcPts val="0"/>
                </a:spcAft>
                <a:buNone/>
              </a:pPr>
              <a:r>
                <a:rPr b="0" lang="en" sz="850">
                  <a:solidFill>
                    <a:srgbClr val="64748B"/>
                  </a:solidFill>
                  <a:latin typeface="Poppins SemiBold"/>
                  <a:ea typeface="Poppins SemiBold"/>
                  <a:cs typeface="Poppins SemiBold"/>
                  <a:sym typeface="Poppins SemiBold"/>
                </a:rPr>
                <a:t>LOWEST AVERAGE COST</a:t>
              </a:r>
              <a:endParaRPr b="0" sz="850">
                <a:solidFill>
                  <a:srgbClr val="64748B"/>
                </a:solidFill>
                <a:latin typeface="Poppins SemiBold"/>
                <a:ea typeface="Poppins SemiBold"/>
                <a:cs typeface="Poppins SemiBold"/>
                <a:sym typeface="Poppins SemiBold"/>
              </a:endParaRPr>
            </a:p>
            <a:p>
              <a:pPr indent="0" lvl="0" marL="0" rtl="0" algn="l">
                <a:spcBef>
                  <a:spcPts val="300"/>
                </a:spcBef>
                <a:spcAft>
                  <a:spcPts val="0"/>
                </a:spcAft>
                <a:buNone/>
              </a:pPr>
              <a:r>
                <a:rPr b="1" lang="en" sz="1500">
                  <a:solidFill>
                    <a:srgbClr val="0063A0"/>
                  </a:solidFill>
                  <a:highlight>
                    <a:srgbClr val="F1F5F9"/>
                  </a:highlight>
                  <a:latin typeface="Poppins"/>
                  <a:ea typeface="Poppins"/>
                  <a:cs typeface="Poppins"/>
                  <a:sym typeface="Poppins"/>
                </a:rPr>
                <a:t>$78,500</a:t>
              </a:r>
              <a:endParaRPr b="1" sz="1500">
                <a:solidFill>
                  <a:srgbClr val="0063A0"/>
                </a:solidFill>
                <a:highlight>
                  <a:srgbClr val="F1F5F9"/>
                </a:highlight>
                <a:latin typeface="Poppins"/>
                <a:ea typeface="Poppins"/>
                <a:cs typeface="Poppins"/>
                <a:sym typeface="Poppins"/>
              </a:endParaRPr>
            </a:p>
            <a:p>
              <a:pPr indent="0" lvl="0" marL="0" rtl="0" algn="l">
                <a:spcBef>
                  <a:spcPts val="150"/>
                </a:spcBef>
                <a:spcAft>
                  <a:spcPts val="0"/>
                </a:spcAft>
                <a:buNone/>
              </a:pPr>
              <a:r>
                <a:rPr lang="en" sz="900">
                  <a:solidFill>
                    <a:srgbClr val="334155"/>
                  </a:solidFill>
                  <a:highlight>
                    <a:srgbClr val="F1F5F9"/>
                  </a:highlight>
                  <a:latin typeface="Poppins"/>
                  <a:ea typeface="Poppins"/>
                  <a:cs typeface="Poppins"/>
                  <a:sym typeface="Poppins"/>
                </a:rPr>
                <a:t>Food Service</a:t>
              </a:r>
              <a:endParaRPr sz="900">
                <a:solidFill>
                  <a:srgbClr val="334155"/>
                </a:solidFill>
                <a:highlight>
                  <a:srgbClr val="F1F5F9"/>
                </a:highlight>
                <a:latin typeface="Poppins"/>
                <a:ea typeface="Poppins"/>
                <a:cs typeface="Poppins"/>
                <a:sym typeface="Poppin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pic>
        <p:nvPicPr>
          <p:cNvPr id="1195" name="Google Shape;1195;p67"/>
          <p:cNvPicPr preferRelativeResize="0"/>
          <p:nvPr/>
        </p:nvPicPr>
        <p:blipFill>
          <a:blip r:embed="rId3">
            <a:alphaModFix/>
          </a:blip>
          <a:stretch>
            <a:fillRect/>
          </a:stretch>
        </p:blipFill>
        <p:spPr>
          <a:xfrm>
            <a:off x="2927000" y="762000"/>
            <a:ext cx="6148250" cy="4325800"/>
          </a:xfrm>
          <a:prstGeom prst="rect">
            <a:avLst/>
          </a:prstGeom>
          <a:noFill/>
          <a:ln>
            <a:noFill/>
          </a:ln>
        </p:spPr>
      </p:pic>
      <p:pic>
        <p:nvPicPr>
          <p:cNvPr id="1196" name="Google Shape;1196;p67"/>
          <p:cNvPicPr preferRelativeResize="0"/>
          <p:nvPr/>
        </p:nvPicPr>
        <p:blipFill>
          <a:blip r:embed="rId4">
            <a:alphaModFix/>
          </a:blip>
          <a:stretch>
            <a:fillRect/>
          </a:stretch>
        </p:blipFill>
        <p:spPr>
          <a:xfrm>
            <a:off x="0" y="2"/>
            <a:ext cx="9144001" cy="937846"/>
          </a:xfrm>
          <a:prstGeom prst="rect">
            <a:avLst/>
          </a:prstGeom>
          <a:noFill/>
          <a:ln>
            <a:noFill/>
          </a:ln>
        </p:spPr>
      </p:pic>
      <p:pic>
        <p:nvPicPr>
          <p:cNvPr id="1197" name="Google Shape;1197;p67"/>
          <p:cNvPicPr preferRelativeResize="0"/>
          <p:nvPr/>
        </p:nvPicPr>
        <p:blipFill>
          <a:blip r:embed="rId5">
            <a:alphaModFix/>
          </a:blip>
          <a:stretch>
            <a:fillRect/>
          </a:stretch>
        </p:blipFill>
        <p:spPr>
          <a:xfrm>
            <a:off x="144400" y="818523"/>
            <a:ext cx="2352293" cy="3900851"/>
          </a:xfrm>
          <a:prstGeom prst="rect">
            <a:avLst/>
          </a:prstGeom>
          <a:noFill/>
          <a:ln>
            <a:noFill/>
          </a:ln>
        </p:spPr>
      </p:pic>
      <p:grpSp>
        <p:nvGrpSpPr>
          <p:cNvPr id="1198" name="Google Shape;1198;p67"/>
          <p:cNvGrpSpPr/>
          <p:nvPr/>
        </p:nvGrpSpPr>
        <p:grpSpPr>
          <a:xfrm>
            <a:off x="347625" y="3902175"/>
            <a:ext cx="2028900" cy="1143000"/>
            <a:chOff x="0" y="0"/>
            <a:chExt cx="2028900" cy="1143000"/>
          </a:xfrm>
        </p:grpSpPr>
        <p:sp>
          <p:nvSpPr>
            <p:cNvPr id="1199" name="Google Shape;1199;p67"/>
            <p:cNvSpPr/>
            <p:nvPr/>
          </p:nvSpPr>
          <p:spPr>
            <a:xfrm>
              <a:off x="0" y="0"/>
              <a:ext cx="2028900" cy="1143000"/>
            </a:xfrm>
            <a:prstGeom prst="roundRect">
              <a:avLst>
                <a:gd fmla="val 6666"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0" name="Google Shape;1200;p67"/>
            <p:cNvSpPr txBox="1"/>
            <p:nvPr/>
          </p:nvSpPr>
          <p:spPr>
            <a:xfrm>
              <a:off x="0" y="0"/>
              <a:ext cx="2028900" cy="1143000"/>
            </a:xfrm>
            <a:prstGeom prst="rect">
              <a:avLst/>
            </a:prstGeom>
            <a:noFill/>
            <a:ln>
              <a:noFill/>
            </a:ln>
          </p:spPr>
          <p:txBody>
            <a:bodyPr anchorCtr="0" anchor="ctr" bIns="114300" lIns="114300" spcFirstLastPara="1" rIns="114300" wrap="square" tIns="114300">
              <a:noAutofit/>
            </a:bodyPr>
            <a:lstStyle/>
            <a:p>
              <a:pPr indent="0" lvl="0" marL="0" rtl="0" algn="l">
                <a:spcBef>
                  <a:spcPts val="0"/>
                </a:spcBef>
                <a:spcAft>
                  <a:spcPts val="0"/>
                </a:spcAft>
                <a:buNone/>
              </a:pPr>
              <a:r>
                <a:rPr b="1" lang="en" sz="1000">
                  <a:solidFill>
                    <a:srgbClr val="B91C1C"/>
                  </a:solidFill>
                  <a:latin typeface="Poppins"/>
                  <a:ea typeface="Poppins"/>
                  <a:cs typeface="Poppins"/>
                  <a:sym typeface="Poppins"/>
                </a:rPr>
                <a:t>Requirement</a:t>
              </a:r>
              <a:endParaRPr b="1" sz="1000">
                <a:solidFill>
                  <a:srgbClr val="B91C1C"/>
                </a:solidFill>
                <a:latin typeface="Poppins"/>
                <a:ea typeface="Poppins"/>
                <a:cs typeface="Poppins"/>
                <a:sym typeface="Poppins"/>
              </a:endParaRPr>
            </a:p>
            <a:p>
              <a:pPr indent="0" lvl="0" marL="0" rtl="0" algn="l">
                <a:spcBef>
                  <a:spcPts val="300"/>
                </a:spcBef>
                <a:spcAft>
                  <a:spcPts val="0"/>
                </a:spcAft>
                <a:buNone/>
              </a:pPr>
              <a:r>
                <a:rPr b="1" lang="en" sz="1300">
                  <a:solidFill>
                    <a:srgbClr val="1B3859"/>
                  </a:solidFill>
                  <a:latin typeface="Poppins"/>
                  <a:ea typeface="Poppins"/>
                  <a:cs typeface="Poppins"/>
                  <a:sym typeface="Poppins"/>
                </a:rPr>
                <a:t>Minimum $3.3M Cut</a:t>
              </a:r>
              <a:endParaRPr b="1" sz="1300">
                <a:solidFill>
                  <a:srgbClr val="1B3859"/>
                </a:solidFill>
                <a:latin typeface="Poppins"/>
                <a:ea typeface="Poppins"/>
                <a:cs typeface="Poppins"/>
                <a:sym typeface="Poppins"/>
              </a:endParaRPr>
            </a:p>
            <a:p>
              <a:pPr indent="0" lvl="0" marL="0" rtl="0" algn="l">
                <a:spcBef>
                  <a:spcPts val="225"/>
                </a:spcBef>
                <a:spcAft>
                  <a:spcPts val="0"/>
                </a:spcAft>
                <a:buNone/>
              </a:pPr>
              <a:r>
                <a:rPr b="0" lang="en" sz="950">
                  <a:solidFill>
                    <a:srgbClr val="475569"/>
                  </a:solidFill>
                  <a:latin typeface="Poppins"/>
                  <a:ea typeface="Poppins"/>
                  <a:cs typeface="Poppins"/>
                  <a:sym typeface="Poppins"/>
                </a:rPr>
                <a:t>Required to stay under the spending threshold</a:t>
              </a:r>
              <a:endParaRPr b="0" sz="950">
                <a:solidFill>
                  <a:srgbClr val="475569"/>
                </a:solidFill>
                <a:latin typeface="Poppins"/>
                <a:ea typeface="Poppins"/>
                <a:cs typeface="Poppins"/>
                <a:sym typeface="Poppins"/>
              </a:endParaRPr>
            </a:p>
          </p:txBody>
        </p:sp>
      </p:grpSp>
      <p:sp>
        <p:nvSpPr>
          <p:cNvPr id="1201" name="Google Shape;1201;p67"/>
          <p:cNvSpPr/>
          <p:nvPr/>
        </p:nvSpPr>
        <p:spPr>
          <a:xfrm>
            <a:off x="7592325" y="1179775"/>
            <a:ext cx="1593300" cy="3402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5" name="Shape 1205"/>
        <p:cNvGrpSpPr/>
        <p:nvPr/>
      </p:nvGrpSpPr>
      <p:grpSpPr>
        <a:xfrm>
          <a:off x="0" y="0"/>
          <a:ext cx="0" cy="0"/>
          <a:chOff x="0" y="0"/>
          <a:chExt cx="0" cy="0"/>
        </a:xfrm>
      </p:grpSpPr>
      <p:grpSp>
        <p:nvGrpSpPr>
          <p:cNvPr id="1206" name="Google Shape;1206;p68"/>
          <p:cNvGrpSpPr/>
          <p:nvPr/>
        </p:nvGrpSpPr>
        <p:grpSpPr>
          <a:xfrm>
            <a:off x="381000" y="304800"/>
            <a:ext cx="8362950" cy="400200"/>
            <a:chOff x="0" y="0"/>
            <a:chExt cx="8362950" cy="400200"/>
          </a:xfrm>
        </p:grpSpPr>
        <p:sp>
          <p:nvSpPr>
            <p:cNvPr id="1207" name="Google Shape;1207;p68"/>
            <p:cNvSpPr/>
            <p:nvPr/>
          </p:nvSpPr>
          <p:spPr>
            <a:xfrm>
              <a:off x="0" y="0"/>
              <a:ext cx="57300" cy="362100"/>
            </a:xfrm>
            <a:prstGeom prst="roundRect">
              <a:avLst>
                <a:gd fmla="val 50000" name="adj"/>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8" name="Google Shape;1208;p68"/>
            <p:cNvSpPr txBox="1"/>
            <p:nvPr/>
          </p:nvSpPr>
          <p:spPr>
            <a:xfrm>
              <a:off x="171450" y="0"/>
              <a:ext cx="81915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B3859"/>
                  </a:solidFill>
                  <a:latin typeface="Poppins"/>
                  <a:ea typeface="Poppins"/>
                  <a:cs typeface="Poppins"/>
                  <a:sym typeface="Poppins"/>
                </a:rPr>
                <a:t>Proposed Budget Impacts</a:t>
              </a:r>
              <a:endParaRPr b="1" sz="2400">
                <a:solidFill>
                  <a:srgbClr val="1B3859"/>
                </a:solidFill>
                <a:latin typeface="Poppins"/>
                <a:ea typeface="Poppins"/>
                <a:cs typeface="Poppins"/>
                <a:sym typeface="Poppins"/>
              </a:endParaRPr>
            </a:p>
          </p:txBody>
        </p:sp>
      </p:grpSp>
      <p:sp>
        <p:nvSpPr>
          <p:cNvPr id="1209" name="Google Shape;1209;p68"/>
          <p:cNvSpPr/>
          <p:nvPr/>
        </p:nvSpPr>
        <p:spPr>
          <a:xfrm>
            <a:off x="381000" y="904875"/>
            <a:ext cx="8382000" cy="3857700"/>
          </a:xfrm>
          <a:prstGeom prst="roundRect">
            <a:avLst>
              <a:gd fmla="val 246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aphicFrame>
        <p:nvGraphicFramePr>
          <p:cNvPr id="1210" name="Google Shape;1210;p68"/>
          <p:cNvGraphicFramePr/>
          <p:nvPr/>
        </p:nvGraphicFramePr>
        <p:xfrm>
          <a:off x="381000" y="904875"/>
          <a:ext cx="3000000" cy="3000000"/>
        </p:xfrm>
        <a:graphic>
          <a:graphicData uri="http://schemas.openxmlformats.org/drawingml/2006/table">
            <a:tbl>
              <a:tblPr>
                <a:noFill/>
                <a:tableStyleId>{E1922B52-F810-4ECE-AA54-C31FA968E27D}</a:tableStyleId>
              </a:tblPr>
              <a:tblGrid>
                <a:gridCol w="1190625"/>
                <a:gridCol w="1095375"/>
                <a:gridCol w="1571625"/>
                <a:gridCol w="1476375"/>
                <a:gridCol w="1428750"/>
                <a:gridCol w="1619250"/>
              </a:tblGrid>
              <a:tr h="537150">
                <a:tc>
                  <a:txBody>
                    <a:bodyPr/>
                    <a:lstStyle/>
                    <a:p>
                      <a:pPr indent="0" lvl="0" marL="0" rtl="0" algn="l">
                        <a:spcBef>
                          <a:spcPts val="0"/>
                        </a:spcBef>
                        <a:spcAft>
                          <a:spcPts val="0"/>
                        </a:spcAft>
                        <a:buNone/>
                      </a:pPr>
                      <a:r>
                        <a:rPr b="0" lang="en" sz="1050">
                          <a:solidFill>
                            <a:srgbClr val="FFFFFF"/>
                          </a:solidFill>
                          <a:highlight>
                            <a:srgbClr val="1B3859"/>
                          </a:highlight>
                          <a:latin typeface="Poppins SemiBold"/>
                          <a:ea typeface="Poppins SemiBold"/>
                          <a:cs typeface="Poppins SemiBold"/>
                          <a:sym typeface="Poppins SemiBold"/>
                        </a:rPr>
                        <a:t>Proposed Budget</a:t>
                      </a:r>
                      <a:endParaRPr b="0" sz="1050">
                        <a:solidFill>
                          <a:srgbClr val="FFFFFF"/>
                        </a:solidFill>
                        <a:highlight>
                          <a:srgbClr val="1B3859"/>
                        </a:highlight>
                        <a:latin typeface="Poppins SemiBold"/>
                        <a:ea typeface="Poppins SemiBold"/>
                        <a:cs typeface="Poppins SemiBold"/>
                        <a:sym typeface="Poppins SemiBold"/>
                      </a:endParaRPr>
                    </a:p>
                  </a:txBody>
                  <a:tcPr marT="95250" marB="95250" marR="133350" marL="133350">
                    <a:solidFill>
                      <a:srgbClr val="1B3859"/>
                    </a:solidFill>
                  </a:tcPr>
                </a:tc>
                <a:tc>
                  <a:txBody>
                    <a:bodyPr/>
                    <a:lstStyle/>
                    <a:p>
                      <a:pPr indent="0" lvl="0" marL="0" rtl="0" algn="l">
                        <a:spcBef>
                          <a:spcPts val="0"/>
                        </a:spcBef>
                        <a:spcAft>
                          <a:spcPts val="0"/>
                        </a:spcAft>
                        <a:buNone/>
                      </a:pPr>
                      <a:r>
                        <a:rPr b="0" lang="en" sz="1050">
                          <a:solidFill>
                            <a:srgbClr val="FFFFFF"/>
                          </a:solidFill>
                          <a:highlight>
                            <a:srgbClr val="1B3859"/>
                          </a:highlight>
                          <a:latin typeface="Poppins SemiBold"/>
                          <a:ea typeface="Poppins SemiBold"/>
                          <a:cs typeface="Poppins SemiBold"/>
                          <a:sym typeface="Poppins SemiBold"/>
                        </a:rPr>
                        <a:t>Cost per Pupil</a:t>
                      </a:r>
                      <a:endParaRPr b="0" sz="1050">
                        <a:solidFill>
                          <a:srgbClr val="FFFFFF"/>
                        </a:solidFill>
                        <a:highlight>
                          <a:srgbClr val="1B3859"/>
                        </a:highlight>
                        <a:latin typeface="Poppins SemiBold"/>
                        <a:ea typeface="Poppins SemiBold"/>
                        <a:cs typeface="Poppins SemiBold"/>
                        <a:sym typeface="Poppins SemiBold"/>
                      </a:endParaRPr>
                    </a:p>
                  </a:txBody>
                  <a:tcPr marT="95250" marB="95250" marR="114300" marL="114300">
                    <a:solidFill>
                      <a:srgbClr val="1B3859"/>
                    </a:solidFill>
                  </a:tcPr>
                </a:tc>
                <a:tc>
                  <a:txBody>
                    <a:bodyPr/>
                    <a:lstStyle/>
                    <a:p>
                      <a:pPr indent="0" lvl="0" marL="0" rtl="0" algn="l">
                        <a:spcBef>
                          <a:spcPts val="0"/>
                        </a:spcBef>
                        <a:spcAft>
                          <a:spcPts val="0"/>
                        </a:spcAft>
                        <a:buNone/>
                      </a:pPr>
                      <a:r>
                        <a:rPr b="0" lang="en" sz="1050">
                          <a:solidFill>
                            <a:srgbClr val="FFFFFF"/>
                          </a:solidFill>
                          <a:highlight>
                            <a:srgbClr val="1B3859"/>
                          </a:highlight>
                          <a:latin typeface="Poppins SemiBold"/>
                          <a:ea typeface="Poppins SemiBold"/>
                          <a:cs typeface="Poppins SemiBold"/>
                          <a:sym typeface="Poppins SemiBold"/>
                        </a:rPr>
                        <a:t>Excess over/(under) spending threshold</a:t>
                      </a:r>
                      <a:endParaRPr b="0" sz="1050">
                        <a:solidFill>
                          <a:srgbClr val="FFFFFF"/>
                        </a:solidFill>
                        <a:highlight>
                          <a:srgbClr val="1B3859"/>
                        </a:highlight>
                        <a:latin typeface="Poppins SemiBold"/>
                        <a:ea typeface="Poppins SemiBold"/>
                        <a:cs typeface="Poppins SemiBold"/>
                        <a:sym typeface="Poppins SemiBold"/>
                      </a:endParaRPr>
                    </a:p>
                  </a:txBody>
                  <a:tcPr marT="95250" marB="95250" marR="114300" marL="114300">
                    <a:solidFill>
                      <a:srgbClr val="1B3859"/>
                    </a:solidFill>
                  </a:tcPr>
                </a:tc>
                <a:tc>
                  <a:txBody>
                    <a:bodyPr/>
                    <a:lstStyle/>
                    <a:p>
                      <a:pPr indent="0" lvl="0" marL="0" rtl="0" algn="l">
                        <a:spcBef>
                          <a:spcPts val="0"/>
                        </a:spcBef>
                        <a:spcAft>
                          <a:spcPts val="0"/>
                        </a:spcAft>
                        <a:buNone/>
                      </a:pPr>
                      <a:r>
                        <a:rPr b="0" lang="en" sz="1050">
                          <a:solidFill>
                            <a:srgbClr val="FFFFFF"/>
                          </a:solidFill>
                          <a:highlight>
                            <a:srgbClr val="1B3859"/>
                          </a:highlight>
                          <a:latin typeface="Poppins SemiBold"/>
                          <a:ea typeface="Poppins SemiBold"/>
                          <a:cs typeface="Poppins SemiBold"/>
                          <a:sym typeface="Poppins SemiBold"/>
                        </a:rPr>
                        <a:t>Penalty to Education Spending</a:t>
                      </a:r>
                      <a:endParaRPr b="0" sz="1050">
                        <a:solidFill>
                          <a:srgbClr val="FFFFFF"/>
                        </a:solidFill>
                        <a:highlight>
                          <a:srgbClr val="1B3859"/>
                        </a:highlight>
                        <a:latin typeface="Poppins SemiBold"/>
                        <a:ea typeface="Poppins SemiBold"/>
                        <a:cs typeface="Poppins SemiBold"/>
                        <a:sym typeface="Poppins SemiBold"/>
                      </a:endParaRPr>
                    </a:p>
                  </a:txBody>
                  <a:tcPr marT="95250" marB="95250" marR="114300" marL="114300">
                    <a:solidFill>
                      <a:srgbClr val="1B3859"/>
                    </a:solidFill>
                  </a:tcPr>
                </a:tc>
                <a:tc>
                  <a:txBody>
                    <a:bodyPr/>
                    <a:lstStyle/>
                    <a:p>
                      <a:pPr indent="0" lvl="0" marL="0" rtl="0" algn="l">
                        <a:spcBef>
                          <a:spcPts val="0"/>
                        </a:spcBef>
                        <a:spcAft>
                          <a:spcPts val="0"/>
                        </a:spcAft>
                        <a:buNone/>
                      </a:pPr>
                      <a:r>
                        <a:rPr b="0" lang="en" sz="1050">
                          <a:solidFill>
                            <a:srgbClr val="FFFFFF"/>
                          </a:solidFill>
                          <a:highlight>
                            <a:srgbClr val="1B3859"/>
                          </a:highlight>
                          <a:latin typeface="Poppins SemiBold"/>
                          <a:ea typeface="Poppins SemiBold"/>
                          <a:cs typeface="Poppins SemiBold"/>
                          <a:sym typeface="Poppins SemiBold"/>
                        </a:rPr>
                        <a:t>Year over Year Increase %</a:t>
                      </a:r>
                      <a:endParaRPr b="0" sz="1050">
                        <a:solidFill>
                          <a:srgbClr val="FFFFFF"/>
                        </a:solidFill>
                        <a:highlight>
                          <a:srgbClr val="1B3859"/>
                        </a:highlight>
                        <a:latin typeface="Poppins SemiBold"/>
                        <a:ea typeface="Poppins SemiBold"/>
                        <a:cs typeface="Poppins SemiBold"/>
                        <a:sym typeface="Poppins SemiBold"/>
                      </a:endParaRPr>
                    </a:p>
                  </a:txBody>
                  <a:tcPr marT="95250" marB="95250" marR="114300" marL="114300">
                    <a:solidFill>
                      <a:srgbClr val="1B3859"/>
                    </a:solidFill>
                  </a:tcPr>
                </a:tc>
                <a:tc>
                  <a:txBody>
                    <a:bodyPr/>
                    <a:lstStyle/>
                    <a:p>
                      <a:pPr indent="0" lvl="0" marL="0" rtl="0" algn="l">
                        <a:spcBef>
                          <a:spcPts val="0"/>
                        </a:spcBef>
                        <a:spcAft>
                          <a:spcPts val="0"/>
                        </a:spcAft>
                        <a:buNone/>
                      </a:pPr>
                      <a:r>
                        <a:rPr b="0" lang="en" sz="1050">
                          <a:solidFill>
                            <a:srgbClr val="FCA5A5"/>
                          </a:solidFill>
                          <a:highlight>
                            <a:srgbClr val="0F253E"/>
                          </a:highlight>
                          <a:latin typeface="Poppins SemiBold"/>
                          <a:ea typeface="Poppins SemiBold"/>
                          <a:cs typeface="Poppins SemiBold"/>
                          <a:sym typeface="Poppins SemiBold"/>
                        </a:rPr>
                        <a:t>Reduction in Expenses</a:t>
                      </a:r>
                      <a:endParaRPr b="0" sz="1050">
                        <a:solidFill>
                          <a:srgbClr val="FCA5A5"/>
                        </a:solidFill>
                        <a:highlight>
                          <a:srgbClr val="0F253E"/>
                        </a:highlight>
                        <a:latin typeface="Poppins SemiBold"/>
                        <a:ea typeface="Poppins SemiBold"/>
                        <a:cs typeface="Poppins SemiBold"/>
                        <a:sym typeface="Poppins SemiBold"/>
                      </a:endParaRPr>
                    </a:p>
                  </a:txBody>
                  <a:tcPr marT="95250" marB="95250" marR="133350" marL="133350">
                    <a:solidFill>
                      <a:srgbClr val="0F253E"/>
                    </a:solidFill>
                  </a:tcPr>
                </a:tc>
              </a:tr>
              <a:tr h="664100">
                <a:tc>
                  <a:txBody>
                    <a:bodyPr/>
                    <a:lstStyle/>
                    <a:p>
                      <a:pPr indent="0" lvl="0" marL="0" rtl="0" algn="l">
                        <a:spcBef>
                          <a:spcPts val="0"/>
                        </a:spcBef>
                        <a:spcAft>
                          <a:spcPts val="0"/>
                        </a:spcAft>
                        <a:buNone/>
                      </a:pPr>
                      <a:r>
                        <a:rPr b="1" lang="en">
                          <a:solidFill>
                            <a:srgbClr val="0F172A"/>
                          </a:solidFill>
                          <a:highlight>
                            <a:srgbClr val="FFFFFF"/>
                          </a:highlight>
                          <a:latin typeface="Poppins"/>
                          <a:ea typeface="Poppins"/>
                          <a:cs typeface="Poppins"/>
                          <a:sym typeface="Poppins"/>
                        </a:rPr>
                        <a:t>$55.2M</a:t>
                      </a:r>
                      <a:endParaRPr b="1">
                        <a:solidFill>
                          <a:srgbClr val="0F172A"/>
                        </a:solidFill>
                        <a:highlight>
                          <a:srgbClr val="FFFFFF"/>
                        </a:highlight>
                        <a:latin typeface="Poppins"/>
                        <a:ea typeface="Poppins"/>
                        <a:cs typeface="Poppins"/>
                        <a:sym typeface="Poppins"/>
                      </a:endParaRPr>
                    </a:p>
                  </a:txBody>
                  <a:tcPr marT="114300" marB="114300" marR="133350" marL="133350">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highlight>
                            <a:srgbClr val="FFFFFF"/>
                          </a:highlight>
                          <a:latin typeface="Poppins"/>
                          <a:ea typeface="Poppins"/>
                          <a:cs typeface="Poppins"/>
                          <a:sym typeface="Poppins"/>
                        </a:rPr>
                        <a:t>$18,714</a:t>
                      </a:r>
                      <a:endParaRPr>
                        <a:highlight>
                          <a:srgbClr val="FFFFFF"/>
                        </a:highlight>
                        <a:latin typeface="Poppins"/>
                        <a:ea typeface="Poppins"/>
                        <a:cs typeface="Poppins"/>
                        <a:sym typeface="Poppins"/>
                      </a:endParaRPr>
                    </a:p>
                  </a:txBody>
                  <a:tcPr marT="114300" marB="114300" marR="114300" marL="114300">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0" lang="en">
                          <a:solidFill>
                            <a:srgbClr val="0F172A"/>
                          </a:solidFill>
                          <a:highlight>
                            <a:srgbClr val="FFFFFF"/>
                          </a:highlight>
                          <a:latin typeface="Poppins SemiBold"/>
                          <a:ea typeface="Poppins SemiBold"/>
                          <a:cs typeface="Poppins SemiBold"/>
                          <a:sym typeface="Poppins SemiBold"/>
                        </a:rPr>
                        <a:t>$1,071</a:t>
                      </a:r>
                      <a:endParaRPr b="0">
                        <a:solidFill>
                          <a:srgbClr val="0F172A"/>
                        </a:solidFill>
                        <a:highlight>
                          <a:srgbClr val="FFFFFF"/>
                        </a:highlight>
                        <a:latin typeface="Poppins SemiBold"/>
                        <a:ea typeface="Poppins SemiBold"/>
                        <a:cs typeface="Poppins SemiBold"/>
                        <a:sym typeface="Poppins SemiBold"/>
                      </a:endParaRPr>
                    </a:p>
                  </a:txBody>
                  <a:tcPr marT="114300" marB="114300" marR="114300" marL="114300">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0" lang="en">
                          <a:solidFill>
                            <a:srgbClr val="B91C1C"/>
                          </a:solidFill>
                          <a:highlight>
                            <a:srgbClr val="FFFFFF"/>
                          </a:highlight>
                          <a:latin typeface="Poppins SemiBold"/>
                          <a:ea typeface="Poppins SemiBold"/>
                          <a:cs typeface="Poppins SemiBold"/>
                          <a:sym typeface="Poppins SemiBold"/>
                        </a:rPr>
                        <a:t>$2.7M</a:t>
                      </a:r>
                      <a:endParaRPr b="0">
                        <a:solidFill>
                          <a:srgbClr val="B91C1C"/>
                        </a:solidFill>
                        <a:highlight>
                          <a:srgbClr val="FFFFFF"/>
                        </a:highlight>
                        <a:latin typeface="Poppins SemiBold"/>
                        <a:ea typeface="Poppins SemiBold"/>
                        <a:cs typeface="Poppins SemiBold"/>
                        <a:sym typeface="Poppins SemiBold"/>
                      </a:endParaRPr>
                    </a:p>
                  </a:txBody>
                  <a:tcPr marT="114300" marB="114300" marR="114300" marL="114300">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highlight>
                            <a:srgbClr val="FFFFFF"/>
                          </a:highlight>
                          <a:latin typeface="Poppins"/>
                          <a:ea typeface="Poppins"/>
                          <a:cs typeface="Poppins"/>
                          <a:sym typeface="Poppins"/>
                        </a:rPr>
                        <a:t>6.435%</a:t>
                      </a:r>
                      <a:endParaRPr>
                        <a:highlight>
                          <a:srgbClr val="FFFFFF"/>
                        </a:highlight>
                        <a:latin typeface="Poppins"/>
                        <a:ea typeface="Poppins"/>
                        <a:cs typeface="Poppins"/>
                        <a:sym typeface="Poppins"/>
                      </a:endParaRPr>
                    </a:p>
                  </a:txBody>
                  <a:tcPr marT="114300" marB="114300" marR="114300" marL="114300">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
                          <a:solidFill>
                            <a:srgbClr val="991B1B"/>
                          </a:solidFill>
                          <a:highlight>
                            <a:srgbClr val="FEF2F2"/>
                          </a:highlight>
                          <a:latin typeface="Poppins"/>
                          <a:ea typeface="Poppins"/>
                          <a:cs typeface="Poppins"/>
                          <a:sym typeface="Poppins"/>
                        </a:rPr>
                        <a:t>(0)</a:t>
                      </a:r>
                      <a:endParaRPr b="1">
                        <a:solidFill>
                          <a:srgbClr val="991B1B"/>
                        </a:solidFill>
                        <a:highlight>
                          <a:srgbClr val="FEF2F2"/>
                        </a:highlight>
                        <a:latin typeface="Poppins"/>
                        <a:ea typeface="Poppins"/>
                        <a:cs typeface="Poppins"/>
                        <a:sym typeface="Poppins"/>
                      </a:endParaRPr>
                    </a:p>
                  </a:txBody>
                  <a:tcPr marT="114300" marB="114300" marR="133350" marL="133350">
                    <a:lnB cap="flat" cmpd="sng" w="9525">
                      <a:solidFill>
                        <a:srgbClr val="E2E8F0"/>
                      </a:solidFill>
                      <a:prstDash val="solid"/>
                      <a:round/>
                      <a:headEnd len="sm" w="sm" type="none"/>
                      <a:tailEnd len="sm" w="sm" type="none"/>
                    </a:lnB>
                    <a:solidFill>
                      <a:srgbClr val="FEF2F2"/>
                    </a:solidFill>
                  </a:tcPr>
                </a:tc>
              </a:tr>
              <a:tr h="664100">
                <a:tc>
                  <a:txBody>
                    <a:bodyPr/>
                    <a:lstStyle/>
                    <a:p>
                      <a:pPr indent="0" lvl="0" marL="0" rtl="0" algn="l">
                        <a:spcBef>
                          <a:spcPts val="0"/>
                        </a:spcBef>
                        <a:spcAft>
                          <a:spcPts val="0"/>
                        </a:spcAft>
                        <a:buNone/>
                      </a:pPr>
                      <a:r>
                        <a:rPr b="1" lang="en">
                          <a:solidFill>
                            <a:srgbClr val="0F172A"/>
                          </a:solidFill>
                          <a:highlight>
                            <a:srgbClr val="F8FAFC"/>
                          </a:highlight>
                          <a:latin typeface="Poppins"/>
                          <a:ea typeface="Poppins"/>
                          <a:cs typeface="Poppins"/>
                          <a:sym typeface="Poppins"/>
                        </a:rPr>
                        <a:t>$54.2M</a:t>
                      </a:r>
                      <a:endParaRPr b="1">
                        <a:solidFill>
                          <a:srgbClr val="0F172A"/>
                        </a:solidFill>
                        <a:highlight>
                          <a:srgbClr val="F8FAFC"/>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lang="en">
                          <a:highlight>
                            <a:srgbClr val="F8FAFC"/>
                          </a:highlight>
                          <a:latin typeface="Poppins"/>
                          <a:ea typeface="Poppins"/>
                          <a:cs typeface="Poppins"/>
                          <a:sym typeface="Poppins"/>
                        </a:rPr>
                        <a:t>$17,934</a:t>
                      </a:r>
                      <a:endParaRPr>
                        <a:highlight>
                          <a:srgbClr val="F8FAFC"/>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b="0" lang="en">
                          <a:solidFill>
                            <a:srgbClr val="0F172A"/>
                          </a:solidFill>
                          <a:highlight>
                            <a:srgbClr val="F8FAFC"/>
                          </a:highlight>
                          <a:latin typeface="Poppins SemiBold"/>
                          <a:ea typeface="Poppins SemiBold"/>
                          <a:cs typeface="Poppins SemiBold"/>
                          <a:sym typeface="Poppins SemiBold"/>
                        </a:rPr>
                        <a:t>$681</a:t>
                      </a:r>
                      <a:endParaRPr b="0">
                        <a:solidFill>
                          <a:srgbClr val="0F172A"/>
                        </a:solidFill>
                        <a:highlight>
                          <a:srgbClr val="F8FAFC"/>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b="0" lang="en">
                          <a:solidFill>
                            <a:srgbClr val="B91C1C"/>
                          </a:solidFill>
                          <a:highlight>
                            <a:srgbClr val="F8FAFC"/>
                          </a:highlight>
                          <a:latin typeface="Poppins SemiBold"/>
                          <a:ea typeface="Poppins SemiBold"/>
                          <a:cs typeface="Poppins SemiBold"/>
                          <a:sym typeface="Poppins SemiBold"/>
                        </a:rPr>
                        <a:t>$1.74M</a:t>
                      </a:r>
                      <a:endParaRPr b="0">
                        <a:solidFill>
                          <a:srgbClr val="B91C1C"/>
                        </a:solidFill>
                        <a:highlight>
                          <a:srgbClr val="F8FAFC"/>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lang="en">
                          <a:highlight>
                            <a:srgbClr val="F8FAFC"/>
                          </a:highlight>
                          <a:latin typeface="Poppins"/>
                          <a:ea typeface="Poppins"/>
                          <a:cs typeface="Poppins"/>
                          <a:sym typeface="Poppins"/>
                        </a:rPr>
                        <a:t>4.50%</a:t>
                      </a:r>
                      <a:endParaRPr>
                        <a:highlight>
                          <a:srgbClr val="F8FAFC"/>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b="1" lang="en">
                          <a:solidFill>
                            <a:srgbClr val="991B1B"/>
                          </a:solidFill>
                          <a:highlight>
                            <a:srgbClr val="FEF2F2"/>
                          </a:highlight>
                          <a:latin typeface="Poppins"/>
                          <a:ea typeface="Poppins"/>
                          <a:cs typeface="Poppins"/>
                          <a:sym typeface="Poppins"/>
                        </a:rPr>
                        <a:t>($1.0M)</a:t>
                      </a:r>
                      <a:endParaRPr b="1">
                        <a:solidFill>
                          <a:srgbClr val="991B1B"/>
                        </a:solidFill>
                        <a:highlight>
                          <a:srgbClr val="FEF2F2"/>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EF2F2"/>
                    </a:solidFill>
                  </a:tcPr>
                </a:tc>
              </a:tr>
              <a:tr h="664100">
                <a:tc>
                  <a:txBody>
                    <a:bodyPr/>
                    <a:lstStyle/>
                    <a:p>
                      <a:pPr indent="0" lvl="0" marL="0" rtl="0" algn="l">
                        <a:spcBef>
                          <a:spcPts val="0"/>
                        </a:spcBef>
                        <a:spcAft>
                          <a:spcPts val="0"/>
                        </a:spcAft>
                        <a:buNone/>
                      </a:pPr>
                      <a:r>
                        <a:rPr b="1" lang="en">
                          <a:solidFill>
                            <a:srgbClr val="0F172A"/>
                          </a:solidFill>
                          <a:highlight>
                            <a:srgbClr val="FFFFFF"/>
                          </a:highlight>
                          <a:latin typeface="Poppins"/>
                          <a:ea typeface="Poppins"/>
                          <a:cs typeface="Poppins"/>
                          <a:sym typeface="Poppins"/>
                        </a:rPr>
                        <a:t>$53.3M</a:t>
                      </a:r>
                      <a:endParaRPr b="1">
                        <a:solidFill>
                          <a:srgbClr val="0F172A"/>
                        </a:solidFill>
                        <a:highlight>
                          <a:srgbClr val="FFFFFF"/>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highlight>
                            <a:srgbClr val="FFFFFF"/>
                          </a:highlight>
                          <a:latin typeface="Poppins"/>
                          <a:ea typeface="Poppins"/>
                          <a:cs typeface="Poppins"/>
                          <a:sym typeface="Poppins"/>
                        </a:rPr>
                        <a:t>$16,906</a:t>
                      </a:r>
                      <a:endParaRPr>
                        <a:highlight>
                          <a:srgbClr val="FFFFFF"/>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0" lang="en">
                          <a:solidFill>
                            <a:srgbClr val="0F172A"/>
                          </a:solidFill>
                          <a:highlight>
                            <a:srgbClr val="FFFFFF"/>
                          </a:highlight>
                          <a:latin typeface="Poppins SemiBold"/>
                          <a:ea typeface="Poppins SemiBold"/>
                          <a:cs typeface="Poppins SemiBold"/>
                          <a:sym typeface="Poppins SemiBold"/>
                        </a:rPr>
                        <a:t>$172</a:t>
                      </a:r>
                      <a:endParaRPr b="0">
                        <a:solidFill>
                          <a:srgbClr val="0F172A"/>
                        </a:solidFill>
                        <a:highlight>
                          <a:srgbClr val="FFFFFF"/>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0" lang="en">
                          <a:solidFill>
                            <a:srgbClr val="B91C1C"/>
                          </a:solidFill>
                          <a:highlight>
                            <a:srgbClr val="FFFFFF"/>
                          </a:highlight>
                          <a:latin typeface="Poppins SemiBold"/>
                          <a:ea typeface="Poppins SemiBold"/>
                          <a:cs typeface="Poppins SemiBold"/>
                          <a:sym typeface="Poppins SemiBold"/>
                        </a:rPr>
                        <a:t>$445K</a:t>
                      </a:r>
                      <a:endParaRPr b="0">
                        <a:solidFill>
                          <a:srgbClr val="B91C1C"/>
                        </a:solidFill>
                        <a:highlight>
                          <a:srgbClr val="FFFFFF"/>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highlight>
                            <a:srgbClr val="FFFFFF"/>
                          </a:highlight>
                          <a:latin typeface="Poppins"/>
                          <a:ea typeface="Poppins"/>
                          <a:cs typeface="Poppins"/>
                          <a:sym typeface="Poppins"/>
                        </a:rPr>
                        <a:t>2.70% </a:t>
                      </a:r>
                      <a:r>
                        <a:rPr lang="en" sz="850">
                          <a:solidFill>
                            <a:srgbClr val="64748B"/>
                          </a:solidFill>
                          <a:highlight>
                            <a:srgbClr val="FFFFFF"/>
                          </a:highlight>
                          <a:latin typeface="Poppins"/>
                          <a:ea typeface="Poppins"/>
                          <a:cs typeface="Poppins"/>
                          <a:sym typeface="Poppins"/>
                        </a:rPr>
                        <a:t>*(Projected Inflation)</a:t>
                      </a:r>
                      <a:endParaRPr>
                        <a:highlight>
                          <a:srgbClr val="FFFFFF"/>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
                          <a:solidFill>
                            <a:srgbClr val="991B1B"/>
                          </a:solidFill>
                          <a:highlight>
                            <a:srgbClr val="FEF2F2"/>
                          </a:highlight>
                          <a:latin typeface="Poppins"/>
                          <a:ea typeface="Poppins"/>
                          <a:cs typeface="Poppins"/>
                          <a:sym typeface="Poppins"/>
                        </a:rPr>
                        <a:t>($1.9M)</a:t>
                      </a:r>
                      <a:endParaRPr b="1">
                        <a:solidFill>
                          <a:srgbClr val="991B1B"/>
                        </a:solidFill>
                        <a:highlight>
                          <a:srgbClr val="FEF2F2"/>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EF2F2"/>
                    </a:solidFill>
                  </a:tcPr>
                </a:tc>
              </a:tr>
              <a:tr h="664100">
                <a:tc>
                  <a:txBody>
                    <a:bodyPr/>
                    <a:lstStyle/>
                    <a:p>
                      <a:pPr indent="0" lvl="0" marL="0" rtl="0" algn="l">
                        <a:spcBef>
                          <a:spcPts val="0"/>
                        </a:spcBef>
                        <a:spcAft>
                          <a:spcPts val="0"/>
                        </a:spcAft>
                        <a:buNone/>
                      </a:pPr>
                      <a:r>
                        <a:rPr b="1" lang="en">
                          <a:solidFill>
                            <a:srgbClr val="0F172A"/>
                          </a:solidFill>
                          <a:highlight>
                            <a:srgbClr val="F8FAFC"/>
                          </a:highlight>
                          <a:latin typeface="Poppins"/>
                          <a:ea typeface="Poppins"/>
                          <a:cs typeface="Poppins"/>
                          <a:sym typeface="Poppins"/>
                        </a:rPr>
                        <a:t>$52.8M</a:t>
                      </a:r>
                      <a:endParaRPr b="1">
                        <a:solidFill>
                          <a:srgbClr val="0F172A"/>
                        </a:solidFill>
                        <a:highlight>
                          <a:srgbClr val="F8FAFC"/>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lang="en">
                          <a:highlight>
                            <a:srgbClr val="F8FAFC"/>
                          </a:highlight>
                          <a:latin typeface="Poppins"/>
                          <a:ea typeface="Poppins"/>
                          <a:cs typeface="Poppins"/>
                          <a:sym typeface="Poppins"/>
                        </a:rPr>
                        <a:t>$16,838</a:t>
                      </a:r>
                      <a:endParaRPr>
                        <a:highlight>
                          <a:srgbClr val="F8FAFC"/>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b="0" lang="en">
                          <a:solidFill>
                            <a:srgbClr val="0F172A"/>
                          </a:solidFill>
                          <a:highlight>
                            <a:srgbClr val="F8FAFC"/>
                          </a:highlight>
                          <a:latin typeface="Poppins SemiBold"/>
                          <a:ea typeface="Poppins SemiBold"/>
                          <a:cs typeface="Poppins SemiBold"/>
                          <a:sym typeface="Poppins SemiBold"/>
                        </a:rPr>
                        <a:t>$133</a:t>
                      </a:r>
                      <a:endParaRPr b="0">
                        <a:solidFill>
                          <a:srgbClr val="0F172A"/>
                        </a:solidFill>
                        <a:highlight>
                          <a:srgbClr val="F8FAFC"/>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b="0" lang="en">
                          <a:solidFill>
                            <a:srgbClr val="B91C1C"/>
                          </a:solidFill>
                          <a:highlight>
                            <a:srgbClr val="F8FAFC"/>
                          </a:highlight>
                          <a:latin typeface="Poppins SemiBold"/>
                          <a:ea typeface="Poppins SemiBold"/>
                          <a:cs typeface="Poppins SemiBold"/>
                          <a:sym typeface="Poppins SemiBold"/>
                        </a:rPr>
                        <a:t>$242K</a:t>
                      </a:r>
                      <a:endParaRPr b="0">
                        <a:solidFill>
                          <a:srgbClr val="B91C1C"/>
                        </a:solidFill>
                        <a:highlight>
                          <a:srgbClr val="F8FAFC"/>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lang="en">
                          <a:highlight>
                            <a:srgbClr val="F8FAFC"/>
                          </a:highlight>
                          <a:latin typeface="Poppins"/>
                          <a:ea typeface="Poppins"/>
                          <a:cs typeface="Poppins"/>
                          <a:sym typeface="Poppins"/>
                        </a:rPr>
                        <a:t>1.8%</a:t>
                      </a:r>
                      <a:endParaRPr>
                        <a:highlight>
                          <a:srgbClr val="F8FAFC"/>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b="1" lang="en">
                          <a:solidFill>
                            <a:srgbClr val="991B1B"/>
                          </a:solidFill>
                          <a:highlight>
                            <a:srgbClr val="FEF2F2"/>
                          </a:highlight>
                          <a:latin typeface="Poppins"/>
                          <a:ea typeface="Poppins"/>
                          <a:cs typeface="Poppins"/>
                          <a:sym typeface="Poppins"/>
                        </a:rPr>
                        <a:t>($2.7M)</a:t>
                      </a:r>
                      <a:endParaRPr b="1">
                        <a:solidFill>
                          <a:srgbClr val="991B1B"/>
                        </a:solidFill>
                        <a:highlight>
                          <a:srgbClr val="FEF2F2"/>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EF2F2"/>
                    </a:solidFill>
                  </a:tcPr>
                </a:tc>
              </a:tr>
              <a:tr h="664075">
                <a:tc>
                  <a:txBody>
                    <a:bodyPr/>
                    <a:lstStyle/>
                    <a:p>
                      <a:pPr indent="0" lvl="0" marL="0" rtl="0" algn="l">
                        <a:spcBef>
                          <a:spcPts val="0"/>
                        </a:spcBef>
                        <a:spcAft>
                          <a:spcPts val="0"/>
                        </a:spcAft>
                        <a:buNone/>
                      </a:pPr>
                      <a:r>
                        <a:rPr b="1" lang="en">
                          <a:solidFill>
                            <a:srgbClr val="15803D"/>
                          </a:solidFill>
                          <a:highlight>
                            <a:srgbClr val="F0FDF4"/>
                          </a:highlight>
                          <a:latin typeface="Poppins"/>
                          <a:ea typeface="Poppins"/>
                          <a:cs typeface="Poppins"/>
                          <a:sym typeface="Poppins"/>
                        </a:rPr>
                        <a:t>$51.9M</a:t>
                      </a:r>
                      <a:endParaRPr b="1">
                        <a:solidFill>
                          <a:srgbClr val="15803D"/>
                        </a:solidFill>
                        <a:highlight>
                          <a:srgbClr val="F0FDF4"/>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solidFill>
                      <a:srgbClr val="F0FDF4"/>
                    </a:solidFill>
                  </a:tcPr>
                </a:tc>
                <a:tc>
                  <a:txBody>
                    <a:bodyPr/>
                    <a:lstStyle/>
                    <a:p>
                      <a:pPr indent="0" lvl="0" marL="0" rtl="0" algn="l">
                        <a:spcBef>
                          <a:spcPts val="0"/>
                        </a:spcBef>
                        <a:spcAft>
                          <a:spcPts val="0"/>
                        </a:spcAft>
                        <a:buNone/>
                      </a:pPr>
                      <a:r>
                        <a:rPr b="0" lang="en">
                          <a:solidFill>
                            <a:srgbClr val="166534"/>
                          </a:solidFill>
                          <a:highlight>
                            <a:srgbClr val="F0FDF4"/>
                          </a:highlight>
                          <a:latin typeface="Poppins SemiBold"/>
                          <a:ea typeface="Poppins SemiBold"/>
                          <a:cs typeface="Poppins SemiBold"/>
                          <a:sym typeface="Poppins SemiBold"/>
                        </a:rPr>
                        <a:t>$16,341</a:t>
                      </a:r>
                      <a:endParaRPr b="0">
                        <a:solidFill>
                          <a:srgbClr val="166534"/>
                        </a:solidFill>
                        <a:highlight>
                          <a:srgbClr val="F0FDF4"/>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solidFill>
                      <a:srgbClr val="F0FDF4"/>
                    </a:solidFill>
                  </a:tcPr>
                </a:tc>
                <a:tc>
                  <a:txBody>
                    <a:bodyPr/>
                    <a:lstStyle/>
                    <a:p>
                      <a:pPr indent="0" lvl="0" marL="0" rtl="0" algn="l">
                        <a:spcBef>
                          <a:spcPts val="0"/>
                        </a:spcBef>
                        <a:spcAft>
                          <a:spcPts val="0"/>
                        </a:spcAft>
                        <a:buNone/>
                      </a:pPr>
                      <a:r>
                        <a:rPr b="0" lang="en">
                          <a:solidFill>
                            <a:srgbClr val="15803D"/>
                          </a:solidFill>
                          <a:highlight>
                            <a:srgbClr val="F0FDF4"/>
                          </a:highlight>
                          <a:latin typeface="Poppins SemiBold"/>
                          <a:ea typeface="Poppins SemiBold"/>
                          <a:cs typeface="Poppins SemiBold"/>
                          <a:sym typeface="Poppins SemiBold"/>
                        </a:rPr>
                        <a:t>($2</a:t>
                      </a:r>
                      <a:r>
                        <a:rPr lang="en">
                          <a:solidFill>
                            <a:srgbClr val="15803D"/>
                          </a:solidFill>
                          <a:highlight>
                            <a:srgbClr val="F0FDF4"/>
                          </a:highlight>
                          <a:latin typeface="Poppins SemiBold"/>
                          <a:ea typeface="Poppins SemiBold"/>
                          <a:cs typeface="Poppins SemiBold"/>
                          <a:sym typeface="Poppins SemiBold"/>
                        </a:rPr>
                        <a:t>21</a:t>
                      </a:r>
                      <a:r>
                        <a:rPr b="0" lang="en">
                          <a:solidFill>
                            <a:srgbClr val="15803D"/>
                          </a:solidFill>
                          <a:highlight>
                            <a:srgbClr val="F0FDF4"/>
                          </a:highlight>
                          <a:latin typeface="Poppins SemiBold"/>
                          <a:ea typeface="Poppins SemiBold"/>
                          <a:cs typeface="Poppins SemiBold"/>
                          <a:sym typeface="Poppins SemiBold"/>
                        </a:rPr>
                        <a:t>)</a:t>
                      </a:r>
                      <a:endParaRPr b="0">
                        <a:solidFill>
                          <a:srgbClr val="15803D"/>
                        </a:solidFill>
                        <a:highlight>
                          <a:srgbClr val="F0FDF4"/>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solidFill>
                      <a:srgbClr val="F0FDF4"/>
                    </a:solidFill>
                  </a:tcPr>
                </a:tc>
                <a:tc>
                  <a:txBody>
                    <a:bodyPr/>
                    <a:lstStyle/>
                    <a:p>
                      <a:pPr indent="0" lvl="0" marL="0" rtl="0" algn="l">
                        <a:spcBef>
                          <a:spcPts val="0"/>
                        </a:spcBef>
                        <a:spcAft>
                          <a:spcPts val="0"/>
                        </a:spcAft>
                        <a:buNone/>
                      </a:pPr>
                      <a:r>
                        <a:rPr b="1" lang="en">
                          <a:solidFill>
                            <a:srgbClr val="15803D"/>
                          </a:solidFill>
                          <a:highlight>
                            <a:srgbClr val="F0FDF4"/>
                          </a:highlight>
                          <a:latin typeface="Poppins"/>
                          <a:ea typeface="Poppins"/>
                          <a:cs typeface="Poppins"/>
                          <a:sym typeface="Poppins"/>
                        </a:rPr>
                        <a:t>0</a:t>
                      </a:r>
                      <a:endParaRPr b="1">
                        <a:solidFill>
                          <a:srgbClr val="15803D"/>
                        </a:solidFill>
                        <a:highlight>
                          <a:srgbClr val="F0FDF4"/>
                        </a:highlight>
                        <a:latin typeface="Poppins"/>
                        <a:ea typeface="Poppins"/>
                        <a:cs typeface="Poppins"/>
                        <a:sym typeface="Poppins"/>
                      </a:endParaRPr>
                    </a:p>
                  </a:txBody>
                  <a:tcPr marT="114300" marB="114300" marR="114300" marL="114300">
                    <a:lnT cap="flat" cmpd="sng" w="9525">
                      <a:solidFill>
                        <a:srgbClr val="E2E8F0"/>
                      </a:solidFill>
                      <a:prstDash val="solid"/>
                      <a:round/>
                      <a:headEnd len="sm" w="sm" type="none"/>
                      <a:tailEnd len="sm" w="sm" type="none"/>
                    </a:lnT>
                    <a:solidFill>
                      <a:srgbClr val="F0FDF4"/>
                    </a:solidFill>
                  </a:tcPr>
                </a:tc>
                <a:tc>
                  <a:txBody>
                    <a:bodyPr/>
                    <a:lstStyle/>
                    <a:p>
                      <a:pPr indent="0" lvl="0" marL="0" rtl="0" algn="l">
                        <a:spcBef>
                          <a:spcPts val="0"/>
                        </a:spcBef>
                        <a:spcAft>
                          <a:spcPts val="0"/>
                        </a:spcAft>
                        <a:buNone/>
                      </a:pPr>
                      <a:r>
                        <a:rPr b="0" lang="en">
                          <a:solidFill>
                            <a:srgbClr val="166534"/>
                          </a:solidFill>
                          <a:highlight>
                            <a:srgbClr val="F0FDF4"/>
                          </a:highlight>
                          <a:latin typeface="Poppins SemiBold"/>
                          <a:ea typeface="Poppins SemiBold"/>
                          <a:cs typeface="Poppins SemiBold"/>
                          <a:sym typeface="Poppins SemiBold"/>
                        </a:rPr>
                        <a:t>0%</a:t>
                      </a:r>
                      <a:endParaRPr b="0">
                        <a:solidFill>
                          <a:srgbClr val="166534"/>
                        </a:solidFill>
                        <a:highlight>
                          <a:srgbClr val="F0FDF4"/>
                        </a:highlight>
                        <a:latin typeface="Poppins SemiBold"/>
                        <a:ea typeface="Poppins SemiBold"/>
                        <a:cs typeface="Poppins SemiBold"/>
                        <a:sym typeface="Poppins SemiBold"/>
                      </a:endParaRPr>
                    </a:p>
                  </a:txBody>
                  <a:tcPr marT="114300" marB="114300" marR="114300" marL="114300">
                    <a:lnT cap="flat" cmpd="sng" w="9525">
                      <a:solidFill>
                        <a:srgbClr val="E2E8F0"/>
                      </a:solidFill>
                      <a:prstDash val="solid"/>
                      <a:round/>
                      <a:headEnd len="sm" w="sm" type="none"/>
                      <a:tailEnd len="sm" w="sm" type="none"/>
                    </a:lnT>
                    <a:solidFill>
                      <a:srgbClr val="F0FDF4"/>
                    </a:solidFill>
                  </a:tcPr>
                </a:tc>
                <a:tc>
                  <a:txBody>
                    <a:bodyPr/>
                    <a:lstStyle/>
                    <a:p>
                      <a:pPr indent="0" lvl="0" marL="0" rtl="0" algn="l">
                        <a:spcBef>
                          <a:spcPts val="0"/>
                        </a:spcBef>
                        <a:spcAft>
                          <a:spcPts val="0"/>
                        </a:spcAft>
                        <a:buNone/>
                      </a:pPr>
                      <a:r>
                        <a:rPr b="1" lang="en">
                          <a:solidFill>
                            <a:srgbClr val="991B1B"/>
                          </a:solidFill>
                          <a:highlight>
                            <a:srgbClr val="FEF2F2"/>
                          </a:highlight>
                          <a:latin typeface="Poppins"/>
                          <a:ea typeface="Poppins"/>
                          <a:cs typeface="Poppins"/>
                          <a:sym typeface="Poppins"/>
                        </a:rPr>
                        <a:t>($3.3M)</a:t>
                      </a:r>
                      <a:endParaRPr b="1">
                        <a:solidFill>
                          <a:srgbClr val="991B1B"/>
                        </a:solidFill>
                        <a:highlight>
                          <a:srgbClr val="FEF2F2"/>
                        </a:highlight>
                        <a:latin typeface="Poppins"/>
                        <a:ea typeface="Poppins"/>
                        <a:cs typeface="Poppins"/>
                        <a:sym typeface="Poppins"/>
                      </a:endParaRPr>
                    </a:p>
                  </a:txBody>
                  <a:tcPr marT="114300" marB="114300" marR="133350" marL="133350">
                    <a:lnT cap="flat" cmpd="sng" w="9525">
                      <a:solidFill>
                        <a:srgbClr val="E2E8F0"/>
                      </a:solidFill>
                      <a:prstDash val="solid"/>
                      <a:round/>
                      <a:headEnd len="sm" w="sm" type="none"/>
                      <a:tailEnd len="sm" w="sm" type="none"/>
                    </a:lnT>
                    <a:solidFill>
                      <a:srgbClr val="FEF2F2"/>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4" name="Shape 1214"/>
        <p:cNvGrpSpPr/>
        <p:nvPr/>
      </p:nvGrpSpPr>
      <p:grpSpPr>
        <a:xfrm>
          <a:off x="0" y="0"/>
          <a:ext cx="0" cy="0"/>
          <a:chOff x="0" y="0"/>
          <a:chExt cx="0" cy="0"/>
        </a:xfrm>
      </p:grpSpPr>
      <p:grpSp>
        <p:nvGrpSpPr>
          <p:cNvPr id="1215" name="Google Shape;1215;p69"/>
          <p:cNvGrpSpPr/>
          <p:nvPr/>
        </p:nvGrpSpPr>
        <p:grpSpPr>
          <a:xfrm>
            <a:off x="381000" y="238125"/>
            <a:ext cx="8382000" cy="666900"/>
            <a:chOff x="0" y="0"/>
            <a:chExt cx="8382000" cy="666900"/>
          </a:xfrm>
        </p:grpSpPr>
        <p:sp>
          <p:nvSpPr>
            <p:cNvPr id="1216" name="Google Shape;1216;p69"/>
            <p:cNvSpPr/>
            <p:nvPr/>
          </p:nvSpPr>
          <p:spPr>
            <a:xfrm>
              <a:off x="0" y="0"/>
              <a:ext cx="83820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7" name="Google Shape;1217;p69"/>
            <p:cNvSpPr txBox="1"/>
            <p:nvPr/>
          </p:nvSpPr>
          <p:spPr>
            <a:xfrm>
              <a:off x="0" y="0"/>
              <a:ext cx="8382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1B3859"/>
                  </a:solidFill>
                  <a:latin typeface="Poppins ExtraBold"/>
                  <a:ea typeface="Poppins ExtraBold"/>
                  <a:cs typeface="Poppins ExtraBold"/>
                  <a:sym typeface="Poppins ExtraBold"/>
                </a:rPr>
                <a:t>Board Priorities &amp; Directions</a:t>
              </a:r>
              <a:endParaRPr b="0" sz="2400">
                <a:solidFill>
                  <a:srgbClr val="1B3859"/>
                </a:solidFill>
                <a:latin typeface="Poppins ExtraBold"/>
                <a:ea typeface="Poppins ExtraBold"/>
                <a:cs typeface="Poppins ExtraBold"/>
                <a:sym typeface="Poppins ExtraBold"/>
              </a:endParaRPr>
            </a:p>
            <a:p>
              <a:pPr indent="0" lvl="0" marL="0" rtl="0" algn="l">
                <a:spcBef>
                  <a:spcPts val="400"/>
                </a:spcBef>
                <a:spcAft>
                  <a:spcPts val="0"/>
                </a:spcAft>
                <a:buNone/>
              </a:pPr>
              <a:r>
                <a:rPr b="0" lang="en" sz="1050">
                  <a:solidFill>
                    <a:srgbClr val="475569"/>
                  </a:solidFill>
                  <a:latin typeface="Poppins"/>
                  <a:ea typeface="Poppins"/>
                  <a:cs typeface="Poppins"/>
                  <a:sym typeface="Poppins"/>
                </a:rPr>
                <a:t>Evaluating budget pathways and structural options for the upcoming fiscal year</a:t>
              </a:r>
              <a:endParaRPr b="0" sz="1050">
                <a:solidFill>
                  <a:srgbClr val="475569"/>
                </a:solidFill>
                <a:latin typeface="Poppins"/>
                <a:ea typeface="Poppins"/>
                <a:cs typeface="Poppins"/>
                <a:sym typeface="Poppins"/>
              </a:endParaRPr>
            </a:p>
          </p:txBody>
        </p:sp>
      </p:grpSp>
      <p:grpSp>
        <p:nvGrpSpPr>
          <p:cNvPr id="1218" name="Google Shape;1218;p69"/>
          <p:cNvGrpSpPr/>
          <p:nvPr/>
        </p:nvGrpSpPr>
        <p:grpSpPr>
          <a:xfrm>
            <a:off x="381000" y="1095375"/>
            <a:ext cx="5143500" cy="285900"/>
            <a:chOff x="0" y="0"/>
            <a:chExt cx="5143500" cy="285900"/>
          </a:xfrm>
        </p:grpSpPr>
        <p:sp>
          <p:nvSpPr>
            <p:cNvPr id="1219" name="Google Shape;1219;p69"/>
            <p:cNvSpPr/>
            <p:nvPr/>
          </p:nvSpPr>
          <p:spPr>
            <a:xfrm>
              <a:off x="0" y="0"/>
              <a:ext cx="5143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0" name="Google Shape;1220;p69"/>
            <p:cNvSpPr txBox="1"/>
            <p:nvPr/>
          </p:nvSpPr>
          <p:spPr>
            <a:xfrm>
              <a:off x="0" y="0"/>
              <a:ext cx="5143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1B3859"/>
                  </a:solidFill>
                  <a:latin typeface="Poppins"/>
                  <a:ea typeface="Poppins"/>
                  <a:cs typeface="Poppins"/>
                  <a:sym typeface="Poppins"/>
                </a:rPr>
                <a:t>Option A: Not to Exceed Spending Threshold </a:t>
              </a:r>
              <a:endParaRPr b="1" sz="1800">
                <a:solidFill>
                  <a:srgbClr val="1B3859"/>
                </a:solidFill>
                <a:latin typeface="Poppins"/>
                <a:ea typeface="Poppins"/>
                <a:cs typeface="Poppins"/>
                <a:sym typeface="Poppins"/>
              </a:endParaRPr>
            </a:p>
            <a:p>
              <a:pPr indent="0" lvl="0" marL="0" rtl="0" algn="l">
                <a:spcBef>
                  <a:spcPts val="0"/>
                </a:spcBef>
                <a:spcAft>
                  <a:spcPts val="0"/>
                </a:spcAft>
                <a:buNone/>
              </a:pPr>
              <a:r>
                <a:rPr b="1" lang="en">
                  <a:solidFill>
                    <a:srgbClr val="DC2626"/>
                  </a:solidFill>
                  <a:latin typeface="Poppins"/>
                  <a:ea typeface="Poppins"/>
                  <a:cs typeface="Poppins"/>
                  <a:sym typeface="Poppins"/>
                </a:rPr>
                <a:t>Would require </a:t>
              </a:r>
              <a:r>
                <a:rPr b="1" lang="en" sz="1400">
                  <a:solidFill>
                    <a:srgbClr val="DC2626"/>
                  </a:solidFill>
                  <a:latin typeface="Poppins"/>
                  <a:ea typeface="Poppins"/>
                  <a:cs typeface="Poppins"/>
                  <a:sym typeface="Poppins"/>
                </a:rPr>
                <a:t>-$3.3</a:t>
              </a:r>
              <a:r>
                <a:rPr b="1" lang="en">
                  <a:solidFill>
                    <a:srgbClr val="DC2626"/>
                  </a:solidFill>
                  <a:latin typeface="Poppins"/>
                  <a:ea typeface="Poppins"/>
                  <a:cs typeface="Poppins"/>
                  <a:sym typeface="Poppins"/>
                </a:rPr>
                <a:t>M Reduction in expenses </a:t>
              </a:r>
              <a:endParaRPr b="1" sz="1400">
                <a:solidFill>
                  <a:srgbClr val="DC2626"/>
                </a:solidFill>
                <a:latin typeface="Poppins"/>
                <a:ea typeface="Poppins"/>
                <a:cs typeface="Poppins"/>
                <a:sym typeface="Poppins"/>
              </a:endParaRPr>
            </a:p>
          </p:txBody>
        </p:sp>
      </p:grpSp>
      <p:grpSp>
        <p:nvGrpSpPr>
          <p:cNvPr id="1221" name="Google Shape;1221;p69"/>
          <p:cNvGrpSpPr/>
          <p:nvPr/>
        </p:nvGrpSpPr>
        <p:grpSpPr>
          <a:xfrm>
            <a:off x="381000" y="1641475"/>
            <a:ext cx="5143500" cy="1428900"/>
            <a:chOff x="0" y="0"/>
            <a:chExt cx="5143500" cy="1428900"/>
          </a:xfrm>
        </p:grpSpPr>
        <p:sp>
          <p:nvSpPr>
            <p:cNvPr id="1222" name="Google Shape;1222;p69"/>
            <p:cNvSpPr/>
            <p:nvPr/>
          </p:nvSpPr>
          <p:spPr>
            <a:xfrm>
              <a:off x="0" y="0"/>
              <a:ext cx="5143500" cy="14289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3" name="Google Shape;1223;p69"/>
            <p:cNvSpPr/>
            <p:nvPr/>
          </p:nvSpPr>
          <p:spPr>
            <a:xfrm>
              <a:off x="0" y="0"/>
              <a:ext cx="57300" cy="1428900"/>
            </a:xfrm>
            <a:prstGeom prst="roundRect">
              <a:avLst>
                <a:gd fmla="val 50000" name="adj"/>
              </a:avLst>
            </a:prstGeom>
            <a:solidFill>
              <a:srgbClr val="B446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4" name="Google Shape;1224;p69"/>
            <p:cNvSpPr txBox="1"/>
            <p:nvPr/>
          </p:nvSpPr>
          <p:spPr>
            <a:xfrm>
              <a:off x="228600" y="95250"/>
              <a:ext cx="4686300" cy="834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B44647"/>
                  </a:solidFill>
                  <a:latin typeface="Poppins"/>
                  <a:ea typeface="Poppins"/>
                  <a:cs typeface="Poppins"/>
                  <a:sym typeface="Poppins"/>
                </a:rPr>
                <a:t>Program Reductions</a:t>
              </a:r>
              <a:endParaRPr b="1" sz="1200">
                <a:solidFill>
                  <a:srgbClr val="B44647"/>
                </a:solidFill>
                <a:latin typeface="Poppins"/>
                <a:ea typeface="Poppins"/>
                <a:cs typeface="Poppins"/>
                <a:sym typeface="Poppins"/>
              </a:endParaRPr>
            </a:p>
            <a:p>
              <a:pPr indent="-304800" lvl="0" marL="457200" rtl="0" algn="l">
                <a:spcBef>
                  <a:spcPts val="300"/>
                </a:spcBef>
                <a:spcAft>
                  <a:spcPts val="0"/>
                </a:spcAft>
                <a:buClr>
                  <a:srgbClr val="DC2626"/>
                </a:buClr>
                <a:buSzPts val="1200"/>
                <a:buFont typeface="Poppins"/>
                <a:buChar char="●"/>
              </a:pPr>
              <a:r>
                <a:rPr b="0" lang="en" sz="1000">
                  <a:solidFill>
                    <a:srgbClr val="475569"/>
                  </a:solidFill>
                  <a:latin typeface="Poppins"/>
                  <a:ea typeface="Poppins"/>
                  <a:cs typeface="Poppins"/>
                  <a:sym typeface="Poppins"/>
                </a:rPr>
                <a:t>Transportation </a:t>
              </a:r>
              <a:endParaRPr sz="1000">
                <a:solidFill>
                  <a:srgbClr val="475569"/>
                </a:solidFill>
                <a:latin typeface="Poppins"/>
                <a:ea typeface="Poppins"/>
                <a:cs typeface="Poppins"/>
                <a:sym typeface="Poppins"/>
              </a:endParaRPr>
            </a:p>
            <a:p>
              <a:pPr indent="-304800" lvl="0" marL="457200" rtl="0" algn="l">
                <a:spcBef>
                  <a:spcPts val="150"/>
                </a:spcBef>
                <a:spcAft>
                  <a:spcPts val="0"/>
                </a:spcAft>
                <a:buClr>
                  <a:srgbClr val="DC2626"/>
                </a:buClr>
                <a:buSzPts val="1200"/>
                <a:buFont typeface="Poppins"/>
                <a:buChar char="●"/>
              </a:pPr>
              <a:r>
                <a:rPr b="0" lang="en" sz="1000">
                  <a:solidFill>
                    <a:srgbClr val="475569"/>
                  </a:solidFill>
                  <a:latin typeface="Poppins"/>
                  <a:ea typeface="Poppins"/>
                  <a:cs typeface="Poppins"/>
                  <a:sym typeface="Poppins"/>
                </a:rPr>
                <a:t>Extra-Curricular </a:t>
              </a:r>
              <a:endParaRPr b="0" sz="1000">
                <a:solidFill>
                  <a:srgbClr val="475569"/>
                </a:solidFill>
                <a:latin typeface="Poppins"/>
                <a:ea typeface="Poppins"/>
                <a:cs typeface="Poppins"/>
                <a:sym typeface="Poppins"/>
              </a:endParaRPr>
            </a:p>
            <a:p>
              <a:pPr indent="-304800" lvl="0" marL="457200" rtl="0" algn="l">
                <a:spcBef>
                  <a:spcPts val="150"/>
                </a:spcBef>
                <a:spcAft>
                  <a:spcPts val="0"/>
                </a:spcAft>
                <a:buClr>
                  <a:srgbClr val="DC2626"/>
                </a:buClr>
                <a:buSzPts val="1200"/>
                <a:buFont typeface="Poppins"/>
                <a:buChar char="●"/>
              </a:pPr>
              <a:r>
                <a:rPr lang="en" sz="1000">
                  <a:solidFill>
                    <a:srgbClr val="475569"/>
                  </a:solidFill>
                  <a:latin typeface="Poppins"/>
                  <a:ea typeface="Poppins"/>
                  <a:cs typeface="Poppins"/>
                  <a:sym typeface="Poppins"/>
                </a:rPr>
                <a:t>Field trips </a:t>
              </a:r>
              <a:endParaRPr sz="1000">
                <a:solidFill>
                  <a:srgbClr val="475569"/>
                </a:solidFill>
                <a:latin typeface="Poppins"/>
                <a:ea typeface="Poppins"/>
                <a:cs typeface="Poppins"/>
                <a:sym typeface="Poppins"/>
              </a:endParaRPr>
            </a:p>
            <a:p>
              <a:pPr indent="0" lvl="0" marL="457200" rtl="0" algn="l">
                <a:spcBef>
                  <a:spcPts val="0"/>
                </a:spcBef>
                <a:spcAft>
                  <a:spcPts val="0"/>
                </a:spcAft>
                <a:buNone/>
              </a:pPr>
              <a:r>
                <a:t/>
              </a:r>
              <a:endParaRPr sz="1000">
                <a:solidFill>
                  <a:srgbClr val="475569"/>
                </a:solidFill>
                <a:latin typeface="Poppins"/>
                <a:ea typeface="Poppins"/>
                <a:cs typeface="Poppins"/>
                <a:sym typeface="Poppins"/>
              </a:endParaRPr>
            </a:p>
          </p:txBody>
        </p:sp>
      </p:grpSp>
      <p:grpSp>
        <p:nvGrpSpPr>
          <p:cNvPr id="1225" name="Google Shape;1225;p69"/>
          <p:cNvGrpSpPr/>
          <p:nvPr/>
        </p:nvGrpSpPr>
        <p:grpSpPr>
          <a:xfrm>
            <a:off x="381000" y="2667000"/>
            <a:ext cx="5143500" cy="1185331"/>
            <a:chOff x="0" y="0"/>
            <a:chExt cx="5143500" cy="1524149"/>
          </a:xfrm>
        </p:grpSpPr>
        <p:sp>
          <p:nvSpPr>
            <p:cNvPr id="1226" name="Google Shape;1226;p69"/>
            <p:cNvSpPr/>
            <p:nvPr/>
          </p:nvSpPr>
          <p:spPr>
            <a:xfrm>
              <a:off x="0" y="95249"/>
              <a:ext cx="5143500" cy="14289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7" name="Google Shape;1227;p69"/>
            <p:cNvSpPr/>
            <p:nvPr/>
          </p:nvSpPr>
          <p:spPr>
            <a:xfrm>
              <a:off x="0" y="0"/>
              <a:ext cx="57300" cy="1428900"/>
            </a:xfrm>
            <a:prstGeom prst="roundRect">
              <a:avLst>
                <a:gd fmla="val 50000" name="adj"/>
              </a:avLst>
            </a:prstGeom>
            <a:solidFill>
              <a:srgbClr val="346F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8" name="Google Shape;1228;p69"/>
            <p:cNvSpPr txBox="1"/>
            <p:nvPr/>
          </p:nvSpPr>
          <p:spPr>
            <a:xfrm>
              <a:off x="228600" y="95250"/>
              <a:ext cx="46863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346F90"/>
                  </a:solidFill>
                  <a:latin typeface="Poppins"/>
                  <a:ea typeface="Poppins"/>
                  <a:cs typeface="Poppins"/>
                  <a:sym typeface="Poppins"/>
                </a:rPr>
                <a:t>Short-Term </a:t>
              </a:r>
              <a:r>
                <a:rPr b="1" lang="en" sz="1200">
                  <a:solidFill>
                    <a:srgbClr val="346F90"/>
                  </a:solidFill>
                  <a:latin typeface="Poppins"/>
                  <a:ea typeface="Poppins"/>
                  <a:cs typeface="Poppins"/>
                  <a:sym typeface="Poppins"/>
                </a:rPr>
                <a:t>Considerations</a:t>
              </a:r>
              <a:endParaRPr b="1" sz="1200">
                <a:solidFill>
                  <a:srgbClr val="346F90"/>
                </a:solidFill>
                <a:latin typeface="Poppins"/>
                <a:ea typeface="Poppins"/>
                <a:cs typeface="Poppins"/>
                <a:sym typeface="Poppins"/>
              </a:endParaRPr>
            </a:p>
            <a:p>
              <a:pPr indent="-304800" lvl="0" marL="457200" rtl="0" algn="l">
                <a:spcBef>
                  <a:spcPts val="300"/>
                </a:spcBef>
                <a:spcAft>
                  <a:spcPts val="0"/>
                </a:spcAft>
                <a:buClr>
                  <a:srgbClr val="346F90"/>
                </a:buClr>
                <a:buSzPts val="1200"/>
                <a:buFont typeface="Poppins"/>
                <a:buChar char="●"/>
              </a:pPr>
              <a:r>
                <a:rPr b="0" lang="en" sz="1000">
                  <a:solidFill>
                    <a:srgbClr val="475569"/>
                  </a:solidFill>
                  <a:latin typeface="Poppins"/>
                  <a:ea typeface="Poppins"/>
                  <a:cs typeface="Poppins"/>
                  <a:sym typeface="Poppins"/>
                </a:rPr>
                <a:t>Middle School consolidation</a:t>
              </a:r>
              <a:endParaRPr b="0" sz="1000">
                <a:solidFill>
                  <a:srgbClr val="475569"/>
                </a:solidFill>
                <a:latin typeface="Poppins"/>
                <a:ea typeface="Poppins"/>
                <a:cs typeface="Poppins"/>
                <a:sym typeface="Poppins"/>
              </a:endParaRPr>
            </a:p>
            <a:p>
              <a:pPr indent="-304800" lvl="0" marL="457200" rtl="0" algn="l">
                <a:spcBef>
                  <a:spcPts val="150"/>
                </a:spcBef>
                <a:spcAft>
                  <a:spcPts val="0"/>
                </a:spcAft>
                <a:buClr>
                  <a:srgbClr val="346F90"/>
                </a:buClr>
                <a:buSzPts val="1200"/>
                <a:buFont typeface="Poppins"/>
                <a:buChar char="●"/>
              </a:pPr>
              <a:r>
                <a:rPr lang="en" sz="1000">
                  <a:solidFill>
                    <a:srgbClr val="475569"/>
                  </a:solidFill>
                  <a:latin typeface="Poppins"/>
                  <a:ea typeface="Poppins"/>
                  <a:cs typeface="Poppins"/>
                  <a:sym typeface="Poppins"/>
                </a:rPr>
                <a:t>School Closure(s)</a:t>
              </a:r>
              <a:endParaRPr sz="1000">
                <a:solidFill>
                  <a:srgbClr val="475569"/>
                </a:solidFill>
                <a:latin typeface="Poppins"/>
                <a:ea typeface="Poppins"/>
                <a:cs typeface="Poppins"/>
                <a:sym typeface="Poppins"/>
              </a:endParaRPr>
            </a:p>
            <a:p>
              <a:pPr indent="-292100" lvl="0" marL="457200" rtl="0" algn="l">
                <a:spcBef>
                  <a:spcPts val="0"/>
                </a:spcBef>
                <a:spcAft>
                  <a:spcPts val="0"/>
                </a:spcAft>
                <a:buClr>
                  <a:srgbClr val="475569"/>
                </a:buClr>
                <a:buSzPts val="1000"/>
                <a:buFont typeface="Poppins"/>
                <a:buChar char="●"/>
              </a:pPr>
              <a:r>
                <a:rPr lang="en" sz="1000">
                  <a:solidFill>
                    <a:srgbClr val="475569"/>
                  </a:solidFill>
                  <a:latin typeface="Poppins"/>
                  <a:ea typeface="Poppins"/>
                  <a:cs typeface="Poppins"/>
                  <a:sym typeface="Poppins"/>
                </a:rPr>
                <a:t>Efficencies of Scale</a:t>
              </a:r>
              <a:endParaRPr sz="1000">
                <a:solidFill>
                  <a:srgbClr val="475569"/>
                </a:solidFill>
                <a:latin typeface="Poppins"/>
                <a:ea typeface="Poppins"/>
                <a:cs typeface="Poppins"/>
                <a:sym typeface="Poppins"/>
              </a:endParaRPr>
            </a:p>
          </p:txBody>
        </p:sp>
      </p:grpSp>
      <p:grpSp>
        <p:nvGrpSpPr>
          <p:cNvPr id="1229" name="Google Shape;1229;p69"/>
          <p:cNvGrpSpPr/>
          <p:nvPr/>
        </p:nvGrpSpPr>
        <p:grpSpPr>
          <a:xfrm>
            <a:off x="5810250" y="1095375"/>
            <a:ext cx="3117900" cy="285900"/>
            <a:chOff x="0" y="0"/>
            <a:chExt cx="3117900" cy="285900"/>
          </a:xfrm>
        </p:grpSpPr>
        <p:sp>
          <p:nvSpPr>
            <p:cNvPr id="1230" name="Google Shape;1230;p69"/>
            <p:cNvSpPr/>
            <p:nvPr/>
          </p:nvSpPr>
          <p:spPr>
            <a:xfrm>
              <a:off x="0" y="0"/>
              <a:ext cx="2952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1" name="Google Shape;1231;p69"/>
            <p:cNvSpPr txBox="1"/>
            <p:nvPr/>
          </p:nvSpPr>
          <p:spPr>
            <a:xfrm>
              <a:off x="0" y="0"/>
              <a:ext cx="3117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1B3859"/>
                  </a:solidFill>
                  <a:latin typeface="Poppins"/>
                  <a:ea typeface="Poppins"/>
                  <a:cs typeface="Poppins"/>
                  <a:sym typeface="Poppins"/>
                </a:rPr>
                <a:t>Option B: Alternative Path</a:t>
              </a:r>
              <a:endParaRPr b="1" sz="1800">
                <a:solidFill>
                  <a:srgbClr val="1B3859"/>
                </a:solidFill>
                <a:latin typeface="Poppins"/>
                <a:ea typeface="Poppins"/>
                <a:cs typeface="Poppins"/>
                <a:sym typeface="Poppins"/>
              </a:endParaRPr>
            </a:p>
          </p:txBody>
        </p:sp>
      </p:grpSp>
      <p:grpSp>
        <p:nvGrpSpPr>
          <p:cNvPr id="1232" name="Google Shape;1232;p69"/>
          <p:cNvGrpSpPr/>
          <p:nvPr/>
        </p:nvGrpSpPr>
        <p:grpSpPr>
          <a:xfrm>
            <a:off x="5810250" y="1476375"/>
            <a:ext cx="2952900" cy="3000300"/>
            <a:chOff x="0" y="0"/>
            <a:chExt cx="2952900" cy="3000300"/>
          </a:xfrm>
        </p:grpSpPr>
        <p:sp>
          <p:nvSpPr>
            <p:cNvPr id="1233" name="Google Shape;1233;p69"/>
            <p:cNvSpPr/>
            <p:nvPr/>
          </p:nvSpPr>
          <p:spPr>
            <a:xfrm>
              <a:off x="0" y="0"/>
              <a:ext cx="2952900" cy="3000300"/>
            </a:xfrm>
            <a:prstGeom prst="roundRect">
              <a:avLst>
                <a:gd fmla="val 322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4" name="Google Shape;1234;p69"/>
            <p:cNvSpPr/>
            <p:nvPr/>
          </p:nvSpPr>
          <p:spPr>
            <a:xfrm>
              <a:off x="0" y="0"/>
              <a:ext cx="57300" cy="3000300"/>
            </a:xfrm>
            <a:prstGeom prst="roundRect">
              <a:avLst>
                <a:gd fmla="val 50000" name="adj"/>
              </a:avLst>
            </a:prstGeom>
            <a:solidFill>
              <a:srgbClr val="BE8D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5" name="Google Shape;1235;p69"/>
            <p:cNvSpPr txBox="1"/>
            <p:nvPr/>
          </p:nvSpPr>
          <p:spPr>
            <a:xfrm>
              <a:off x="228600" y="190500"/>
              <a:ext cx="24957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BE8D26"/>
                  </a:solidFill>
                  <a:latin typeface="Poppins"/>
                  <a:ea typeface="Poppins"/>
                  <a:cs typeface="Poppins"/>
                  <a:sym typeface="Poppins"/>
                </a:rPr>
                <a:t>Exceeds Spending Threshold</a:t>
              </a:r>
              <a:endParaRPr b="1" sz="1300">
                <a:solidFill>
                  <a:srgbClr val="BE8D26"/>
                </a:solidFill>
                <a:latin typeface="Poppins"/>
                <a:ea typeface="Poppins"/>
                <a:cs typeface="Poppins"/>
                <a:sym typeface="Poppins"/>
              </a:endParaRPr>
            </a:p>
            <a:p>
              <a:pPr indent="0" lvl="0" marL="0" rtl="0" algn="l">
                <a:spcBef>
                  <a:spcPts val="900"/>
                </a:spcBef>
                <a:spcAft>
                  <a:spcPts val="0"/>
                </a:spcAft>
                <a:buNone/>
              </a:pPr>
              <a:r>
                <a:rPr b="0" lang="en" sz="1050">
                  <a:solidFill>
                    <a:srgbClr val="475569"/>
                  </a:solidFill>
                  <a:latin typeface="Poppins"/>
                  <a:ea typeface="Poppins"/>
                  <a:cs typeface="Poppins"/>
                  <a:sym typeface="Poppins"/>
                </a:rPr>
                <a:t>This direction represents the scenario where budget requirements exceed the state-mandated spending threshold to protect current educational programming levels.</a:t>
              </a:r>
              <a:endParaRPr b="0" sz="1050">
                <a:solidFill>
                  <a:srgbClr val="475569"/>
                </a:solidFill>
                <a:latin typeface="Poppins"/>
                <a:ea typeface="Poppins"/>
                <a:cs typeface="Poppins"/>
                <a:sym typeface="Poppins"/>
              </a:endParaRPr>
            </a:p>
          </p:txBody>
        </p:sp>
      </p:grpSp>
      <p:grpSp>
        <p:nvGrpSpPr>
          <p:cNvPr id="1236" name="Google Shape;1236;p69"/>
          <p:cNvGrpSpPr/>
          <p:nvPr/>
        </p:nvGrpSpPr>
        <p:grpSpPr>
          <a:xfrm>
            <a:off x="361975" y="3740150"/>
            <a:ext cx="5181562" cy="1228250"/>
            <a:chOff x="-63058" y="0"/>
            <a:chExt cx="5143500" cy="1000041"/>
          </a:xfrm>
        </p:grpSpPr>
        <p:sp>
          <p:nvSpPr>
            <p:cNvPr id="1237" name="Google Shape;1237;p69"/>
            <p:cNvSpPr/>
            <p:nvPr/>
          </p:nvSpPr>
          <p:spPr>
            <a:xfrm>
              <a:off x="-63058" y="95241"/>
              <a:ext cx="5143500" cy="904800"/>
            </a:xfrm>
            <a:prstGeom prst="roundRect">
              <a:avLst>
                <a:gd fmla="val 10526" name="adj"/>
              </a:avLst>
            </a:prstGeom>
            <a:solidFill>
              <a:srgbClr val="FFFFFF"/>
            </a:solidFill>
            <a:ln cap="flat" cmpd="sng" w="15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8" name="Google Shape;1238;p69"/>
            <p:cNvSpPr/>
            <p:nvPr/>
          </p:nvSpPr>
          <p:spPr>
            <a:xfrm>
              <a:off x="-44173" y="0"/>
              <a:ext cx="57300" cy="904800"/>
            </a:xfrm>
            <a:prstGeom prst="roundRect">
              <a:avLst>
                <a:gd fmla="val 50000" name="adj"/>
              </a:avLst>
            </a:prstGeom>
            <a:solidFill>
              <a:srgbClr val="5A7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9" name="Google Shape;1239;p69"/>
            <p:cNvSpPr txBox="1"/>
            <p:nvPr/>
          </p:nvSpPr>
          <p:spPr>
            <a:xfrm>
              <a:off x="228600" y="95250"/>
              <a:ext cx="46863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263">
                  <a:solidFill>
                    <a:srgbClr val="5A7D6B"/>
                  </a:solidFill>
                  <a:latin typeface="Poppins"/>
                  <a:ea typeface="Poppins"/>
                  <a:cs typeface="Poppins"/>
                  <a:sym typeface="Poppins"/>
                </a:rPr>
                <a:t>Long-Term Considerations</a:t>
              </a:r>
              <a:endParaRPr b="1" sz="1263">
                <a:solidFill>
                  <a:srgbClr val="5A7D6B"/>
                </a:solidFill>
                <a:latin typeface="Poppins"/>
                <a:ea typeface="Poppins"/>
                <a:cs typeface="Poppins"/>
                <a:sym typeface="Poppins"/>
              </a:endParaRPr>
            </a:p>
            <a:p>
              <a:pPr indent="-334221" lvl="0" marL="481279" rtl="0" algn="l">
                <a:spcBef>
                  <a:spcPts val="316"/>
                </a:spcBef>
                <a:spcAft>
                  <a:spcPts val="0"/>
                </a:spcAft>
                <a:buClr>
                  <a:srgbClr val="5A7D6B"/>
                </a:buClr>
                <a:buSzPts val="1474"/>
                <a:buFont typeface="Poppins"/>
                <a:buChar char="●"/>
              </a:pPr>
              <a:r>
                <a:rPr b="0" lang="en" sz="1053">
                  <a:solidFill>
                    <a:srgbClr val="475569"/>
                  </a:solidFill>
                  <a:latin typeface="Poppins"/>
                  <a:ea typeface="Poppins"/>
                  <a:cs typeface="Poppins"/>
                  <a:sym typeface="Poppins"/>
                </a:rPr>
                <a:t>Long-term facility master planning</a:t>
              </a:r>
              <a:endParaRPr b="0" sz="1053">
                <a:solidFill>
                  <a:srgbClr val="475569"/>
                </a:solidFill>
                <a:latin typeface="Poppins"/>
                <a:ea typeface="Poppins"/>
                <a:cs typeface="Poppins"/>
                <a:sym typeface="Poppins"/>
              </a:endParaRPr>
            </a:p>
            <a:p>
              <a:pPr indent="-332715" lvl="0" marL="481279" rtl="0" algn="l">
                <a:spcBef>
                  <a:spcPts val="158"/>
                </a:spcBef>
                <a:spcAft>
                  <a:spcPts val="0"/>
                </a:spcAft>
                <a:buClr>
                  <a:srgbClr val="2F855A"/>
                </a:buClr>
                <a:buSzPts val="1450"/>
                <a:buFont typeface="Poppins"/>
                <a:buChar char="●"/>
              </a:pPr>
              <a:r>
                <a:rPr lang="en" sz="1053">
                  <a:solidFill>
                    <a:srgbClr val="475569"/>
                  </a:solidFill>
                  <a:latin typeface="Poppins"/>
                  <a:ea typeface="Poppins"/>
                  <a:cs typeface="Poppins"/>
                  <a:sym typeface="Poppins"/>
                </a:rPr>
                <a:t>Consolidation </a:t>
              </a:r>
              <a:endParaRPr sz="1053">
                <a:solidFill>
                  <a:srgbClr val="475569"/>
                </a:solidFill>
                <a:latin typeface="Poppins"/>
                <a:ea typeface="Poppins"/>
                <a:cs typeface="Poppins"/>
                <a:sym typeface="Poppins"/>
              </a:endParaRPr>
            </a:p>
            <a:p>
              <a:pPr indent="-334221" lvl="0" marL="481279" rtl="0" algn="l">
                <a:spcBef>
                  <a:spcPts val="158"/>
                </a:spcBef>
                <a:spcAft>
                  <a:spcPts val="0"/>
                </a:spcAft>
                <a:buClr>
                  <a:srgbClr val="5A7D6B"/>
                </a:buClr>
                <a:buSzPts val="1474"/>
                <a:buFont typeface="Poppins"/>
                <a:buChar char="●"/>
              </a:pPr>
              <a:r>
                <a:rPr b="0" lang="en" sz="1053">
                  <a:solidFill>
                    <a:srgbClr val="475569"/>
                  </a:solidFill>
                  <a:latin typeface="Poppins"/>
                  <a:ea typeface="Poppins"/>
                  <a:cs typeface="Poppins"/>
                  <a:sym typeface="Poppins"/>
                </a:rPr>
                <a:t>Structural realignment and footprint optimization</a:t>
              </a:r>
              <a:endParaRPr b="1" sz="1263">
                <a:solidFill>
                  <a:srgbClr val="5A7D6B"/>
                </a:solidFill>
                <a:latin typeface="Poppins"/>
                <a:ea typeface="Poppins"/>
                <a:cs typeface="Poppins"/>
                <a:sym typeface="Poppins"/>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70"/>
          <p:cNvSpPr txBox="1"/>
          <p:nvPr/>
        </p:nvSpPr>
        <p:spPr>
          <a:xfrm>
            <a:off x="75" y="4438825"/>
            <a:ext cx="9144000" cy="513000"/>
          </a:xfrm>
          <a:prstGeom prst="rect">
            <a:avLst/>
          </a:prstGeom>
          <a:solidFill>
            <a:srgbClr val="346F90"/>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lt1"/>
                </a:solidFill>
              </a:rPr>
              <a:t>HARWOOD UNIFIED UNION SCHOOL DISTRICT </a:t>
            </a:r>
            <a:endParaRPr sz="2500">
              <a:solidFill>
                <a:schemeClr val="lt1"/>
              </a:solidFill>
            </a:endParaRPr>
          </a:p>
        </p:txBody>
      </p:sp>
      <p:pic>
        <p:nvPicPr>
          <p:cNvPr id="1245" name="Google Shape;1245;p70"/>
          <p:cNvPicPr preferRelativeResize="0"/>
          <p:nvPr/>
        </p:nvPicPr>
        <p:blipFill rotWithShape="1">
          <a:blip r:embed="rId3">
            <a:alphaModFix/>
          </a:blip>
          <a:srcRect b="0" l="0" r="0" t="0"/>
          <a:stretch/>
        </p:blipFill>
        <p:spPr>
          <a:xfrm>
            <a:off x="2582873" y="-1"/>
            <a:ext cx="4122228" cy="429364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9" name="Shape 1249"/>
        <p:cNvGrpSpPr/>
        <p:nvPr/>
      </p:nvGrpSpPr>
      <p:grpSpPr>
        <a:xfrm>
          <a:off x="0" y="0"/>
          <a:ext cx="0" cy="0"/>
          <a:chOff x="0" y="0"/>
          <a:chExt cx="0" cy="0"/>
        </a:xfrm>
      </p:grpSpPr>
      <p:sp>
        <p:nvSpPr>
          <p:cNvPr id="1250" name="Google Shape;1250;p71"/>
          <p:cNvSpPr txBox="1"/>
          <p:nvPr>
            <p:ph idx="1" type="subTitle"/>
          </p:nvPr>
        </p:nvSpPr>
        <p:spPr>
          <a:xfrm>
            <a:off x="2790825" y="1614500"/>
            <a:ext cx="5181900" cy="1671600"/>
          </a:xfrm>
          <a:prstGeom prst="rect">
            <a:avLst/>
          </a:prstGeom>
        </p:spPr>
        <p:txBody>
          <a:bodyPr anchorCtr="0" anchor="ctr" bIns="91425" lIns="91425" spcFirstLastPara="1" rIns="91425" wrap="square" tIns="91425">
            <a:normAutofit fontScale="77500"/>
          </a:bodyPr>
          <a:lstStyle/>
          <a:p>
            <a:pPr indent="0" lvl="0" marL="0" rtl="0" algn="ctr">
              <a:spcBef>
                <a:spcPts val="0"/>
              </a:spcBef>
              <a:spcAft>
                <a:spcPts val="0"/>
              </a:spcAft>
              <a:buNone/>
            </a:pPr>
            <a:r>
              <a:rPr lang="en" sz="9100">
                <a:solidFill>
                  <a:srgbClr val="1B3859"/>
                </a:solidFill>
                <a:latin typeface="Poppins Black"/>
                <a:ea typeface="Poppins Black"/>
                <a:cs typeface="Poppins Black"/>
                <a:sym typeface="Poppins Black"/>
              </a:rPr>
              <a:t>Questions</a:t>
            </a:r>
            <a:r>
              <a:rPr lang="en" sz="8300">
                <a:solidFill>
                  <a:srgbClr val="1B3859"/>
                </a:solidFill>
                <a:latin typeface="Poppins Black"/>
                <a:ea typeface="Poppins Black"/>
                <a:cs typeface="Poppins Black"/>
                <a:sym typeface="Poppins Black"/>
              </a:rPr>
              <a:t> </a:t>
            </a:r>
            <a:endParaRPr sz="8300">
              <a:solidFill>
                <a:srgbClr val="1B3859"/>
              </a:solidFill>
              <a:latin typeface="Poppins Black"/>
              <a:ea typeface="Poppins Black"/>
              <a:cs typeface="Poppins Black"/>
              <a:sym typeface="Poppins Black"/>
            </a:endParaRPr>
          </a:p>
        </p:txBody>
      </p:sp>
      <p:sp>
        <p:nvSpPr>
          <p:cNvPr id="1251" name="Google Shape;1251;p71"/>
          <p:cNvSpPr txBox="1"/>
          <p:nvPr>
            <p:ph idx="12" type="sldNum"/>
          </p:nvPr>
        </p:nvSpPr>
        <p:spPr>
          <a:xfrm>
            <a:off x="6574101" y="4813300"/>
            <a:ext cx="377100" cy="270600"/>
          </a:xfrm>
          <a:prstGeom prst="rect">
            <a:avLst/>
          </a:prstGeom>
        </p:spPr>
        <p:txBody>
          <a:bodyPr anchorCtr="0" anchor="ctr" bIns="91425" lIns="91425" spcFirstLastPara="1" rIns="91425" wrap="square" tIns="91425">
            <a:normAutofit fontScale="70000" lnSpcReduction="20000"/>
          </a:bodyPr>
          <a:lstStyle/>
          <a:p>
            <a:pPr indent="0" lvl="0" marL="0" rtl="0" algn="r">
              <a:spcBef>
                <a:spcPts val="0"/>
              </a:spcBef>
              <a:spcAft>
                <a:spcPts val="0"/>
              </a:spcAft>
              <a:buNone/>
            </a:pPr>
            <a:fld id="{00000000-1234-1234-1234-123412341234}" type="slidenum">
              <a:rPr lang="en"/>
              <a:t>‹#›</a:t>
            </a:fld>
            <a:endParaRPr/>
          </a:p>
        </p:txBody>
      </p:sp>
      <p:sp>
        <p:nvSpPr>
          <p:cNvPr id="1252" name="Google Shape;1252;p71"/>
          <p:cNvSpPr/>
          <p:nvPr/>
        </p:nvSpPr>
        <p:spPr>
          <a:xfrm>
            <a:off x="0" y="4191000"/>
            <a:ext cx="2397300" cy="9525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53" name="Google Shape;1253;p71"/>
          <p:cNvGrpSpPr/>
          <p:nvPr/>
        </p:nvGrpSpPr>
        <p:grpSpPr>
          <a:xfrm>
            <a:off x="142875" y="4286250"/>
            <a:ext cx="2095500" cy="762000"/>
            <a:chOff x="0" y="0"/>
            <a:chExt cx="2095500" cy="762000"/>
          </a:xfrm>
        </p:grpSpPr>
        <p:sp>
          <p:nvSpPr>
            <p:cNvPr id="1254" name="Google Shape;1254;p71"/>
            <p:cNvSpPr/>
            <p:nvPr/>
          </p:nvSpPr>
          <p:spPr>
            <a:xfrm>
              <a:off x="0" y="0"/>
              <a:ext cx="2095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5" name="Google Shape;1255;p71"/>
            <p:cNvSpPr txBox="1"/>
            <p:nvPr/>
          </p:nvSpPr>
          <p:spPr>
            <a:xfrm>
              <a:off x="0" y="0"/>
              <a:ext cx="2095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Poppins"/>
                  <a:ea typeface="Poppins"/>
                  <a:cs typeface="Poppins"/>
                  <a:sym typeface="Poppins"/>
                </a:rPr>
                <a:t>HARWOOD UNIFIED</a:t>
              </a:r>
              <a:endParaRPr b="1" sz="1300">
                <a:solidFill>
                  <a:srgbClr val="FFFFFF"/>
                </a:solidFill>
                <a:latin typeface="Poppins"/>
                <a:ea typeface="Poppins"/>
                <a:cs typeface="Poppins"/>
                <a:sym typeface="Poppins"/>
              </a:endParaRPr>
            </a:p>
            <a:p>
              <a:pPr indent="0" lvl="0" marL="0" rtl="0" algn="l">
                <a:spcBef>
                  <a:spcPts val="150"/>
                </a:spcBef>
                <a:spcAft>
                  <a:spcPts val="0"/>
                </a:spcAft>
                <a:buNone/>
              </a:pPr>
              <a:r>
                <a:rPr b="1" lang="en" sz="1300">
                  <a:solidFill>
                    <a:srgbClr val="FFFFFF"/>
                  </a:solidFill>
                  <a:latin typeface="Poppins"/>
                  <a:ea typeface="Poppins"/>
                  <a:cs typeface="Poppins"/>
                  <a:sym typeface="Poppins"/>
                </a:rPr>
                <a:t>UNION</a:t>
              </a:r>
              <a:endParaRPr b="1" sz="1300">
                <a:solidFill>
                  <a:srgbClr val="FFFFFF"/>
                </a:solidFill>
                <a:latin typeface="Poppins"/>
                <a:ea typeface="Poppins"/>
                <a:cs typeface="Poppins"/>
                <a:sym typeface="Poppins"/>
              </a:endParaRPr>
            </a:p>
            <a:p>
              <a:pPr indent="0" lvl="0" marL="0" rtl="0" algn="l">
                <a:spcBef>
                  <a:spcPts val="300"/>
                </a:spcBef>
                <a:spcAft>
                  <a:spcPts val="0"/>
                </a:spcAft>
                <a:buNone/>
              </a:pPr>
              <a:r>
                <a:rPr b="0" lang="en" sz="900">
                  <a:solidFill>
                    <a:srgbClr val="95B721"/>
                  </a:solidFill>
                  <a:latin typeface="Poppins"/>
                  <a:ea typeface="Poppins"/>
                  <a:cs typeface="Poppins"/>
                  <a:sym typeface="Poppins"/>
                </a:rPr>
                <a:t>SCHOOL DISTRICT</a:t>
              </a:r>
              <a:endParaRPr b="0" sz="900">
                <a:solidFill>
                  <a:srgbClr val="95B721"/>
                </a:solidFill>
                <a:latin typeface="Poppins"/>
                <a:ea typeface="Poppins"/>
                <a:cs typeface="Poppins"/>
                <a:sym typeface="Poppins"/>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