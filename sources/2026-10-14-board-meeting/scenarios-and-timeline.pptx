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8" r:id="rId5"/>
    <p:sldMasterId id="214748367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03AE6C-9510-406E-8E5A-D4FC3044A213}">
  <a:tblStyle styleId="{0203AE6C-9510-406E-8E5A-D4FC3044A2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DEB7BC5-1B2D-4D93-9549-F39EA27DA5C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b0130b0ab388710_0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1b0130b0ab388710_0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1b0130b0ab388710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1b0130b0ab388710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1b0130b0ab388710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1b0130b0ab388710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4ec7a4141c796972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h4ec7a4141c796972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4ec7a4141c79697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4ec7a4141c79697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6ba16f5cbdf6cbe6_1_4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h6ba16f5cbdf6cbe6_1_4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1b0130b0ab38871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1b0130b0ab38871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6ba16f5cbdf6cbe6_1_5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h6ba16f5cbdf6cbe6_1_5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6ba16f5cbdf6cbe6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6ba16f5cbdf6cbe6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6ba16f5cbdf6cbe6_1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h6ba16f5cbdf6cbe6_1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h6ba16f5cbdf6cbe6_1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h6ba16f5cbdf6cbe6_1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6ba16f5cbdf6cbe6_1_5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h6ba16f5cbdf6cbe6_1_5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h6ba16f5cbdf6cbe6_1_5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h6ba16f5cbdf6cbe6_1_5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4ec7a4141c796972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4ec7a4141c796972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4ec7a4141c796972_0_1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h4ec7a4141c796972_0_1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4ec7a4141c796972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h4ec7a4141c796972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4ec7a4141c796972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4ec7a4141c796972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6ba16f5cbdf6cbe6_1_1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6ba16f5cbdf6cbe6_1_1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h6ba16f5cbdf6cbe6_1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h6ba16f5cbdf6cbe6_1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h6ba16f5cbdf6cbe6_1_1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h6ba16f5cbdf6cbe6_1_1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1b0130b0ab388710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1b0130b0ab388710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h6ba16f5cbdf6cbe6_1_2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h6ba16f5cbdf6cbe6_1_2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h6ba16f5cbdf6cbe6_1_2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h6ba16f5cbdf6cbe6_1_2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h6ba16f5cbdf6cbe6_1_2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h6ba16f5cbdf6cbe6_1_2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4ec7a4141c7969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4ec7a4141c7969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h4ec7a4141c796972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h4ec7a4141c796972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h6ba16f5cbdf6cbe6_1_3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h6ba16f5cbdf6cbe6_1_3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h6ba16f5cbdf6cbe6_1_4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h6ba16f5cbdf6cbe6_1_4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741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390600" cy="5143500"/>
          </a:xfrm>
          <a:prstGeom prst="rect">
            <a:avLst/>
          </a:prstGeom>
          <a:solidFill>
            <a:srgbClr val="FEC10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628650" y="1068350"/>
            <a:ext cx="6976500" cy="0"/>
          </a:xfrm>
          <a:prstGeom prst="straightConnector1">
            <a:avLst/>
          </a:prstGeom>
          <a:noFill/>
          <a:ln cap="flat" cmpd="sng" w="143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h5226178b8dbda917_34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28650" y="7417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7b41f547844d308_56_0)">
  <p:cSld name="Generated (h37b41f547844d308_56_0)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838200" y="57150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300"/>
              <a:buFont typeface="Century Gothic"/>
              <a:buNone/>
              <a:defRPr b="0" i="0" sz="3300" u="none" cap="none" strike="noStrike">
                <a:solidFill>
                  <a:srgbClr val="833C0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838200" y="1276350"/>
            <a:ext cx="7620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42900" lvl="0" marL="457200" marR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rgbClr val="38562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500"/>
              <a:buFont typeface="Century Gothic"/>
              <a:buChar char="–"/>
              <a:defRPr b="0" i="0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None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3" name="Google Shape;113;p28"/>
          <p:cNvSpPr txBox="1"/>
          <p:nvPr>
            <p:ph idx="10" type="dt"/>
          </p:nvPr>
        </p:nvSpPr>
        <p:spPr>
          <a:xfrm>
            <a:off x="838200" y="4800601"/>
            <a:ext cx="2057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2931645" y="4800601"/>
            <a:ext cx="46635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7627346" y="4800601"/>
            <a:ext cx="831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type="title"/>
          </p:nvPr>
        </p:nvSpPr>
        <p:spPr>
          <a:xfrm>
            <a:off x="838200" y="57150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300"/>
              <a:buFont typeface="Century Gothic"/>
              <a:buNone/>
              <a:defRPr b="0" i="0" sz="3300" u="none" cap="none" strike="noStrike">
                <a:solidFill>
                  <a:srgbClr val="833C0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8" name="Google Shape;118;p29"/>
          <p:cNvSpPr txBox="1"/>
          <p:nvPr>
            <p:ph idx="1" type="body"/>
          </p:nvPr>
        </p:nvSpPr>
        <p:spPr>
          <a:xfrm>
            <a:off x="841248" y="1206627"/>
            <a:ext cx="373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indent="-228600" lvl="0" marL="45720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Century Gothic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800"/>
              <a:buFont typeface="Century Gothic"/>
              <a:buNone/>
              <a:def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600"/>
              <a:buFont typeface="Century Gothic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600"/>
              <a:buFont typeface="Century Gothic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9" name="Google Shape;119;p29"/>
          <p:cNvSpPr txBox="1"/>
          <p:nvPr>
            <p:ph idx="2" type="body"/>
          </p:nvPr>
        </p:nvSpPr>
        <p:spPr>
          <a:xfrm>
            <a:off x="838200" y="1657350"/>
            <a:ext cx="37338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23850" lvl="0" marL="457200" marR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rgbClr val="38562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0" name="Google Shape;120;p29"/>
          <p:cNvSpPr txBox="1"/>
          <p:nvPr>
            <p:ph idx="3" type="body"/>
          </p:nvPr>
        </p:nvSpPr>
        <p:spPr>
          <a:xfrm>
            <a:off x="4727448" y="1206627"/>
            <a:ext cx="373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rmAutofit/>
          </a:bodyPr>
          <a:lstStyle>
            <a:lvl1pPr indent="-228600" lvl="0" marL="45720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Century Gothic"/>
              <a:buNone/>
              <a:defRPr b="1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800"/>
              <a:buFont typeface="Century Gothic"/>
              <a:buNone/>
              <a:defRPr b="1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600"/>
              <a:buFont typeface="Century Gothic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600"/>
              <a:buFont typeface="Century Gothic"/>
              <a:buNone/>
              <a:defRPr b="1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None/>
              <a:defRPr b="1" i="0" sz="16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4" type="body"/>
          </p:nvPr>
        </p:nvSpPr>
        <p:spPr>
          <a:xfrm>
            <a:off x="4724400" y="1657350"/>
            <a:ext cx="37338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23850" lvl="0" marL="457200" marR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rgbClr val="38562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400"/>
              <a:buFont typeface="Century Gothic"/>
              <a:buChar char="–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385623"/>
              </a:buClr>
              <a:buSzPts val="1200"/>
              <a:buFont typeface="Century Gothic"/>
              <a:buChar char="–"/>
              <a:defRPr b="0" i="0" sz="14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0" type="dt"/>
          </p:nvPr>
        </p:nvSpPr>
        <p:spPr>
          <a:xfrm>
            <a:off x="838200" y="4800601"/>
            <a:ext cx="2057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3" name="Google Shape;123;p29"/>
          <p:cNvSpPr txBox="1"/>
          <p:nvPr>
            <p:ph idx="11" type="ftr"/>
          </p:nvPr>
        </p:nvSpPr>
        <p:spPr>
          <a:xfrm>
            <a:off x="2931645" y="4800601"/>
            <a:ext cx="46635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7627346" y="4800601"/>
            <a:ext cx="831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A3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">
  <p:cSld name="Simpl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/>
          <p:nvPr/>
        </p:nvSpPr>
        <p:spPr>
          <a:xfrm>
            <a:off x="7671862" y="0"/>
            <a:ext cx="1472100" cy="876300"/>
          </a:xfrm>
          <a:prstGeom prst="rect">
            <a:avLst/>
          </a:prstGeom>
          <a:solidFill>
            <a:srgbClr val="84C0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0"/>
          <p:cNvSpPr/>
          <p:nvPr/>
        </p:nvSpPr>
        <p:spPr>
          <a:xfrm>
            <a:off x="0" y="0"/>
            <a:ext cx="8122333" cy="876300"/>
          </a:xfrm>
          <a:custGeom>
            <a:rect b="b" l="l" r="r" t="t"/>
            <a:pathLst>
              <a:path extrusionOk="0" h="876300" w="8122333">
                <a:moveTo>
                  <a:pt x="0" y="0"/>
                </a:moveTo>
                <a:lnTo>
                  <a:pt x="6785369" y="0"/>
                </a:lnTo>
                <a:lnTo>
                  <a:pt x="7021002" y="0"/>
                </a:lnTo>
                <a:lnTo>
                  <a:pt x="8122333" y="0"/>
                </a:lnTo>
                <a:lnTo>
                  <a:pt x="7820133" y="876299"/>
                </a:lnTo>
                <a:lnTo>
                  <a:pt x="7021002" y="876299"/>
                </a:lnTo>
                <a:lnTo>
                  <a:pt x="7021002" y="876300"/>
                </a:lnTo>
                <a:lnTo>
                  <a:pt x="0" y="8763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0"/>
          <p:cNvSpPr txBox="1"/>
          <p:nvPr>
            <p:ph type="title"/>
          </p:nvPr>
        </p:nvSpPr>
        <p:spPr>
          <a:xfrm>
            <a:off x="0" y="0"/>
            <a:ext cx="7886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1">
  <p:cSld name="Simple (g3fbcc9beeda_111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0" y="0"/>
            <a:ext cx="7886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1d53d9f1810dfa02_15_0)">
  <p:cSld name="Generated (h1d53d9f1810dfa02_15_0)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9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3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s://legislature.vermont.gov/statutes/section/16/037/01541a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3"/>
          <p:cNvSpPr txBox="1"/>
          <p:nvPr/>
        </p:nvSpPr>
        <p:spPr>
          <a:xfrm>
            <a:off x="571500" y="0"/>
            <a:ext cx="8001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HARWOOD UNION UNIFIED SCHOOL DISTRICT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FY28 Budget Development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School Board Meeting Presentation</a:t>
            </a:r>
            <a:endParaRPr b="0" sz="15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5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39" name="Google Shape;139;p33"/>
          <p:cNvGrpSpPr/>
          <p:nvPr/>
        </p:nvGrpSpPr>
        <p:grpSpPr>
          <a:xfrm>
            <a:off x="571500" y="3714750"/>
            <a:ext cx="8001000" cy="762000"/>
            <a:chOff x="0" y="0"/>
            <a:chExt cx="8001000" cy="762000"/>
          </a:xfrm>
        </p:grpSpPr>
        <p:sp>
          <p:nvSpPr>
            <p:cNvPr id="140" name="Google Shape;140;p33"/>
            <p:cNvSpPr/>
            <p:nvPr/>
          </p:nvSpPr>
          <p:spPr>
            <a:xfrm>
              <a:off x="0" y="0"/>
              <a:ext cx="8001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" name="Google Shape;141;p33"/>
            <p:cNvGrpSpPr/>
            <p:nvPr/>
          </p:nvGrpSpPr>
          <p:grpSpPr>
            <a:xfrm>
              <a:off x="304800" y="190500"/>
              <a:ext cx="2247900" cy="381000"/>
              <a:chOff x="0" y="0"/>
              <a:chExt cx="2247900" cy="381000"/>
            </a:xfrm>
          </p:grpSpPr>
          <p:sp>
            <p:nvSpPr>
              <p:cNvPr id="142" name="Google Shape;142;p33"/>
              <p:cNvSpPr/>
              <p:nvPr/>
            </p:nvSpPr>
            <p:spPr>
              <a:xfrm>
                <a:off x="0" y="0"/>
                <a:ext cx="381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33"/>
              <p:cNvSpPr txBox="1"/>
              <p:nvPr/>
            </p:nvSpPr>
            <p:spPr>
              <a:xfrm>
                <a:off x="15240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DATE</a:t>
                </a:r>
                <a:endParaRPr b="1" sz="9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October 14, 2026</a:t>
                </a:r>
                <a:endParaRPr b="0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44" name="Google Shape;144;p33"/>
            <p:cNvGrpSpPr/>
            <p:nvPr/>
          </p:nvGrpSpPr>
          <p:grpSpPr>
            <a:xfrm>
              <a:off x="2857500" y="190500"/>
              <a:ext cx="2247900" cy="381000"/>
              <a:chOff x="0" y="0"/>
              <a:chExt cx="2247900" cy="381000"/>
            </a:xfrm>
          </p:grpSpPr>
          <p:sp>
            <p:nvSpPr>
              <p:cNvPr id="145" name="Google Shape;145;p33"/>
              <p:cNvSpPr/>
              <p:nvPr/>
            </p:nvSpPr>
            <p:spPr>
              <a:xfrm>
                <a:off x="0" y="0"/>
                <a:ext cx="381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0D94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33"/>
              <p:cNvSpPr txBox="1"/>
              <p:nvPr/>
            </p:nvSpPr>
            <p:spPr>
              <a:xfrm>
                <a:off x="15240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TOPIC</a:t>
                </a:r>
                <a:endParaRPr b="1" sz="9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Scenarios &amp; Timeline</a:t>
                </a:r>
                <a:endParaRPr b="0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47" name="Google Shape;147;p33"/>
            <p:cNvGrpSpPr/>
            <p:nvPr/>
          </p:nvGrpSpPr>
          <p:grpSpPr>
            <a:xfrm>
              <a:off x="5429250" y="190500"/>
              <a:ext cx="2247900" cy="381000"/>
              <a:chOff x="0" y="0"/>
              <a:chExt cx="2247900" cy="381000"/>
            </a:xfrm>
          </p:grpSpPr>
          <p:sp>
            <p:nvSpPr>
              <p:cNvPr id="148" name="Google Shape;148;p33"/>
              <p:cNvSpPr/>
              <p:nvPr/>
            </p:nvSpPr>
            <p:spPr>
              <a:xfrm>
                <a:off x="0" y="0"/>
                <a:ext cx="381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33"/>
              <p:cNvSpPr txBox="1"/>
              <p:nvPr/>
            </p:nvSpPr>
            <p:spPr>
              <a:xfrm>
                <a:off x="15240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9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HUUSD School Board</a:t>
                </a:r>
                <a:endParaRPr b="0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20" y="0"/>
            <a:ext cx="835296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35"/>
          <p:cNvGrpSpPr/>
          <p:nvPr/>
        </p:nvGrpSpPr>
        <p:grpSpPr>
          <a:xfrm>
            <a:off x="457200" y="304800"/>
            <a:ext cx="8229600" cy="762000"/>
            <a:chOff x="0" y="0"/>
            <a:chExt cx="8229600" cy="762000"/>
          </a:xfrm>
        </p:grpSpPr>
        <p:sp>
          <p:nvSpPr>
            <p:cNvPr id="161" name="Google Shape;161;p35"/>
            <p:cNvSpPr/>
            <p:nvPr/>
          </p:nvSpPr>
          <p:spPr>
            <a:xfrm>
              <a:off x="0" y="0"/>
              <a:ext cx="82296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5"/>
            <p:cNvSpPr txBox="1"/>
            <p:nvPr/>
          </p:nvSpPr>
          <p:spPr>
            <a:xfrm>
              <a:off x="0" y="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We risk hollowing out HUUSD schools</a:t>
              </a:r>
              <a:endParaRPr b="0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before the system gives us a way to operate more efficiently!</a:t>
              </a:r>
              <a:endParaRPr b="0" sz="13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63" name="Google Shape;163;p35"/>
          <p:cNvGrpSpPr/>
          <p:nvPr/>
        </p:nvGrpSpPr>
        <p:grpSpPr>
          <a:xfrm>
            <a:off x="457200" y="1219200"/>
            <a:ext cx="3981600" cy="1447800"/>
            <a:chOff x="0" y="0"/>
            <a:chExt cx="3981600" cy="1447800"/>
          </a:xfrm>
        </p:grpSpPr>
        <p:sp>
          <p:nvSpPr>
            <p:cNvPr id="164" name="Google Shape;164;p35"/>
            <p:cNvSpPr/>
            <p:nvPr/>
          </p:nvSpPr>
          <p:spPr>
            <a:xfrm>
              <a:off x="0" y="0"/>
              <a:ext cx="3981600" cy="1447800"/>
            </a:xfrm>
            <a:prstGeom prst="roundRect">
              <a:avLst>
                <a:gd fmla="val 78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5"/>
            <p:cNvSpPr/>
            <p:nvPr/>
          </p:nvSpPr>
          <p:spPr>
            <a:xfrm>
              <a:off x="0" y="0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5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5"/>
            <p:cNvSpPr txBox="1"/>
            <p:nvPr/>
          </p:nvSpPr>
          <p:spPr>
            <a:xfrm>
              <a:off x="209550" y="2387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b="0" sz="2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8" name="Google Shape;168;p35"/>
            <p:cNvSpPr txBox="1"/>
            <p:nvPr/>
          </p:nvSpPr>
          <p:spPr>
            <a:xfrm>
              <a:off x="742950" y="171450"/>
              <a:ext cx="30480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Fewer opportunities for our students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Reductions in academic offerings, extracurricular activities, athletics, and specialized support programs across all grade levels.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35"/>
          <p:cNvGrpSpPr/>
          <p:nvPr/>
        </p:nvGrpSpPr>
        <p:grpSpPr>
          <a:xfrm>
            <a:off x="4705350" y="1219200"/>
            <a:ext cx="3981600" cy="1447800"/>
            <a:chOff x="0" y="0"/>
            <a:chExt cx="3981600" cy="1447800"/>
          </a:xfrm>
        </p:grpSpPr>
        <p:sp>
          <p:nvSpPr>
            <p:cNvPr id="170" name="Google Shape;170;p35"/>
            <p:cNvSpPr/>
            <p:nvPr/>
          </p:nvSpPr>
          <p:spPr>
            <a:xfrm>
              <a:off x="0" y="0"/>
              <a:ext cx="3981600" cy="1447800"/>
            </a:xfrm>
            <a:prstGeom prst="roundRect">
              <a:avLst>
                <a:gd fmla="val 78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5"/>
            <p:cNvSpPr/>
            <p:nvPr/>
          </p:nvSpPr>
          <p:spPr>
            <a:xfrm>
              <a:off x="0" y="0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5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5"/>
            <p:cNvSpPr txBox="1"/>
            <p:nvPr/>
          </p:nvSpPr>
          <p:spPr>
            <a:xfrm>
              <a:off x="209550" y="2387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b="0" sz="20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4" name="Google Shape;174;p35"/>
            <p:cNvSpPr txBox="1"/>
            <p:nvPr/>
          </p:nvSpPr>
          <p:spPr>
            <a:xfrm>
              <a:off x="742950" y="171450"/>
              <a:ext cx="30480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Stronger communities at risk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Threats to neighborhood cohesion and vital local traditions that unite our district's towns and families.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35"/>
          <p:cNvGrpSpPr/>
          <p:nvPr/>
        </p:nvGrpSpPr>
        <p:grpSpPr>
          <a:xfrm>
            <a:off x="457200" y="2819400"/>
            <a:ext cx="3981600" cy="1447800"/>
            <a:chOff x="0" y="0"/>
            <a:chExt cx="3981600" cy="1447800"/>
          </a:xfrm>
        </p:grpSpPr>
        <p:sp>
          <p:nvSpPr>
            <p:cNvPr id="176" name="Google Shape;176;p35"/>
            <p:cNvSpPr/>
            <p:nvPr/>
          </p:nvSpPr>
          <p:spPr>
            <a:xfrm>
              <a:off x="0" y="0"/>
              <a:ext cx="3981600" cy="1447800"/>
            </a:xfrm>
            <a:prstGeom prst="roundRect">
              <a:avLst>
                <a:gd fmla="val 78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5"/>
            <p:cNvSpPr/>
            <p:nvPr/>
          </p:nvSpPr>
          <p:spPr>
            <a:xfrm>
              <a:off x="0" y="0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5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5"/>
            <p:cNvSpPr txBox="1"/>
            <p:nvPr/>
          </p:nvSpPr>
          <p:spPr>
            <a:xfrm>
              <a:off x="209550" y="2387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domain</a:t>
              </a:r>
              <a:endParaRPr b="0" sz="200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0" name="Google Shape;180;p35"/>
            <p:cNvSpPr txBox="1"/>
            <p:nvPr/>
          </p:nvSpPr>
          <p:spPr>
            <a:xfrm>
              <a:off x="742950" y="171450"/>
              <a:ext cx="30480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Schools we value could look very different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Potential structural shifts and consolidation models altering the familiar environment of our elementary and middle schools.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35"/>
          <p:cNvGrpSpPr/>
          <p:nvPr/>
        </p:nvGrpSpPr>
        <p:grpSpPr>
          <a:xfrm>
            <a:off x="4705350" y="2819400"/>
            <a:ext cx="3981600" cy="1447800"/>
            <a:chOff x="0" y="0"/>
            <a:chExt cx="3981600" cy="1447800"/>
          </a:xfrm>
        </p:grpSpPr>
        <p:sp>
          <p:nvSpPr>
            <p:cNvPr id="182" name="Google Shape;182;p35"/>
            <p:cNvSpPr/>
            <p:nvPr/>
          </p:nvSpPr>
          <p:spPr>
            <a:xfrm>
              <a:off x="0" y="0"/>
              <a:ext cx="3981600" cy="1447800"/>
            </a:xfrm>
            <a:prstGeom prst="roundRect">
              <a:avLst>
                <a:gd fmla="val 78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5"/>
            <p:cNvSpPr/>
            <p:nvPr/>
          </p:nvSpPr>
          <p:spPr>
            <a:xfrm>
              <a:off x="0" y="0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5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5"/>
            <p:cNvSpPr txBox="1"/>
            <p:nvPr/>
          </p:nvSpPr>
          <p:spPr>
            <a:xfrm>
              <a:off x="209550" y="2387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b="0" sz="2000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6" name="Google Shape;186;p35"/>
            <p:cNvSpPr txBox="1"/>
            <p:nvPr/>
          </p:nvSpPr>
          <p:spPr>
            <a:xfrm>
              <a:off x="742950" y="171450"/>
              <a:ext cx="30480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cuts are deep and the impact is real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Immediate budget cap requirements force irreversible loss of staff, busing, and programs before operational savings are realized.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7" name="Google Shape;187;p35"/>
          <p:cNvGrpSpPr/>
          <p:nvPr/>
        </p:nvGrpSpPr>
        <p:grpSpPr>
          <a:xfrm>
            <a:off x="457200" y="4419600"/>
            <a:ext cx="8229600" cy="495300"/>
            <a:chOff x="0" y="0"/>
            <a:chExt cx="8229600" cy="495300"/>
          </a:xfrm>
        </p:grpSpPr>
        <p:sp>
          <p:nvSpPr>
            <p:cNvPr id="188" name="Google Shape;188;p35"/>
            <p:cNvSpPr/>
            <p:nvPr/>
          </p:nvSpPr>
          <p:spPr>
            <a:xfrm>
              <a:off x="0" y="0"/>
              <a:ext cx="8229600" cy="495300"/>
            </a:xfrm>
            <a:prstGeom prst="roundRect">
              <a:avLst>
                <a:gd fmla="val 192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5"/>
            <p:cNvSpPr txBox="1"/>
            <p:nvPr/>
          </p:nvSpPr>
          <p:spPr>
            <a:xfrm>
              <a:off x="228600" y="0"/>
              <a:ext cx="7772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Let's find a better way. </a:t>
              </a:r>
              <a:r>
                <a:rPr b="0" lang="en" sz="95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Real Opportunities • Strong Communities • Brighter Futures</a:t>
              </a:r>
              <a:endParaRPr b="0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6"/>
          <p:cNvSpPr txBox="1"/>
          <p:nvPr/>
        </p:nvSpPr>
        <p:spPr>
          <a:xfrm>
            <a:off x="457200" y="209550"/>
            <a:ext cx="8229600" cy="8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CONTEXT &amp; RESPONSIBLE DECISION-MAKING</a:t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Recognizing Past Reductions to Inform Future Choices</a:t>
            </a:r>
            <a:endParaRPr b="0" sz="21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Before we decide what must change next, we need to recognize what we have already changed.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96" name="Google Shape;196;p36"/>
          <p:cNvGrpSpPr/>
          <p:nvPr/>
        </p:nvGrpSpPr>
        <p:grpSpPr>
          <a:xfrm>
            <a:off x="457200" y="1162050"/>
            <a:ext cx="2610000" cy="2991000"/>
            <a:chOff x="0" y="0"/>
            <a:chExt cx="2610000" cy="2991000"/>
          </a:xfrm>
        </p:grpSpPr>
        <p:sp>
          <p:nvSpPr>
            <p:cNvPr id="197" name="Google Shape;197;p36"/>
            <p:cNvSpPr/>
            <p:nvPr/>
          </p:nvSpPr>
          <p:spPr>
            <a:xfrm>
              <a:off x="0" y="0"/>
              <a:ext cx="2610000" cy="29910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6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6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6"/>
            <p:cNvSpPr txBox="1"/>
            <p:nvPr/>
          </p:nvSpPr>
          <p:spPr>
            <a:xfrm>
              <a:off x="285750" y="312039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1" name="Google Shape;201;p36"/>
            <p:cNvSpPr txBox="1"/>
            <p:nvPr/>
          </p:nvSpPr>
          <p:spPr>
            <a:xfrm>
              <a:off x="209550" y="723900"/>
              <a:ext cx="2190900" cy="21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What We've Changed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&gt;$7M Reduced • 53+ FTEs</a:t>
              </a:r>
              <a:endParaRPr b="1" sz="9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Over the last three years, HUUSD has reduced spending by 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more than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$7 million and eliminated more than 53 FTEs. These were consequential decisions that affected staffing, programs, and the way we deliver services.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36"/>
          <p:cNvGrpSpPr/>
          <p:nvPr/>
        </p:nvGrpSpPr>
        <p:grpSpPr>
          <a:xfrm>
            <a:off x="3267075" y="1162050"/>
            <a:ext cx="2610000" cy="2991000"/>
            <a:chOff x="0" y="0"/>
            <a:chExt cx="2610000" cy="2991000"/>
          </a:xfrm>
        </p:grpSpPr>
        <p:sp>
          <p:nvSpPr>
            <p:cNvPr id="203" name="Google Shape;203;p36"/>
            <p:cNvSpPr/>
            <p:nvPr/>
          </p:nvSpPr>
          <p:spPr>
            <a:xfrm>
              <a:off x="0" y="0"/>
              <a:ext cx="2610000" cy="29910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6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6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6"/>
            <p:cNvSpPr txBox="1"/>
            <p:nvPr/>
          </p:nvSpPr>
          <p:spPr>
            <a:xfrm>
              <a:off x="285750" y="312039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180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7" name="Google Shape;207;p36"/>
            <p:cNvSpPr txBox="1"/>
            <p:nvPr/>
          </p:nvSpPr>
          <p:spPr>
            <a:xfrm>
              <a:off x="209550" y="723900"/>
              <a:ext cx="2190900" cy="21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Our Responsibility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Evaluate Financial &amp; Tax Impact</a:t>
              </a:r>
              <a:endParaRPr b="1" sz="95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responsibility now is to understand the financial benefit of those decisions, the tax consequences of the alternatives, and the educational and community impacts of any additional reductions.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36"/>
          <p:cNvGrpSpPr/>
          <p:nvPr/>
        </p:nvGrpSpPr>
        <p:grpSpPr>
          <a:xfrm>
            <a:off x="6076950" y="1162050"/>
            <a:ext cx="2610000" cy="2991000"/>
            <a:chOff x="0" y="0"/>
            <a:chExt cx="2610000" cy="2991000"/>
          </a:xfrm>
        </p:grpSpPr>
        <p:sp>
          <p:nvSpPr>
            <p:cNvPr id="209" name="Google Shape;209;p36"/>
            <p:cNvSpPr/>
            <p:nvPr/>
          </p:nvSpPr>
          <p:spPr>
            <a:xfrm>
              <a:off x="0" y="0"/>
              <a:ext cx="2610000" cy="29910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6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6"/>
            <p:cNvSpPr/>
            <p:nvPr/>
          </p:nvSpPr>
          <p:spPr>
            <a:xfrm>
              <a:off x="190500" y="190500"/>
              <a:ext cx="419100" cy="4191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6"/>
            <p:cNvSpPr txBox="1"/>
            <p:nvPr/>
          </p:nvSpPr>
          <p:spPr>
            <a:xfrm>
              <a:off x="285750" y="312039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18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3" name="Google Shape;213;p36"/>
            <p:cNvSpPr txBox="1"/>
            <p:nvPr/>
          </p:nvSpPr>
          <p:spPr>
            <a:xfrm>
              <a:off x="209550" y="723900"/>
              <a:ext cx="2190900" cy="21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Informed Decisions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Realistic &amp; Balanced Choices</a:t>
              </a:r>
              <a:endParaRPr b="1" sz="950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We must make our next decisions with a clear understanding of what we have already sacrificed, what further savings are realistically available, and what those choices will mean for our students and communities.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36"/>
          <p:cNvGrpSpPr/>
          <p:nvPr/>
        </p:nvGrpSpPr>
        <p:grpSpPr>
          <a:xfrm>
            <a:off x="457200" y="4343400"/>
            <a:ext cx="8229600" cy="495300"/>
            <a:chOff x="0" y="0"/>
            <a:chExt cx="8229600" cy="495300"/>
          </a:xfrm>
        </p:grpSpPr>
        <p:sp>
          <p:nvSpPr>
            <p:cNvPr id="215" name="Google Shape;215;p36"/>
            <p:cNvSpPr/>
            <p:nvPr/>
          </p:nvSpPr>
          <p:spPr>
            <a:xfrm>
              <a:off x="0" y="0"/>
              <a:ext cx="8229600" cy="495300"/>
            </a:xfrm>
            <a:prstGeom prst="roundRect">
              <a:avLst>
                <a:gd fmla="val 192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6"/>
            <p:cNvSpPr txBox="1"/>
            <p:nvPr/>
          </p:nvSpPr>
          <p:spPr>
            <a:xfrm>
              <a:off x="190500" y="0"/>
              <a:ext cx="7848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Grounded in Past Sacrifices </a:t>
              </a: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Focused on Realistic Savings </a:t>
              </a:r>
              <a:r>
                <a:rPr b="0" lang="en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Committed to Students &amp; Communities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7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/>
        </p:nvSpPr>
        <p:spPr>
          <a:xfrm>
            <a:off x="457200" y="2095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PAST ACTIONS &amp; PREVENTATIVE IMPACT</a:t>
            </a:r>
            <a:endParaRPr b="1" sz="68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Real Cuts. Real Impact. We've already done the hard work.</a:t>
            </a:r>
            <a:endParaRPr b="0" sz="17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93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HUUSD reduced &gt;$7M and eliminated 53+ FTEs over the last 3 years to protect students and taxpayers.</a:t>
            </a:r>
            <a:endParaRPr b="0" sz="893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24" name="Google Shape;224;p37"/>
          <p:cNvGrpSpPr/>
          <p:nvPr/>
        </p:nvGrpSpPr>
        <p:grpSpPr>
          <a:xfrm>
            <a:off x="457200" y="914400"/>
            <a:ext cx="3981600" cy="3314700"/>
            <a:chOff x="0" y="0"/>
            <a:chExt cx="3981600" cy="3314700"/>
          </a:xfrm>
        </p:grpSpPr>
        <p:sp>
          <p:nvSpPr>
            <p:cNvPr id="225" name="Google Shape;225;p37"/>
            <p:cNvSpPr/>
            <p:nvPr/>
          </p:nvSpPr>
          <p:spPr>
            <a:xfrm>
              <a:off x="0" y="0"/>
              <a:ext cx="3981600" cy="3314700"/>
            </a:xfrm>
            <a:prstGeom prst="roundRect">
              <a:avLst>
                <a:gd fmla="val 344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3981600" cy="4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37"/>
            <p:cNvSpPr txBox="1"/>
            <p:nvPr/>
          </p:nvSpPr>
          <p:spPr>
            <a:xfrm>
              <a:off x="152400" y="95250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WHAT WE'VE ALREADY DONE</a:t>
              </a:r>
              <a:endParaRPr b="1" sz="10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93C5F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FISCAL YEARS 2024 – 2027 (PAST 3 YEARS)</a:t>
              </a:r>
              <a:endParaRPr b="0" sz="723">
                <a:solidFill>
                  <a:srgbClr val="93C5F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28" name="Google Shape;228;p37"/>
            <p:cNvGrpSpPr/>
            <p:nvPr/>
          </p:nvGrpSpPr>
          <p:grpSpPr>
            <a:xfrm>
              <a:off x="152400" y="533400"/>
              <a:ext cx="1762200" cy="2628900"/>
              <a:chOff x="0" y="0"/>
              <a:chExt cx="1762200" cy="2628900"/>
            </a:xfrm>
          </p:grpSpPr>
          <p:sp>
            <p:nvSpPr>
              <p:cNvPr id="229" name="Google Shape;229;p37"/>
              <p:cNvSpPr/>
              <p:nvPr/>
            </p:nvSpPr>
            <p:spPr>
              <a:xfrm>
                <a:off x="0" y="0"/>
                <a:ext cx="1762200" cy="2628900"/>
              </a:xfrm>
              <a:prstGeom prst="roundRect">
                <a:avLst>
                  <a:gd fmla="val 432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37"/>
              <p:cNvSpPr/>
              <p:nvPr/>
            </p:nvSpPr>
            <p:spPr>
              <a:xfrm>
                <a:off x="171450" y="133350"/>
                <a:ext cx="342900" cy="3429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37"/>
              <p:cNvSpPr txBox="1"/>
              <p:nvPr/>
            </p:nvSpPr>
            <p:spPr>
              <a:xfrm>
                <a:off x="257175" y="226314"/>
                <a:ext cx="1716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30">
                    <a:solidFill>
                      <a:srgbClr val="1E40A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attach_money</a:t>
                </a:r>
                <a:endParaRPr sz="153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2" name="Google Shape;232;p37"/>
              <p:cNvSpPr txBox="1"/>
              <p:nvPr/>
            </p:nvSpPr>
            <p:spPr>
              <a:xfrm>
                <a:off x="152400" y="552450"/>
                <a:ext cx="1457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705">
                    <a:solidFill>
                      <a:srgbClr val="1E40A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$7+ MILLION</a:t>
                </a:r>
                <a:endParaRPr b="0" sz="1705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8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 SPENDING REDUCTIONS</a:t>
                </a:r>
                <a:endParaRPr b="1" sz="58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33" name="Google Shape;233;p37"/>
              <p:cNvCxnSpPr/>
              <p:nvPr/>
            </p:nvCxnSpPr>
            <p:spPr>
              <a:xfrm>
                <a:off x="152400" y="1028700"/>
                <a:ext cx="1457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4" name="Google Shape;234;p37"/>
              <p:cNvSpPr txBox="1"/>
              <p:nvPr/>
            </p:nvSpPr>
            <p:spPr>
              <a:xfrm>
                <a:off x="152400" y="1123950"/>
                <a:ext cx="14574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Through operational efficiencies, program adjustments, and careful planning, we've reduced our expenses by over $7 million.</a:t>
                </a:r>
                <a:endParaRPr b="0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5" name="Google Shape;235;p37"/>
            <p:cNvGrpSpPr/>
            <p:nvPr/>
          </p:nvGrpSpPr>
          <p:grpSpPr>
            <a:xfrm>
              <a:off x="2066925" y="533400"/>
              <a:ext cx="1762200" cy="2628900"/>
              <a:chOff x="0" y="0"/>
              <a:chExt cx="1762200" cy="2628900"/>
            </a:xfrm>
          </p:grpSpPr>
          <p:sp>
            <p:nvSpPr>
              <p:cNvPr id="236" name="Google Shape;236;p37"/>
              <p:cNvSpPr/>
              <p:nvPr/>
            </p:nvSpPr>
            <p:spPr>
              <a:xfrm>
                <a:off x="0" y="0"/>
                <a:ext cx="1762200" cy="2628900"/>
              </a:xfrm>
              <a:prstGeom prst="roundRect">
                <a:avLst>
                  <a:gd fmla="val 432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7"/>
              <p:cNvSpPr/>
              <p:nvPr/>
            </p:nvSpPr>
            <p:spPr>
              <a:xfrm>
                <a:off x="171450" y="133350"/>
                <a:ext cx="342900" cy="3429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37"/>
              <p:cNvSpPr txBox="1"/>
              <p:nvPr/>
            </p:nvSpPr>
            <p:spPr>
              <a:xfrm>
                <a:off x="247650" y="235839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30">
                    <a:solidFill>
                      <a:srgbClr val="1E40A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153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9" name="Google Shape;239;p37"/>
              <p:cNvSpPr txBox="1"/>
              <p:nvPr/>
            </p:nvSpPr>
            <p:spPr>
              <a:xfrm>
                <a:off x="152400" y="552450"/>
                <a:ext cx="1457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705">
                    <a:solidFill>
                      <a:srgbClr val="1E40A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53+ FTEs</a:t>
                </a:r>
                <a:endParaRPr b="0" sz="1705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8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ELIMINATED</a:t>
                </a:r>
                <a:endParaRPr b="1" sz="58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40" name="Google Shape;240;p37"/>
              <p:cNvCxnSpPr/>
              <p:nvPr/>
            </p:nvCxnSpPr>
            <p:spPr>
              <a:xfrm>
                <a:off x="152400" y="1028700"/>
                <a:ext cx="1457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1" name="Google Shape;241;p37"/>
              <p:cNvSpPr txBox="1"/>
              <p:nvPr/>
            </p:nvSpPr>
            <p:spPr>
              <a:xfrm>
                <a:off x="152400" y="1123950"/>
                <a:ext cx="14574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We've reduced staffing by more than 53 FTEs, while maintaining core programs, student services and educational quality.</a:t>
                </a:r>
                <a:endParaRPr b="0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42" name="Google Shape;242;p37"/>
          <p:cNvGrpSpPr/>
          <p:nvPr/>
        </p:nvGrpSpPr>
        <p:grpSpPr>
          <a:xfrm>
            <a:off x="4705350" y="914400"/>
            <a:ext cx="3981600" cy="3314700"/>
            <a:chOff x="0" y="0"/>
            <a:chExt cx="3981600" cy="3314700"/>
          </a:xfrm>
        </p:grpSpPr>
        <p:sp>
          <p:nvSpPr>
            <p:cNvPr id="243" name="Google Shape;243;p37"/>
            <p:cNvSpPr/>
            <p:nvPr/>
          </p:nvSpPr>
          <p:spPr>
            <a:xfrm>
              <a:off x="0" y="0"/>
              <a:ext cx="3981600" cy="3314700"/>
            </a:xfrm>
            <a:prstGeom prst="roundRect">
              <a:avLst>
                <a:gd fmla="val 344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3981600" cy="4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37"/>
            <p:cNvSpPr txBox="1"/>
            <p:nvPr/>
          </p:nvSpPr>
          <p:spPr>
            <a:xfrm>
              <a:off x="152400" y="95250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WHAT IT WOULD HAVE MEANT</a:t>
              </a:r>
              <a:endParaRPr b="1" sz="10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99F6E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IF WE HADN'T MADE THESE CUTS</a:t>
              </a:r>
              <a:endParaRPr b="0" sz="723">
                <a:solidFill>
                  <a:srgbClr val="99F6E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46" name="Google Shape;246;p37"/>
            <p:cNvGrpSpPr/>
            <p:nvPr/>
          </p:nvGrpSpPr>
          <p:grpSpPr>
            <a:xfrm>
              <a:off x="114300" y="533400"/>
              <a:ext cx="1181100" cy="2628900"/>
              <a:chOff x="0" y="0"/>
              <a:chExt cx="1181100" cy="2628900"/>
            </a:xfrm>
          </p:grpSpPr>
          <p:sp>
            <p:nvSpPr>
              <p:cNvPr id="247" name="Google Shape;247;p37"/>
              <p:cNvSpPr/>
              <p:nvPr/>
            </p:nvSpPr>
            <p:spPr>
              <a:xfrm>
                <a:off x="0" y="0"/>
                <a:ext cx="1181100" cy="2628900"/>
              </a:xfrm>
              <a:prstGeom prst="roundRect">
                <a:avLst>
                  <a:gd fmla="val 6451" name="adj"/>
                </a:avLst>
              </a:prstGeom>
              <a:solidFill>
                <a:srgbClr val="CCFBF1">
                  <a:alpha val="30000"/>
                </a:srgbClr>
              </a:solidFill>
              <a:ln cap="flat" cmpd="sng" w="9525">
                <a:solidFill>
                  <a:srgbClr val="99F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37"/>
              <p:cNvSpPr/>
              <p:nvPr/>
            </p:nvSpPr>
            <p:spPr>
              <a:xfrm>
                <a:off x="114300" y="114300"/>
                <a:ext cx="304800" cy="3048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37"/>
              <p:cNvSpPr txBox="1"/>
              <p:nvPr/>
            </p:nvSpPr>
            <p:spPr>
              <a:xfrm>
                <a:off x="180975" y="194818"/>
                <a:ext cx="171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60">
                    <a:solidFill>
                      <a:srgbClr val="0F766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</a:t>
                </a:r>
                <a:endParaRPr sz="136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0" name="Google Shape;250;p37"/>
              <p:cNvSpPr txBox="1"/>
              <p:nvPr/>
            </p:nvSpPr>
            <p:spPr>
              <a:xfrm>
                <a:off x="95250" y="495300"/>
                <a:ext cx="990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30">
                    <a:solidFill>
                      <a:srgbClr val="0F766E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$7M+</a:t>
                </a:r>
                <a:endParaRPr b="0" sz="153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0F766E"/>
                    </a:solidFill>
                    <a:latin typeface="Inter"/>
                    <a:ea typeface="Inter"/>
                    <a:cs typeface="Inter"/>
                    <a:sym typeface="Inter"/>
                  </a:rPr>
                  <a:t>MORE SPENDING</a:t>
                </a:r>
                <a:endParaRPr b="1" sz="7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51" name="Google Shape;251;p37"/>
              <p:cNvCxnSpPr/>
              <p:nvPr/>
            </p:nvCxnSpPr>
            <p:spPr>
              <a:xfrm>
                <a:off x="95250" y="952500"/>
                <a:ext cx="99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9F6E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2" name="Google Shape;252;p37"/>
              <p:cNvSpPr txBox="1"/>
              <p:nvPr/>
            </p:nvSpPr>
            <p:spPr>
              <a:xfrm>
                <a:off x="95250" y="1028700"/>
                <a:ext cx="990600" cy="15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23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Additional cost we would have had to carry in our operating budget.</a:t>
                </a:r>
                <a:endParaRPr b="0" sz="723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3" name="Google Shape;253;p37"/>
            <p:cNvGrpSpPr/>
            <p:nvPr/>
          </p:nvGrpSpPr>
          <p:grpSpPr>
            <a:xfrm>
              <a:off x="1400175" y="533400"/>
              <a:ext cx="1181100" cy="2628900"/>
              <a:chOff x="0" y="0"/>
              <a:chExt cx="1181100" cy="2628900"/>
            </a:xfrm>
          </p:grpSpPr>
          <p:sp>
            <p:nvSpPr>
              <p:cNvPr id="254" name="Google Shape;254;p37"/>
              <p:cNvSpPr/>
              <p:nvPr/>
            </p:nvSpPr>
            <p:spPr>
              <a:xfrm>
                <a:off x="0" y="0"/>
                <a:ext cx="1181100" cy="2628900"/>
              </a:xfrm>
              <a:prstGeom prst="roundRect">
                <a:avLst>
                  <a:gd fmla="val 6451" name="adj"/>
                </a:avLst>
              </a:prstGeom>
              <a:solidFill>
                <a:srgbClr val="CCFBF1">
                  <a:alpha val="30000"/>
                </a:srgbClr>
              </a:solidFill>
              <a:ln cap="flat" cmpd="sng" w="9525">
                <a:solidFill>
                  <a:srgbClr val="99F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37"/>
              <p:cNvSpPr/>
              <p:nvPr/>
            </p:nvSpPr>
            <p:spPr>
              <a:xfrm>
                <a:off x="114300" y="114300"/>
                <a:ext cx="304800" cy="3048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37"/>
              <p:cNvSpPr txBox="1"/>
              <p:nvPr/>
            </p:nvSpPr>
            <p:spPr>
              <a:xfrm>
                <a:off x="180975" y="194818"/>
                <a:ext cx="171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60">
                    <a:solidFill>
                      <a:srgbClr val="0F766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home</a:t>
                </a:r>
                <a:endParaRPr sz="136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57" name="Google Shape;257;p37"/>
              <p:cNvSpPr txBox="1"/>
              <p:nvPr/>
            </p:nvSpPr>
            <p:spPr>
              <a:xfrm>
                <a:off x="95250" y="495300"/>
                <a:ext cx="990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30">
                    <a:solidFill>
                      <a:srgbClr val="0F766E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+$2.68</a:t>
                </a:r>
                <a:endParaRPr b="0" sz="153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0F766E"/>
                    </a:solidFill>
                    <a:latin typeface="Inter"/>
                    <a:ea typeface="Inter"/>
                    <a:cs typeface="Inter"/>
                    <a:sym typeface="Inter"/>
                  </a:rPr>
                  <a:t>TAX RATE IMPACT</a:t>
                </a:r>
                <a:endParaRPr b="1" sz="7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58" name="Google Shape;258;p37"/>
              <p:cNvCxnSpPr/>
              <p:nvPr/>
            </p:nvCxnSpPr>
            <p:spPr>
              <a:xfrm>
                <a:off x="95250" y="952500"/>
                <a:ext cx="99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9F6E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9" name="Google Shape;259;p37"/>
              <p:cNvSpPr txBox="1"/>
              <p:nvPr/>
            </p:nvSpPr>
            <p:spPr>
              <a:xfrm>
                <a:off x="95250" y="1028700"/>
                <a:ext cx="990600" cy="15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23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Estimated tax rate increase required without these proactive cuts.</a:t>
                </a:r>
                <a:endParaRPr b="0" sz="723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0" name="Google Shape;260;p37"/>
            <p:cNvGrpSpPr/>
            <p:nvPr/>
          </p:nvGrpSpPr>
          <p:grpSpPr>
            <a:xfrm>
              <a:off x="2686050" y="533400"/>
              <a:ext cx="1181100" cy="2628900"/>
              <a:chOff x="0" y="0"/>
              <a:chExt cx="1181100" cy="2628900"/>
            </a:xfrm>
          </p:grpSpPr>
          <p:sp>
            <p:nvSpPr>
              <p:cNvPr id="261" name="Google Shape;261;p37"/>
              <p:cNvSpPr/>
              <p:nvPr/>
            </p:nvSpPr>
            <p:spPr>
              <a:xfrm>
                <a:off x="0" y="0"/>
                <a:ext cx="1181100" cy="2628900"/>
              </a:xfrm>
              <a:prstGeom prst="roundRect">
                <a:avLst>
                  <a:gd fmla="val 6451" name="adj"/>
                </a:avLst>
              </a:prstGeom>
              <a:solidFill>
                <a:srgbClr val="CCFBF1">
                  <a:alpha val="30000"/>
                </a:srgbClr>
              </a:solidFill>
              <a:ln cap="flat" cmpd="sng" w="9525">
                <a:solidFill>
                  <a:srgbClr val="99F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37"/>
              <p:cNvSpPr/>
              <p:nvPr/>
            </p:nvSpPr>
            <p:spPr>
              <a:xfrm>
                <a:off x="114300" y="114300"/>
                <a:ext cx="304800" cy="3048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37"/>
              <p:cNvSpPr txBox="1"/>
              <p:nvPr/>
            </p:nvSpPr>
            <p:spPr>
              <a:xfrm>
                <a:off x="180975" y="194818"/>
                <a:ext cx="171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60">
                    <a:solidFill>
                      <a:srgbClr val="0F766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endParaRPr sz="1360">
                  <a:solidFill>
                    <a:srgbClr val="0F766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4" name="Google Shape;264;p37"/>
              <p:cNvSpPr txBox="1"/>
              <p:nvPr/>
            </p:nvSpPr>
            <p:spPr>
              <a:xfrm>
                <a:off x="95250" y="495300"/>
                <a:ext cx="990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60">
                    <a:solidFill>
                      <a:srgbClr val="0F766E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~$1,500</a:t>
                </a:r>
                <a:endParaRPr b="0" sz="1360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50">
                    <a:solidFill>
                      <a:srgbClr val="0F766E"/>
                    </a:solidFill>
                    <a:latin typeface="Inter"/>
                    <a:ea typeface="Inter"/>
                    <a:cs typeface="Inter"/>
                    <a:sym typeface="Inter"/>
                  </a:rPr>
                  <a:t>MORE PER HOUSEHOLD</a:t>
                </a:r>
                <a:endParaRPr b="1" sz="6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65" name="Google Shape;265;p37"/>
              <p:cNvCxnSpPr/>
              <p:nvPr/>
            </p:nvCxnSpPr>
            <p:spPr>
              <a:xfrm>
                <a:off x="95250" y="952500"/>
                <a:ext cx="99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9F6E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6" name="Google Shape;266;p37"/>
              <p:cNvSpPr txBox="1"/>
              <p:nvPr/>
            </p:nvSpPr>
            <p:spPr>
              <a:xfrm>
                <a:off x="95250" y="1028700"/>
                <a:ext cx="990600" cy="15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23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Average additional annual cost per homeowner in local taxes.</a:t>
                </a:r>
                <a:endParaRPr b="0" sz="723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7" name="Google Shape;267;p37"/>
          <p:cNvGrpSpPr/>
          <p:nvPr/>
        </p:nvGrpSpPr>
        <p:grpSpPr>
          <a:xfrm>
            <a:off x="457200" y="4362450"/>
            <a:ext cx="8229600" cy="495300"/>
            <a:chOff x="0" y="0"/>
            <a:chExt cx="8229600" cy="495300"/>
          </a:xfrm>
        </p:grpSpPr>
        <p:sp>
          <p:nvSpPr>
            <p:cNvPr id="268" name="Google Shape;268;p37"/>
            <p:cNvSpPr/>
            <p:nvPr/>
          </p:nvSpPr>
          <p:spPr>
            <a:xfrm>
              <a:off x="0" y="0"/>
              <a:ext cx="8229600" cy="495300"/>
            </a:xfrm>
            <a:prstGeom prst="roundRect">
              <a:avLst>
                <a:gd fmla="val 192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190500" y="95250"/>
              <a:ext cx="304800" cy="304800"/>
            </a:xfrm>
            <a:prstGeom prst="ellipse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7"/>
            <p:cNvSpPr txBox="1"/>
            <p:nvPr/>
          </p:nvSpPr>
          <p:spPr>
            <a:xfrm>
              <a:off x="247650" y="175768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6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136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1" name="Google Shape;271;p37"/>
            <p:cNvSpPr txBox="1"/>
            <p:nvPr/>
          </p:nvSpPr>
          <p:spPr>
            <a:xfrm>
              <a:off x="609600" y="0"/>
              <a:ext cx="7391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These cuts have protected our students and our community. </a:t>
              </a:r>
              <a:r>
                <a:rPr b="0" i="1" lang="en" sz="1100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We've done what we can — and it's made a difference.</a:t>
              </a:r>
              <a:endParaRPr/>
            </a:p>
          </p:txBody>
        </p:sp>
      </p:grpSp>
      <p:pic>
        <p:nvPicPr>
          <p:cNvPr id="272" name="Google Shape;27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323" y="1535775"/>
            <a:ext cx="580903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5775" y="1535775"/>
            <a:ext cx="6032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0301" y="1535775"/>
            <a:ext cx="466550" cy="3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3324" y="1522812"/>
            <a:ext cx="503575" cy="3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3375" y="1527430"/>
            <a:ext cx="466550" cy="3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38"/>
          <p:cNvGrpSpPr/>
          <p:nvPr/>
        </p:nvGrpSpPr>
        <p:grpSpPr>
          <a:xfrm>
            <a:off x="457200" y="209550"/>
            <a:ext cx="8229600" cy="762000"/>
            <a:chOff x="0" y="0"/>
            <a:chExt cx="8229600" cy="762000"/>
          </a:xfrm>
        </p:grpSpPr>
        <p:sp>
          <p:nvSpPr>
            <p:cNvPr id="283" name="Google Shape;283;p38"/>
            <p:cNvSpPr/>
            <p:nvPr/>
          </p:nvSpPr>
          <p:spPr>
            <a:xfrm>
              <a:off x="0" y="0"/>
              <a:ext cx="82296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8"/>
            <p:cNvSpPr txBox="1"/>
            <p:nvPr/>
          </p:nvSpPr>
          <p:spPr>
            <a:xfrm>
              <a:off x="0" y="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FINANCIAL OVERVIEW &amp; THRESHOLDS</a:t>
              </a:r>
              <a:endParaRPr b="1" i="0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2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FY27 Budget Projection &amp; Excess Spending</a:t>
              </a:r>
              <a:endParaRPr b="1" i="0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Evaluating total district budget projections against statutory spending limits</a:t>
              </a:r>
              <a:r>
                <a:rPr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had we not made reduction already </a:t>
              </a:r>
              <a:endParaRPr b="1" i="0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p38"/>
          <p:cNvGrpSpPr/>
          <p:nvPr/>
        </p:nvGrpSpPr>
        <p:grpSpPr>
          <a:xfrm>
            <a:off x="457200" y="1123950"/>
            <a:ext cx="2610000" cy="3029100"/>
            <a:chOff x="0" y="0"/>
            <a:chExt cx="2610000" cy="3029100"/>
          </a:xfrm>
        </p:grpSpPr>
        <p:sp>
          <p:nvSpPr>
            <p:cNvPr id="286" name="Google Shape;286;p38"/>
            <p:cNvSpPr/>
            <p:nvPr/>
          </p:nvSpPr>
          <p:spPr>
            <a:xfrm>
              <a:off x="0" y="0"/>
              <a:ext cx="2610000" cy="30291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8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190500" y="20955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9" name="Google Shape;289;p38"/>
            <p:cNvGrpSpPr/>
            <p:nvPr/>
          </p:nvGrpSpPr>
          <p:grpSpPr>
            <a:xfrm>
              <a:off x="285750" y="331089"/>
              <a:ext cx="228600" cy="254889"/>
              <a:chOff x="0" y="0"/>
              <a:chExt cx="228600" cy="254889"/>
            </a:xfrm>
          </p:grpSpPr>
          <p:sp>
            <p:nvSpPr>
              <p:cNvPr id="290" name="Google Shape;290;p3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38"/>
              <p:cNvSpPr txBox="1"/>
              <p:nvPr/>
            </p:nvSpPr>
            <p:spPr>
              <a:xfrm>
                <a:off x="0" y="26289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</a:t>
                </a:r>
                <a:endParaRPr b="0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92" name="Google Shape;292;p38"/>
            <p:cNvGrpSpPr/>
            <p:nvPr/>
          </p:nvGrpSpPr>
          <p:grpSpPr>
            <a:xfrm>
              <a:off x="209550" y="742950"/>
              <a:ext cx="2190900" cy="2095500"/>
              <a:chOff x="0" y="0"/>
              <a:chExt cx="2190900" cy="2095500"/>
            </a:xfrm>
          </p:grpSpPr>
          <p:sp>
            <p:nvSpPr>
              <p:cNvPr id="293" name="Google Shape;293;p38"/>
              <p:cNvSpPr/>
              <p:nvPr/>
            </p:nvSpPr>
            <p:spPr>
              <a:xfrm>
                <a:off x="0" y="0"/>
                <a:ext cx="2190900" cy="20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38"/>
              <p:cNvSpPr txBox="1"/>
              <p:nvPr/>
            </p:nvSpPr>
            <p:spPr>
              <a:xfrm>
                <a:off x="0" y="0"/>
                <a:ext cx="21909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FY27 Budget Would Be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22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~$59,084,947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Total projected operating budget for Fiscal Year 2027 under current estimates.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95" name="Google Shape;295;p38"/>
          <p:cNvGrpSpPr/>
          <p:nvPr/>
        </p:nvGrpSpPr>
        <p:grpSpPr>
          <a:xfrm>
            <a:off x="3267075" y="1123950"/>
            <a:ext cx="2610000" cy="3029100"/>
            <a:chOff x="0" y="0"/>
            <a:chExt cx="2610000" cy="3029100"/>
          </a:xfrm>
        </p:grpSpPr>
        <p:sp>
          <p:nvSpPr>
            <p:cNvPr id="296" name="Google Shape;296;p38"/>
            <p:cNvSpPr/>
            <p:nvPr/>
          </p:nvSpPr>
          <p:spPr>
            <a:xfrm>
              <a:off x="0" y="0"/>
              <a:ext cx="2610000" cy="30291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>
              <a:off x="190500" y="2095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" name="Google Shape;299;p38"/>
            <p:cNvGrpSpPr/>
            <p:nvPr/>
          </p:nvGrpSpPr>
          <p:grpSpPr>
            <a:xfrm>
              <a:off x="285750" y="331089"/>
              <a:ext cx="228600" cy="254889"/>
              <a:chOff x="0" y="0"/>
              <a:chExt cx="228600" cy="254889"/>
            </a:xfrm>
          </p:grpSpPr>
          <p:sp>
            <p:nvSpPr>
              <p:cNvPr id="300" name="Google Shape;300;p3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38"/>
              <p:cNvSpPr txBox="1"/>
              <p:nvPr/>
            </p:nvSpPr>
            <p:spPr>
              <a:xfrm>
                <a:off x="0" y="26289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DC26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</a:t>
                </a:r>
                <a:endParaRPr b="0" sz="18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302" name="Google Shape;302;p38"/>
            <p:cNvGrpSpPr/>
            <p:nvPr/>
          </p:nvGrpSpPr>
          <p:grpSpPr>
            <a:xfrm>
              <a:off x="209550" y="742950"/>
              <a:ext cx="2190900" cy="2095500"/>
              <a:chOff x="0" y="0"/>
              <a:chExt cx="2190900" cy="2095500"/>
            </a:xfrm>
          </p:grpSpPr>
          <p:sp>
            <p:nvSpPr>
              <p:cNvPr id="303" name="Google Shape;303;p38"/>
              <p:cNvSpPr/>
              <p:nvPr/>
            </p:nvSpPr>
            <p:spPr>
              <a:xfrm>
                <a:off x="0" y="0"/>
                <a:ext cx="2190900" cy="20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38"/>
              <p:cNvSpPr txBox="1"/>
              <p:nvPr/>
            </p:nvSpPr>
            <p:spPr>
              <a:xfrm>
                <a:off x="0" y="0"/>
                <a:ext cx="21909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Projected Per-Pupil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    </a:t>
                </a:r>
                <a:r>
                  <a:rPr b="0" lang="en" sz="2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$18,971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Projected spending per equalized pupil based on current budget proposals.</a:t>
                </a:r>
                <a:endParaRPr b="0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     </a:t>
                </a:r>
                <a:r>
                  <a:rPr b="1" lang="en" sz="2350"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rPr>
                  <a:t>$2,502.59 </a:t>
                </a:r>
                <a:endParaRPr b="1" sz="235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over the threshold </a:t>
                </a:r>
                <a:endParaRPr sz="1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5" name="Google Shape;305;p38"/>
          <p:cNvGrpSpPr/>
          <p:nvPr/>
        </p:nvGrpSpPr>
        <p:grpSpPr>
          <a:xfrm>
            <a:off x="6007775" y="1123950"/>
            <a:ext cx="2679175" cy="3038550"/>
            <a:chOff x="-69175" y="0"/>
            <a:chExt cx="2679175" cy="3038550"/>
          </a:xfrm>
        </p:grpSpPr>
        <p:sp>
          <p:nvSpPr>
            <p:cNvPr id="306" name="Google Shape;306;p38"/>
            <p:cNvSpPr/>
            <p:nvPr/>
          </p:nvSpPr>
          <p:spPr>
            <a:xfrm>
              <a:off x="-69175" y="9450"/>
              <a:ext cx="2610000" cy="30291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8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8"/>
            <p:cNvSpPr/>
            <p:nvPr/>
          </p:nvSpPr>
          <p:spPr>
            <a:xfrm>
              <a:off x="190500" y="209550"/>
              <a:ext cx="419100" cy="4191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" name="Google Shape;309;p38"/>
            <p:cNvGrpSpPr/>
            <p:nvPr/>
          </p:nvGrpSpPr>
          <p:grpSpPr>
            <a:xfrm>
              <a:off x="285750" y="331089"/>
              <a:ext cx="228600" cy="254889"/>
              <a:chOff x="0" y="0"/>
              <a:chExt cx="228600" cy="254889"/>
            </a:xfrm>
          </p:grpSpPr>
          <p:sp>
            <p:nvSpPr>
              <p:cNvPr id="310" name="Google Shape;310;p38"/>
              <p:cNvSpPr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38"/>
              <p:cNvSpPr txBox="1"/>
              <p:nvPr/>
            </p:nvSpPr>
            <p:spPr>
              <a:xfrm>
                <a:off x="0" y="26289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gavel</a:t>
                </a:r>
                <a:endParaRPr b="0" sz="18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312" name="Google Shape;312;p38"/>
            <p:cNvGrpSpPr/>
            <p:nvPr/>
          </p:nvGrpSpPr>
          <p:grpSpPr>
            <a:xfrm>
              <a:off x="59300" y="585975"/>
              <a:ext cx="2400600" cy="2252475"/>
              <a:chOff x="-150250" y="-156975"/>
              <a:chExt cx="2400600" cy="2252475"/>
            </a:xfrm>
          </p:grpSpPr>
          <p:sp>
            <p:nvSpPr>
              <p:cNvPr id="313" name="Google Shape;313;p38"/>
              <p:cNvSpPr/>
              <p:nvPr/>
            </p:nvSpPr>
            <p:spPr>
              <a:xfrm>
                <a:off x="0" y="0"/>
                <a:ext cx="2190900" cy="2095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38"/>
              <p:cNvSpPr txBox="1"/>
              <p:nvPr/>
            </p:nvSpPr>
            <p:spPr>
              <a:xfrm>
                <a:off x="-150250" y="-156975"/>
                <a:ext cx="2400600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</a:t>
                </a:r>
                <a:r>
                  <a:rPr b="1" lang="en" sz="13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xcess Spending threshold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   </a:t>
                </a:r>
                <a:r>
                  <a:rPr b="0" lang="en" sz="26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$16,470</a:t>
                </a:r>
                <a:endParaRPr b="1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2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FY27 excess spending threshold established by state regulations.</a:t>
                </a:r>
                <a:endParaRPr b="1" sz="16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5" name="Google Shape;315;p38"/>
          <p:cNvGrpSpPr/>
          <p:nvPr/>
        </p:nvGrpSpPr>
        <p:grpSpPr>
          <a:xfrm>
            <a:off x="457200" y="4343400"/>
            <a:ext cx="8229600" cy="495300"/>
            <a:chOff x="0" y="0"/>
            <a:chExt cx="8229600" cy="495300"/>
          </a:xfrm>
        </p:grpSpPr>
        <p:sp>
          <p:nvSpPr>
            <p:cNvPr id="316" name="Google Shape;316;p38"/>
            <p:cNvSpPr/>
            <p:nvPr/>
          </p:nvSpPr>
          <p:spPr>
            <a:xfrm>
              <a:off x="0" y="0"/>
              <a:ext cx="8229600" cy="495300"/>
            </a:xfrm>
            <a:prstGeom prst="roundRect">
              <a:avLst>
                <a:gd fmla="val 192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" name="Google Shape;317;p38"/>
            <p:cNvGrpSpPr/>
            <p:nvPr/>
          </p:nvGrpSpPr>
          <p:grpSpPr>
            <a:xfrm>
              <a:off x="190500" y="0"/>
              <a:ext cx="7848600" cy="495300"/>
              <a:chOff x="0" y="0"/>
              <a:chExt cx="7848600" cy="495300"/>
            </a:xfrm>
          </p:grpSpPr>
          <p:sp>
            <p:nvSpPr>
              <p:cNvPr id="318" name="Google Shape;318;p38"/>
              <p:cNvSpPr/>
              <p:nvPr/>
            </p:nvSpPr>
            <p:spPr>
              <a:xfrm>
                <a:off x="0" y="0"/>
                <a:ext cx="7848600" cy="495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38"/>
              <p:cNvSpPr txBox="1"/>
              <p:nvPr/>
            </p:nvSpPr>
            <p:spPr>
              <a:xfrm>
                <a:off x="0" y="0"/>
                <a:ext cx="7848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FY27 Excess Spending Threshold: </a:t>
                </a:r>
                <a:r>
                  <a:rPr b="0" lang="en" sz="1050">
                    <a:solidFill>
                      <a:srgbClr val="F8717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$16,470</a:t>
                </a:r>
                <a:r>
                  <a:rPr b="1" lang="en" sz="10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" sz="10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• Proposed Per Pupil Exceeds Threshold by $2,501</a:t>
                </a:r>
                <a:endParaRPr b="1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/>
        </p:nvSpPr>
        <p:spPr>
          <a:xfrm>
            <a:off x="457200" y="266700"/>
            <a:ext cx="8229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Charge: Three Scenarios</a:t>
            </a:r>
            <a:endParaRPr b="0"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financial and operational models under evaluation for budget development</a:t>
            </a:r>
            <a:endParaRPr b="0" sz="10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25" name="Google Shape;325;p39"/>
          <p:cNvGrpSpPr/>
          <p:nvPr/>
        </p:nvGrpSpPr>
        <p:grpSpPr>
          <a:xfrm>
            <a:off x="457200" y="1047750"/>
            <a:ext cx="2552700" cy="3714900"/>
            <a:chOff x="0" y="0"/>
            <a:chExt cx="2552700" cy="3714900"/>
          </a:xfrm>
        </p:grpSpPr>
        <p:sp>
          <p:nvSpPr>
            <p:cNvPr id="326" name="Google Shape;326;p39"/>
            <p:cNvSpPr/>
            <p:nvPr/>
          </p:nvSpPr>
          <p:spPr>
            <a:xfrm>
              <a:off x="0" y="0"/>
              <a:ext cx="2552700" cy="3714900"/>
            </a:xfrm>
            <a:prstGeom prst="roundRect">
              <a:avLst>
                <a:gd fmla="val 52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9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9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9"/>
            <p:cNvSpPr txBox="1"/>
            <p:nvPr/>
          </p:nvSpPr>
          <p:spPr>
            <a:xfrm>
              <a:off x="171450" y="2167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0" name="Google Shape;330;p39"/>
            <p:cNvSpPr/>
            <p:nvPr/>
          </p:nvSpPr>
          <p:spPr>
            <a:xfrm>
              <a:off x="1409700" y="24765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9"/>
            <p:cNvSpPr txBox="1"/>
            <p:nvPr/>
          </p:nvSpPr>
          <p:spPr>
            <a:xfrm>
              <a:off x="1409700" y="2476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SCENARIO 01</a:t>
              </a:r>
              <a:endParaRPr b="1" sz="8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2" name="Google Shape;332;p39"/>
            <p:cNvSpPr txBox="1"/>
            <p:nvPr/>
          </p:nvSpPr>
          <p:spPr>
            <a:xfrm>
              <a:off x="190500" y="628650"/>
              <a:ext cx="21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Budget Cap Threshold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 Pupil Spending Limit</a:t>
              </a:r>
              <a:endParaRPr b="0" sz="9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33" name="Google Shape;333;p39"/>
            <p:cNvSpPr/>
            <p:nvPr/>
          </p:nvSpPr>
          <p:spPr>
            <a:xfrm>
              <a:off x="152400" y="1200150"/>
              <a:ext cx="2247900" cy="1524000"/>
            </a:xfrm>
            <a:prstGeom prst="roundRect">
              <a:avLst>
                <a:gd fmla="val 62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9"/>
            <p:cNvSpPr txBox="1"/>
            <p:nvPr/>
          </p:nvSpPr>
          <p:spPr>
            <a:xfrm>
              <a:off x="266700" y="1314450"/>
              <a:ext cx="20193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reductions would be necessary to achieve a budget not to exceed the per pupil projected spending threshold?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5" name="Google Shape;335;p39"/>
            <p:cNvSpPr/>
            <p:nvPr/>
          </p:nvSpPr>
          <p:spPr>
            <a:xfrm>
              <a:off x="152400" y="2838450"/>
              <a:ext cx="2247900" cy="723900"/>
            </a:xfrm>
            <a:prstGeom prst="roundRect">
              <a:avLst>
                <a:gd fmla="val 13157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9"/>
            <p:cNvSpPr txBox="1"/>
            <p:nvPr/>
          </p:nvSpPr>
          <p:spPr>
            <a:xfrm>
              <a:off x="266700" y="2933700"/>
              <a:ext cx="20193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KEY FOCUS</a:t>
              </a:r>
              <a:endParaRPr b="1" sz="75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Targeted expenditure reductions</a:t>
              </a:r>
              <a:endParaRPr b="1" sz="9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7" name="Google Shape;337;p39"/>
          <p:cNvGrpSpPr/>
          <p:nvPr/>
        </p:nvGrpSpPr>
        <p:grpSpPr>
          <a:xfrm>
            <a:off x="3295650" y="1047750"/>
            <a:ext cx="2552700" cy="3714900"/>
            <a:chOff x="0" y="0"/>
            <a:chExt cx="2552700" cy="3714900"/>
          </a:xfrm>
        </p:grpSpPr>
        <p:sp>
          <p:nvSpPr>
            <p:cNvPr id="338" name="Google Shape;338;p39"/>
            <p:cNvSpPr/>
            <p:nvPr/>
          </p:nvSpPr>
          <p:spPr>
            <a:xfrm>
              <a:off x="0" y="0"/>
              <a:ext cx="2552700" cy="3714900"/>
            </a:xfrm>
            <a:prstGeom prst="roundRect">
              <a:avLst>
                <a:gd fmla="val 52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9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9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9"/>
            <p:cNvSpPr txBox="1"/>
            <p:nvPr/>
          </p:nvSpPr>
          <p:spPr>
            <a:xfrm>
              <a:off x="171450" y="2167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18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2" name="Google Shape;342;p39"/>
            <p:cNvSpPr/>
            <p:nvPr/>
          </p:nvSpPr>
          <p:spPr>
            <a:xfrm>
              <a:off x="1409700" y="24765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9"/>
            <p:cNvSpPr txBox="1"/>
            <p:nvPr/>
          </p:nvSpPr>
          <p:spPr>
            <a:xfrm>
              <a:off x="1409700" y="2476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SCENARIO 02</a:t>
              </a:r>
              <a:endParaRPr b="1" sz="8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4" name="Google Shape;344;p39"/>
            <p:cNvSpPr txBox="1"/>
            <p:nvPr/>
          </p:nvSpPr>
          <p:spPr>
            <a:xfrm>
              <a:off x="190500" y="628650"/>
              <a:ext cx="21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Valley </a:t>
              </a:r>
              <a:r>
                <a:rPr b="1" lang="en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Elementary Schools</a:t>
              </a:r>
              <a:endParaRPr b="1" sz="1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 Schools ➜ 2 Schools</a:t>
              </a:r>
              <a:endParaRPr b="0" sz="95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45" name="Google Shape;345;p39"/>
            <p:cNvSpPr/>
            <p:nvPr/>
          </p:nvSpPr>
          <p:spPr>
            <a:xfrm>
              <a:off x="152400" y="1200150"/>
              <a:ext cx="2247900" cy="1524000"/>
            </a:xfrm>
            <a:prstGeom prst="roundRect">
              <a:avLst>
                <a:gd fmla="val 62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9"/>
            <p:cNvSpPr txBox="1"/>
            <p:nvPr/>
          </p:nvSpPr>
          <p:spPr>
            <a:xfrm>
              <a:off x="266700" y="1314450"/>
              <a:ext cx="20193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are the cost efficiencies if we were to consolidate valley 4 elementary schools into 2 valley elementary schools?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152400" y="2838450"/>
              <a:ext cx="2247900" cy="723900"/>
            </a:xfrm>
            <a:prstGeom prst="roundRect">
              <a:avLst>
                <a:gd fmla="val 13157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9"/>
            <p:cNvSpPr txBox="1"/>
            <p:nvPr/>
          </p:nvSpPr>
          <p:spPr>
            <a:xfrm>
              <a:off x="266700" y="2933700"/>
              <a:ext cx="20193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KEY FOCUS</a:t>
              </a:r>
              <a:endParaRPr b="1" sz="75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15E59"/>
                  </a:solidFill>
                  <a:latin typeface="Inter"/>
                  <a:ea typeface="Inter"/>
                  <a:cs typeface="Inter"/>
                  <a:sym typeface="Inter"/>
                </a:rPr>
                <a:t>Valley elementary consolidation</a:t>
              </a:r>
              <a:endParaRPr b="1" sz="950">
                <a:solidFill>
                  <a:srgbClr val="115E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9" name="Google Shape;349;p39"/>
          <p:cNvGrpSpPr/>
          <p:nvPr/>
        </p:nvGrpSpPr>
        <p:grpSpPr>
          <a:xfrm>
            <a:off x="6134100" y="1047750"/>
            <a:ext cx="2552700" cy="3714900"/>
            <a:chOff x="0" y="0"/>
            <a:chExt cx="2552700" cy="3714900"/>
          </a:xfrm>
        </p:grpSpPr>
        <p:sp>
          <p:nvSpPr>
            <p:cNvPr id="350" name="Google Shape;350;p39"/>
            <p:cNvSpPr/>
            <p:nvPr/>
          </p:nvSpPr>
          <p:spPr>
            <a:xfrm>
              <a:off x="0" y="0"/>
              <a:ext cx="2552700" cy="3714900"/>
            </a:xfrm>
            <a:prstGeom prst="roundRect">
              <a:avLst>
                <a:gd fmla="val 52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9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9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9"/>
            <p:cNvSpPr txBox="1"/>
            <p:nvPr/>
          </p:nvSpPr>
          <p:spPr>
            <a:xfrm>
              <a:off x="171450" y="2167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domain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4" name="Google Shape;354;p39"/>
            <p:cNvSpPr/>
            <p:nvPr/>
          </p:nvSpPr>
          <p:spPr>
            <a:xfrm>
              <a:off x="1409700" y="24765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9"/>
            <p:cNvSpPr txBox="1"/>
            <p:nvPr/>
          </p:nvSpPr>
          <p:spPr>
            <a:xfrm>
              <a:off x="1409700" y="2476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4338CA"/>
                  </a:solidFill>
                  <a:latin typeface="Inter"/>
                  <a:ea typeface="Inter"/>
                  <a:cs typeface="Inter"/>
                  <a:sym typeface="Inter"/>
                </a:rPr>
                <a:t>SCENARIO 03</a:t>
              </a:r>
              <a:endParaRPr b="1" sz="80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6" name="Google Shape;356;p39"/>
            <p:cNvSpPr txBox="1"/>
            <p:nvPr/>
          </p:nvSpPr>
          <p:spPr>
            <a:xfrm>
              <a:off x="190500" y="628650"/>
              <a:ext cx="21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Middle Schools Merger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Schools ➜ 1 School</a:t>
              </a:r>
              <a:endParaRPr b="0" sz="95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57" name="Google Shape;357;p39"/>
            <p:cNvSpPr/>
            <p:nvPr/>
          </p:nvSpPr>
          <p:spPr>
            <a:xfrm>
              <a:off x="152400" y="1200150"/>
              <a:ext cx="2247900" cy="1524000"/>
            </a:xfrm>
            <a:prstGeom prst="roundRect">
              <a:avLst>
                <a:gd fmla="val 62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9"/>
            <p:cNvSpPr txBox="1"/>
            <p:nvPr/>
          </p:nvSpPr>
          <p:spPr>
            <a:xfrm>
              <a:off x="266700" y="1314450"/>
              <a:ext cx="20193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are the cost efficiencies if we were to consolidate 2 middle schools into 1 middle school?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9" name="Google Shape;359;p39"/>
            <p:cNvSpPr/>
            <p:nvPr/>
          </p:nvSpPr>
          <p:spPr>
            <a:xfrm>
              <a:off x="152400" y="2838450"/>
              <a:ext cx="2247900" cy="723900"/>
            </a:xfrm>
            <a:prstGeom prst="roundRect">
              <a:avLst>
                <a:gd fmla="val 13157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9"/>
            <p:cNvSpPr txBox="1"/>
            <p:nvPr/>
          </p:nvSpPr>
          <p:spPr>
            <a:xfrm>
              <a:off x="266700" y="2933700"/>
              <a:ext cx="20193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4338CA"/>
                  </a:solidFill>
                  <a:latin typeface="Inter"/>
                  <a:ea typeface="Inter"/>
                  <a:cs typeface="Inter"/>
                  <a:sym typeface="Inter"/>
                </a:rPr>
                <a:t>KEY FOCUS</a:t>
              </a:r>
              <a:endParaRPr b="1" sz="75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730A3"/>
                  </a:solidFill>
                  <a:latin typeface="Inter"/>
                  <a:ea typeface="Inter"/>
                  <a:cs typeface="Inter"/>
                  <a:sym typeface="Inter"/>
                </a:rPr>
                <a:t>Middle schools merger </a:t>
              </a:r>
              <a:endParaRPr b="1" sz="950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0"/>
          <p:cNvSpPr txBox="1"/>
          <p:nvPr/>
        </p:nvSpPr>
        <p:spPr>
          <a:xfrm>
            <a:off x="457200" y="2095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FINANCIAL OVERVIEW &amp; THRESHOLDS</a:t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Projected FY28 Budg</a:t>
            </a:r>
            <a:r>
              <a:rPr lang="en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 &amp; </a:t>
            </a:r>
            <a:r>
              <a:rPr b="0" lang="en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Excess Spending Threshold (EST)</a:t>
            </a:r>
            <a:endParaRPr b="0" sz="21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Level service would be a $55.2M 6.436% YOY increase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67" name="Google Shape;367;p40"/>
          <p:cNvGrpSpPr/>
          <p:nvPr/>
        </p:nvGrpSpPr>
        <p:grpSpPr>
          <a:xfrm>
            <a:off x="457200" y="1123950"/>
            <a:ext cx="2610000" cy="3029100"/>
            <a:chOff x="0" y="0"/>
            <a:chExt cx="2610000" cy="3029100"/>
          </a:xfrm>
        </p:grpSpPr>
        <p:sp>
          <p:nvSpPr>
            <p:cNvPr id="368" name="Google Shape;368;p40"/>
            <p:cNvSpPr/>
            <p:nvPr/>
          </p:nvSpPr>
          <p:spPr>
            <a:xfrm>
              <a:off x="0" y="0"/>
              <a:ext cx="2610000" cy="30291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0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0"/>
            <p:cNvSpPr/>
            <p:nvPr/>
          </p:nvSpPr>
          <p:spPr>
            <a:xfrm>
              <a:off x="190500" y="209550"/>
              <a:ext cx="419100" cy="4191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0"/>
            <p:cNvSpPr txBox="1"/>
            <p:nvPr/>
          </p:nvSpPr>
          <p:spPr>
            <a:xfrm>
              <a:off x="285750" y="3215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2" name="Google Shape;372;p40"/>
            <p:cNvSpPr txBox="1"/>
            <p:nvPr/>
          </p:nvSpPr>
          <p:spPr>
            <a:xfrm>
              <a:off x="209550" y="742950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EST Limit Per Pupil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$16,5</a:t>
              </a:r>
              <a:r>
                <a:rPr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</a:t>
              </a:r>
              <a:r>
                <a:rPr b="0" lang="en" sz="26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</a:t>
              </a:r>
              <a:endParaRPr b="0" sz="26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Projected FY28 Excess Spending Threshold established by state formulas.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369A1"/>
                  </a:solidFill>
                  <a:highlight>
                    <a:srgbClr val="F0F9FF"/>
                  </a:highlight>
                  <a:latin typeface="Inter"/>
                  <a:ea typeface="Inter"/>
                  <a:cs typeface="Inter"/>
                  <a:sym typeface="Inter"/>
                </a:rPr>
                <a:t>LEVEL SERVICE IMPACT</a:t>
              </a:r>
              <a:endParaRPr b="1" sz="850">
                <a:solidFill>
                  <a:srgbClr val="0369A1"/>
                </a:solidFill>
                <a:highlight>
                  <a:srgbClr val="F0F9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C4A6E"/>
                  </a:solidFill>
                  <a:highlight>
                    <a:srgbClr val="F0F9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$55.2M </a:t>
              </a:r>
              <a:r>
                <a:rPr b="0" lang="en" sz="850">
                  <a:solidFill>
                    <a:srgbClr val="0C4A6E"/>
                  </a:solidFill>
                  <a:highlight>
                    <a:srgbClr val="F0F9FF"/>
                  </a:highlight>
                  <a:latin typeface="Inter"/>
                  <a:ea typeface="Inter"/>
                  <a:cs typeface="Inter"/>
                  <a:sym typeface="Inter"/>
                </a:rPr>
                <a:t>(+6.436% YOY increase)</a:t>
              </a:r>
              <a:endParaRPr b="0" sz="1000">
                <a:solidFill>
                  <a:srgbClr val="0C4A6E"/>
                </a:solidFill>
                <a:highlight>
                  <a:srgbClr val="F0F9FF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73" name="Google Shape;373;p40"/>
          <p:cNvGrpSpPr/>
          <p:nvPr/>
        </p:nvGrpSpPr>
        <p:grpSpPr>
          <a:xfrm>
            <a:off x="3267075" y="1123950"/>
            <a:ext cx="2610000" cy="3029100"/>
            <a:chOff x="0" y="0"/>
            <a:chExt cx="2610000" cy="3029100"/>
          </a:xfrm>
        </p:grpSpPr>
        <p:sp>
          <p:nvSpPr>
            <p:cNvPr id="374" name="Google Shape;374;p40"/>
            <p:cNvSpPr/>
            <p:nvPr/>
          </p:nvSpPr>
          <p:spPr>
            <a:xfrm>
              <a:off x="0" y="0"/>
              <a:ext cx="2610000" cy="30291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190500" y="2095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0"/>
            <p:cNvSpPr txBox="1"/>
            <p:nvPr/>
          </p:nvSpPr>
          <p:spPr>
            <a:xfrm>
              <a:off x="285750" y="3215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1800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8" name="Google Shape;378;p40"/>
            <p:cNvSpPr txBox="1"/>
            <p:nvPr/>
          </p:nvSpPr>
          <p:spPr>
            <a:xfrm>
              <a:off x="209550" y="742950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HUUSD Cost Per Pupil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$18,714.20</a:t>
              </a:r>
              <a:endParaRPr b="0" sz="240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Exceeds EST by $1,071 </a:t>
              </a:r>
              <a:r>
                <a:rPr b="0" lang="en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(incl. debt exclusions)</a:t>
              </a:r>
              <a:endParaRPr b="1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991B1B"/>
                  </a:solidFill>
                  <a:highlight>
                    <a:srgbClr val="FEF2F2"/>
                  </a:highlight>
                  <a:latin typeface="Inter"/>
                  <a:ea typeface="Inter"/>
                  <a:cs typeface="Inter"/>
                  <a:sym typeface="Inter"/>
                </a:rPr>
                <a:t>EDUCATIONAL PENALTY</a:t>
              </a:r>
              <a:endParaRPr b="1" sz="850">
                <a:solidFill>
                  <a:srgbClr val="991B1B"/>
                </a:solidFill>
                <a:highlight>
                  <a:srgbClr val="FEF2F2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$2,747,616.88</a:t>
              </a:r>
              <a:endParaRPr b="0" sz="115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79" name="Google Shape;379;p40"/>
          <p:cNvGrpSpPr/>
          <p:nvPr/>
        </p:nvGrpSpPr>
        <p:grpSpPr>
          <a:xfrm>
            <a:off x="6076950" y="1123950"/>
            <a:ext cx="2610000" cy="3029100"/>
            <a:chOff x="0" y="0"/>
            <a:chExt cx="2610000" cy="3029100"/>
          </a:xfrm>
        </p:grpSpPr>
        <p:sp>
          <p:nvSpPr>
            <p:cNvPr id="380" name="Google Shape;380;p40"/>
            <p:cNvSpPr/>
            <p:nvPr/>
          </p:nvSpPr>
          <p:spPr>
            <a:xfrm>
              <a:off x="0" y="0"/>
              <a:ext cx="2610000" cy="3029100"/>
            </a:xfrm>
            <a:prstGeom prst="roundRect">
              <a:avLst>
                <a:gd fmla="val 51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0" y="0"/>
              <a:ext cx="26100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190500" y="209550"/>
              <a:ext cx="419100" cy="4191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0"/>
            <p:cNvSpPr txBox="1"/>
            <p:nvPr/>
          </p:nvSpPr>
          <p:spPr>
            <a:xfrm>
              <a:off x="285750" y="3215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content_cut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4" name="Google Shape;384;p40"/>
            <p:cNvSpPr txBox="1"/>
            <p:nvPr/>
          </p:nvSpPr>
          <p:spPr>
            <a:xfrm>
              <a:off x="209550" y="742950"/>
              <a:ext cx="236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Required Budget Cut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50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$3,339,273</a:t>
              </a:r>
              <a:endParaRPr b="0" sz="250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Total expenditure reduction needed to bring district spending under the EST.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730A3"/>
                  </a:solidFill>
                  <a:highlight>
                    <a:srgbClr val="EEF2FF"/>
                  </a:highlight>
                  <a:latin typeface="Inter"/>
                  <a:ea typeface="Inter"/>
                  <a:cs typeface="Inter"/>
                  <a:sym typeface="Inter"/>
                </a:rPr>
                <a:t>EST TARGET OFFSET</a:t>
              </a:r>
              <a:endParaRPr b="1" sz="850">
                <a:solidFill>
                  <a:srgbClr val="3730A3"/>
                </a:solidFill>
                <a:highlight>
                  <a:srgbClr val="EEF2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338CA"/>
                  </a:solidFill>
                  <a:highlight>
                    <a:srgbClr val="EEF2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$</a:t>
              </a:r>
              <a:r>
                <a:rPr lang="en" sz="950">
                  <a:solidFill>
                    <a:srgbClr val="4338CA"/>
                  </a:solidFill>
                  <a:highlight>
                    <a:srgbClr val="EEF2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(25.67)</a:t>
              </a:r>
              <a:r>
                <a:rPr b="0" lang="en" sz="950">
                  <a:solidFill>
                    <a:srgbClr val="4338CA"/>
                  </a:solidFill>
                  <a:highlight>
                    <a:srgbClr val="EEF2FF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 under threshold</a:t>
              </a:r>
              <a:endParaRPr b="0" sz="950">
                <a:solidFill>
                  <a:srgbClr val="4338CA"/>
                </a:solidFill>
                <a:highlight>
                  <a:srgbClr val="EEF2FF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85" name="Google Shape;385;p40"/>
          <p:cNvGrpSpPr/>
          <p:nvPr/>
        </p:nvGrpSpPr>
        <p:grpSpPr>
          <a:xfrm>
            <a:off x="457200" y="4343400"/>
            <a:ext cx="8229600" cy="495300"/>
            <a:chOff x="0" y="0"/>
            <a:chExt cx="8229600" cy="495300"/>
          </a:xfrm>
        </p:grpSpPr>
        <p:sp>
          <p:nvSpPr>
            <p:cNvPr id="386" name="Google Shape;386;p40"/>
            <p:cNvSpPr/>
            <p:nvPr/>
          </p:nvSpPr>
          <p:spPr>
            <a:xfrm>
              <a:off x="0" y="0"/>
              <a:ext cx="8229600" cy="495300"/>
            </a:xfrm>
            <a:prstGeom prst="roundRect">
              <a:avLst>
                <a:gd fmla="val 192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0"/>
            <p:cNvSpPr txBox="1"/>
            <p:nvPr/>
          </p:nvSpPr>
          <p:spPr>
            <a:xfrm>
              <a:off x="0" y="0"/>
              <a:ext cx="8229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FY28 EST Threshold: </a:t>
              </a:r>
              <a:r>
                <a:rPr b="1" lang="en" sz="1050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$16,572</a:t>
              </a: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• Proposed Per Pupil Exceeds Threshold by </a:t>
              </a:r>
              <a:r>
                <a:rPr b="1" lang="en" sz="105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$1,081</a:t>
              </a: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• Target Cut Needed: </a:t>
              </a:r>
              <a:r>
                <a:rPr b="0" lang="en" sz="1150">
                  <a:solidFill>
                    <a:srgbClr val="FCA5A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$3,339,273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88" name="Google Shape;388;p40"/>
          <p:cNvSpPr/>
          <p:nvPr/>
        </p:nvSpPr>
        <p:spPr>
          <a:xfrm>
            <a:off x="7781675" y="3156925"/>
            <a:ext cx="848100" cy="996000"/>
          </a:xfrm>
          <a:prstGeom prst="wedgeRoundRectCallout">
            <a:avLst>
              <a:gd fmla="val -188825" name="adj1"/>
              <a:gd fmla="val -28979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DC2626"/>
                </a:solidFill>
              </a:rPr>
              <a:t>($220.67) was incorrect</a:t>
            </a:r>
            <a:r>
              <a:rPr b="1" lang="en" sz="1100">
                <a:solidFill>
                  <a:srgbClr val="DC2626"/>
                </a:solidFill>
              </a:rPr>
              <a:t> </a:t>
            </a:r>
            <a:endParaRPr b="1" sz="1100">
              <a:solidFill>
                <a:srgbClr val="DC26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rgbClr val="DC2626"/>
                </a:solidFill>
              </a:rPr>
              <a:t>I neglected to remove the debt exclusion I corrected the error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/>
        </p:nvSpPr>
        <p:spPr>
          <a:xfrm>
            <a:off x="381000" y="171450"/>
            <a:ext cx="8382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SCENARIO 01 </a:t>
            </a:r>
            <a:r>
              <a:rPr b="0" lang="en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Budget Cap Threshold</a:t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High Impact Reductions: What cuts would it take?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94" name="Google Shape;394;p41"/>
          <p:cNvGrpSpPr/>
          <p:nvPr/>
        </p:nvGrpSpPr>
        <p:grpSpPr>
          <a:xfrm>
            <a:off x="381000" y="800100"/>
            <a:ext cx="2667000" cy="3086100"/>
            <a:chOff x="0" y="0"/>
            <a:chExt cx="2667000" cy="3086100"/>
          </a:xfrm>
        </p:grpSpPr>
        <p:sp>
          <p:nvSpPr>
            <p:cNvPr id="395" name="Google Shape;395;p41"/>
            <p:cNvSpPr/>
            <p:nvPr/>
          </p:nvSpPr>
          <p:spPr>
            <a:xfrm>
              <a:off x="0" y="0"/>
              <a:ext cx="2667000" cy="30861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0" y="0"/>
              <a:ext cx="2667000" cy="590700"/>
            </a:xfrm>
            <a:custGeom>
              <a:rect b="b" l="l" r="r" t="t"/>
              <a:pathLst>
                <a:path extrusionOk="0" h="120000" w="120000">
                  <a:moveTo>
                    <a:pt x="0" y="19355"/>
                  </a:moveTo>
                  <a:cubicBezTo>
                    <a:pt x="0" y="14222"/>
                    <a:pt x="452" y="9299"/>
                    <a:pt x="1255" y="5669"/>
                  </a:cubicBezTo>
                  <a:cubicBezTo>
                    <a:pt x="2059" y="2039"/>
                    <a:pt x="3149" y="0"/>
                    <a:pt x="4286" y="0"/>
                  </a:cubicBezTo>
                  <a:lnTo>
                    <a:pt x="115714" y="0"/>
                  </a:lnTo>
                  <a:cubicBezTo>
                    <a:pt x="116851" y="0"/>
                    <a:pt x="117941" y="2039"/>
                    <a:pt x="118745" y="5668"/>
                  </a:cubicBezTo>
                  <a:cubicBezTo>
                    <a:pt x="119548" y="9298"/>
                    <a:pt x="120000" y="14221"/>
                    <a:pt x="120000" y="193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1"/>
            <p:cNvSpPr txBox="1"/>
            <p:nvPr/>
          </p:nvSpPr>
          <p:spPr>
            <a:xfrm>
              <a:off x="114300" y="50800"/>
              <a:ext cx="2438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</a:t>
              </a:r>
              <a:r>
                <a:rPr lang="en" sz="20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</a:t>
              </a:r>
              <a:r>
                <a:rPr lang="en" sz="20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rections_bus</a:t>
              </a:r>
              <a:r>
                <a:rPr lang="en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Transportation:</a:t>
              </a:r>
              <a:r>
                <a:rPr lang="en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$1.9M </a:t>
              </a:r>
              <a:r>
                <a:rPr b="0" lang="en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($1.44M)</a:t>
              </a:r>
              <a:endParaRPr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8" name="Google Shape;398;p41"/>
            <p:cNvSpPr txBox="1"/>
            <p:nvPr/>
          </p:nvSpPr>
          <p:spPr>
            <a:xfrm>
              <a:off x="133350" y="647700"/>
              <a:ext cx="2400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Inter"/>
                <a:buChar char="●"/>
              </a:pPr>
              <a:r>
                <a:rPr b="1" lang="en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$1.2M</a:t>
              </a:r>
              <a:r>
                <a:rPr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Daily school transport</a:t>
              </a:r>
              <a:endPara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Inter"/>
                <a:buChar char="●"/>
              </a:pPr>
              <a:r>
                <a:rPr b="1"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$453K</a:t>
              </a:r>
              <a:r>
                <a:rPr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 – Special Education routes </a:t>
              </a:r>
              <a:r>
                <a:rPr lang="en" sz="8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(required by IDEA)</a:t>
              </a:r>
              <a:endParaRPr sz="90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Inter"/>
                <a:buChar char="●"/>
              </a:pPr>
              <a:r>
                <a:rPr b="1" lang="en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$97K</a:t>
              </a:r>
              <a:r>
                <a:rPr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Tech school routes</a:t>
              </a:r>
              <a:endPara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Inter"/>
                <a:buChar char="●"/>
              </a:pPr>
              <a:r>
                <a:rPr b="1" lang="en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$85K</a:t>
              </a:r>
              <a:r>
                <a:rPr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Athletic travel</a:t>
              </a:r>
              <a:endPara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2563EB"/>
                </a:buClr>
                <a:buSzPts val="900"/>
                <a:buFont typeface="Inter"/>
                <a:buChar char="●"/>
              </a:pPr>
              <a:r>
                <a:rPr b="1" lang="en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$45K</a:t>
              </a:r>
              <a:r>
                <a:rPr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– Field &amp; college trips</a:t>
              </a:r>
              <a:endPara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76200" y="1962150"/>
              <a:ext cx="2514600" cy="10479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1"/>
            <p:cNvSpPr txBox="1"/>
            <p:nvPr/>
          </p:nvSpPr>
          <p:spPr>
            <a:xfrm>
              <a:off x="152400" y="2019300"/>
              <a:ext cx="23622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7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IMPACT ON STUDENT EXPERIENCE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Reduced access to school, career and technical education, athletics, and field trips; families may need to arrange transportation. Any special education transportation changes must comply with IDEA and student-specific requirements.</a:t>
              </a:r>
              <a:endParaRPr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1" name="Google Shape;401;p41"/>
          <p:cNvGrpSpPr/>
          <p:nvPr/>
        </p:nvGrpSpPr>
        <p:grpSpPr>
          <a:xfrm>
            <a:off x="6069625" y="800100"/>
            <a:ext cx="2667000" cy="3086100"/>
            <a:chOff x="0" y="0"/>
            <a:chExt cx="2667000" cy="3086100"/>
          </a:xfrm>
        </p:grpSpPr>
        <p:sp>
          <p:nvSpPr>
            <p:cNvPr id="402" name="Google Shape;402;p41"/>
            <p:cNvSpPr/>
            <p:nvPr/>
          </p:nvSpPr>
          <p:spPr>
            <a:xfrm>
              <a:off x="0" y="0"/>
              <a:ext cx="2667000" cy="30861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0" y="0"/>
              <a:ext cx="2667000" cy="590700"/>
            </a:xfrm>
            <a:custGeom>
              <a:rect b="b" l="l" r="r" t="t"/>
              <a:pathLst>
                <a:path extrusionOk="0" h="120000" w="120000">
                  <a:moveTo>
                    <a:pt x="0" y="19355"/>
                  </a:moveTo>
                  <a:cubicBezTo>
                    <a:pt x="0" y="14222"/>
                    <a:pt x="452" y="9299"/>
                    <a:pt x="1255" y="5669"/>
                  </a:cubicBezTo>
                  <a:cubicBezTo>
                    <a:pt x="2059" y="2039"/>
                    <a:pt x="3149" y="0"/>
                    <a:pt x="4286" y="0"/>
                  </a:cubicBezTo>
                  <a:lnTo>
                    <a:pt x="115714" y="0"/>
                  </a:lnTo>
                  <a:cubicBezTo>
                    <a:pt x="116851" y="0"/>
                    <a:pt x="117941" y="2039"/>
                    <a:pt x="118745" y="5668"/>
                  </a:cubicBezTo>
                  <a:cubicBezTo>
                    <a:pt x="119548" y="9298"/>
                    <a:pt x="120000" y="14221"/>
                    <a:pt x="120000" y="193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1"/>
            <p:cNvSpPr txBox="1"/>
            <p:nvPr/>
          </p:nvSpPr>
          <p:spPr>
            <a:xfrm>
              <a:off x="114300" y="95250"/>
              <a:ext cx="2438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grid_view</a:t>
              </a:r>
              <a:r>
                <a:rPr lang="en" sz="129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Provide Pre-K tuition only model for external vendors:</a:t>
              </a:r>
              <a:r>
                <a:rPr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41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$517K</a:t>
              </a:r>
              <a:endParaRPr sz="159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41"/>
            <p:cNvSpPr txBox="1"/>
            <p:nvPr/>
          </p:nvSpPr>
          <p:spPr>
            <a:xfrm>
              <a:off x="133350" y="647700"/>
              <a:ext cx="2400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Provider shortage: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Not enough external providers in the region to meet total community needs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Capacity barrier: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Eliminates in-district public Pre-K slots and limits local family options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76200" y="1962150"/>
              <a:ext cx="2514600" cy="10479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1"/>
            <p:cNvSpPr txBox="1"/>
            <p:nvPr/>
          </p:nvSpPr>
          <p:spPr>
            <a:xfrm>
              <a:off x="152400" y="2019300"/>
              <a:ext cx="23622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7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IMPACT ON STUDENT EXPERIENCE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Fewer local Pre-K placements may be available; families could face longer travel, limited provider choice, or difficulty securing a slot.</a:t>
              </a:r>
              <a:endParaRPr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8" name="Google Shape;408;p41"/>
          <p:cNvGrpSpPr/>
          <p:nvPr/>
        </p:nvGrpSpPr>
        <p:grpSpPr>
          <a:xfrm>
            <a:off x="3238488" y="800100"/>
            <a:ext cx="2667000" cy="3086100"/>
            <a:chOff x="0" y="0"/>
            <a:chExt cx="2667000" cy="3086100"/>
          </a:xfrm>
        </p:grpSpPr>
        <p:sp>
          <p:nvSpPr>
            <p:cNvPr id="409" name="Google Shape;409;p41"/>
            <p:cNvSpPr/>
            <p:nvPr/>
          </p:nvSpPr>
          <p:spPr>
            <a:xfrm>
              <a:off x="0" y="0"/>
              <a:ext cx="2667000" cy="30861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1"/>
            <p:cNvSpPr/>
            <p:nvPr/>
          </p:nvSpPr>
          <p:spPr>
            <a:xfrm>
              <a:off x="0" y="0"/>
              <a:ext cx="2667000" cy="590700"/>
            </a:xfrm>
            <a:custGeom>
              <a:rect b="b" l="l" r="r" t="t"/>
              <a:pathLst>
                <a:path extrusionOk="0" h="120000" w="120000">
                  <a:moveTo>
                    <a:pt x="0" y="19355"/>
                  </a:moveTo>
                  <a:cubicBezTo>
                    <a:pt x="0" y="14222"/>
                    <a:pt x="452" y="9299"/>
                    <a:pt x="1255" y="5669"/>
                  </a:cubicBezTo>
                  <a:cubicBezTo>
                    <a:pt x="2059" y="2039"/>
                    <a:pt x="3149" y="0"/>
                    <a:pt x="4286" y="0"/>
                  </a:cubicBezTo>
                  <a:lnTo>
                    <a:pt x="115714" y="0"/>
                  </a:lnTo>
                  <a:cubicBezTo>
                    <a:pt x="116851" y="0"/>
                    <a:pt x="117941" y="2039"/>
                    <a:pt x="118745" y="5668"/>
                  </a:cubicBezTo>
                  <a:cubicBezTo>
                    <a:pt x="119548" y="9298"/>
                    <a:pt x="120000" y="14221"/>
                    <a:pt x="120000" y="193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1"/>
            <p:cNvSpPr txBox="1"/>
            <p:nvPr/>
          </p:nvSpPr>
          <p:spPr>
            <a:xfrm>
              <a:off x="101113" y="21125"/>
              <a:ext cx="2438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directions_run</a:t>
              </a:r>
              <a:r>
                <a:rPr lang="en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Athletics &amp; Activities:</a:t>
              </a:r>
              <a:endParaRPr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   </a:t>
              </a:r>
              <a:r>
                <a:rPr b="0" lang="en" sz="11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</a:t>
              </a:r>
              <a:r>
                <a:rPr lang="en" sz="11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605K </a:t>
              </a:r>
              <a:r>
                <a:rPr b="0" lang="en" sz="11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or sel</a:t>
              </a:r>
              <a:r>
                <a:rPr lang="en" sz="11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ected $227,757K</a:t>
              </a:r>
              <a:endParaRPr b="0" sz="11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41"/>
            <p:cNvSpPr txBox="1"/>
            <p:nvPr/>
          </p:nvSpPr>
          <p:spPr>
            <a:xfrm>
              <a:off x="133350" y="647700"/>
              <a:ext cx="2400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Sports programs: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Full/partial  elimination of sport coaches, officials, game fees, equipment, rentals, and operations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Co-curriculars: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Cancellation of school plays, musicals, and student clubs.</a:t>
              </a:r>
              <a:endParaRPr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76200" y="1962150"/>
              <a:ext cx="2514600" cy="1047900"/>
            </a:xfrm>
            <a:prstGeom prst="roundRect">
              <a:avLst>
                <a:gd fmla="val 727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1"/>
            <p:cNvSpPr txBox="1"/>
            <p:nvPr/>
          </p:nvSpPr>
          <p:spPr>
            <a:xfrm>
              <a:off x="152400" y="2019300"/>
              <a:ext cx="23622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7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IMPACT ON STUDENT EXPERIENCE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Students lose access to school sports, theater, music productions, and clubs—reducing opportunities for physical wellness, creative expression, connection, and belonging.</a:t>
              </a:r>
              <a:endParaRPr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5" name="Google Shape;415;p41"/>
          <p:cNvGrpSpPr/>
          <p:nvPr/>
        </p:nvGrpSpPr>
        <p:grpSpPr>
          <a:xfrm>
            <a:off x="381000" y="4000500"/>
            <a:ext cx="8382000" cy="952500"/>
            <a:chOff x="0" y="0"/>
            <a:chExt cx="8382000" cy="952500"/>
          </a:xfrm>
        </p:grpSpPr>
        <p:sp>
          <p:nvSpPr>
            <p:cNvPr id="416" name="Google Shape;416;p41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fmla="val 10000" name="adj"/>
              </a:avLst>
            </a:prstGeom>
            <a:solidFill>
              <a:srgbClr val="DBEAFE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1"/>
            <p:cNvSpPr txBox="1"/>
            <p:nvPr/>
          </p:nvSpPr>
          <p:spPr>
            <a:xfrm>
              <a:off x="152400" y="114300"/>
              <a:ext cx="18096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r>
                <a:rPr lang="en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95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BROADER STUDENT &amp; COMMUNITY IMPACT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18" name="Google Shape;418;p41"/>
            <p:cNvCxnSpPr/>
            <p:nvPr/>
          </p:nvCxnSpPr>
          <p:spPr>
            <a:xfrm>
              <a:off x="2057400" y="114300"/>
              <a:ext cx="0" cy="723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3C5F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9" name="Google Shape;419;p41"/>
            <p:cNvSpPr txBox="1"/>
            <p:nvPr/>
          </p:nvSpPr>
          <p:spPr>
            <a:xfrm>
              <a:off x="2171700" y="95250"/>
              <a:ext cx="1952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• Access &amp; equity:</a:t>
              </a:r>
              <a:r>
                <a:rPr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 transportation barriers can disproportionately affect families without reliable vehicles and students attending career-tech programs.</a:t>
              </a:r>
              <a:endParaRPr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20" name="Google Shape;420;p41"/>
            <p:cNvCxnSpPr/>
            <p:nvPr/>
          </p:nvCxnSpPr>
          <p:spPr>
            <a:xfrm>
              <a:off x="4210050" y="114300"/>
              <a:ext cx="0" cy="723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3C5F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1" name="Google Shape;421;p41"/>
            <p:cNvSpPr txBox="1"/>
            <p:nvPr/>
          </p:nvSpPr>
          <p:spPr>
            <a:xfrm>
              <a:off x="4324350" y="95250"/>
              <a:ext cx="1952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• Student development:</a:t>
              </a:r>
              <a:r>
                <a:rPr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 fewer extracurricular opportunities for wellness, creativity, leadership, and college preparation.</a:t>
              </a:r>
              <a:endParaRPr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22" name="Google Shape;422;p41"/>
            <p:cNvCxnSpPr/>
            <p:nvPr/>
          </p:nvCxnSpPr>
          <p:spPr>
            <a:xfrm>
              <a:off x="6362700" y="114300"/>
              <a:ext cx="0" cy="723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3C5F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3" name="Google Shape;423;p41"/>
            <p:cNvSpPr txBox="1"/>
            <p:nvPr/>
          </p:nvSpPr>
          <p:spPr>
            <a:xfrm>
              <a:off x="6477000" y="95250"/>
              <a:ext cx="1790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• School community:</a:t>
              </a:r>
              <a:r>
                <a:rPr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 fewer shared activities and traditions that build connection and belonging.</a:t>
              </a:r>
              <a:endParaRPr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/>
          <p:nvPr/>
        </p:nvSpPr>
        <p:spPr>
          <a:xfrm>
            <a:off x="381000" y="171450"/>
            <a:ext cx="8382000" cy="55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SCENARIO 01 </a:t>
            </a:r>
            <a:r>
              <a:rPr b="0" lang="en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Budget Cap Threshold</a:t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High Impact Reductions: What cuts would it take?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29" name="Google Shape;429;p42"/>
          <p:cNvGrpSpPr/>
          <p:nvPr/>
        </p:nvGrpSpPr>
        <p:grpSpPr>
          <a:xfrm>
            <a:off x="381000" y="781050"/>
            <a:ext cx="2667000" cy="3048000"/>
            <a:chOff x="0" y="0"/>
            <a:chExt cx="2667000" cy="3048000"/>
          </a:xfrm>
        </p:grpSpPr>
        <p:sp>
          <p:nvSpPr>
            <p:cNvPr id="430" name="Google Shape;430;p42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0" y="0"/>
              <a:ext cx="2667000" cy="590700"/>
            </a:xfrm>
            <a:custGeom>
              <a:rect b="b" l="l" r="r" t="t"/>
              <a:pathLst>
                <a:path extrusionOk="0" h="120000" w="120000">
                  <a:moveTo>
                    <a:pt x="0" y="19355"/>
                  </a:moveTo>
                  <a:cubicBezTo>
                    <a:pt x="0" y="8665"/>
                    <a:pt x="1919" y="0"/>
                    <a:pt x="4286" y="0"/>
                  </a:cubicBezTo>
                  <a:lnTo>
                    <a:pt x="115714" y="0"/>
                  </a:lnTo>
                  <a:cubicBezTo>
                    <a:pt x="118081" y="0"/>
                    <a:pt x="120000" y="8665"/>
                    <a:pt x="120000" y="193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2"/>
            <p:cNvSpPr txBox="1"/>
            <p:nvPr/>
          </p:nvSpPr>
          <p:spPr>
            <a:xfrm>
              <a:off x="114300" y="57150"/>
              <a:ext cx="24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Additional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Programming:</a:t>
              </a:r>
              <a:r>
                <a:rPr b="0" lang="en" sz="16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b="0" lang="en" sz="13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$583K</a:t>
              </a:r>
              <a:endParaRPr b="0" sz="1600">
                <a:solidFill>
                  <a:srgbClr val="93C5F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3" name="Google Shape;433;p42"/>
            <p:cNvSpPr txBox="1"/>
            <p:nvPr/>
          </p:nvSpPr>
          <p:spPr>
            <a:xfrm>
              <a:off x="133350" y="666750"/>
              <a:ext cx="2400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Examples of potential reductions:</a:t>
              </a:r>
              <a:endParaRPr b="1"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Farm to School Program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Central VT Career Center Tuition</a:t>
              </a:r>
              <a:endParaRPr b="0" sz="9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1" marL="914400" rtl="0" algn="l">
                <a:spcBef>
                  <a:spcPts val="225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"/>
                <a:buChar char="○"/>
              </a:pPr>
              <a:r>
                <a:rPr lang="en" sz="1100" u="sng">
                  <a:solidFill>
                    <a:schemeClr val="hlink"/>
                  </a:solidFill>
                  <a:hlinkClick r:id="rId4"/>
                </a:rPr>
                <a:t>16 V.S.A. § 1541a</a:t>
              </a:r>
              <a:r>
                <a:rPr lang="en" sz="1100">
                  <a:solidFill>
                    <a:schemeClr val="dk1"/>
                  </a:solidFill>
                </a:rPr>
                <a:t> </a:t>
              </a:r>
              <a:endParaRPr sz="9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Outdoor Education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Learning Center Programming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76200" y="1971675"/>
              <a:ext cx="2514600" cy="1000200"/>
            </a:xfrm>
            <a:prstGeom prst="roundRect">
              <a:avLst>
                <a:gd fmla="val 7619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2"/>
            <p:cNvSpPr txBox="1"/>
            <p:nvPr/>
          </p:nvSpPr>
          <p:spPr>
            <a:xfrm>
              <a:off x="152400" y="2019300"/>
              <a:ext cx="2362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 </a:t>
              </a:r>
              <a:r>
                <a:rPr b="0" lang="en" sz="7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IMPACT ON STUDENT EXPERIENCE</a:t>
              </a:r>
              <a:endParaRPr b="0" sz="13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Could reduce access to hands-on learning, outdoor education, career/technical pathways, and targeted learning-center support. Impacts may vary by program and student needs.</a:t>
              </a:r>
              <a:endParaRPr b="0"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6" name="Google Shape;436;p42"/>
          <p:cNvGrpSpPr/>
          <p:nvPr/>
        </p:nvGrpSpPr>
        <p:grpSpPr>
          <a:xfrm>
            <a:off x="3238500" y="781050"/>
            <a:ext cx="2667000" cy="3048000"/>
            <a:chOff x="0" y="0"/>
            <a:chExt cx="2667000" cy="3048000"/>
          </a:xfrm>
        </p:grpSpPr>
        <p:sp>
          <p:nvSpPr>
            <p:cNvPr id="437" name="Google Shape;437;p42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0" y="0"/>
              <a:ext cx="2667000" cy="590700"/>
            </a:xfrm>
            <a:custGeom>
              <a:rect b="b" l="l" r="r" t="t"/>
              <a:pathLst>
                <a:path extrusionOk="0" h="120000" w="120000">
                  <a:moveTo>
                    <a:pt x="0" y="19355"/>
                  </a:moveTo>
                  <a:cubicBezTo>
                    <a:pt x="0" y="8665"/>
                    <a:pt x="1919" y="0"/>
                    <a:pt x="4286" y="0"/>
                  </a:cubicBezTo>
                  <a:lnTo>
                    <a:pt x="115714" y="0"/>
                  </a:lnTo>
                  <a:cubicBezTo>
                    <a:pt x="118081" y="0"/>
                    <a:pt x="120000" y="8665"/>
                    <a:pt x="120000" y="193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2"/>
            <p:cNvSpPr txBox="1"/>
            <p:nvPr/>
          </p:nvSpPr>
          <p:spPr>
            <a:xfrm>
              <a:off x="114300" y="57150"/>
              <a:ext cx="24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Academic &amp; Behavioral:</a:t>
              </a:r>
              <a:r>
                <a:rPr b="0" lang="en" sz="16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b="0" lang="en" sz="13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$456K</a:t>
              </a:r>
              <a:endParaRPr b="0" sz="1600">
                <a:solidFill>
                  <a:srgbClr val="93C5F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0" name="Google Shape;440;p42"/>
            <p:cNvSpPr txBox="1"/>
            <p:nvPr/>
          </p:nvSpPr>
          <p:spPr>
            <a:xfrm>
              <a:off x="133350" y="666750"/>
              <a:ext cx="2400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Key staffing positions affected:</a:t>
              </a:r>
              <a:endParaRPr b="1"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Academic &amp; Behavioral Support Full Time Equivalents (FTEs)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Direct student intervention staffing 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76200" y="1971675"/>
              <a:ext cx="2514600" cy="1000200"/>
            </a:xfrm>
            <a:prstGeom prst="roundRect">
              <a:avLst>
                <a:gd fmla="val 7619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2"/>
            <p:cNvSpPr txBox="1"/>
            <p:nvPr/>
          </p:nvSpPr>
          <p:spPr>
            <a:xfrm>
              <a:off x="152400" y="2019300"/>
              <a:ext cx="2362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 </a:t>
              </a:r>
              <a:r>
                <a:rPr b="0" lang="en" sz="7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IMPACT ON STUDENT EXPERIENCE</a:t>
              </a:r>
              <a:endParaRPr b="0" sz="13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Reductions could affect students differently depending on access to outside programs, transportation, and individual learning needs.</a:t>
              </a:r>
              <a:endParaRPr b="0"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3" name="Google Shape;443;p42"/>
          <p:cNvGrpSpPr/>
          <p:nvPr/>
        </p:nvGrpSpPr>
        <p:grpSpPr>
          <a:xfrm>
            <a:off x="6096000" y="781050"/>
            <a:ext cx="2667000" cy="3048000"/>
            <a:chOff x="0" y="0"/>
            <a:chExt cx="2667000" cy="3048000"/>
          </a:xfrm>
        </p:grpSpPr>
        <p:sp>
          <p:nvSpPr>
            <p:cNvPr id="444" name="Google Shape;444;p42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2"/>
            <p:cNvSpPr/>
            <p:nvPr/>
          </p:nvSpPr>
          <p:spPr>
            <a:xfrm>
              <a:off x="0" y="0"/>
              <a:ext cx="2667000" cy="590700"/>
            </a:xfrm>
            <a:custGeom>
              <a:rect b="b" l="l" r="r" t="t"/>
              <a:pathLst>
                <a:path extrusionOk="0" h="120000" w="120000">
                  <a:moveTo>
                    <a:pt x="0" y="19355"/>
                  </a:moveTo>
                  <a:cubicBezTo>
                    <a:pt x="0" y="8665"/>
                    <a:pt x="1919" y="0"/>
                    <a:pt x="4286" y="0"/>
                  </a:cubicBezTo>
                  <a:lnTo>
                    <a:pt x="115714" y="0"/>
                  </a:lnTo>
                  <a:cubicBezTo>
                    <a:pt x="118081" y="0"/>
                    <a:pt x="120000" y="8665"/>
                    <a:pt x="120000" y="19355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2"/>
            <p:cNvSpPr txBox="1"/>
            <p:nvPr/>
          </p:nvSpPr>
          <p:spPr>
            <a:xfrm>
              <a:off x="114300" y="57150"/>
              <a:ext cx="24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laptop_mac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Electives &amp; Technology:</a:t>
              </a:r>
              <a:r>
                <a:rPr b="0" lang="en" sz="16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b="0" lang="en" sz="135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$110K</a:t>
              </a:r>
              <a:endParaRPr b="0" sz="1600">
                <a:solidFill>
                  <a:srgbClr val="93C5F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7" name="Google Shape;447;p42"/>
            <p:cNvSpPr txBox="1"/>
            <p:nvPr/>
          </p:nvSpPr>
          <p:spPr>
            <a:xfrm>
              <a:off x="133350" y="666750"/>
              <a:ext cx="2400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Key area reductions:</a:t>
              </a:r>
              <a:endParaRPr b="1" sz="8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Elective &amp; academic course offerings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0F172A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Classroom technology hardware &amp; software tools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8" name="Google Shape;448;p42"/>
            <p:cNvSpPr/>
            <p:nvPr/>
          </p:nvSpPr>
          <p:spPr>
            <a:xfrm>
              <a:off x="76200" y="1971675"/>
              <a:ext cx="2514600" cy="1000200"/>
            </a:xfrm>
            <a:prstGeom prst="roundRect">
              <a:avLst>
                <a:gd fmla="val 7619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2"/>
            <p:cNvSpPr txBox="1"/>
            <p:nvPr/>
          </p:nvSpPr>
          <p:spPr>
            <a:xfrm>
              <a:off x="152400" y="2019300"/>
              <a:ext cx="2362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 </a:t>
              </a:r>
              <a:r>
                <a:rPr b="0" lang="en" sz="75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IMPACT ON STUDENT EXPERIENCE</a:t>
              </a:r>
              <a:endParaRPr b="0" sz="13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Could narrow course choices and enrichment opportunities, and limit access to technology-supported instruction or learning tools.</a:t>
              </a:r>
              <a:endParaRPr b="0"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0" name="Google Shape;450;p42"/>
          <p:cNvGrpSpPr/>
          <p:nvPr/>
        </p:nvGrpSpPr>
        <p:grpSpPr>
          <a:xfrm>
            <a:off x="381000" y="3962400"/>
            <a:ext cx="8382000" cy="1009800"/>
            <a:chOff x="0" y="0"/>
            <a:chExt cx="8382000" cy="1009800"/>
          </a:xfrm>
        </p:grpSpPr>
        <p:sp>
          <p:nvSpPr>
            <p:cNvPr id="451" name="Google Shape;451;p42"/>
            <p:cNvSpPr/>
            <p:nvPr/>
          </p:nvSpPr>
          <p:spPr>
            <a:xfrm>
              <a:off x="0" y="0"/>
              <a:ext cx="8382000" cy="1009800"/>
            </a:xfrm>
            <a:prstGeom prst="roundRect">
              <a:avLst>
                <a:gd fmla="val 9433" name="adj"/>
              </a:avLst>
            </a:prstGeom>
            <a:solidFill>
              <a:srgbClr val="DBEAFE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2"/>
            <p:cNvSpPr txBox="1"/>
            <p:nvPr/>
          </p:nvSpPr>
          <p:spPr>
            <a:xfrm>
              <a:off x="152400" y="114300"/>
              <a:ext cx="17622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b="0" sz="2200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BROADER STUDENT &amp; COMMUNITY IMPACT</a:t>
              </a:r>
              <a:endParaRPr b="0" sz="900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cxnSp>
          <p:nvCxnSpPr>
            <p:cNvPr id="453" name="Google Shape;453;p42"/>
            <p:cNvCxnSpPr/>
            <p:nvPr/>
          </p:nvCxnSpPr>
          <p:spPr>
            <a:xfrm>
              <a:off x="2019300" y="114300"/>
              <a:ext cx="0" cy="781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3C5F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4" name="Google Shape;454;p42"/>
            <p:cNvSpPr txBox="1"/>
            <p:nvPr/>
          </p:nvSpPr>
          <p:spPr>
            <a:xfrm>
              <a:off x="2133600" y="114300"/>
              <a:ext cx="19527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• Access &amp; equity:</a:t>
              </a:r>
              <a:endParaRPr b="1" sz="8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Potential barriers disproportionately affect students needing targeted behavioral, academic, or vocational support pathways.</a:t>
              </a:r>
              <a:endParaRPr b="0"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55" name="Google Shape;455;p42"/>
            <p:cNvCxnSpPr/>
            <p:nvPr/>
          </p:nvCxnSpPr>
          <p:spPr>
            <a:xfrm>
              <a:off x="4200525" y="114300"/>
              <a:ext cx="0" cy="781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3C5F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6" name="Google Shape;456;p42"/>
            <p:cNvSpPr txBox="1"/>
            <p:nvPr/>
          </p:nvSpPr>
          <p:spPr>
            <a:xfrm>
              <a:off x="4314825" y="114300"/>
              <a:ext cx="19527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• Student development:</a:t>
              </a:r>
              <a:endParaRPr b="1" sz="8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Limits hands-on experiential learning, elective exploration, and individualized support interventions.</a:t>
              </a:r>
              <a:endParaRPr b="0"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57" name="Google Shape;457;p42"/>
            <p:cNvCxnSpPr/>
            <p:nvPr/>
          </p:nvCxnSpPr>
          <p:spPr>
            <a:xfrm>
              <a:off x="6381750" y="114300"/>
              <a:ext cx="0" cy="781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3C5F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8" name="Google Shape;458;p42"/>
            <p:cNvSpPr txBox="1"/>
            <p:nvPr/>
          </p:nvSpPr>
          <p:spPr>
            <a:xfrm>
              <a:off x="6496050" y="114300"/>
              <a:ext cx="17718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• School community:</a:t>
              </a:r>
              <a:endParaRPr b="1" sz="8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Increases pressure on general classroom environments and reduces overall depth of student support services.</a:t>
              </a:r>
              <a:endParaRPr b="0" sz="8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3"/>
          <p:cNvSpPr txBox="1"/>
          <p:nvPr/>
        </p:nvSpPr>
        <p:spPr>
          <a:xfrm>
            <a:off x="381000" y="1714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SCENARIO 01 </a:t>
            </a:r>
            <a:r>
              <a:rPr b="0" lang="en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Budget Cap Threshold Summary</a:t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Total High Impact Reductions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64" name="Google Shape;464;p43"/>
          <p:cNvGrpSpPr/>
          <p:nvPr/>
        </p:nvGrpSpPr>
        <p:grpSpPr>
          <a:xfrm>
            <a:off x="381000" y="762000"/>
            <a:ext cx="8382000" cy="857400"/>
            <a:chOff x="0" y="0"/>
            <a:chExt cx="8382000" cy="857400"/>
          </a:xfrm>
        </p:grpSpPr>
        <p:sp>
          <p:nvSpPr>
            <p:cNvPr id="465" name="Google Shape;465;p43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11111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3"/>
            <p:cNvSpPr txBox="1"/>
            <p:nvPr/>
          </p:nvSpPr>
          <p:spPr>
            <a:xfrm>
              <a:off x="228600" y="0"/>
              <a:ext cx="7924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CUMULATIVE BUDGET REDUCTION TARGET</a:t>
              </a:r>
              <a:endParaRPr b="1" sz="1000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Combined cuts across transportation, academics, athletics, and student programs</a:t>
              </a:r>
              <a:endParaRPr b="0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$3,339</a:t>
              </a:r>
              <a:r>
                <a:rPr lang="en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,</a:t>
              </a:r>
              <a:r>
                <a:rPr b="0" lang="en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273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67" name="Google Shape;467;p43"/>
          <p:cNvGrpSpPr/>
          <p:nvPr/>
        </p:nvGrpSpPr>
        <p:grpSpPr>
          <a:xfrm>
            <a:off x="381000" y="1724050"/>
            <a:ext cx="8382000" cy="2190825"/>
            <a:chOff x="0" y="0"/>
            <a:chExt cx="8382000" cy="2190825"/>
          </a:xfrm>
        </p:grpSpPr>
        <p:grpSp>
          <p:nvGrpSpPr>
            <p:cNvPr id="468" name="Google Shape;468;p43"/>
            <p:cNvGrpSpPr/>
            <p:nvPr/>
          </p:nvGrpSpPr>
          <p:grpSpPr>
            <a:xfrm>
              <a:off x="0" y="0"/>
              <a:ext cx="2667000" cy="1095300"/>
              <a:chOff x="0" y="0"/>
              <a:chExt cx="2667000" cy="1095300"/>
            </a:xfrm>
          </p:grpSpPr>
          <p:sp>
            <p:nvSpPr>
              <p:cNvPr id="469" name="Google Shape;469;p43"/>
              <p:cNvSpPr/>
              <p:nvPr/>
            </p:nvSpPr>
            <p:spPr>
              <a:xfrm>
                <a:off x="0" y="0"/>
                <a:ext cx="2667000" cy="1095300"/>
              </a:xfrm>
              <a:prstGeom prst="roundRect">
                <a:avLst>
                  <a:gd fmla="val 695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43"/>
              <p:cNvSpPr/>
              <p:nvPr/>
            </p:nvSpPr>
            <p:spPr>
              <a:xfrm>
                <a:off x="0" y="0"/>
                <a:ext cx="2667000" cy="266700"/>
              </a:xfrm>
              <a:prstGeom prst="roundRect">
                <a:avLst>
                  <a:gd fmla="val 2857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43"/>
              <p:cNvSpPr txBox="1"/>
              <p:nvPr/>
            </p:nvSpPr>
            <p:spPr>
              <a:xfrm>
                <a:off x="114300" y="38100"/>
                <a:ext cx="24384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Transportation &amp; Routes</a:t>
                </a:r>
                <a:endParaRPr b="1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$1,44</a:t>
                </a:r>
                <a:r>
                  <a:rPr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5</a:t>
                </a: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,000 </a:t>
                </a:r>
                <a:endParaRPr b="0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Daily routes, spec ed travel, tech school &amp; athletic trips</a:t>
                </a:r>
                <a:endParaRPr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2" name="Google Shape;472;p43"/>
            <p:cNvGrpSpPr/>
            <p:nvPr/>
          </p:nvGrpSpPr>
          <p:grpSpPr>
            <a:xfrm>
              <a:off x="2857500" y="0"/>
              <a:ext cx="2667000" cy="1095300"/>
              <a:chOff x="0" y="0"/>
              <a:chExt cx="2667000" cy="1095300"/>
            </a:xfrm>
          </p:grpSpPr>
          <p:sp>
            <p:nvSpPr>
              <p:cNvPr id="473" name="Google Shape;473;p43"/>
              <p:cNvSpPr/>
              <p:nvPr/>
            </p:nvSpPr>
            <p:spPr>
              <a:xfrm>
                <a:off x="0" y="0"/>
                <a:ext cx="2667000" cy="1095300"/>
              </a:xfrm>
              <a:prstGeom prst="roundRect">
                <a:avLst>
                  <a:gd fmla="val 695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43"/>
              <p:cNvSpPr/>
              <p:nvPr/>
            </p:nvSpPr>
            <p:spPr>
              <a:xfrm>
                <a:off x="0" y="0"/>
                <a:ext cx="2667000" cy="266700"/>
              </a:xfrm>
              <a:prstGeom prst="roundRect">
                <a:avLst>
                  <a:gd fmla="val 2857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43"/>
              <p:cNvSpPr txBox="1"/>
              <p:nvPr/>
            </p:nvSpPr>
            <p:spPr>
              <a:xfrm>
                <a:off x="114300" y="38100"/>
                <a:ext cx="24384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Athletics &amp; Co-Curriculars</a:t>
                </a:r>
                <a:endParaRPr b="1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</a:t>
                </a:r>
                <a:r>
                  <a:rPr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227,757 (38% cut)</a:t>
                </a:r>
                <a:endParaRPr b="0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Sports coaches, officials, theater, music &amp; student clubs</a:t>
                </a:r>
                <a:endParaRPr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6" name="Google Shape;476;p43"/>
            <p:cNvGrpSpPr/>
            <p:nvPr/>
          </p:nvGrpSpPr>
          <p:grpSpPr>
            <a:xfrm>
              <a:off x="5715000" y="0"/>
              <a:ext cx="2667000" cy="1095300"/>
              <a:chOff x="0" y="0"/>
              <a:chExt cx="2667000" cy="1095300"/>
            </a:xfrm>
          </p:grpSpPr>
          <p:sp>
            <p:nvSpPr>
              <p:cNvPr id="477" name="Google Shape;477;p43"/>
              <p:cNvSpPr/>
              <p:nvPr/>
            </p:nvSpPr>
            <p:spPr>
              <a:xfrm>
                <a:off x="0" y="0"/>
                <a:ext cx="2667000" cy="1095300"/>
              </a:xfrm>
              <a:prstGeom prst="roundRect">
                <a:avLst>
                  <a:gd fmla="val 695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43"/>
              <p:cNvSpPr/>
              <p:nvPr/>
            </p:nvSpPr>
            <p:spPr>
              <a:xfrm>
                <a:off x="0" y="0"/>
                <a:ext cx="2667000" cy="266700"/>
              </a:xfrm>
              <a:prstGeom prst="roundRect">
                <a:avLst>
                  <a:gd fmla="val 2857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43"/>
              <p:cNvSpPr txBox="1"/>
              <p:nvPr/>
            </p:nvSpPr>
            <p:spPr>
              <a:xfrm>
                <a:off x="114300" y="38100"/>
                <a:ext cx="2438400" cy="9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Special Programming</a:t>
                </a:r>
                <a:endParaRPr b="1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$583,</a:t>
                </a:r>
                <a:r>
                  <a:rPr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516</a:t>
                </a:r>
                <a:endParaRPr b="0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Farm to School, outdoor ed &amp; learning center supports</a:t>
                </a:r>
                <a:endParaRPr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0" name="Google Shape;480;p43"/>
            <p:cNvGrpSpPr/>
            <p:nvPr/>
          </p:nvGrpSpPr>
          <p:grpSpPr>
            <a:xfrm>
              <a:off x="0" y="1190625"/>
              <a:ext cx="2667000" cy="1000200"/>
              <a:chOff x="0" y="0"/>
              <a:chExt cx="2667000" cy="1000200"/>
            </a:xfrm>
          </p:grpSpPr>
          <p:sp>
            <p:nvSpPr>
              <p:cNvPr id="481" name="Google Shape;481;p43"/>
              <p:cNvSpPr/>
              <p:nvPr/>
            </p:nvSpPr>
            <p:spPr>
              <a:xfrm>
                <a:off x="0" y="0"/>
                <a:ext cx="26670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43"/>
              <p:cNvSpPr/>
              <p:nvPr/>
            </p:nvSpPr>
            <p:spPr>
              <a:xfrm>
                <a:off x="0" y="0"/>
                <a:ext cx="2667000" cy="266700"/>
              </a:xfrm>
              <a:prstGeom prst="roundRect">
                <a:avLst>
                  <a:gd fmla="val 2857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43"/>
              <p:cNvSpPr txBox="1"/>
              <p:nvPr/>
            </p:nvSpPr>
            <p:spPr>
              <a:xfrm>
                <a:off x="114300" y="38100"/>
                <a:ext cx="2438400" cy="8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Pre-K Tuition-Only Model</a:t>
                </a:r>
                <a:endParaRPr b="1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$517,000</a:t>
                </a:r>
                <a:endParaRPr b="0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Eliminates in-district public Pre-K slots &amp; limits capacity</a:t>
                </a:r>
                <a:endParaRPr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43"/>
            <p:cNvGrpSpPr/>
            <p:nvPr/>
          </p:nvGrpSpPr>
          <p:grpSpPr>
            <a:xfrm>
              <a:off x="2857500" y="1190625"/>
              <a:ext cx="2667000" cy="1000200"/>
              <a:chOff x="0" y="0"/>
              <a:chExt cx="2667000" cy="1000200"/>
            </a:xfrm>
          </p:grpSpPr>
          <p:sp>
            <p:nvSpPr>
              <p:cNvPr id="485" name="Google Shape;485;p43"/>
              <p:cNvSpPr/>
              <p:nvPr/>
            </p:nvSpPr>
            <p:spPr>
              <a:xfrm>
                <a:off x="0" y="0"/>
                <a:ext cx="26670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43"/>
              <p:cNvSpPr/>
              <p:nvPr/>
            </p:nvSpPr>
            <p:spPr>
              <a:xfrm>
                <a:off x="0" y="0"/>
                <a:ext cx="2667000" cy="266700"/>
              </a:xfrm>
              <a:prstGeom prst="roundRect">
                <a:avLst>
                  <a:gd fmla="val 2857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43"/>
              <p:cNvSpPr txBox="1"/>
              <p:nvPr/>
            </p:nvSpPr>
            <p:spPr>
              <a:xfrm>
                <a:off x="114300" y="38100"/>
                <a:ext cx="2438400" cy="8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Academic &amp; Behavioral Staff</a:t>
                </a:r>
                <a:endParaRPr b="1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$456,000</a:t>
                </a:r>
                <a:endParaRPr b="0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Reduces interventionists, paras &amp; tier 2/3 student support</a:t>
                </a:r>
                <a:endParaRPr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8" name="Google Shape;488;p43"/>
            <p:cNvGrpSpPr/>
            <p:nvPr/>
          </p:nvGrpSpPr>
          <p:grpSpPr>
            <a:xfrm>
              <a:off x="5715000" y="1190625"/>
              <a:ext cx="2667000" cy="1000200"/>
              <a:chOff x="0" y="0"/>
              <a:chExt cx="2667000" cy="1000200"/>
            </a:xfrm>
          </p:grpSpPr>
          <p:sp>
            <p:nvSpPr>
              <p:cNvPr id="489" name="Google Shape;489;p43"/>
              <p:cNvSpPr/>
              <p:nvPr/>
            </p:nvSpPr>
            <p:spPr>
              <a:xfrm>
                <a:off x="0" y="0"/>
                <a:ext cx="2667000" cy="1000200"/>
              </a:xfrm>
              <a:prstGeom prst="roundRect">
                <a:avLst>
                  <a:gd fmla="val 7619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43"/>
              <p:cNvSpPr/>
              <p:nvPr/>
            </p:nvSpPr>
            <p:spPr>
              <a:xfrm>
                <a:off x="0" y="0"/>
                <a:ext cx="2667000" cy="266700"/>
              </a:xfrm>
              <a:prstGeom prst="roundRect">
                <a:avLst>
                  <a:gd fmla="val 2857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43"/>
              <p:cNvSpPr txBox="1"/>
              <p:nvPr/>
            </p:nvSpPr>
            <p:spPr>
              <a:xfrm>
                <a:off x="114300" y="38100"/>
                <a:ext cx="2438400" cy="8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Electives &amp; Technology</a:t>
                </a:r>
                <a:endParaRPr b="1" sz="95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$110,000</a:t>
                </a:r>
                <a:endParaRPr b="0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Reduces course offerings, software &amp; hardware tools</a:t>
                </a:r>
                <a:endParaRPr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2" name="Google Shape;492;p43"/>
          <p:cNvGrpSpPr/>
          <p:nvPr/>
        </p:nvGrpSpPr>
        <p:grpSpPr>
          <a:xfrm>
            <a:off x="381000" y="4019550"/>
            <a:ext cx="8382000" cy="933600"/>
            <a:chOff x="0" y="0"/>
            <a:chExt cx="8382000" cy="933600"/>
          </a:xfrm>
        </p:grpSpPr>
        <p:sp>
          <p:nvSpPr>
            <p:cNvPr id="493" name="Google Shape;493;p43"/>
            <p:cNvSpPr/>
            <p:nvPr/>
          </p:nvSpPr>
          <p:spPr>
            <a:xfrm>
              <a:off x="0" y="0"/>
              <a:ext cx="8382000" cy="933600"/>
            </a:xfrm>
            <a:prstGeom prst="roundRect">
              <a:avLst>
                <a:gd fmla="val 10204" name="adj"/>
              </a:avLst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3"/>
            <p:cNvSpPr txBox="1"/>
            <p:nvPr/>
          </p:nvSpPr>
          <p:spPr>
            <a:xfrm>
              <a:off x="190500" y="95250"/>
              <a:ext cx="80010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1B1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DEVASTATING IMPACT ON STUDENTS &amp; COMMUNITIES</a:t>
              </a:r>
              <a:endParaRPr b="0" sz="1000">
                <a:solidFill>
                  <a:srgbClr val="991B1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-2825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7F1D1D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Access &amp; Equity:</a:t>
              </a:r>
              <a:r>
                <a:rPr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 Severe transportation &amp; Pre-K barriers disproportionately affect vulnerable families.</a:t>
              </a:r>
              <a:endParaRPr sz="8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7F1D1D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Student Development:</a:t>
              </a:r>
              <a:r>
                <a:rPr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 Widespread loss of sports, arts, electives, hands-on learning, and intervention support.</a:t>
              </a:r>
              <a:endParaRPr sz="8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7F1D1D"/>
                </a:buClr>
                <a:buSzPts val="850"/>
                <a:buFont typeface="Inter"/>
                <a:buChar char="●"/>
              </a:pPr>
              <a:r>
                <a:rPr b="1"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School Community:</a:t>
              </a:r>
              <a:r>
                <a:rPr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 Eroded support structures, strained classroom environments, and loss of shared traditions.</a:t>
              </a:r>
              <a:endParaRPr sz="8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/>
        </p:nvSpPr>
        <p:spPr>
          <a:xfrm>
            <a:off x="457200" y="266700"/>
            <a:ext cx="8229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ARE WE SACRIFICING TO MAINTAIN OUR BUILDINGS?</a:t>
            </a:r>
            <a:endParaRPr b="0" sz="21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00" name="Google Shape;500;p44"/>
          <p:cNvGrpSpPr/>
          <p:nvPr/>
        </p:nvGrpSpPr>
        <p:grpSpPr>
          <a:xfrm>
            <a:off x="457200" y="1066800"/>
            <a:ext cx="3962400" cy="2419500"/>
            <a:chOff x="0" y="0"/>
            <a:chExt cx="3962400" cy="2419500"/>
          </a:xfrm>
        </p:grpSpPr>
        <p:sp>
          <p:nvSpPr>
            <p:cNvPr id="501" name="Google Shape;501;p44"/>
            <p:cNvSpPr/>
            <p:nvPr/>
          </p:nvSpPr>
          <p:spPr>
            <a:xfrm>
              <a:off x="0" y="0"/>
              <a:ext cx="3962400" cy="2419500"/>
            </a:xfrm>
            <a:prstGeom prst="roundRect">
              <a:avLst>
                <a:gd fmla="val 472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4"/>
            <p:cNvSpPr/>
            <p:nvPr/>
          </p:nvSpPr>
          <p:spPr>
            <a:xfrm>
              <a:off x="0" y="0"/>
              <a:ext cx="3962400" cy="573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4"/>
            <p:cNvSpPr txBox="1"/>
            <p:nvPr/>
          </p:nvSpPr>
          <p:spPr>
            <a:xfrm>
              <a:off x="228600" y="209550"/>
              <a:ext cx="35052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r>
                <a:rPr b="1" lang="en" sz="10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Budget Threshold Warning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Smack up against the excess spending </a:t>
              </a:r>
              <a:r>
                <a:rPr lang="en" sz="155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threshold</a:t>
              </a:r>
              <a:endParaRPr sz="15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Maintaining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all 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 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seven campus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’ pushes us up against 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high-penalty excess 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spending threshold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constraining overall financial flexibility.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4" name="Google Shape;504;p44"/>
          <p:cNvGrpSpPr/>
          <p:nvPr/>
        </p:nvGrpSpPr>
        <p:grpSpPr>
          <a:xfrm>
            <a:off x="4724400" y="1066800"/>
            <a:ext cx="3962400" cy="2419500"/>
            <a:chOff x="0" y="0"/>
            <a:chExt cx="3962400" cy="2419500"/>
          </a:xfrm>
        </p:grpSpPr>
        <p:sp>
          <p:nvSpPr>
            <p:cNvPr id="505" name="Google Shape;505;p44"/>
            <p:cNvSpPr/>
            <p:nvPr/>
          </p:nvSpPr>
          <p:spPr>
            <a:xfrm>
              <a:off x="0" y="0"/>
              <a:ext cx="3962400" cy="2419500"/>
            </a:xfrm>
            <a:prstGeom prst="roundRect">
              <a:avLst>
                <a:gd fmla="val 472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0" y="0"/>
              <a:ext cx="3962400" cy="57300"/>
            </a:xfrm>
            <a:prstGeom prst="roundRect">
              <a:avLst>
                <a:gd fmla="val 50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4"/>
            <p:cNvSpPr txBox="1"/>
            <p:nvPr/>
          </p:nvSpPr>
          <p:spPr>
            <a:xfrm>
              <a:off x="228600" y="209550"/>
              <a:ext cx="35052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r>
                <a:rPr b="1" lang="en" sz="10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Student Impact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We are offering kids a whole lot less to have more buildings.</a:t>
              </a:r>
              <a:endParaRPr b="0" sz="155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Capital diverted to physical infrastructure directly reduces resources available for academic programs, staffing, and enrichment.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8" name="Google Shape;508;p44"/>
          <p:cNvGrpSpPr/>
          <p:nvPr/>
        </p:nvGrpSpPr>
        <p:grpSpPr>
          <a:xfrm>
            <a:off x="457200" y="3695700"/>
            <a:ext cx="8229600" cy="1047900"/>
            <a:chOff x="0" y="0"/>
            <a:chExt cx="8229600" cy="1047900"/>
          </a:xfrm>
        </p:grpSpPr>
        <p:sp>
          <p:nvSpPr>
            <p:cNvPr id="509" name="Google Shape;509;p44"/>
            <p:cNvSpPr/>
            <p:nvPr/>
          </p:nvSpPr>
          <p:spPr>
            <a:xfrm>
              <a:off x="0" y="0"/>
              <a:ext cx="8229600" cy="1047900"/>
            </a:xfrm>
            <a:prstGeom prst="roundRect">
              <a:avLst>
                <a:gd fmla="val 10909" name="adj"/>
              </a:avLst>
            </a:prstGeom>
            <a:solidFill>
              <a:srgbClr val="FEF2F2"/>
            </a:solidFill>
            <a:ln cap="flat" cmpd="sng" w="1430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247650" y="314325"/>
              <a:ext cx="419100" cy="4191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4"/>
            <p:cNvSpPr txBox="1"/>
            <p:nvPr/>
          </p:nvSpPr>
          <p:spPr>
            <a:xfrm>
              <a:off x="342900" y="435864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priority_high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2" name="Google Shape;512;p44"/>
            <p:cNvSpPr txBox="1"/>
            <p:nvPr/>
          </p:nvSpPr>
          <p:spPr>
            <a:xfrm>
              <a:off x="800100" y="190500"/>
              <a:ext cx="720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991B1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At what cost!</a:t>
              </a:r>
              <a:endParaRPr b="0" sz="1600">
                <a:solidFill>
                  <a:srgbClr val="991B1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7F1D1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Every dollar tied up in excess facilities compromises our core educational mission and reduces direct support for classroom learning.</a:t>
              </a:r>
              <a:endParaRPr b="0" sz="1100">
                <a:solidFill>
                  <a:srgbClr val="7F1D1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5"/>
          <p:cNvSpPr txBox="1"/>
          <p:nvPr>
            <p:ph type="title"/>
          </p:nvPr>
        </p:nvSpPr>
        <p:spPr>
          <a:xfrm>
            <a:off x="628650" y="74178"/>
            <a:ext cx="7886700" cy="99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9" name="Google Shape;5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9" y="0"/>
            <a:ext cx="9089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6"/>
          <p:cNvSpPr txBox="1"/>
          <p:nvPr>
            <p:ph type="title"/>
          </p:nvPr>
        </p:nvSpPr>
        <p:spPr>
          <a:xfrm>
            <a:off x="751225" y="133001"/>
            <a:ext cx="7886700" cy="57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Consolidation: Rethinking How We Provide Educational Services </a:t>
            </a:r>
            <a:endParaRPr sz="2020"/>
          </a:p>
        </p:txBody>
      </p:sp>
      <p:pic>
        <p:nvPicPr>
          <p:cNvPr id="525" name="Google Shape;52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13" y="710800"/>
            <a:ext cx="8026373" cy="419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47"/>
          <p:cNvGrpSpPr/>
          <p:nvPr/>
        </p:nvGrpSpPr>
        <p:grpSpPr>
          <a:xfrm>
            <a:off x="457200" y="342900"/>
            <a:ext cx="8229600" cy="762000"/>
            <a:chOff x="0" y="0"/>
            <a:chExt cx="8229600" cy="762000"/>
          </a:xfrm>
        </p:grpSpPr>
        <p:sp>
          <p:nvSpPr>
            <p:cNvPr id="531" name="Google Shape;531;p47"/>
            <p:cNvSpPr/>
            <p:nvPr/>
          </p:nvSpPr>
          <p:spPr>
            <a:xfrm>
              <a:off x="0" y="0"/>
              <a:ext cx="82296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7"/>
            <p:cNvSpPr txBox="1"/>
            <p:nvPr/>
          </p:nvSpPr>
          <p:spPr>
            <a:xfrm>
              <a:off x="0" y="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 Sustainable District. Strong Schools. Better Use of Resources.</a:t>
              </a:r>
              <a:endParaRPr b="0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33" name="Google Shape;533;p47"/>
          <p:cNvGrpSpPr/>
          <p:nvPr/>
        </p:nvGrpSpPr>
        <p:grpSpPr>
          <a:xfrm>
            <a:off x="457200" y="1295400"/>
            <a:ext cx="3962400" cy="2514600"/>
            <a:chOff x="0" y="0"/>
            <a:chExt cx="3962400" cy="2514600"/>
          </a:xfrm>
        </p:grpSpPr>
        <p:sp>
          <p:nvSpPr>
            <p:cNvPr id="534" name="Google Shape;534;p47"/>
            <p:cNvSpPr/>
            <p:nvPr/>
          </p:nvSpPr>
          <p:spPr>
            <a:xfrm>
              <a:off x="0" y="0"/>
              <a:ext cx="3962400" cy="25146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7"/>
            <p:cNvSpPr/>
            <p:nvPr/>
          </p:nvSpPr>
          <p:spPr>
            <a:xfrm>
              <a:off x="0" y="0"/>
              <a:ext cx="39624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7"/>
            <p:cNvSpPr txBox="1"/>
            <p:nvPr/>
          </p:nvSpPr>
          <p:spPr>
            <a:xfrm>
              <a:off x="228600" y="228600"/>
              <a:ext cx="35052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tune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Strategic Restructuring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HUUSD has already made difficult reductions. The 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q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uestion now is whether restructuring how and where we deliver education can create a more sustainable district, ensuring resources 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are used 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effectively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to support students across our 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communities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without</a:t>
              </a:r>
              <a:r>
                <a:rPr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continuing to 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spread them too thinly.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7" name="Google Shape;537;p47"/>
          <p:cNvGrpSpPr/>
          <p:nvPr/>
        </p:nvGrpSpPr>
        <p:grpSpPr>
          <a:xfrm>
            <a:off x="4724400" y="1295400"/>
            <a:ext cx="3962400" cy="2514600"/>
            <a:chOff x="0" y="0"/>
            <a:chExt cx="3962400" cy="2514600"/>
          </a:xfrm>
        </p:grpSpPr>
        <p:sp>
          <p:nvSpPr>
            <p:cNvPr id="538" name="Google Shape;538;p47"/>
            <p:cNvSpPr/>
            <p:nvPr/>
          </p:nvSpPr>
          <p:spPr>
            <a:xfrm>
              <a:off x="0" y="0"/>
              <a:ext cx="3962400" cy="25146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0" y="0"/>
              <a:ext cx="39624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7"/>
            <p:cNvSpPr txBox="1"/>
            <p:nvPr/>
          </p:nvSpPr>
          <p:spPr>
            <a:xfrm>
              <a:off x="228600" y="228600"/>
              <a:ext cx="35052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Responsibility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Our responsibility is to protect educational quality while making financially responsible decisions for the long-term future of our students and communities.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1" name="Google Shape;541;p47"/>
          <p:cNvGrpSpPr/>
          <p:nvPr/>
        </p:nvGrpSpPr>
        <p:grpSpPr>
          <a:xfrm>
            <a:off x="457200" y="4038600"/>
            <a:ext cx="8229600" cy="647700"/>
            <a:chOff x="0" y="0"/>
            <a:chExt cx="8229600" cy="647700"/>
          </a:xfrm>
        </p:grpSpPr>
        <p:sp>
          <p:nvSpPr>
            <p:cNvPr id="542" name="Google Shape;542;p47"/>
            <p:cNvSpPr/>
            <p:nvPr/>
          </p:nvSpPr>
          <p:spPr>
            <a:xfrm>
              <a:off x="0" y="0"/>
              <a:ext cx="8229600" cy="647700"/>
            </a:xfrm>
            <a:prstGeom prst="roundRect">
              <a:avLst>
                <a:gd fmla="val 14705" name="adj"/>
              </a:avLst>
            </a:prstGeom>
            <a:solidFill>
              <a:srgbClr val="CCFBF1"/>
            </a:solidFill>
            <a:ln cap="flat" cmpd="sng" w="9525">
              <a:solidFill>
                <a:srgbClr val="99F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7"/>
            <p:cNvSpPr txBox="1"/>
            <p:nvPr/>
          </p:nvSpPr>
          <p:spPr>
            <a:xfrm>
              <a:off x="228600" y="114300"/>
              <a:ext cx="7772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Guiding Principle:</a:t>
              </a:r>
              <a:r>
                <a:rPr lang="en" sz="11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150">
                  <a:solidFill>
                    <a:srgbClr val="115E59"/>
                  </a:solidFill>
                  <a:latin typeface="Inter"/>
                  <a:ea typeface="Inter"/>
                  <a:cs typeface="Inter"/>
                  <a:sym typeface="Inter"/>
                </a:rPr>
                <a:t>Protecting educational quality while making financially responsible decisions for our students and communities.</a:t>
              </a:r>
              <a:endParaRPr sz="115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8"/>
          <p:cNvSpPr txBox="1"/>
          <p:nvPr/>
        </p:nvSpPr>
        <p:spPr>
          <a:xfrm>
            <a:off x="457200" y="2667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One District. Stronger Programs. More Sustainable Schools.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Consolidation is an opportunity to rethink how we organize our resources, deliver instruction, and support every student across HUUSD.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9" name="Google Shape;549;p48"/>
          <p:cNvGrpSpPr/>
          <p:nvPr/>
        </p:nvGrpSpPr>
        <p:grpSpPr>
          <a:xfrm>
            <a:off x="457200" y="1371600"/>
            <a:ext cx="1943100" cy="3276600"/>
            <a:chOff x="0" y="0"/>
            <a:chExt cx="1943100" cy="3276600"/>
          </a:xfrm>
        </p:grpSpPr>
        <p:sp>
          <p:nvSpPr>
            <p:cNvPr id="550" name="Google Shape;550;p48"/>
            <p:cNvSpPr/>
            <p:nvPr/>
          </p:nvSpPr>
          <p:spPr>
            <a:xfrm>
              <a:off x="0" y="0"/>
              <a:ext cx="1943100" cy="32766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8"/>
            <p:cNvSpPr/>
            <p:nvPr/>
          </p:nvSpPr>
          <p:spPr>
            <a:xfrm>
              <a:off x="0" y="0"/>
              <a:ext cx="19431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8"/>
            <p:cNvSpPr txBox="1"/>
            <p:nvPr/>
          </p:nvSpPr>
          <p:spPr>
            <a:xfrm>
              <a:off x="152400" y="190500"/>
              <a:ext cx="16383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account_balance_wallet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Financial sustainability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Reduce duplicated costs and direct resources where they have the greatest impact.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3" name="Google Shape;553;p48"/>
          <p:cNvGrpSpPr/>
          <p:nvPr/>
        </p:nvGrpSpPr>
        <p:grpSpPr>
          <a:xfrm>
            <a:off x="2552700" y="1371600"/>
            <a:ext cx="1943100" cy="3276600"/>
            <a:chOff x="0" y="0"/>
            <a:chExt cx="1943100" cy="3276600"/>
          </a:xfrm>
        </p:grpSpPr>
        <p:sp>
          <p:nvSpPr>
            <p:cNvPr id="554" name="Google Shape;554;p48"/>
            <p:cNvSpPr/>
            <p:nvPr/>
          </p:nvSpPr>
          <p:spPr>
            <a:xfrm>
              <a:off x="0" y="0"/>
              <a:ext cx="1943100" cy="32766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8"/>
            <p:cNvSpPr/>
            <p:nvPr/>
          </p:nvSpPr>
          <p:spPr>
            <a:xfrm>
              <a:off x="0" y="0"/>
              <a:ext cx="19431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8"/>
            <p:cNvSpPr txBox="1"/>
            <p:nvPr/>
          </p:nvSpPr>
          <p:spPr>
            <a:xfrm>
              <a:off x="152400" y="190500"/>
              <a:ext cx="16383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Educational opportunity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Strengthen programs, student supports, and access to specialized instruction.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7" name="Google Shape;557;p48"/>
          <p:cNvGrpSpPr/>
          <p:nvPr/>
        </p:nvGrpSpPr>
        <p:grpSpPr>
          <a:xfrm>
            <a:off x="4648200" y="1371600"/>
            <a:ext cx="1943100" cy="3276600"/>
            <a:chOff x="0" y="0"/>
            <a:chExt cx="1943100" cy="3276600"/>
          </a:xfrm>
        </p:grpSpPr>
        <p:sp>
          <p:nvSpPr>
            <p:cNvPr id="558" name="Google Shape;558;p48"/>
            <p:cNvSpPr/>
            <p:nvPr/>
          </p:nvSpPr>
          <p:spPr>
            <a:xfrm>
              <a:off x="0" y="0"/>
              <a:ext cx="1943100" cy="32766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8"/>
            <p:cNvSpPr/>
            <p:nvPr/>
          </p:nvSpPr>
          <p:spPr>
            <a:xfrm>
              <a:off x="0" y="0"/>
              <a:ext cx="19431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8"/>
            <p:cNvSpPr txBox="1"/>
            <p:nvPr/>
          </p:nvSpPr>
          <p:spPr>
            <a:xfrm>
              <a:off x="152400" y="190500"/>
              <a:ext cx="16383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Staffing flexibility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Build stronger teams and improve the ability to deploy staff where needs arise.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1" name="Google Shape;561;p48"/>
          <p:cNvGrpSpPr/>
          <p:nvPr/>
        </p:nvGrpSpPr>
        <p:grpSpPr>
          <a:xfrm>
            <a:off x="6743700" y="1371600"/>
            <a:ext cx="1943100" cy="3276600"/>
            <a:chOff x="0" y="0"/>
            <a:chExt cx="1943100" cy="3276600"/>
          </a:xfrm>
        </p:grpSpPr>
        <p:sp>
          <p:nvSpPr>
            <p:cNvPr id="562" name="Google Shape;562;p48"/>
            <p:cNvSpPr/>
            <p:nvPr/>
          </p:nvSpPr>
          <p:spPr>
            <a:xfrm>
              <a:off x="0" y="0"/>
              <a:ext cx="1943100" cy="32766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8"/>
            <p:cNvSpPr/>
            <p:nvPr/>
          </p:nvSpPr>
          <p:spPr>
            <a:xfrm>
              <a:off x="0" y="0"/>
              <a:ext cx="19431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8"/>
            <p:cNvSpPr txBox="1"/>
            <p:nvPr/>
          </p:nvSpPr>
          <p:spPr>
            <a:xfrm>
              <a:off x="152400" y="190500"/>
              <a:ext cx="1638300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published_with_changes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Long-term sustainability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Align facilities, staffing, and enrollment with the district's future needs.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9"/>
          <p:cNvSpPr txBox="1"/>
          <p:nvPr/>
        </p:nvSpPr>
        <p:spPr>
          <a:xfrm>
            <a:off x="457200" y="3429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opportunity is not simply to spend less. It is to get more value from every dollar.</a:t>
            </a:r>
            <a:endParaRPr b="0" sz="21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70" name="Google Shape;570;p49"/>
          <p:cNvGrpSpPr/>
          <p:nvPr/>
        </p:nvGrpSpPr>
        <p:grpSpPr>
          <a:xfrm>
            <a:off x="457200" y="1162050"/>
            <a:ext cx="3962400" cy="2762400"/>
            <a:chOff x="0" y="0"/>
            <a:chExt cx="3962400" cy="2762400"/>
          </a:xfrm>
        </p:grpSpPr>
        <p:sp>
          <p:nvSpPr>
            <p:cNvPr id="571" name="Google Shape;571;p49"/>
            <p:cNvSpPr/>
            <p:nvPr/>
          </p:nvSpPr>
          <p:spPr>
            <a:xfrm>
              <a:off x="0" y="0"/>
              <a:ext cx="3962400" cy="27624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0" y="0"/>
              <a:ext cx="3962400" cy="573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9"/>
            <p:cNvSpPr txBox="1"/>
            <p:nvPr/>
          </p:nvSpPr>
          <p:spPr>
            <a:xfrm>
              <a:off x="228600" y="209550"/>
              <a:ext cx="35052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TODAY'S CHALLENGE</a:t>
              </a:r>
              <a:endParaRPr b="1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Resources distributed across multiple buildings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Fixed operating costs at each location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Specialized staff spread across sites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Capital needs competing across the portfolio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4" name="Google Shape;574;p49"/>
          <p:cNvGrpSpPr/>
          <p:nvPr/>
        </p:nvGrpSpPr>
        <p:grpSpPr>
          <a:xfrm>
            <a:off x="4724400" y="1162050"/>
            <a:ext cx="3962400" cy="2762400"/>
            <a:chOff x="0" y="0"/>
            <a:chExt cx="3962400" cy="2762400"/>
          </a:xfrm>
        </p:grpSpPr>
        <p:sp>
          <p:nvSpPr>
            <p:cNvPr id="575" name="Google Shape;575;p49"/>
            <p:cNvSpPr/>
            <p:nvPr/>
          </p:nvSpPr>
          <p:spPr>
            <a:xfrm>
              <a:off x="0" y="0"/>
              <a:ext cx="3962400" cy="27624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0" y="0"/>
              <a:ext cx="39624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9"/>
            <p:cNvSpPr txBox="1"/>
            <p:nvPr/>
          </p:nvSpPr>
          <p:spPr>
            <a:xfrm>
              <a:off x="228600" y="209550"/>
              <a:ext cx="3505200" cy="23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FUTURE OPPORTUNITY</a:t>
              </a:r>
              <a:endParaRPr b="1" sz="125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Resources aligned with student enrollment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Fewer duplicated fixed costs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More coordinated staffing and services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Capital investment focused on priority facilities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8" name="Google Shape;578;p49"/>
          <p:cNvGrpSpPr/>
          <p:nvPr/>
        </p:nvGrpSpPr>
        <p:grpSpPr>
          <a:xfrm>
            <a:off x="457200" y="4114800"/>
            <a:ext cx="8229600" cy="609600"/>
            <a:chOff x="0" y="0"/>
            <a:chExt cx="8229600" cy="609600"/>
          </a:xfrm>
        </p:grpSpPr>
        <p:sp>
          <p:nvSpPr>
            <p:cNvPr id="579" name="Google Shape;579;p49"/>
            <p:cNvSpPr/>
            <p:nvPr/>
          </p:nvSpPr>
          <p:spPr>
            <a:xfrm>
              <a:off x="0" y="0"/>
              <a:ext cx="8229600" cy="609600"/>
            </a:xfrm>
            <a:prstGeom prst="roundRect">
              <a:avLst>
                <a:gd fmla="val 15625" name="adj"/>
              </a:avLst>
            </a:prstGeom>
            <a:solidFill>
              <a:srgbClr val="CCFBF1"/>
            </a:solidFill>
            <a:ln cap="flat" cmpd="sng" w="9525">
              <a:solidFill>
                <a:srgbClr val="99F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9"/>
            <p:cNvSpPr txBox="1"/>
            <p:nvPr/>
          </p:nvSpPr>
          <p:spPr>
            <a:xfrm>
              <a:off x="190500" y="95250"/>
              <a:ext cx="78486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The goal:</a:t>
              </a:r>
              <a:r>
                <a:rPr lang="en" sz="12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 direct a greater share of available resources toward teaching, learning, and student support.</a:t>
              </a:r>
              <a:endParaRPr sz="12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0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HUUSD K-12 Enrollment: </a:t>
            </a:r>
            <a:r>
              <a:rPr lang="en" sz="2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2009-10 </a:t>
            </a:r>
            <a:r>
              <a:rPr b="0" lang="en" sz="2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to Projected </a:t>
            </a:r>
            <a:r>
              <a:rPr lang="en" sz="2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2031-32 </a:t>
            </a:r>
            <a:endParaRPr b="0" sz="2200">
              <a:solidFill>
                <a:srgbClr val="1B3859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86" name="Google Shape;586;p50"/>
          <p:cNvGrpSpPr/>
          <p:nvPr/>
        </p:nvGrpSpPr>
        <p:grpSpPr>
          <a:xfrm>
            <a:off x="6286500" y="1095375"/>
            <a:ext cx="2476500" cy="1381200"/>
            <a:chOff x="0" y="0"/>
            <a:chExt cx="2476500" cy="1381200"/>
          </a:xfrm>
        </p:grpSpPr>
        <p:sp>
          <p:nvSpPr>
            <p:cNvPr id="587" name="Google Shape;587;p50"/>
            <p:cNvSpPr/>
            <p:nvPr/>
          </p:nvSpPr>
          <p:spPr>
            <a:xfrm>
              <a:off x="0" y="0"/>
              <a:ext cx="2476500" cy="1381200"/>
            </a:xfrm>
            <a:prstGeom prst="roundRect">
              <a:avLst>
                <a:gd fmla="val 68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0"/>
            <p:cNvSpPr/>
            <p:nvPr/>
          </p:nvSpPr>
          <p:spPr>
            <a:xfrm>
              <a:off x="0" y="0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B446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0"/>
            <p:cNvSpPr txBox="1"/>
            <p:nvPr/>
          </p:nvSpPr>
          <p:spPr>
            <a:xfrm>
              <a:off x="171450" y="0"/>
              <a:ext cx="2133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An additional 140 - student projected decline from 2025-26 to 2031-32</a:t>
              </a:r>
              <a:endParaRPr b="1" sz="9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-</a:t>
              </a:r>
              <a:r>
                <a:rPr b="0" lang="en" sz="2600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8.</a:t>
              </a:r>
              <a:r>
                <a:rPr lang="en" sz="2600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8</a:t>
              </a:r>
              <a:r>
                <a:rPr b="0" lang="en" sz="2600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%</a:t>
              </a:r>
              <a:endParaRPr b="0" sz="26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Representing </a:t>
              </a:r>
              <a:r>
                <a:rPr b="1" lang="en" sz="950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349 fewer students</a:t>
              </a:r>
              <a:r>
                <a:rPr b="0" lang="en" sz="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than the 2009–10 peak of 1,940.</a:t>
              </a:r>
              <a:endParaRPr b="0" sz="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90" name="Google Shape;590;p50"/>
          <p:cNvGrpSpPr/>
          <p:nvPr/>
        </p:nvGrpSpPr>
        <p:grpSpPr>
          <a:xfrm>
            <a:off x="6286500" y="2619375"/>
            <a:ext cx="2476500" cy="1381200"/>
            <a:chOff x="0" y="0"/>
            <a:chExt cx="2476500" cy="1381200"/>
          </a:xfrm>
        </p:grpSpPr>
        <p:sp>
          <p:nvSpPr>
            <p:cNvPr id="591" name="Google Shape;591;p50"/>
            <p:cNvSpPr/>
            <p:nvPr/>
          </p:nvSpPr>
          <p:spPr>
            <a:xfrm>
              <a:off x="0" y="0"/>
              <a:ext cx="2476500" cy="1381200"/>
            </a:xfrm>
            <a:prstGeom prst="roundRect">
              <a:avLst>
                <a:gd fmla="val 689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0"/>
            <p:cNvSpPr/>
            <p:nvPr/>
          </p:nvSpPr>
          <p:spPr>
            <a:xfrm>
              <a:off x="0" y="0"/>
              <a:ext cx="57300" cy="1381200"/>
            </a:xfrm>
            <a:prstGeom prst="roundRect">
              <a:avLst>
                <a:gd fmla="val 50000" name="adj"/>
              </a:avLst>
            </a:prstGeom>
            <a:solidFill>
              <a:srgbClr val="346F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0"/>
            <p:cNvSpPr txBox="1"/>
            <p:nvPr/>
          </p:nvSpPr>
          <p:spPr>
            <a:xfrm>
              <a:off x="171450" y="0"/>
              <a:ext cx="2133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-489</a:t>
              </a:r>
              <a:endParaRPr sz="26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Few students overall</a:t>
              </a:r>
              <a:endParaRPr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From 2009-10 to the 2031-32 projection</a:t>
              </a:r>
              <a:r>
                <a:rPr b="0" lang="en" sz="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endParaRPr sz="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50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-25.2%</a:t>
              </a:r>
              <a:endParaRPr b="1" sz="2650">
                <a:solidFill>
                  <a:srgbClr val="1B385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94" name="Google Shape;594;p50"/>
          <p:cNvGrpSpPr/>
          <p:nvPr/>
        </p:nvGrpSpPr>
        <p:grpSpPr>
          <a:xfrm>
            <a:off x="381000" y="4191000"/>
            <a:ext cx="8382000" cy="523800"/>
            <a:chOff x="0" y="0"/>
            <a:chExt cx="8382000" cy="523800"/>
          </a:xfrm>
        </p:grpSpPr>
        <p:sp>
          <p:nvSpPr>
            <p:cNvPr id="595" name="Google Shape;595;p50"/>
            <p:cNvSpPr/>
            <p:nvPr/>
          </p:nvSpPr>
          <p:spPr>
            <a:xfrm>
              <a:off x="0" y="0"/>
              <a:ext cx="8382000" cy="523800"/>
            </a:xfrm>
            <a:prstGeom prst="roundRect">
              <a:avLst>
                <a:gd fmla="val 18181" name="adj"/>
              </a:avLst>
            </a:prstGeom>
            <a:solidFill>
              <a:srgbClr val="1B38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0"/>
            <p:cNvSpPr txBox="1"/>
            <p:nvPr/>
          </p:nvSpPr>
          <p:spPr>
            <a:xfrm>
              <a:off x="190500" y="0"/>
              <a:ext cx="8001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5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HUUSD Enrollment Has Declined 18% Since 2009-10 and Is Project to Decline Further </a:t>
              </a:r>
              <a:endParaRPr b="0" sz="14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pic>
        <p:nvPicPr>
          <p:cNvPr id="597" name="Google Shape;59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700" y="816465"/>
            <a:ext cx="5567374" cy="3131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1"/>
          <p:cNvSpPr txBox="1"/>
          <p:nvPr>
            <p:ph type="title"/>
          </p:nvPr>
        </p:nvSpPr>
        <p:spPr>
          <a:xfrm>
            <a:off x="381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Resident Births in HUUSD Communities</a:t>
            </a:r>
            <a:endParaRPr b="0" sz="2200">
              <a:solidFill>
                <a:srgbClr val="1B3859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Historical live births in Duxbury, Fayston, Moretown, Waterbury, Warren, and Waitsfield (2020-202</a:t>
            </a:r>
            <a:r>
              <a:rPr lang="en" sz="1100">
                <a:solidFill>
                  <a:srgbClr val="64748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 to date</a:t>
            </a:r>
            <a:r>
              <a:rPr b="0" lang="en" sz="1100">
                <a:solidFill>
                  <a:srgbClr val="64748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 b="0" sz="1100">
              <a:solidFill>
                <a:srgbClr val="64748B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03" name="Google Shape;603;p51"/>
          <p:cNvGrpSpPr/>
          <p:nvPr/>
        </p:nvGrpSpPr>
        <p:grpSpPr>
          <a:xfrm>
            <a:off x="66650" y="1006400"/>
            <a:ext cx="6451395" cy="3892699"/>
            <a:chOff x="-10118" y="-166842"/>
            <a:chExt cx="5942700" cy="3717600"/>
          </a:xfrm>
        </p:grpSpPr>
        <p:sp>
          <p:nvSpPr>
            <p:cNvPr id="604" name="Google Shape;604;p51"/>
            <p:cNvSpPr/>
            <p:nvPr/>
          </p:nvSpPr>
          <p:spPr>
            <a:xfrm>
              <a:off x="-10118" y="-166842"/>
              <a:ext cx="5942700" cy="3717600"/>
            </a:xfrm>
            <a:prstGeom prst="roundRect">
              <a:avLst>
                <a:gd fmla="val 2941" name="adj"/>
              </a:avLst>
            </a:prstGeom>
            <a:solidFill>
              <a:srgbClr val="FFFFFF"/>
            </a:solidFill>
            <a:ln cap="flat" cmpd="sng" w="149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1"/>
            <p:cNvSpPr txBox="1"/>
            <p:nvPr/>
          </p:nvSpPr>
          <p:spPr>
            <a:xfrm>
              <a:off x="130186" y="-36382"/>
              <a:ext cx="523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2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Births by Town and Year</a:t>
              </a:r>
              <a:endParaRPr b="1" sz="1952">
                <a:solidFill>
                  <a:srgbClr val="1B38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6" name="Google Shape;606;p51"/>
          <p:cNvGrpSpPr/>
          <p:nvPr/>
        </p:nvGrpSpPr>
        <p:grpSpPr>
          <a:xfrm>
            <a:off x="6597650" y="1060450"/>
            <a:ext cx="2456307" cy="3632302"/>
            <a:chOff x="0" y="0"/>
            <a:chExt cx="2667000" cy="3238500"/>
          </a:xfrm>
        </p:grpSpPr>
        <p:sp>
          <p:nvSpPr>
            <p:cNvPr id="607" name="Google Shape;607;p51"/>
            <p:cNvSpPr/>
            <p:nvPr/>
          </p:nvSpPr>
          <p:spPr>
            <a:xfrm>
              <a:off x="0" y="0"/>
              <a:ext cx="2667000" cy="3238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148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1"/>
            <p:cNvSpPr/>
            <p:nvPr/>
          </p:nvSpPr>
          <p:spPr>
            <a:xfrm>
              <a:off x="0" y="0"/>
              <a:ext cx="57300" cy="3238500"/>
            </a:xfrm>
            <a:prstGeom prst="roundRect">
              <a:avLst>
                <a:gd fmla="val 50000" name="adj"/>
              </a:avLst>
            </a:prstGeom>
            <a:solidFill>
              <a:srgbClr val="1B38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1"/>
            <p:cNvSpPr txBox="1"/>
            <p:nvPr/>
          </p:nvSpPr>
          <p:spPr>
            <a:xfrm>
              <a:off x="190499" y="190493"/>
              <a:ext cx="2286000" cy="27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48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Key Observations</a:t>
              </a:r>
              <a:endParaRPr b="0" sz="1248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-303735" lvl="0" marL="475412" rtl="0" algn="l">
                <a:spcBef>
                  <a:spcPts val="936"/>
                </a:spcBef>
                <a:spcAft>
                  <a:spcPts val="0"/>
                </a:spcAft>
                <a:buClr>
                  <a:srgbClr val="475569"/>
                </a:buClr>
                <a:buSzPts val="1040"/>
                <a:buFont typeface="Poppins"/>
                <a:buChar char="●"/>
              </a:pPr>
              <a:r>
                <a:rPr b="1" lang="en" sz="1040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Waterbury Leads:</a:t>
              </a:r>
              <a:r>
                <a:rPr lang="en" sz="104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Consistently records the highest birth numbers in the district, rising to 52 in 2024.</a:t>
              </a:r>
              <a:endParaRPr sz="104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3735" lvl="0" marL="475412" rtl="0" algn="l">
                <a:spcBef>
                  <a:spcPts val="936"/>
                </a:spcBef>
                <a:spcAft>
                  <a:spcPts val="0"/>
                </a:spcAft>
                <a:buClr>
                  <a:srgbClr val="475569"/>
                </a:buClr>
                <a:buSzPts val="1040"/>
                <a:buFont typeface="Poppins"/>
                <a:buChar char="●"/>
              </a:pPr>
              <a:r>
                <a:rPr b="1" lang="en" sz="1040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Declining Areas:</a:t>
              </a:r>
              <a:r>
                <a:rPr lang="en" sz="104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Fayston and Warren saw notable decreases, dropping to just 4 and 1 births respectively in 2024.</a:t>
              </a:r>
              <a:endParaRPr sz="104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3735" lvl="0" marL="475412" rtl="0" algn="l">
                <a:spcBef>
                  <a:spcPts val="936"/>
                </a:spcBef>
                <a:spcAft>
                  <a:spcPts val="0"/>
                </a:spcAft>
                <a:buClr>
                  <a:srgbClr val="475569"/>
                </a:buClr>
                <a:buSzPts val="1040"/>
                <a:buFont typeface="Poppins"/>
                <a:buChar char="●"/>
              </a:pPr>
              <a:r>
                <a:rPr b="1" lang="en" sz="1040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Pipeline Impact:</a:t>
              </a:r>
              <a:r>
                <a:rPr lang="en" sz="104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Highly localized birth variations directly influence future elementary school enrollment and class sizes.</a:t>
              </a:r>
              <a:endParaRPr sz="104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610" name="Google Shape;610;p51"/>
          <p:cNvGraphicFramePr/>
          <p:nvPr/>
        </p:nvGraphicFramePr>
        <p:xfrm>
          <a:off x="184813" y="146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{0203AE6C-9510-406E-8E5A-D4FC3044A213}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51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Year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Fayston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Duxbury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Moretown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Waitsfield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Waterbury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Warren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5" name="Google Shape;615;p52"/>
          <p:cNvGraphicFramePr/>
          <p:nvPr/>
        </p:nvGraphicFramePr>
        <p:xfrm>
          <a:off x="381000" y="10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{3DEB7BC5-1B2D-4D93-9549-F39EA27DA5CA}</a:tableStyleId>
              </a:tblPr>
              <a:tblGrid>
                <a:gridCol w="971550"/>
                <a:gridCol w="971550"/>
                <a:gridCol w="971550"/>
                <a:gridCol w="971550"/>
                <a:gridCol w="971550"/>
              </a:tblGrid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1B38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Birth Year</a:t>
                      </a:r>
                      <a:endParaRPr b="1" sz="950">
                        <a:solidFill>
                          <a:srgbClr val="1B38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1B38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Births</a:t>
                      </a:r>
                      <a:endParaRPr b="1" sz="950">
                        <a:solidFill>
                          <a:srgbClr val="1B38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1B38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 Year</a:t>
                      </a:r>
                      <a:endParaRPr b="1" sz="950">
                        <a:solidFill>
                          <a:srgbClr val="1B38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1B38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Seniors</a:t>
                      </a:r>
                      <a:endParaRPr b="1" sz="950">
                        <a:solidFill>
                          <a:srgbClr val="1B38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1B38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 (+/-)</a:t>
                      </a:r>
                      <a:endParaRPr b="1" sz="950">
                        <a:solidFill>
                          <a:srgbClr val="1B38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130</a:t>
                      </a:r>
                      <a:endParaRPr b="0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B4464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-35</a:t>
                      </a:r>
                      <a:endParaRPr b="1" sz="950">
                        <a:solidFill>
                          <a:srgbClr val="B4464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38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</a:t>
                      </a:r>
                      <a:endParaRPr b="0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B4464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-5</a:t>
                      </a:r>
                      <a:endParaRPr b="1" sz="950">
                        <a:solidFill>
                          <a:srgbClr val="B4464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122</a:t>
                      </a:r>
                      <a:endParaRPr b="0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B4464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-24</a:t>
                      </a:r>
                      <a:endParaRPr b="1" sz="950">
                        <a:solidFill>
                          <a:srgbClr val="B4464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119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119</a:t>
                      </a:r>
                      <a:endParaRPr b="0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2F85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1" sz="950">
                        <a:solidFill>
                          <a:srgbClr val="2F855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107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2027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b="0" sz="950">
                        <a:solidFill>
                          <a:srgbClr val="94A3B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b="0" sz="950">
                        <a:solidFill>
                          <a:srgbClr val="94A3B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107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2028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b="0" sz="950">
                        <a:solidFill>
                          <a:srgbClr val="94A3B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b="0" sz="950">
                        <a:solidFill>
                          <a:srgbClr val="94A3B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</a:t>
                      </a:r>
                      <a:endParaRPr b="1" sz="950">
                        <a:solidFill>
                          <a:srgbClr val="0F172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2029</a:t>
                      </a:r>
                      <a:endParaRPr b="0" sz="950">
                        <a:solidFill>
                          <a:srgbClr val="3341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b="0" sz="950">
                        <a:solidFill>
                          <a:srgbClr val="94A3B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50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b="0" sz="950">
                        <a:solidFill>
                          <a:srgbClr val="94A3B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666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16" name="Google Shape;616;p52"/>
          <p:cNvGrpSpPr/>
          <p:nvPr/>
        </p:nvGrpSpPr>
        <p:grpSpPr>
          <a:xfrm>
            <a:off x="5429250" y="1095375"/>
            <a:ext cx="3333900" cy="3619500"/>
            <a:chOff x="0" y="0"/>
            <a:chExt cx="3333900" cy="3619500"/>
          </a:xfrm>
        </p:grpSpPr>
        <p:sp>
          <p:nvSpPr>
            <p:cNvPr id="617" name="Google Shape;617;p52"/>
            <p:cNvSpPr/>
            <p:nvPr/>
          </p:nvSpPr>
          <p:spPr>
            <a:xfrm>
              <a:off x="0" y="0"/>
              <a:ext cx="3333900" cy="36195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2"/>
            <p:cNvSpPr/>
            <p:nvPr/>
          </p:nvSpPr>
          <p:spPr>
            <a:xfrm>
              <a:off x="0" y="0"/>
              <a:ext cx="57300" cy="3619500"/>
            </a:xfrm>
            <a:prstGeom prst="roundRect">
              <a:avLst>
                <a:gd fmla="val 50000" name="adj"/>
              </a:avLst>
            </a:prstGeom>
            <a:solidFill>
              <a:srgbClr val="1B38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2"/>
            <p:cNvSpPr txBox="1"/>
            <p:nvPr/>
          </p:nvSpPr>
          <p:spPr>
            <a:xfrm>
              <a:off x="209550" y="171450"/>
              <a:ext cx="2952900" cy="3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B3859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Pipeline Analysis</a:t>
              </a:r>
              <a:endParaRPr b="0" sz="1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B44647"/>
                  </a:solidFill>
                  <a:latin typeface="Poppins"/>
                  <a:ea typeface="Poppins"/>
                  <a:cs typeface="Poppins"/>
                  <a:sym typeface="Poppins"/>
                </a:rPr>
                <a:t>Outflow Outpaces Inflow</a:t>
              </a:r>
              <a:endParaRPr b="1" sz="950">
                <a:solidFill>
                  <a:srgbClr val="B4464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Graduating classes have consistently been larger than incoming resident birth cohorts (average gap of ~16 students).</a:t>
              </a:r>
              <a:endParaRPr b="0" sz="8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46F90"/>
                  </a:solidFill>
                  <a:latin typeface="Poppins"/>
                  <a:ea typeface="Poppins"/>
                  <a:cs typeface="Poppins"/>
                  <a:sym typeface="Poppins"/>
                </a:rPr>
                <a:t>Future Enrollment Impact</a:t>
              </a:r>
              <a:endParaRPr b="1" sz="950">
                <a:solidFill>
                  <a:srgbClr val="346F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As larger graduating classes leave the district, smaller incoming PK cohorts will create a net contraction in overall K–12 enrollment.</a:t>
              </a:r>
              <a:endParaRPr b="0" sz="8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B3859"/>
                  </a:solidFill>
                  <a:latin typeface="Poppins"/>
                  <a:ea typeface="Poppins"/>
                  <a:cs typeface="Poppins"/>
                  <a:sym typeface="Poppins"/>
                </a:rPr>
                <a:t>Key Takeaway</a:t>
              </a:r>
              <a:endParaRPr b="1" sz="950">
                <a:solidFill>
                  <a:srgbClr val="1B385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8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Planning must account for long-term class size structural adjustments across all campus levels.</a:t>
              </a:r>
              <a:endParaRPr b="0" i="1" sz="8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20" name="Google Shape;620;p52"/>
          <p:cNvSpPr txBox="1"/>
          <p:nvPr>
            <p:ph type="title"/>
          </p:nvPr>
        </p:nvSpPr>
        <p:spPr>
          <a:xfrm>
            <a:off x="381000" y="333375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B385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Tracking Incoming PK to Graduates</a:t>
            </a:r>
            <a:endParaRPr b="0" sz="2200">
              <a:solidFill>
                <a:srgbClr val="1B3859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Comparing resident birth cohorts with graduating senior class sizes to track long-term pipeline trends</a:t>
            </a:r>
            <a:endParaRPr b="0" sz="1100">
              <a:solidFill>
                <a:srgbClr val="64748B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3"/>
          <p:cNvSpPr txBox="1"/>
          <p:nvPr/>
        </p:nvSpPr>
        <p:spPr>
          <a:xfrm>
            <a:off x="457200" y="82350"/>
            <a:ext cx="82296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50">
                <a:solidFill>
                  <a:srgbClr val="0D9488"/>
                </a:solidFill>
                <a:highlight>
                  <a:srgbClr val="CCFBF1"/>
                </a:highlight>
                <a:latin typeface="Inter"/>
                <a:ea typeface="Inter"/>
                <a:cs typeface="Inter"/>
                <a:sym typeface="Inter"/>
              </a:rPr>
              <a:t>SCENARIO 02</a:t>
            </a:r>
            <a:endParaRPr sz="2400">
              <a:solidFill>
                <a:srgbClr val="0D9488"/>
              </a:solidFill>
              <a:highlight>
                <a:srgbClr val="CCFBF1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Valley Elementary Consolidation</a:t>
            </a:r>
            <a:endParaRPr b="0" sz="24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Financial evaluation and outcomes of restructuring elementary school facilities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26" name="Google Shape;626;p53"/>
          <p:cNvGrpSpPr/>
          <p:nvPr/>
        </p:nvGrpSpPr>
        <p:grpSpPr>
          <a:xfrm>
            <a:off x="457200" y="1095375"/>
            <a:ext cx="4038600" cy="3667200"/>
            <a:chOff x="0" y="0"/>
            <a:chExt cx="4038600" cy="3667200"/>
          </a:xfrm>
        </p:grpSpPr>
        <p:sp>
          <p:nvSpPr>
            <p:cNvPr id="627" name="Google Shape;627;p53"/>
            <p:cNvSpPr/>
            <p:nvPr/>
          </p:nvSpPr>
          <p:spPr>
            <a:xfrm>
              <a:off x="0" y="0"/>
              <a:ext cx="4038600" cy="3667200"/>
            </a:xfrm>
            <a:prstGeom prst="roundRect">
              <a:avLst>
                <a:gd fmla="val 311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3"/>
            <p:cNvSpPr/>
            <p:nvPr/>
          </p:nvSpPr>
          <p:spPr>
            <a:xfrm>
              <a:off x="0" y="0"/>
              <a:ext cx="40386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3"/>
            <p:cNvSpPr txBox="1"/>
            <p:nvPr/>
          </p:nvSpPr>
          <p:spPr>
            <a:xfrm>
              <a:off x="190500" y="171450"/>
              <a:ext cx="36576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766E"/>
                  </a:solidFill>
                  <a:highlight>
                    <a:srgbClr val="CCFBF1"/>
                  </a:highlight>
                  <a:latin typeface="Inter"/>
                  <a:ea typeface="Inter"/>
                  <a:cs typeface="Inter"/>
                  <a:sym typeface="Inter"/>
                </a:rPr>
                <a:t>PROPOSAL SCOPE: 4 SCHOOLS ➜ 2 SCHOOLS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Educational Efficiencies</a:t>
              </a:r>
              <a:endParaRPr b="0" sz="15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What educational and financial efficiencies could result from consolidating 4 valley elementary schools into 2?</a:t>
              </a:r>
              <a:endParaRPr b="0" sz="950">
                <a:solidFill>
                  <a:srgbClr val="334155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KEY EDUCATIONAL OUTCOMES</a:t>
              </a:r>
              <a:endParaRPr b="1" sz="85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More flexible staff and scheduling across grade levels</a:t>
              </a:r>
              <a:endParaRPr b="0" sz="9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Greater opportunities for peer interaction and collaborative learning</a:t>
              </a:r>
              <a:endParaRPr b="0" sz="9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More consistent access to specialized instruction, interventions, and support</a:t>
              </a:r>
              <a:endParaRPr b="0" sz="9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Elimination of shared staff and travel time across buildings</a:t>
              </a:r>
              <a:endParaRPr b="0" sz="9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 Medium"/>
                <a:buChar char="●"/>
              </a:pPr>
              <a:r>
                <a:rPr lang="en" sz="9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Full time nurse at each location</a:t>
              </a:r>
              <a:endParaRPr sz="9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575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E293B"/>
                </a:buClr>
                <a:buSzPts val="900"/>
                <a:buFont typeface="Inter"/>
                <a:buChar char="●"/>
              </a:pPr>
              <a:r>
                <a:rPr b="0" lang="en" sz="9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More robust educational experiences</a:t>
              </a:r>
              <a:endParaRPr b="0" sz="9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30" name="Google Shape;630;p53"/>
          <p:cNvGrpSpPr/>
          <p:nvPr/>
        </p:nvGrpSpPr>
        <p:grpSpPr>
          <a:xfrm>
            <a:off x="4724400" y="1095375"/>
            <a:ext cx="4038600" cy="3667200"/>
            <a:chOff x="0" y="0"/>
            <a:chExt cx="4038600" cy="3667200"/>
          </a:xfrm>
        </p:grpSpPr>
        <p:sp>
          <p:nvSpPr>
            <p:cNvPr id="631" name="Google Shape;631;p53"/>
            <p:cNvSpPr/>
            <p:nvPr/>
          </p:nvSpPr>
          <p:spPr>
            <a:xfrm>
              <a:off x="0" y="0"/>
              <a:ext cx="4038600" cy="3667200"/>
            </a:xfrm>
            <a:prstGeom prst="roundRect">
              <a:avLst>
                <a:gd fmla="val 311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3"/>
            <p:cNvSpPr/>
            <p:nvPr/>
          </p:nvSpPr>
          <p:spPr>
            <a:xfrm>
              <a:off x="0" y="0"/>
              <a:ext cx="40386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3"/>
            <p:cNvSpPr txBox="1"/>
            <p:nvPr/>
          </p:nvSpPr>
          <p:spPr>
            <a:xfrm>
              <a:off x="190500" y="190500"/>
              <a:ext cx="3657600" cy="328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FINANCIAL IMPACT &amp; EFFICIENCIES</a:t>
              </a:r>
              <a:endParaRPr b="1" sz="85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 would achieve consolidation cost efficiencies of:</a:t>
              </a:r>
              <a:endParaRPr b="0" sz="11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~$</a:t>
              </a:r>
              <a:r>
                <a:rPr lang="en" sz="340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2,136,443   </a:t>
              </a:r>
              <a:endParaRPr sz="340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15803D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ESTIMATED ANNUAL OPERATING SAVINGS</a:t>
              </a:r>
              <a:endParaRPr b="1" sz="850">
                <a:solidFill>
                  <a:srgbClr val="15803D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0F766E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F766E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KEY OUTCOME</a:t>
              </a:r>
              <a:endParaRPr b="1" sz="800">
                <a:solidFill>
                  <a:srgbClr val="0F766E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E293B"/>
                  </a:solidFill>
                  <a:highlight>
                    <a:srgbClr val="F8FAFC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Significant annual operating savings redirected to educational quality and staff retention.</a:t>
              </a:r>
              <a:endParaRPr b="0" sz="1000">
                <a:solidFill>
                  <a:srgbClr val="1E293B"/>
                </a:solidFill>
                <a:highlight>
                  <a:srgbClr val="F8FAFC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4"/>
          <p:cNvSpPr txBox="1"/>
          <p:nvPr/>
        </p:nvSpPr>
        <p:spPr>
          <a:xfrm>
            <a:off x="457200" y="3429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SCENARIO 03</a:t>
            </a:r>
            <a:r>
              <a:rPr lang="en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1" lang="en" sz="9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Middle Schools Merger  </a:t>
            </a:r>
            <a:endParaRPr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39" name="Google Shape;639;p54"/>
          <p:cNvGrpSpPr/>
          <p:nvPr/>
        </p:nvGrpSpPr>
        <p:grpSpPr>
          <a:xfrm>
            <a:off x="457200" y="1095375"/>
            <a:ext cx="4038600" cy="3667200"/>
            <a:chOff x="0" y="0"/>
            <a:chExt cx="4038600" cy="3667200"/>
          </a:xfrm>
        </p:grpSpPr>
        <p:sp>
          <p:nvSpPr>
            <p:cNvPr id="640" name="Google Shape;640;p54"/>
            <p:cNvSpPr/>
            <p:nvPr/>
          </p:nvSpPr>
          <p:spPr>
            <a:xfrm>
              <a:off x="0" y="0"/>
              <a:ext cx="4038600" cy="3667200"/>
            </a:xfrm>
            <a:prstGeom prst="roundRect">
              <a:avLst>
                <a:gd fmla="val 311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4"/>
            <p:cNvSpPr/>
            <p:nvPr/>
          </p:nvSpPr>
          <p:spPr>
            <a:xfrm>
              <a:off x="0" y="0"/>
              <a:ext cx="4038600" cy="573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D4ED8"/>
                </a:solidFill>
              </a:endParaRPr>
            </a:p>
          </p:txBody>
        </p:sp>
        <p:sp>
          <p:nvSpPr>
            <p:cNvPr id="642" name="Google Shape;642;p54"/>
            <p:cNvSpPr txBox="1"/>
            <p:nvPr/>
          </p:nvSpPr>
          <p:spPr>
            <a:xfrm>
              <a:off x="190500" y="171450"/>
              <a:ext cx="36576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4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Middle Schools Merger 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" sz="879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Schools ➜ 1 School</a:t>
              </a:r>
              <a:endParaRPr b="1" i="0" sz="87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4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 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694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i="0" sz="69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879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are the cost efficiencies if we were to consolidate 2 middle schools into 1 middle school?</a:t>
              </a:r>
              <a:endParaRPr b="1" i="0" sz="87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0" lang="en" sz="124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 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86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KEY EDUCATIONAL OUTCOMES</a:t>
              </a:r>
              <a:endParaRPr b="1" i="0" sz="786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896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249"/>
                <a:buFont typeface="Inter"/>
                <a:buChar char="●"/>
              </a:pPr>
              <a:r>
                <a:rPr b="0" i="0" lang="en" sz="833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Expanded academic electives, athletics, and extracurricular offerings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896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0F172A"/>
                </a:buClr>
                <a:buSzPts val="1249"/>
                <a:buFont typeface="Inter"/>
                <a:buChar char="●"/>
              </a:pPr>
              <a:r>
                <a:rPr b="0" i="0" lang="en" sz="833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Dedicated grade-level teacher teams and enhanced peer collaboration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896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0F172A"/>
                </a:buClr>
                <a:buSzPts val="1249"/>
                <a:buFont typeface="Inter"/>
                <a:buChar char="●"/>
              </a:pPr>
              <a:r>
                <a:rPr b="0" i="0" lang="en" sz="833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Consolidated special education, counseling, and intervention support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896" lvl="0" marL="457200" rtl="0" algn="l">
                <a:spcBef>
                  <a:spcPts val="375"/>
                </a:spcBef>
                <a:spcAft>
                  <a:spcPts val="375"/>
                </a:spcAft>
                <a:buClr>
                  <a:srgbClr val="0F172A"/>
                </a:buClr>
                <a:buSzPts val="1249"/>
                <a:buFont typeface="Inter"/>
                <a:buChar char="●"/>
              </a:pPr>
              <a:r>
                <a:rPr b="0" i="0" lang="en" sz="833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More equitable access to advanced coursework and specialized facilities</a:t>
              </a:r>
              <a:endParaRPr b="1" i="0" sz="124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3" name="Google Shape;643;p54"/>
          <p:cNvGrpSpPr/>
          <p:nvPr/>
        </p:nvGrpSpPr>
        <p:grpSpPr>
          <a:xfrm>
            <a:off x="4724400" y="1095375"/>
            <a:ext cx="4038600" cy="3667200"/>
            <a:chOff x="0" y="0"/>
            <a:chExt cx="4038600" cy="3667200"/>
          </a:xfrm>
        </p:grpSpPr>
        <p:sp>
          <p:nvSpPr>
            <p:cNvPr id="644" name="Google Shape;644;p54"/>
            <p:cNvSpPr/>
            <p:nvPr/>
          </p:nvSpPr>
          <p:spPr>
            <a:xfrm>
              <a:off x="0" y="0"/>
              <a:ext cx="4038600" cy="3667200"/>
            </a:xfrm>
            <a:prstGeom prst="roundRect">
              <a:avLst>
                <a:gd fmla="val 3116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4"/>
            <p:cNvSpPr/>
            <p:nvPr/>
          </p:nvSpPr>
          <p:spPr>
            <a:xfrm>
              <a:off x="0" y="0"/>
              <a:ext cx="40386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4"/>
            <p:cNvSpPr txBox="1"/>
            <p:nvPr/>
          </p:nvSpPr>
          <p:spPr>
            <a:xfrm>
              <a:off x="190500" y="190500"/>
              <a:ext cx="3657600" cy="328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FINANCIAL IMPACT &amp; EFFICIENCIES</a:t>
              </a:r>
              <a:endParaRPr b="1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 would achieve consolidation cost efficiencies of:</a:t>
              </a:r>
              <a:endParaRPr b="0" sz="11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~$1,783,0</a:t>
              </a:r>
              <a:r>
                <a:rPr lang="en" sz="34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sz="34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ESTIMATED ANNUAL OPERATING SAVINGS</a:t>
              </a:r>
              <a:endParaRPr b="1" sz="850">
                <a:solidFill>
                  <a:srgbClr val="2563EB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2563E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2563E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563EB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KEY OUTCOME</a:t>
              </a:r>
              <a:endParaRPr b="1" sz="800">
                <a:solidFill>
                  <a:srgbClr val="2563E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E293B"/>
                  </a:solidFill>
                  <a:highlight>
                    <a:srgbClr val="F8FAFC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Significant annual operating savings redirected to educational quality and staff retention.</a:t>
              </a:r>
              <a:endParaRPr b="0" sz="1000">
                <a:solidFill>
                  <a:srgbClr val="1E293B"/>
                </a:solidFill>
                <a:highlight>
                  <a:srgbClr val="F8FAFC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5"/>
          <p:cNvSpPr txBox="1"/>
          <p:nvPr/>
        </p:nvSpPr>
        <p:spPr>
          <a:xfrm>
            <a:off x="4572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Combined School Consolidation Impact</a:t>
            </a:r>
            <a:endParaRPr b="0"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853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Comprehensive educational outcomes and combined financial efficiencies from facility restructuring</a:t>
            </a:r>
            <a:endParaRPr b="0" sz="853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52" name="Google Shape;652;p55"/>
          <p:cNvGrpSpPr/>
          <p:nvPr/>
        </p:nvGrpSpPr>
        <p:grpSpPr>
          <a:xfrm>
            <a:off x="457200" y="1047750"/>
            <a:ext cx="2590800" cy="3762300"/>
            <a:chOff x="0" y="0"/>
            <a:chExt cx="2590800" cy="3762300"/>
          </a:xfrm>
        </p:grpSpPr>
        <p:sp>
          <p:nvSpPr>
            <p:cNvPr id="653" name="Google Shape;653;p55"/>
            <p:cNvSpPr/>
            <p:nvPr/>
          </p:nvSpPr>
          <p:spPr>
            <a:xfrm>
              <a:off x="0" y="0"/>
              <a:ext cx="2590800" cy="37623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55"/>
            <p:cNvSpPr/>
            <p:nvPr/>
          </p:nvSpPr>
          <p:spPr>
            <a:xfrm>
              <a:off x="0" y="0"/>
              <a:ext cx="25908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55"/>
            <p:cNvSpPr txBox="1"/>
            <p:nvPr/>
          </p:nvSpPr>
          <p:spPr>
            <a:xfrm>
              <a:off x="171450" y="171450"/>
              <a:ext cx="2247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Elementary Consolidation</a:t>
              </a:r>
              <a:endParaRPr b="1" sz="12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659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 Schools ➜ 2 Schools</a:t>
              </a:r>
              <a:endParaRPr b="0" sz="659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sz="58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9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efficiencies result from consolidating 4 valley elementary schools into 2?</a:t>
              </a:r>
              <a:endParaRPr sz="65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KEY EDUCATIONAL OUTCOMES</a:t>
              </a:r>
              <a:endParaRPr b="1" sz="581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0431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More flexible staff &amp; scheduling across grades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Greater peer interaction &amp; collaborative learning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Consistent access to specialized instruction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Elimination of shared staff travel time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Increased nursing staff &amp; support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SUBTOTAL SAVINGS</a:t>
              </a:r>
              <a:endParaRPr b="1" sz="581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~$</a:t>
              </a:r>
              <a:r>
                <a:rPr lang="en" sz="1800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2,136,443</a:t>
              </a:r>
              <a:endParaRPr b="0" sz="1800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56" name="Google Shape;656;p55"/>
          <p:cNvGrpSpPr/>
          <p:nvPr/>
        </p:nvGrpSpPr>
        <p:grpSpPr>
          <a:xfrm>
            <a:off x="3276600" y="1047750"/>
            <a:ext cx="2590800" cy="3762300"/>
            <a:chOff x="0" y="0"/>
            <a:chExt cx="2590800" cy="3762300"/>
          </a:xfrm>
        </p:grpSpPr>
        <p:sp>
          <p:nvSpPr>
            <p:cNvPr id="657" name="Google Shape;657;p55"/>
            <p:cNvSpPr/>
            <p:nvPr/>
          </p:nvSpPr>
          <p:spPr>
            <a:xfrm>
              <a:off x="0" y="0"/>
              <a:ext cx="2590800" cy="37623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55"/>
            <p:cNvSpPr/>
            <p:nvPr/>
          </p:nvSpPr>
          <p:spPr>
            <a:xfrm>
              <a:off x="0" y="0"/>
              <a:ext cx="25908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55"/>
            <p:cNvSpPr txBox="1"/>
            <p:nvPr/>
          </p:nvSpPr>
          <p:spPr>
            <a:xfrm>
              <a:off x="171450" y="171450"/>
              <a:ext cx="2247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Middle Schools Merger</a:t>
              </a:r>
              <a:endParaRPr b="1" sz="12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b="0" lang="en" sz="659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 Schools ➜ 1 School</a:t>
              </a:r>
              <a:endParaRPr b="0" sz="659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EVALUATION QUESTION</a:t>
              </a:r>
              <a:endParaRPr b="1" sz="58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9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cost efficiencies exist by consolidating 2 middle schools into 1?</a:t>
              </a:r>
              <a:endParaRPr sz="65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KEY EDUCATIONAL OUTCOMES</a:t>
              </a:r>
              <a:endParaRPr b="1" sz="58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70431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Expanded electives, athletics &amp; extracurriculars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Dedicated grade-level teacher teams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Consolidated special education &amp; counseling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70431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659"/>
                <a:buFont typeface="Inter"/>
                <a:buChar char="●"/>
              </a:pPr>
              <a:r>
                <a:rPr b="0" lang="en" sz="659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Equitable access to advanced coursework</a:t>
              </a:r>
              <a:endParaRPr b="0" sz="659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SUBTOTAL SAVINGS</a:t>
              </a:r>
              <a:endParaRPr b="1" sz="58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~$1,783,0</a:t>
              </a:r>
              <a:r>
                <a:rPr lang="en" sz="18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18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60" name="Google Shape;660;p55"/>
          <p:cNvGrpSpPr/>
          <p:nvPr/>
        </p:nvGrpSpPr>
        <p:grpSpPr>
          <a:xfrm>
            <a:off x="6096000" y="1047750"/>
            <a:ext cx="2590800" cy="3762300"/>
            <a:chOff x="0" y="0"/>
            <a:chExt cx="2590800" cy="3762300"/>
          </a:xfrm>
        </p:grpSpPr>
        <p:sp>
          <p:nvSpPr>
            <p:cNvPr id="661" name="Google Shape;661;p55"/>
            <p:cNvSpPr/>
            <p:nvPr/>
          </p:nvSpPr>
          <p:spPr>
            <a:xfrm>
              <a:off x="0" y="0"/>
              <a:ext cx="2590800" cy="3762300"/>
            </a:xfrm>
            <a:prstGeom prst="roundRect">
              <a:avLst>
                <a:gd fmla="val 4411" name="adj"/>
              </a:avLst>
            </a:prstGeom>
            <a:solidFill>
              <a:srgbClr val="F0FDF4"/>
            </a:solidFill>
            <a:ln cap="flat" cmpd="sng" w="14300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5"/>
            <p:cNvSpPr/>
            <p:nvPr/>
          </p:nvSpPr>
          <p:spPr>
            <a:xfrm>
              <a:off x="0" y="0"/>
              <a:ext cx="2590800" cy="573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5"/>
            <p:cNvSpPr txBox="1"/>
            <p:nvPr/>
          </p:nvSpPr>
          <p:spPr>
            <a:xfrm>
              <a:off x="171450" y="228600"/>
              <a:ext cx="22479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TOTAL POTENTIAL IMPACT</a:t>
              </a:r>
              <a:endParaRPr b="1" sz="58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3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Combined Annual Operating Savings</a:t>
              </a:r>
              <a:endParaRPr b="0" sz="853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248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~$3,</a:t>
              </a:r>
              <a:r>
                <a:rPr lang="en" sz="248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919,448</a:t>
              </a:r>
              <a:endParaRPr b="0" sz="248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9">
                  <a:solidFill>
                    <a:srgbClr val="15803D"/>
                  </a:solidFill>
                  <a:highlight>
                    <a:srgbClr val="DCFCE7"/>
                  </a:highlight>
                  <a:latin typeface="Inter"/>
                  <a:ea typeface="Inter"/>
                  <a:cs typeface="Inter"/>
                  <a:sym typeface="Inter"/>
                </a:rPr>
                <a:t>ESTIMATED ANNUAL OPERATING SAVINGS</a:t>
              </a:r>
              <a:endParaRPr b="1" sz="659">
                <a:solidFill>
                  <a:srgbClr val="15803D"/>
                </a:solidFill>
                <a:highlight>
                  <a:srgbClr val="DCFCE7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" sz="58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KEY STRATEGIC OUTCOME</a:t>
              </a:r>
              <a:endParaRPr b="1" sz="58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Substantial long-term budget sustainability with savings directly redirected to educational quality, student support, and staff retention.</a:t>
              </a:r>
              <a:endParaRPr b="0" sz="736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6"/>
          <p:cNvSpPr txBox="1"/>
          <p:nvPr/>
        </p:nvSpPr>
        <p:spPr>
          <a:xfrm>
            <a:off x="457200" y="304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Cost savings of potential efficiency</a:t>
            </a:r>
            <a:endParaRPr b="0"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categories for expenditure reduction and operational consolidation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69" name="Google Shape;669;p56"/>
          <p:cNvGrpSpPr/>
          <p:nvPr/>
        </p:nvGrpSpPr>
        <p:grpSpPr>
          <a:xfrm>
            <a:off x="457200" y="1066800"/>
            <a:ext cx="3962400" cy="800100"/>
            <a:chOff x="0" y="0"/>
            <a:chExt cx="3962400" cy="800100"/>
          </a:xfrm>
        </p:grpSpPr>
        <p:sp>
          <p:nvSpPr>
            <p:cNvPr id="670" name="Google Shape;670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Staffing and schedules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Reduce duplicated administrative, support and </a:t>
              </a:r>
              <a:r>
                <a:rPr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-level staffing where responsibilities can be combined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73" name="Google Shape;673;p56"/>
          <p:cNvGrpSpPr/>
          <p:nvPr/>
        </p:nvGrpSpPr>
        <p:grpSpPr>
          <a:xfrm>
            <a:off x="457200" y="1962150"/>
            <a:ext cx="3962400" cy="800100"/>
            <a:chOff x="0" y="0"/>
            <a:chExt cx="3962400" cy="800100"/>
          </a:xfrm>
        </p:grpSpPr>
        <p:sp>
          <p:nvSpPr>
            <p:cNvPr id="674" name="Google Shape;674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Classroom staffing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Better align classroom staffing and class sizes with enrollment, reducing </a:t>
              </a:r>
              <a:r>
                <a:rPr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underutilized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sections where educationally appropriate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77" name="Google Shape;677;p56"/>
          <p:cNvGrpSpPr/>
          <p:nvPr/>
        </p:nvGrpSpPr>
        <p:grpSpPr>
          <a:xfrm>
            <a:off x="457200" y="2857500"/>
            <a:ext cx="3962400" cy="800100"/>
            <a:chOff x="0" y="0"/>
            <a:chExt cx="3962400" cy="800100"/>
          </a:xfrm>
        </p:grpSpPr>
        <p:sp>
          <p:nvSpPr>
            <p:cNvPr id="678" name="Google Shape;678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Building Operations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Reduce duplicated services, utilities, building-operational costs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1" name="Google Shape;681;p56"/>
          <p:cNvGrpSpPr/>
          <p:nvPr/>
        </p:nvGrpSpPr>
        <p:grpSpPr>
          <a:xfrm>
            <a:off x="457200" y="3752850"/>
            <a:ext cx="3962400" cy="800100"/>
            <a:chOff x="0" y="0"/>
            <a:chExt cx="3962400" cy="800100"/>
          </a:xfrm>
        </p:grpSpPr>
        <p:sp>
          <p:nvSpPr>
            <p:cNvPr id="682" name="Google Shape;682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Special education and student support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Coordinate </a:t>
              </a:r>
              <a:r>
                <a:rPr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specialized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staff, intervention services, and student supports across fewer </a:t>
              </a:r>
              <a:r>
                <a:rPr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buildings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5" name="Google Shape;685;p56"/>
          <p:cNvGrpSpPr/>
          <p:nvPr/>
        </p:nvGrpSpPr>
        <p:grpSpPr>
          <a:xfrm>
            <a:off x="4724400" y="1066800"/>
            <a:ext cx="3962400" cy="800100"/>
            <a:chOff x="0" y="0"/>
            <a:chExt cx="3962400" cy="800100"/>
          </a:xfrm>
        </p:grpSpPr>
        <p:sp>
          <p:nvSpPr>
            <p:cNvPr id="686" name="Google Shape;686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Suppliers and services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Consolidate purchasing, equipment, technology, subscriptions, and vendor contracts where possible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9" name="Google Shape;689;p56"/>
          <p:cNvGrpSpPr/>
          <p:nvPr/>
        </p:nvGrpSpPr>
        <p:grpSpPr>
          <a:xfrm>
            <a:off x="4724400" y="1962150"/>
            <a:ext cx="3962400" cy="800100"/>
            <a:chOff x="0" y="0"/>
            <a:chExt cx="3962400" cy="800100"/>
          </a:xfrm>
        </p:grpSpPr>
        <p:sp>
          <p:nvSpPr>
            <p:cNvPr id="690" name="Google Shape;690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Capital and maintenance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Reduce the number of active building requiring ongoing-repairs, building-system replacements, and long-term capital investments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3" name="Google Shape;693;p56"/>
          <p:cNvGrpSpPr/>
          <p:nvPr/>
        </p:nvGrpSpPr>
        <p:grpSpPr>
          <a:xfrm>
            <a:off x="4724400" y="2857500"/>
            <a:ext cx="3962400" cy="800100"/>
            <a:chOff x="0" y="0"/>
            <a:chExt cx="3962400" cy="800100"/>
          </a:xfrm>
        </p:grpSpPr>
        <p:sp>
          <p:nvSpPr>
            <p:cNvPr id="694" name="Google Shape;694;p56"/>
            <p:cNvSpPr/>
            <p:nvPr/>
          </p:nvSpPr>
          <p:spPr>
            <a:xfrm>
              <a:off x="0" y="0"/>
              <a:ext cx="39624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56"/>
            <p:cNvSpPr/>
            <p:nvPr/>
          </p:nvSpPr>
          <p:spPr>
            <a:xfrm>
              <a:off x="0" y="0"/>
              <a:ext cx="47700" cy="8001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56"/>
            <p:cNvSpPr txBox="1"/>
            <p:nvPr/>
          </p:nvSpPr>
          <p:spPr>
            <a:xfrm>
              <a:off x="171450" y="0"/>
              <a:ext cx="363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Facility disposition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Evaluate potential use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7"/>
          <p:cNvSpPr txBox="1"/>
          <p:nvPr>
            <p:ph type="title"/>
          </p:nvPr>
        </p:nvSpPr>
        <p:spPr>
          <a:xfrm>
            <a:off x="457200" y="342900"/>
            <a:ext cx="82296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Building Capacity and Wastewater permitting</a:t>
            </a:r>
            <a:endParaRPr b="0" i="0"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02" name="Google Shape;702;p57"/>
          <p:cNvSpPr/>
          <p:nvPr/>
        </p:nvSpPr>
        <p:spPr>
          <a:xfrm>
            <a:off x="457200" y="1000125"/>
            <a:ext cx="8229600" cy="37149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7"/>
          <p:cNvSpPr/>
          <p:nvPr/>
        </p:nvSpPr>
        <p:spPr>
          <a:xfrm>
            <a:off x="457200" y="1000125"/>
            <a:ext cx="8229600" cy="57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4" name="Google Shape;704;p57"/>
          <p:cNvGraphicFramePr/>
          <p:nvPr/>
        </p:nvGraphicFramePr>
        <p:xfrm>
          <a:off x="685800" y="11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{3DEB7BC5-1B2D-4D93-9549-F39EA27DA5CA}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1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E40AF"/>
                          </a:solidFill>
                        </a:rPr>
                        <a:t>Facility / School</a:t>
                      </a:r>
                      <a:endParaRPr b="1" sz="1100">
                        <a:solidFill>
                          <a:srgbClr val="1E40AF"/>
                        </a:solidFill>
                      </a:endParaRPr>
                    </a:p>
                  </a:txBody>
                  <a:tcPr marT="114300" marB="11430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E40AF"/>
                          </a:solidFill>
                        </a:rPr>
                        <a:t>Occupants</a:t>
                      </a:r>
                      <a:endParaRPr b="1" sz="1100">
                        <a:solidFill>
                          <a:srgbClr val="1E40AF"/>
                        </a:solidFill>
                      </a:endParaRPr>
                    </a:p>
                  </a:txBody>
                  <a:tcPr marT="114300" marB="11430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E40AF"/>
                          </a:solidFill>
                        </a:rPr>
                        <a:t>WasteWater Permitting</a:t>
                      </a:r>
                      <a:endParaRPr b="1" sz="1100">
                        <a:solidFill>
                          <a:srgbClr val="1E40AF"/>
                        </a:solidFill>
                      </a:endParaRPr>
                    </a:p>
                  </a:txBody>
                  <a:tcPr marT="114300" marB="11430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E40AF"/>
                          </a:solidFill>
                        </a:rPr>
                        <a:t>GPD/PPL</a:t>
                      </a:r>
                      <a:endParaRPr b="1" sz="1100">
                        <a:solidFill>
                          <a:srgbClr val="1E40AF"/>
                        </a:solidFill>
                      </a:endParaRPr>
                    </a:p>
                  </a:txBody>
                  <a:tcPr marT="114300" marB="11430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BPS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94A3B8"/>
                          </a:solidFill>
                        </a:rPr>
                        <a:t>—</a:t>
                      </a:r>
                      <a:endParaRPr sz="1050">
                        <a:solidFill>
                          <a:srgbClr val="94A3B8"/>
                        </a:solidFill>
                      </a:endParaRPr>
                    </a:p>
                  </a:txBody>
                  <a:tcPr marT="95250" marB="9525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Village Septic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94A3B8"/>
                          </a:solidFill>
                        </a:rPr>
                        <a:t>—</a:t>
                      </a:r>
                      <a:endParaRPr sz="1050">
                        <a:solidFill>
                          <a:srgbClr val="94A3B8"/>
                        </a:solidFill>
                      </a:endParaRPr>
                    </a:p>
                  </a:txBody>
                  <a:tcPr marT="95250" marB="9525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CBMS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621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9325 gpd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15gpd/ppl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Fayston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240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Defined in Permit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94A3B8"/>
                          </a:solidFill>
                        </a:rPr>
                        <a:t>—</a:t>
                      </a:r>
                      <a:endParaRPr sz="1050">
                        <a:solidFill>
                          <a:srgbClr val="94A3B8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HUMHS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1000 Students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Defined in Permit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94A3B8"/>
                          </a:solidFill>
                        </a:rPr>
                        <a:t>—</a:t>
                      </a:r>
                      <a:endParaRPr sz="1050">
                        <a:solidFill>
                          <a:srgbClr val="94A3B8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Moretown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235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2,820 gallons/day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12 gpd/ppl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Warren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237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Defined in Permit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94A3B8"/>
                          </a:solidFill>
                        </a:rPr>
                        <a:t>—</a:t>
                      </a:r>
                      <a:endParaRPr sz="1050">
                        <a:solidFill>
                          <a:srgbClr val="94A3B8"/>
                        </a:solidFill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Waitsfield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230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Defined in Permit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15gpd/ppl</a:t>
                      </a:r>
                      <a:endParaRPr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8"/>
          <p:cNvSpPr txBox="1"/>
          <p:nvPr/>
        </p:nvSpPr>
        <p:spPr>
          <a:xfrm>
            <a:off x="381000" y="2286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Draft Proposal for </a:t>
            </a:r>
            <a:r>
              <a:rPr b="0" lang="en" sz="19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School Reconfiguration &amp; Consolidation Roadmap</a:t>
            </a:r>
            <a:endParaRPr b="0" sz="19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Multi-year operational transition plan from FY28 through FY32 </a:t>
            </a:r>
            <a:r>
              <a:rPr lang="en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aligning budget sustainability with school facility consolidation</a:t>
            </a:r>
            <a:endParaRPr sz="10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10" name="Google Shape;71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263" y="1047750"/>
            <a:ext cx="28500" cy="316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1" name="Google Shape;711;p58"/>
          <p:cNvGrpSpPr/>
          <p:nvPr/>
        </p:nvGrpSpPr>
        <p:grpSpPr>
          <a:xfrm>
            <a:off x="361950" y="876300"/>
            <a:ext cx="8401125" cy="1009800"/>
            <a:chOff x="0" y="0"/>
            <a:chExt cx="8401125" cy="1009800"/>
          </a:xfrm>
        </p:grpSpPr>
        <p:sp>
          <p:nvSpPr>
            <p:cNvPr id="712" name="Google Shape;712;p58"/>
            <p:cNvSpPr/>
            <p:nvPr/>
          </p:nvSpPr>
          <p:spPr>
            <a:xfrm>
              <a:off x="0" y="0"/>
              <a:ext cx="1219200" cy="3240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8"/>
            <p:cNvSpPr txBox="1"/>
            <p:nvPr/>
          </p:nvSpPr>
          <p:spPr>
            <a:xfrm>
              <a:off x="0" y="0"/>
              <a:ext cx="1219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PHASE 1 • FY28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4" name="Google Shape;714;p58"/>
            <p:cNvSpPr/>
            <p:nvPr/>
          </p:nvSpPr>
          <p:spPr>
            <a:xfrm>
              <a:off x="1304925" y="0"/>
              <a:ext cx="7096200" cy="1009800"/>
            </a:xfrm>
            <a:prstGeom prst="roundRect">
              <a:avLst>
                <a:gd fmla="val 94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58"/>
            <p:cNvSpPr/>
            <p:nvPr/>
          </p:nvSpPr>
          <p:spPr>
            <a:xfrm>
              <a:off x="1304925" y="0"/>
              <a:ext cx="57300" cy="1009800"/>
            </a:xfrm>
            <a:prstGeom prst="roundRect">
              <a:avLst>
                <a:gd fmla="val 5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58"/>
            <p:cNvSpPr txBox="1"/>
            <p:nvPr/>
          </p:nvSpPr>
          <p:spPr>
            <a:xfrm>
              <a:off x="1504950" y="76200"/>
              <a:ext cx="6762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Initial School Consolidation &amp; New Configurations</a:t>
              </a:r>
              <a:endParaRPr b="1" sz="11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Consolidation: 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 valley elementary</a:t>
              </a:r>
              <a:r>
                <a:rPr b="0"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➞ </a:t>
              </a:r>
              <a:r>
                <a:rPr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2 valley elementary</a:t>
              </a:r>
              <a:r>
                <a:rPr b="0" lang="en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 |  CBMS ➞ HUMS</a:t>
              </a:r>
              <a:endParaRPr b="0" sz="8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8067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20"/>
                <a:buFont typeface="Inter"/>
                <a:buChar char="●"/>
              </a:pPr>
              <a:r>
                <a:rPr b="1" lang="en" sz="82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 valley elementary</a:t>
              </a:r>
              <a:r>
                <a:rPr b="1" lang="en" sz="82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b="1" lang="en" sz="8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Grade PreK–4 (2 valley elementary PreK-4, BPS PreK-4)</a:t>
              </a:r>
              <a:endParaRPr b="1" sz="8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067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20"/>
                <a:buFont typeface="Inter"/>
                <a:buChar char="●"/>
              </a:pPr>
              <a:r>
                <a:rPr b="1" lang="en" sz="82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CBMS:</a:t>
              </a:r>
              <a:r>
                <a:rPr b="1" lang="en" sz="8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Becomes Crossett Brook Upper Elementary (CBUES) for Grades 5–6</a:t>
              </a:r>
              <a:endParaRPr b="1" sz="8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067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20"/>
                <a:buFont typeface="Inter"/>
                <a:buChar char="●"/>
              </a:pPr>
              <a:r>
                <a:rPr b="1" lang="en" sz="82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HUMS:</a:t>
              </a:r>
              <a:r>
                <a:rPr b="1" lang="en" sz="8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Becomes 7th &amp; 8th grade center</a:t>
              </a:r>
              <a:endParaRPr b="1" sz="8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7" name="Google Shape;717;p58"/>
          <p:cNvGrpSpPr/>
          <p:nvPr/>
        </p:nvGrpSpPr>
        <p:grpSpPr>
          <a:xfrm>
            <a:off x="361950" y="1981200"/>
            <a:ext cx="8401125" cy="800100"/>
            <a:chOff x="0" y="0"/>
            <a:chExt cx="8401125" cy="800100"/>
          </a:xfrm>
        </p:grpSpPr>
        <p:sp>
          <p:nvSpPr>
            <p:cNvPr id="718" name="Google Shape;718;p58"/>
            <p:cNvSpPr/>
            <p:nvPr/>
          </p:nvSpPr>
          <p:spPr>
            <a:xfrm>
              <a:off x="0" y="0"/>
              <a:ext cx="1219200" cy="3240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58"/>
            <p:cNvSpPr txBox="1"/>
            <p:nvPr/>
          </p:nvSpPr>
          <p:spPr>
            <a:xfrm>
              <a:off x="0" y="0"/>
              <a:ext cx="1219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PHASE 2 • FY30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0" name="Google Shape;720;p58"/>
            <p:cNvSpPr/>
            <p:nvPr/>
          </p:nvSpPr>
          <p:spPr>
            <a:xfrm>
              <a:off x="1304925" y="0"/>
              <a:ext cx="7096200" cy="800100"/>
            </a:xfrm>
            <a:prstGeom prst="roundRect">
              <a:avLst>
                <a:gd fmla="val 1190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58"/>
            <p:cNvSpPr/>
            <p:nvPr/>
          </p:nvSpPr>
          <p:spPr>
            <a:xfrm>
              <a:off x="1304925" y="0"/>
              <a:ext cx="57300" cy="8001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58"/>
            <p:cNvSpPr txBox="1"/>
            <p:nvPr/>
          </p:nvSpPr>
          <p:spPr>
            <a:xfrm>
              <a:off x="1504950" y="76200"/>
              <a:ext cx="67629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New Location for Valley Elementary</a:t>
              </a:r>
              <a:endParaRPr b="1" sz="110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88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2 Valley elementary </a:t>
              </a:r>
              <a:r>
                <a:rPr b="0" lang="en" sz="88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move into new elementary facility; advancing 4th graders remain</a:t>
              </a:r>
              <a:endParaRPr b="0" sz="88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80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➞ Valley Elementary reconfigures to</a:t>
              </a:r>
              <a:r>
                <a:rPr lang="en" sz="880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pre</a:t>
              </a:r>
              <a:r>
                <a:rPr b="0" lang="en" sz="880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K–5</a:t>
              </a:r>
              <a:endParaRPr b="0" sz="88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23" name="Google Shape;723;p58"/>
          <p:cNvGrpSpPr/>
          <p:nvPr/>
        </p:nvGrpSpPr>
        <p:grpSpPr>
          <a:xfrm>
            <a:off x="361950" y="2876550"/>
            <a:ext cx="8401125" cy="838200"/>
            <a:chOff x="0" y="0"/>
            <a:chExt cx="8401125" cy="838200"/>
          </a:xfrm>
        </p:grpSpPr>
        <p:sp>
          <p:nvSpPr>
            <p:cNvPr id="724" name="Google Shape;724;p58"/>
            <p:cNvSpPr/>
            <p:nvPr/>
          </p:nvSpPr>
          <p:spPr>
            <a:xfrm>
              <a:off x="0" y="0"/>
              <a:ext cx="1219200" cy="3240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8"/>
            <p:cNvSpPr txBox="1"/>
            <p:nvPr/>
          </p:nvSpPr>
          <p:spPr>
            <a:xfrm>
              <a:off x="0" y="0"/>
              <a:ext cx="1219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PHASE 3 • FY31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6" name="Google Shape;726;p58"/>
            <p:cNvSpPr/>
            <p:nvPr/>
          </p:nvSpPr>
          <p:spPr>
            <a:xfrm>
              <a:off x="1304925" y="0"/>
              <a:ext cx="7096200" cy="838200"/>
            </a:xfrm>
            <a:prstGeom prst="roundRect">
              <a:avLst>
                <a:gd fmla="val 113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8"/>
            <p:cNvSpPr/>
            <p:nvPr/>
          </p:nvSpPr>
          <p:spPr>
            <a:xfrm>
              <a:off x="1304925" y="0"/>
              <a:ext cx="57300" cy="8382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8"/>
            <p:cNvSpPr txBox="1"/>
            <p:nvPr/>
          </p:nvSpPr>
          <p:spPr>
            <a:xfrm>
              <a:off x="1504950" y="76200"/>
              <a:ext cx="676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CB Grade Retention &amp; Facility Preparation</a:t>
              </a:r>
              <a:endParaRPr b="1"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8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CB maintains 5th &amp; 6th grades (BPS students &amp; valley 5th &amp; 6th graders)</a:t>
              </a:r>
              <a:endParaRPr sz="88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Facility Action: 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Begin renovation work on CB to accommodate BPS elementary students (isolating 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floor or wing renovations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1" sz="85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9" name="Google Shape;729;p58"/>
          <p:cNvGrpSpPr/>
          <p:nvPr/>
        </p:nvGrpSpPr>
        <p:grpSpPr>
          <a:xfrm>
            <a:off x="361950" y="3810000"/>
            <a:ext cx="8401125" cy="705000"/>
            <a:chOff x="0" y="0"/>
            <a:chExt cx="8401125" cy="705000"/>
          </a:xfrm>
        </p:grpSpPr>
        <p:sp>
          <p:nvSpPr>
            <p:cNvPr id="730" name="Google Shape;730;p58"/>
            <p:cNvSpPr/>
            <p:nvPr/>
          </p:nvSpPr>
          <p:spPr>
            <a:xfrm>
              <a:off x="0" y="0"/>
              <a:ext cx="1219200" cy="3240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8"/>
            <p:cNvSpPr txBox="1"/>
            <p:nvPr/>
          </p:nvSpPr>
          <p:spPr>
            <a:xfrm>
              <a:off x="0" y="0"/>
              <a:ext cx="12192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PHASE 4 • FY32</a:t>
              </a:r>
              <a:endParaRPr b="1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2" name="Google Shape;732;p58"/>
            <p:cNvSpPr/>
            <p:nvPr/>
          </p:nvSpPr>
          <p:spPr>
            <a:xfrm>
              <a:off x="1304925" y="0"/>
              <a:ext cx="7096200" cy="705000"/>
            </a:xfrm>
            <a:prstGeom prst="roundRect">
              <a:avLst>
                <a:gd fmla="val 1351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58"/>
            <p:cNvSpPr/>
            <p:nvPr/>
          </p:nvSpPr>
          <p:spPr>
            <a:xfrm>
              <a:off x="1304925" y="0"/>
              <a:ext cx="57300" cy="7050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58"/>
            <p:cNvSpPr txBox="1"/>
            <p:nvPr/>
          </p:nvSpPr>
          <p:spPr>
            <a:xfrm>
              <a:off x="1504950" y="76200"/>
              <a:ext cx="6762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730A3"/>
                  </a:solidFill>
                  <a:latin typeface="Inter"/>
                  <a:ea typeface="Inter"/>
                  <a:cs typeface="Inter"/>
                  <a:sym typeface="Inter"/>
                </a:rPr>
                <a:t>Relocation of BPS &amp; Final Reconfiguration to be Determined</a:t>
              </a:r>
              <a:endParaRPr b="1" sz="1100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t/>
              </a:r>
              <a:endParaRPr b="0" sz="88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9"/>
          <p:cNvSpPr txBox="1"/>
          <p:nvPr/>
        </p:nvSpPr>
        <p:spPr>
          <a:xfrm>
            <a:off x="457200" y="200925"/>
            <a:ext cx="8229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Summary &amp; Next Steps</a:t>
            </a:r>
            <a:endParaRPr b="0" sz="2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takeaways and strategic direction for HUUSD budget sustainability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40" name="Google Shape;740;p59"/>
          <p:cNvGrpSpPr/>
          <p:nvPr/>
        </p:nvGrpSpPr>
        <p:grpSpPr>
          <a:xfrm>
            <a:off x="457200" y="1047750"/>
            <a:ext cx="2552700" cy="3676800"/>
            <a:chOff x="0" y="0"/>
            <a:chExt cx="2552700" cy="3676800"/>
          </a:xfrm>
        </p:grpSpPr>
        <p:sp>
          <p:nvSpPr>
            <p:cNvPr id="741" name="Google Shape;741;p59"/>
            <p:cNvSpPr/>
            <p:nvPr/>
          </p:nvSpPr>
          <p:spPr>
            <a:xfrm>
              <a:off x="0" y="0"/>
              <a:ext cx="2552700" cy="3676800"/>
            </a:xfrm>
            <a:prstGeom prst="roundRect">
              <a:avLst>
                <a:gd fmla="val 52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59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59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59"/>
            <p:cNvSpPr txBox="1"/>
            <p:nvPr/>
          </p:nvSpPr>
          <p:spPr>
            <a:xfrm>
              <a:off x="171450" y="2167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5" name="Google Shape;745;p59"/>
            <p:cNvSpPr/>
            <p:nvPr/>
          </p:nvSpPr>
          <p:spPr>
            <a:xfrm>
              <a:off x="1409700" y="24765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9"/>
            <p:cNvSpPr txBox="1"/>
            <p:nvPr/>
          </p:nvSpPr>
          <p:spPr>
            <a:xfrm>
              <a:off x="1409700" y="2476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Scenario 1 </a:t>
              </a:r>
              <a:endParaRPr b="1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7" name="Google Shape;747;p59"/>
            <p:cNvSpPr txBox="1"/>
            <p:nvPr/>
          </p:nvSpPr>
          <p:spPr>
            <a:xfrm>
              <a:off x="190500" y="647700"/>
              <a:ext cx="21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Fiscal Baseline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Cap Alignment</a:t>
              </a:r>
              <a:endParaRPr b="0" sz="9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48" name="Google Shape;748;p59"/>
            <p:cNvSpPr/>
            <p:nvPr/>
          </p:nvSpPr>
          <p:spPr>
            <a:xfrm>
              <a:off x="152400" y="1200150"/>
              <a:ext cx="2247900" cy="14289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59"/>
            <p:cNvSpPr txBox="1"/>
            <p:nvPr/>
          </p:nvSpPr>
          <p:spPr>
            <a:xfrm>
              <a:off x="266700" y="1295400"/>
              <a:ext cx="2019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STRATEGIC GOAL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Establish per-pupil spending compliance through targeted expenditure reductions, ensuring immediate fiscal alignment without sacrificing core educational quality.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0" name="Google Shape;750;p59"/>
            <p:cNvSpPr/>
            <p:nvPr/>
          </p:nvSpPr>
          <p:spPr>
            <a:xfrm>
              <a:off x="152400" y="2762250"/>
              <a:ext cx="2247900" cy="762000"/>
            </a:xfrm>
            <a:prstGeom prst="roundRect">
              <a:avLst>
                <a:gd fmla="val 125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9"/>
            <p:cNvSpPr txBox="1"/>
            <p:nvPr/>
          </p:nvSpPr>
          <p:spPr>
            <a:xfrm>
              <a:off x="266700" y="2838450"/>
              <a:ext cx="2019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OUTCOME</a:t>
              </a:r>
              <a:endParaRPr b="1" sz="75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Immediate budget stabilization &amp; regulatory compliance</a:t>
              </a:r>
              <a:endParaRPr b="0" sz="95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52" name="Google Shape;752;p59"/>
          <p:cNvGrpSpPr/>
          <p:nvPr/>
        </p:nvGrpSpPr>
        <p:grpSpPr>
          <a:xfrm>
            <a:off x="3295650" y="1047750"/>
            <a:ext cx="2552700" cy="3676800"/>
            <a:chOff x="0" y="0"/>
            <a:chExt cx="2552700" cy="3676800"/>
          </a:xfrm>
        </p:grpSpPr>
        <p:sp>
          <p:nvSpPr>
            <p:cNvPr id="753" name="Google Shape;753;p59"/>
            <p:cNvSpPr/>
            <p:nvPr/>
          </p:nvSpPr>
          <p:spPr>
            <a:xfrm>
              <a:off x="0" y="0"/>
              <a:ext cx="2552700" cy="3676800"/>
            </a:xfrm>
            <a:prstGeom prst="roundRect">
              <a:avLst>
                <a:gd fmla="val 52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9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59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9"/>
            <p:cNvSpPr txBox="1"/>
            <p:nvPr/>
          </p:nvSpPr>
          <p:spPr>
            <a:xfrm>
              <a:off x="171450" y="2167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domain</a:t>
              </a:r>
              <a:endParaRPr sz="18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7" name="Google Shape;757;p59"/>
            <p:cNvSpPr/>
            <p:nvPr/>
          </p:nvSpPr>
          <p:spPr>
            <a:xfrm>
              <a:off x="1409700" y="24765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9"/>
            <p:cNvSpPr txBox="1"/>
            <p:nvPr/>
          </p:nvSpPr>
          <p:spPr>
            <a:xfrm>
              <a:off x="1409700" y="2476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Scenario 2 &amp; 3</a:t>
              </a:r>
              <a:endParaRPr b="1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9" name="Google Shape;759;p59"/>
            <p:cNvSpPr txBox="1"/>
            <p:nvPr/>
          </p:nvSpPr>
          <p:spPr>
            <a:xfrm>
              <a:off x="190500" y="647700"/>
              <a:ext cx="21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Footprint Rightsizing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Facility Consolidation</a:t>
              </a:r>
              <a:endParaRPr b="0" sz="95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60" name="Google Shape;760;p59"/>
            <p:cNvSpPr/>
            <p:nvPr/>
          </p:nvSpPr>
          <p:spPr>
            <a:xfrm>
              <a:off x="152400" y="1200150"/>
              <a:ext cx="2247900" cy="14289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59"/>
            <p:cNvSpPr txBox="1"/>
            <p:nvPr/>
          </p:nvSpPr>
          <p:spPr>
            <a:xfrm>
              <a:off x="266700" y="1295400"/>
              <a:ext cx="2019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STRATEGIC GOAL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Execute consolidation of elementary and middle school centers to capture long-term operational and facility efficiencies.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2" name="Google Shape;762;p59"/>
            <p:cNvSpPr/>
            <p:nvPr/>
          </p:nvSpPr>
          <p:spPr>
            <a:xfrm>
              <a:off x="152400" y="2762250"/>
              <a:ext cx="2247900" cy="762000"/>
            </a:xfrm>
            <a:prstGeom prst="roundRect">
              <a:avLst>
                <a:gd fmla="val 125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59"/>
            <p:cNvSpPr txBox="1"/>
            <p:nvPr/>
          </p:nvSpPr>
          <p:spPr>
            <a:xfrm>
              <a:off x="266700" y="2838450"/>
              <a:ext cx="2019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OUTCOME</a:t>
              </a:r>
              <a:endParaRPr b="1" sz="750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15E5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Optimized facility utilization &amp; balanced staffing</a:t>
              </a:r>
              <a:endParaRPr b="0" sz="950">
                <a:solidFill>
                  <a:srgbClr val="115E5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64" name="Google Shape;764;p59"/>
          <p:cNvGrpSpPr/>
          <p:nvPr/>
        </p:nvGrpSpPr>
        <p:grpSpPr>
          <a:xfrm>
            <a:off x="6134100" y="1047750"/>
            <a:ext cx="2552700" cy="3676800"/>
            <a:chOff x="0" y="0"/>
            <a:chExt cx="2552700" cy="3676800"/>
          </a:xfrm>
        </p:grpSpPr>
        <p:sp>
          <p:nvSpPr>
            <p:cNvPr id="765" name="Google Shape;765;p59"/>
            <p:cNvSpPr/>
            <p:nvPr/>
          </p:nvSpPr>
          <p:spPr>
            <a:xfrm>
              <a:off x="0" y="0"/>
              <a:ext cx="2552700" cy="3676800"/>
            </a:xfrm>
            <a:prstGeom prst="roundRect">
              <a:avLst>
                <a:gd fmla="val 522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59"/>
            <p:cNvSpPr/>
            <p:nvPr/>
          </p:nvSpPr>
          <p:spPr>
            <a:xfrm>
              <a:off x="0" y="0"/>
              <a:ext cx="25527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59"/>
            <p:cNvSpPr/>
            <p:nvPr/>
          </p:nvSpPr>
          <p:spPr>
            <a:xfrm>
              <a:off x="171450" y="190500"/>
              <a:ext cx="342900" cy="3429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9"/>
            <p:cNvSpPr txBox="1"/>
            <p:nvPr/>
          </p:nvSpPr>
          <p:spPr>
            <a:xfrm>
              <a:off x="171450" y="2167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event_available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69" name="Google Shape;769;p59"/>
            <p:cNvSpPr/>
            <p:nvPr/>
          </p:nvSpPr>
          <p:spPr>
            <a:xfrm>
              <a:off x="1409700" y="24765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59"/>
            <p:cNvSpPr txBox="1"/>
            <p:nvPr/>
          </p:nvSpPr>
          <p:spPr>
            <a:xfrm>
              <a:off x="1409700" y="2476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Next Steps</a:t>
              </a:r>
              <a:endParaRPr b="1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1" name="Google Shape;771;p59"/>
            <p:cNvSpPr txBox="1"/>
            <p:nvPr/>
          </p:nvSpPr>
          <p:spPr>
            <a:xfrm>
              <a:off x="190500" y="647700"/>
              <a:ext cx="217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Phased Transition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FY28–FY32 Master</a:t>
              </a:r>
              <a:r>
                <a:rPr lang="en" sz="95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plan </a:t>
              </a:r>
              <a:r>
                <a:rPr b="0" lang="en" sz="95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Roadmap</a:t>
              </a:r>
              <a:endParaRPr b="0" sz="95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72" name="Google Shape;772;p59"/>
            <p:cNvSpPr/>
            <p:nvPr/>
          </p:nvSpPr>
          <p:spPr>
            <a:xfrm>
              <a:off x="152400" y="1200150"/>
              <a:ext cx="2247900" cy="14289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59"/>
            <p:cNvSpPr txBox="1"/>
            <p:nvPr/>
          </p:nvSpPr>
          <p:spPr>
            <a:xfrm>
              <a:off x="266700" y="1295400"/>
              <a:ext cx="2019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STRATEGIC GOAL</a:t>
              </a:r>
              <a:endParaRPr b="1" sz="7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Follow a clear, board-approved timeline leading to Town Meeting Day 2027, ensuring transparent community communication and seamless program shifts.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4" name="Google Shape;774;p59"/>
            <p:cNvSpPr/>
            <p:nvPr/>
          </p:nvSpPr>
          <p:spPr>
            <a:xfrm>
              <a:off x="152400" y="2762250"/>
              <a:ext cx="2247900" cy="762000"/>
            </a:xfrm>
            <a:prstGeom prst="roundRect">
              <a:avLst>
                <a:gd fmla="val 125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59"/>
            <p:cNvSpPr txBox="1"/>
            <p:nvPr/>
          </p:nvSpPr>
          <p:spPr>
            <a:xfrm>
              <a:off x="266700" y="2838450"/>
              <a:ext cx="2019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4338CA"/>
                  </a:solidFill>
                  <a:latin typeface="Inter"/>
                  <a:ea typeface="Inter"/>
                  <a:cs typeface="Inter"/>
                  <a:sym typeface="Inter"/>
                </a:rPr>
                <a:t>OUTCOME</a:t>
              </a:r>
              <a:endParaRPr b="1" sz="75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3730A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Long-term educational excellence &amp; fiscal health</a:t>
              </a:r>
              <a:endParaRPr b="0" sz="950">
                <a:solidFill>
                  <a:srgbClr val="3730A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0"/>
          <p:cNvSpPr/>
          <p:nvPr/>
        </p:nvSpPr>
        <p:spPr>
          <a:xfrm>
            <a:off x="152400" y="152400"/>
            <a:ext cx="8839200" cy="514500"/>
          </a:xfrm>
          <a:prstGeom prst="roundRect">
            <a:avLst>
              <a:gd fmla="val 7407" name="adj"/>
            </a:avLst>
          </a:prstGeom>
          <a:solidFill>
            <a:srgbClr val="0F27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0"/>
          <p:cNvSpPr txBox="1"/>
          <p:nvPr/>
        </p:nvSpPr>
        <p:spPr>
          <a:xfrm>
            <a:off x="304800" y="152400"/>
            <a:ext cx="8534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HUUSD FY28 Budget Development Timeline </a:t>
            </a:r>
            <a:r>
              <a:rPr b="0" lang="en" sz="13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 &amp; Milestones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2" name="Google Shape;782;p60"/>
          <p:cNvSpPr txBox="1"/>
          <p:nvPr/>
        </p:nvSpPr>
        <p:spPr>
          <a:xfrm>
            <a:off x="304800" y="74295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Key board decisions and budget-development milestones from October through Town Meeting Day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83" name="Google Shape;783;p60"/>
          <p:cNvCxnSpPr/>
          <p:nvPr/>
        </p:nvCxnSpPr>
        <p:spPr>
          <a:xfrm>
            <a:off x="571500" y="1381125"/>
            <a:ext cx="8001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4" name="Google Shape;784;p60"/>
          <p:cNvGrpSpPr/>
          <p:nvPr/>
        </p:nvGrpSpPr>
        <p:grpSpPr>
          <a:xfrm>
            <a:off x="342900" y="1171575"/>
            <a:ext cx="990600" cy="3305175"/>
            <a:chOff x="342900" y="1171575"/>
            <a:chExt cx="990600" cy="3305175"/>
          </a:xfrm>
        </p:grpSpPr>
        <p:sp>
          <p:nvSpPr>
            <p:cNvPr id="785" name="Google Shape;785;p60"/>
            <p:cNvSpPr/>
            <p:nvPr/>
          </p:nvSpPr>
          <p:spPr>
            <a:xfrm>
              <a:off x="6286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0"/>
            <p:cNvSpPr/>
            <p:nvPr/>
          </p:nvSpPr>
          <p:spPr>
            <a:xfrm>
              <a:off x="695325" y="1238250"/>
              <a:ext cx="285900" cy="285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0"/>
            <p:cNvSpPr txBox="1"/>
            <p:nvPr/>
          </p:nvSpPr>
          <p:spPr>
            <a:xfrm>
              <a:off x="6286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788" name="Google Shape;788;p60"/>
            <p:cNvSpPr/>
            <p:nvPr/>
          </p:nvSpPr>
          <p:spPr>
            <a:xfrm>
              <a:off x="3429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0"/>
            <p:cNvSpPr txBox="1"/>
            <p:nvPr/>
          </p:nvSpPr>
          <p:spPr>
            <a:xfrm>
              <a:off x="3429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Oct. 14, 2026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0" name="Google Shape;790;p60"/>
            <p:cNvSpPr/>
            <p:nvPr/>
          </p:nvSpPr>
          <p:spPr>
            <a:xfrm>
              <a:off x="3429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0"/>
            <p:cNvSpPr txBox="1"/>
            <p:nvPr/>
          </p:nvSpPr>
          <p:spPr>
            <a:xfrm>
              <a:off x="4000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Impact Presentation #1 Level Service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Consolidation of Middle Schools &amp; Valley Elementary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92" name="Google Shape;792;p60"/>
          <p:cNvGrpSpPr/>
          <p:nvPr/>
        </p:nvGrpSpPr>
        <p:grpSpPr>
          <a:xfrm>
            <a:off x="1409700" y="1171575"/>
            <a:ext cx="990600" cy="3305175"/>
            <a:chOff x="1409700" y="1171575"/>
            <a:chExt cx="990600" cy="3305175"/>
          </a:xfrm>
        </p:grpSpPr>
        <p:sp>
          <p:nvSpPr>
            <p:cNvPr id="793" name="Google Shape;793;p60"/>
            <p:cNvSpPr/>
            <p:nvPr/>
          </p:nvSpPr>
          <p:spPr>
            <a:xfrm>
              <a:off x="16954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CA8A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0"/>
            <p:cNvSpPr/>
            <p:nvPr/>
          </p:nvSpPr>
          <p:spPr>
            <a:xfrm>
              <a:off x="1762125" y="1238250"/>
              <a:ext cx="285900" cy="285900"/>
            </a:xfrm>
            <a:prstGeom prst="ellipse">
              <a:avLst/>
            </a:prstGeom>
            <a:solidFill>
              <a:srgbClr val="CA8A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0"/>
            <p:cNvSpPr txBox="1"/>
            <p:nvPr/>
          </p:nvSpPr>
          <p:spPr>
            <a:xfrm>
              <a:off x="16954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796" name="Google Shape;796;p60"/>
            <p:cNvSpPr/>
            <p:nvPr/>
          </p:nvSpPr>
          <p:spPr>
            <a:xfrm>
              <a:off x="14097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CA8A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0"/>
            <p:cNvSpPr txBox="1"/>
            <p:nvPr/>
          </p:nvSpPr>
          <p:spPr>
            <a:xfrm>
              <a:off x="14097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Oct. 28, 2026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8" name="Google Shape;798;p60"/>
            <p:cNvSpPr/>
            <p:nvPr/>
          </p:nvSpPr>
          <p:spPr>
            <a:xfrm>
              <a:off x="14097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EFCE8"/>
            </a:solidFill>
            <a:ln cap="flat" cmpd="sng" w="14300">
              <a:solidFill>
                <a:srgbClr val="FEF0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0"/>
            <p:cNvSpPr txBox="1"/>
            <p:nvPr/>
          </p:nvSpPr>
          <p:spPr>
            <a:xfrm>
              <a:off x="14668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54D0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854D0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Impact Presentation #2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Review Enrollment Projections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00" name="Google Shape;800;p60"/>
          <p:cNvGrpSpPr/>
          <p:nvPr/>
        </p:nvGrpSpPr>
        <p:grpSpPr>
          <a:xfrm>
            <a:off x="2476500" y="1171575"/>
            <a:ext cx="990600" cy="3305175"/>
            <a:chOff x="2476500" y="1171575"/>
            <a:chExt cx="990600" cy="3305175"/>
          </a:xfrm>
        </p:grpSpPr>
        <p:sp>
          <p:nvSpPr>
            <p:cNvPr id="801" name="Google Shape;801;p60"/>
            <p:cNvSpPr/>
            <p:nvPr/>
          </p:nvSpPr>
          <p:spPr>
            <a:xfrm>
              <a:off x="27622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0"/>
            <p:cNvSpPr/>
            <p:nvPr/>
          </p:nvSpPr>
          <p:spPr>
            <a:xfrm>
              <a:off x="2828925" y="1238250"/>
              <a:ext cx="285900" cy="2859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0"/>
            <p:cNvSpPr txBox="1"/>
            <p:nvPr/>
          </p:nvSpPr>
          <p:spPr>
            <a:xfrm>
              <a:off x="27622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04" name="Google Shape;804;p60"/>
            <p:cNvSpPr/>
            <p:nvPr/>
          </p:nvSpPr>
          <p:spPr>
            <a:xfrm>
              <a:off x="24765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0"/>
            <p:cNvSpPr txBox="1"/>
            <p:nvPr/>
          </p:nvSpPr>
          <p:spPr>
            <a:xfrm>
              <a:off x="24765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Nov. 4, 2026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6" name="Google Shape;806;p60"/>
            <p:cNvSpPr/>
            <p:nvPr/>
          </p:nvSpPr>
          <p:spPr>
            <a:xfrm>
              <a:off x="24765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0FDF4"/>
            </a:solidFill>
            <a:ln cap="flat" cmpd="sng" w="1430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0"/>
            <p:cNvSpPr txBox="1"/>
            <p:nvPr/>
          </p:nvSpPr>
          <p:spPr>
            <a:xfrm>
              <a:off x="25336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6653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16653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FY28 Finalize Board Budget Priorities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08" name="Google Shape;808;p60"/>
          <p:cNvGrpSpPr/>
          <p:nvPr/>
        </p:nvGrpSpPr>
        <p:grpSpPr>
          <a:xfrm>
            <a:off x="3543300" y="1171575"/>
            <a:ext cx="990600" cy="3305175"/>
            <a:chOff x="3543300" y="1171575"/>
            <a:chExt cx="990600" cy="3305175"/>
          </a:xfrm>
        </p:grpSpPr>
        <p:sp>
          <p:nvSpPr>
            <p:cNvPr id="809" name="Google Shape;809;p60"/>
            <p:cNvSpPr/>
            <p:nvPr/>
          </p:nvSpPr>
          <p:spPr>
            <a:xfrm>
              <a:off x="38290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0"/>
            <p:cNvSpPr/>
            <p:nvPr/>
          </p:nvSpPr>
          <p:spPr>
            <a:xfrm>
              <a:off x="3895725" y="1238250"/>
              <a:ext cx="285900" cy="285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0"/>
            <p:cNvSpPr txBox="1"/>
            <p:nvPr/>
          </p:nvSpPr>
          <p:spPr>
            <a:xfrm>
              <a:off x="38290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12" name="Google Shape;812;p60"/>
            <p:cNvSpPr/>
            <p:nvPr/>
          </p:nvSpPr>
          <p:spPr>
            <a:xfrm>
              <a:off x="35433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0"/>
            <p:cNvSpPr txBox="1"/>
            <p:nvPr/>
          </p:nvSpPr>
          <p:spPr>
            <a:xfrm>
              <a:off x="35433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Nov. 18, 2026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4" name="Google Shape;814;p60"/>
            <p:cNvSpPr/>
            <p:nvPr/>
          </p:nvSpPr>
          <p:spPr>
            <a:xfrm>
              <a:off x="35433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0"/>
            <p:cNvSpPr txBox="1"/>
            <p:nvPr/>
          </p:nvSpPr>
          <p:spPr>
            <a:xfrm>
              <a:off x="36004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Overview #1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Enrollment &amp; Staffing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16" name="Google Shape;816;p60"/>
          <p:cNvGrpSpPr/>
          <p:nvPr/>
        </p:nvGrpSpPr>
        <p:grpSpPr>
          <a:xfrm>
            <a:off x="4610100" y="1171575"/>
            <a:ext cx="990600" cy="3305175"/>
            <a:chOff x="4610100" y="1171575"/>
            <a:chExt cx="990600" cy="3305175"/>
          </a:xfrm>
        </p:grpSpPr>
        <p:sp>
          <p:nvSpPr>
            <p:cNvPr id="817" name="Google Shape;817;p60"/>
            <p:cNvSpPr/>
            <p:nvPr/>
          </p:nvSpPr>
          <p:spPr>
            <a:xfrm>
              <a:off x="48958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CA8A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0"/>
            <p:cNvSpPr/>
            <p:nvPr/>
          </p:nvSpPr>
          <p:spPr>
            <a:xfrm>
              <a:off x="4962525" y="1238250"/>
              <a:ext cx="285900" cy="285900"/>
            </a:xfrm>
            <a:prstGeom prst="ellipse">
              <a:avLst/>
            </a:prstGeom>
            <a:solidFill>
              <a:srgbClr val="CA8A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0"/>
            <p:cNvSpPr txBox="1"/>
            <p:nvPr/>
          </p:nvSpPr>
          <p:spPr>
            <a:xfrm>
              <a:off x="48958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20" name="Google Shape;820;p60"/>
            <p:cNvSpPr/>
            <p:nvPr/>
          </p:nvSpPr>
          <p:spPr>
            <a:xfrm>
              <a:off x="46101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CA8A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0"/>
            <p:cNvSpPr txBox="1"/>
            <p:nvPr/>
          </p:nvSpPr>
          <p:spPr>
            <a:xfrm>
              <a:off x="46101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Dec. 2 &amp; 16 2026</a:t>
              </a:r>
              <a:endParaRPr b="1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2" name="Google Shape;822;p60"/>
            <p:cNvSpPr/>
            <p:nvPr/>
          </p:nvSpPr>
          <p:spPr>
            <a:xfrm>
              <a:off x="46101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EFCE8"/>
            </a:solidFill>
            <a:ln cap="flat" cmpd="sng" w="14300">
              <a:solidFill>
                <a:srgbClr val="FEF0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0"/>
            <p:cNvSpPr txBox="1"/>
            <p:nvPr/>
          </p:nvSpPr>
          <p:spPr>
            <a:xfrm>
              <a:off x="46672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54D0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854D0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854D0E"/>
                  </a:solidFill>
                  <a:latin typeface="Inter"/>
                  <a:ea typeface="Inter"/>
                  <a:cs typeface="Inter"/>
                  <a:sym typeface="Inter"/>
                </a:rPr>
                <a:t>December 2:</a:t>
              </a:r>
              <a:endParaRPr b="1" sz="750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Overview #2</a:t>
              </a:r>
              <a:endParaRPr b="0" sz="75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854D0E"/>
                  </a:solidFill>
                  <a:latin typeface="Inter"/>
                  <a:ea typeface="Inter"/>
                  <a:cs typeface="Inter"/>
                  <a:sym typeface="Inter"/>
                </a:rPr>
                <a:t>December 16:</a:t>
              </a:r>
              <a:endParaRPr b="1" sz="750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Overview #3</a:t>
              </a:r>
              <a:endParaRPr b="0" sz="75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24" name="Google Shape;824;p60"/>
          <p:cNvGrpSpPr/>
          <p:nvPr/>
        </p:nvGrpSpPr>
        <p:grpSpPr>
          <a:xfrm>
            <a:off x="5676900" y="1171575"/>
            <a:ext cx="990600" cy="3305175"/>
            <a:chOff x="5676900" y="1171575"/>
            <a:chExt cx="990600" cy="3305175"/>
          </a:xfrm>
        </p:grpSpPr>
        <p:sp>
          <p:nvSpPr>
            <p:cNvPr id="825" name="Google Shape;825;p60"/>
            <p:cNvSpPr/>
            <p:nvPr/>
          </p:nvSpPr>
          <p:spPr>
            <a:xfrm>
              <a:off x="59626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0"/>
            <p:cNvSpPr/>
            <p:nvPr/>
          </p:nvSpPr>
          <p:spPr>
            <a:xfrm>
              <a:off x="6029325" y="1238250"/>
              <a:ext cx="285900" cy="2859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0"/>
            <p:cNvSpPr txBox="1"/>
            <p:nvPr/>
          </p:nvSpPr>
          <p:spPr>
            <a:xfrm>
              <a:off x="59626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28" name="Google Shape;828;p60"/>
            <p:cNvSpPr/>
            <p:nvPr/>
          </p:nvSpPr>
          <p:spPr>
            <a:xfrm>
              <a:off x="56769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0"/>
            <p:cNvSpPr txBox="1"/>
            <p:nvPr/>
          </p:nvSpPr>
          <p:spPr>
            <a:xfrm>
              <a:off x="56769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Jan 6 &amp; 13, 2027</a:t>
              </a:r>
              <a:endParaRPr b="1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0" name="Google Shape;830;p60"/>
            <p:cNvSpPr/>
            <p:nvPr/>
          </p:nvSpPr>
          <p:spPr>
            <a:xfrm>
              <a:off x="56769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0FDF4"/>
            </a:solidFill>
            <a:ln cap="flat" cmpd="sng" w="14300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0"/>
            <p:cNvSpPr txBox="1"/>
            <p:nvPr/>
          </p:nvSpPr>
          <p:spPr>
            <a:xfrm>
              <a:off x="57340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6653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16653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January 6:</a:t>
              </a:r>
              <a:endParaRPr b="1" sz="75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Recap Receive CLA from VT Dept of Taxes</a:t>
              </a:r>
              <a:endParaRPr b="0" sz="75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January 13:</a:t>
              </a:r>
              <a:endParaRPr b="1" sz="75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 Budget Approve Warning &amp; Articles</a:t>
              </a:r>
              <a:endParaRPr b="0" sz="75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32" name="Google Shape;832;p60"/>
          <p:cNvGrpSpPr/>
          <p:nvPr/>
        </p:nvGrpSpPr>
        <p:grpSpPr>
          <a:xfrm>
            <a:off x="6743700" y="1171575"/>
            <a:ext cx="990600" cy="3305175"/>
            <a:chOff x="6743700" y="1171575"/>
            <a:chExt cx="990600" cy="3305175"/>
          </a:xfrm>
        </p:grpSpPr>
        <p:sp>
          <p:nvSpPr>
            <p:cNvPr id="833" name="Google Shape;833;p60"/>
            <p:cNvSpPr/>
            <p:nvPr/>
          </p:nvSpPr>
          <p:spPr>
            <a:xfrm>
              <a:off x="70294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0"/>
            <p:cNvSpPr/>
            <p:nvPr/>
          </p:nvSpPr>
          <p:spPr>
            <a:xfrm>
              <a:off x="7096125" y="1238250"/>
              <a:ext cx="285900" cy="285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0"/>
            <p:cNvSpPr txBox="1"/>
            <p:nvPr/>
          </p:nvSpPr>
          <p:spPr>
            <a:xfrm>
              <a:off x="70294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36" name="Google Shape;836;p60"/>
            <p:cNvSpPr/>
            <p:nvPr/>
          </p:nvSpPr>
          <p:spPr>
            <a:xfrm>
              <a:off x="67437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0"/>
            <p:cNvSpPr txBox="1"/>
            <p:nvPr/>
          </p:nvSpPr>
          <p:spPr>
            <a:xfrm>
              <a:off x="67437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Mar 1, 2027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8" name="Google Shape;838;p60"/>
            <p:cNvSpPr/>
            <p:nvPr/>
          </p:nvSpPr>
          <p:spPr>
            <a:xfrm>
              <a:off x="67437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0"/>
            <p:cNvSpPr txBox="1"/>
            <p:nvPr/>
          </p:nvSpPr>
          <p:spPr>
            <a:xfrm>
              <a:off x="68008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0369A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BOARD MEETING</a:t>
              </a:r>
              <a:endParaRPr b="0" sz="750">
                <a:solidFill>
                  <a:srgbClr val="0369A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Informational Hearing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40" name="Google Shape;840;p60"/>
          <p:cNvGrpSpPr/>
          <p:nvPr/>
        </p:nvGrpSpPr>
        <p:grpSpPr>
          <a:xfrm>
            <a:off x="7810500" y="1171575"/>
            <a:ext cx="990600" cy="3305175"/>
            <a:chOff x="7810500" y="1171575"/>
            <a:chExt cx="990600" cy="3305175"/>
          </a:xfrm>
        </p:grpSpPr>
        <p:sp>
          <p:nvSpPr>
            <p:cNvPr id="841" name="Google Shape;841;p60"/>
            <p:cNvSpPr/>
            <p:nvPr/>
          </p:nvSpPr>
          <p:spPr>
            <a:xfrm>
              <a:off x="8096250" y="1171575"/>
              <a:ext cx="419100" cy="4191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CA8A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0"/>
            <p:cNvSpPr/>
            <p:nvPr/>
          </p:nvSpPr>
          <p:spPr>
            <a:xfrm>
              <a:off x="8162925" y="1238250"/>
              <a:ext cx="285900" cy="285900"/>
            </a:xfrm>
            <a:prstGeom prst="ellipse">
              <a:avLst/>
            </a:prstGeom>
            <a:solidFill>
              <a:srgbClr val="CA8A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0"/>
            <p:cNvSpPr txBox="1"/>
            <p:nvPr/>
          </p:nvSpPr>
          <p:spPr>
            <a:xfrm>
              <a:off x="8096250" y="123825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08</a:t>
              </a:r>
              <a:endParaRPr b="0" sz="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44" name="Google Shape;844;p60"/>
            <p:cNvSpPr/>
            <p:nvPr/>
          </p:nvSpPr>
          <p:spPr>
            <a:xfrm>
              <a:off x="7810500" y="1714500"/>
              <a:ext cx="990600" cy="285900"/>
            </a:xfrm>
            <a:prstGeom prst="roundRect">
              <a:avLst>
                <a:gd fmla="val 13333" name="adj"/>
              </a:avLst>
            </a:prstGeom>
            <a:solidFill>
              <a:srgbClr val="CA8A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0"/>
            <p:cNvSpPr txBox="1"/>
            <p:nvPr/>
          </p:nvSpPr>
          <p:spPr>
            <a:xfrm>
              <a:off x="7810500" y="1714500"/>
              <a:ext cx="99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Mar. 2, 2027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6" name="Google Shape;846;p60"/>
            <p:cNvSpPr/>
            <p:nvPr/>
          </p:nvSpPr>
          <p:spPr>
            <a:xfrm>
              <a:off x="7810500" y="2076450"/>
              <a:ext cx="990600" cy="2400300"/>
            </a:xfrm>
            <a:prstGeom prst="roundRect">
              <a:avLst>
                <a:gd fmla="val 9615" name="adj"/>
              </a:avLst>
            </a:prstGeom>
            <a:solidFill>
              <a:srgbClr val="FEFCE8"/>
            </a:solidFill>
            <a:ln cap="flat" cmpd="sng" w="14300">
              <a:solidFill>
                <a:srgbClr val="FEF0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0"/>
            <p:cNvSpPr txBox="1"/>
            <p:nvPr/>
          </p:nvSpPr>
          <p:spPr>
            <a:xfrm>
              <a:off x="7867650" y="2152650"/>
              <a:ext cx="8763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54D0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VOTE</a:t>
              </a:r>
              <a:endParaRPr b="0" sz="750">
                <a:solidFill>
                  <a:srgbClr val="854D0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Town Meeting Day</a:t>
              </a:r>
              <a:endParaRPr b="0" sz="8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48" name="Google Shape;848;p60"/>
          <p:cNvSpPr txBox="1"/>
          <p:nvPr/>
        </p:nvSpPr>
        <p:spPr>
          <a:xfrm>
            <a:off x="266700" y="4676775"/>
            <a:ext cx="853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***Addition meeting January 20, 2027 if necessary for budget adoption</a:t>
            </a:r>
            <a:endParaRPr b="0" sz="800">
              <a:solidFill>
                <a:srgbClr val="1D4ED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1"/>
          <p:cNvSpPr txBox="1"/>
          <p:nvPr/>
        </p:nvSpPr>
        <p:spPr>
          <a:xfrm>
            <a:off x="457200" y="34290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Questions &amp; Discussion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We welcome your feedback and input on the HUUSD FY28 Budget Proposal</a:t>
            </a:r>
            <a:endParaRPr b="0" sz="13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854" name="Google Shape;854;p61"/>
          <p:cNvGrpSpPr/>
          <p:nvPr/>
        </p:nvGrpSpPr>
        <p:grpSpPr>
          <a:xfrm>
            <a:off x="571500" y="1352550"/>
            <a:ext cx="3810000" cy="3238500"/>
            <a:chOff x="0" y="0"/>
            <a:chExt cx="3810000" cy="3238500"/>
          </a:xfrm>
        </p:grpSpPr>
        <p:sp>
          <p:nvSpPr>
            <p:cNvPr id="855" name="Google Shape;855;p61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1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1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1"/>
            <p:cNvSpPr txBox="1"/>
            <p:nvPr/>
          </p:nvSpPr>
          <p:spPr>
            <a:xfrm>
              <a:off x="209550" y="23876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9" name="Google Shape;859;p61"/>
            <p:cNvSpPr txBox="1"/>
            <p:nvPr/>
          </p:nvSpPr>
          <p:spPr>
            <a:xfrm>
              <a:off x="742950" y="228600"/>
              <a:ext cx="283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Community Feedback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60" name="Google Shape;860;p61"/>
            <p:cNvCxnSpPr/>
            <p:nvPr/>
          </p:nvCxnSpPr>
          <p:spPr>
            <a:xfrm>
              <a:off x="228600" y="762000"/>
              <a:ext cx="3352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1" name="Google Shape;861;p61"/>
            <p:cNvSpPr txBox="1"/>
            <p:nvPr/>
          </p:nvSpPr>
          <p:spPr>
            <a:xfrm>
              <a:off x="266700" y="914400"/>
              <a:ext cx="32766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Thank you for your participation!</a:t>
              </a:r>
              <a:endParaRPr b="1" sz="14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Public engagement is essential in finalizing our district budget and operational plans.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We Invite Your Input</a:t>
              </a:r>
              <a:endParaRPr b="1" sz="1100">
                <a:solidFill>
                  <a:srgbClr val="1E40AF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2" name="Google Shape;862;p61"/>
          <p:cNvGrpSpPr/>
          <p:nvPr/>
        </p:nvGrpSpPr>
        <p:grpSpPr>
          <a:xfrm>
            <a:off x="4762500" y="1352550"/>
            <a:ext cx="3810000" cy="3238500"/>
            <a:chOff x="0" y="0"/>
            <a:chExt cx="3810000" cy="3238500"/>
          </a:xfrm>
        </p:grpSpPr>
        <p:sp>
          <p:nvSpPr>
            <p:cNvPr id="863" name="Google Shape;863;p61"/>
            <p:cNvSpPr/>
            <p:nvPr/>
          </p:nvSpPr>
          <p:spPr>
            <a:xfrm>
              <a:off x="0" y="0"/>
              <a:ext cx="38100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1"/>
            <p:cNvSpPr/>
            <p:nvPr/>
          </p:nvSpPr>
          <p:spPr>
            <a:xfrm>
              <a:off x="0" y="0"/>
              <a:ext cx="38100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1"/>
            <p:cNvSpPr/>
            <p:nvPr/>
          </p:nvSpPr>
          <p:spPr>
            <a:xfrm>
              <a:off x="209550" y="209550"/>
              <a:ext cx="419100" cy="4191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1"/>
            <p:cNvSpPr txBox="1"/>
            <p:nvPr/>
          </p:nvSpPr>
          <p:spPr>
            <a:xfrm>
              <a:off x="209550" y="23876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20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7" name="Google Shape;867;p61"/>
            <p:cNvSpPr txBox="1"/>
            <p:nvPr/>
          </p:nvSpPr>
          <p:spPr>
            <a:xfrm>
              <a:off x="742950" y="228600"/>
              <a:ext cx="283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Online Resources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68" name="Google Shape;868;p61"/>
            <p:cNvCxnSpPr/>
            <p:nvPr/>
          </p:nvCxnSpPr>
          <p:spPr>
            <a:xfrm>
              <a:off x="228600" y="762000"/>
              <a:ext cx="3352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9" name="Google Shape;869;p61"/>
            <p:cNvSpPr txBox="1"/>
            <p:nvPr/>
          </p:nvSpPr>
          <p:spPr>
            <a:xfrm>
              <a:off x="266700" y="914400"/>
              <a:ext cx="32766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additional details regarding enrollment projections, or budget development milestones, please visit the district website: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0F766E"/>
                  </a:solidFill>
                  <a:highlight>
                    <a:srgbClr val="F0FDFA"/>
                  </a:highlight>
                  <a:latin typeface="Inter ExtraBold"/>
                  <a:ea typeface="Inter ExtraBold"/>
                  <a:cs typeface="Inter ExtraBold"/>
                  <a:sym typeface="Inter ExtraBold"/>
                </a:rPr>
                <a:t>Official District website</a:t>
              </a:r>
              <a:endParaRPr b="0" sz="800">
                <a:solidFill>
                  <a:srgbClr val="0F766E"/>
                </a:solidFill>
                <a:highlight>
                  <a:srgbClr val="F0FDFA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 u="sng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HUUSD.org</a:t>
              </a:r>
              <a:endParaRPr b="0" sz="2000" u="sng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highlight>
                    <a:srgbClr val="F0FDFA"/>
                  </a:highlight>
                  <a:latin typeface="Inter"/>
                  <a:ea typeface="Inter"/>
                  <a:cs typeface="Inter"/>
                  <a:sym typeface="Inter"/>
                </a:rPr>
                <a:t>Harwood Union Unified School District Budget Proposal</a:t>
              </a:r>
              <a:endParaRPr b="0" sz="850">
                <a:solidFill>
                  <a:srgbClr val="64748B"/>
                </a:solidFill>
                <a:highlight>
                  <a:srgbClr val="F0FDFA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