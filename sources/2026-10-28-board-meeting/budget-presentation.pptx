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5"/>
    <p:sldMasterId id="2147483676" r:id="rId6"/>
    <p:sldMasterId id="214748367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Lst>
  <p:sldSz cy="5143500" cx="9144000"/>
  <p:notesSz cx="6858000" cy="9144000"/>
  <p:embeddedFontLst>
    <p:embeddedFont>
      <p:font typeface="Inter SemiBold"/>
      <p:regular r:id="rId49"/>
      <p:bold r:id="rId50"/>
      <p:italic r:id="rId51"/>
      <p:boldItalic r:id="rId52"/>
    </p:embeddedFont>
    <p:embeddedFont>
      <p:font typeface="Inter"/>
      <p:regular r:id="rId53"/>
      <p:bold r:id="rId54"/>
      <p:italic r:id="rId55"/>
      <p:boldItalic r:id="rId56"/>
    </p:embeddedFont>
    <p:embeddedFont>
      <p:font typeface="Poppins"/>
      <p:bold r:id="rId57"/>
      <p:boldItalic r:id="rId58"/>
    </p:embeddedFont>
    <p:embeddedFont>
      <p:font typeface="Inter ExtraBold"/>
      <p:bold r:id="rId59"/>
      <p:boldItalic r:id="rId60"/>
    </p:embeddedFont>
    <p:embeddedFont>
      <p:font typeface="Poppins Black"/>
      <p:bold r:id="rId61"/>
      <p:boldItalic r:id="rId62"/>
    </p:embeddedFont>
    <p:embeddedFont>
      <p:font typeface="DM Sans"/>
      <p:regular r:id="rId63"/>
      <p:bold r:id="rId64"/>
      <p:italic r:id="rId65"/>
      <p:boldItalic r:id="rId66"/>
    </p:embeddedFont>
    <p:embeddedFont>
      <p:font typeface="Inter Medium"/>
      <p:regular r:id="rId67"/>
      <p:bold r:id="rId68"/>
      <p:italic r:id="rId69"/>
      <p:boldItalic r:id="rId70"/>
    </p:embeddedFont>
    <p:embeddedFont>
      <p:font typeface="Space Grotesk"/>
      <p:regular r:id="rId71"/>
      <p:bold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564A07-C9E8-4B74-8387-D50FA61C5E47}">
  <a:tblStyle styleId="{5C564A07-C9E8-4B74-8387-D50FA61C5E4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59AC9E0-F204-4E01-998C-C9AF3E462FDF}"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font" Target="fonts/InterSemiBold-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2" Type="http://schemas.openxmlformats.org/officeDocument/2006/relationships/font" Target="fonts/SpaceGrotesk-bold.fntdata"/><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71" Type="http://schemas.openxmlformats.org/officeDocument/2006/relationships/font" Target="fonts/SpaceGrotesk-regular.fntdata"/><Relationship Id="rId70" Type="http://schemas.openxmlformats.org/officeDocument/2006/relationships/font" Target="fonts/InterMedium-boldItalic.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PoppinsBlack-boldItalic.fntdata"/><Relationship Id="rId61" Type="http://schemas.openxmlformats.org/officeDocument/2006/relationships/font" Target="fonts/PoppinsBlack-bold.fntdata"/><Relationship Id="rId20" Type="http://schemas.openxmlformats.org/officeDocument/2006/relationships/slide" Target="slides/slide12.xml"/><Relationship Id="rId64" Type="http://schemas.openxmlformats.org/officeDocument/2006/relationships/font" Target="fonts/DMSans-bold.fntdata"/><Relationship Id="rId63" Type="http://schemas.openxmlformats.org/officeDocument/2006/relationships/font" Target="fonts/DMSans-regular.fntdata"/><Relationship Id="rId22" Type="http://schemas.openxmlformats.org/officeDocument/2006/relationships/slide" Target="slides/slide14.xml"/><Relationship Id="rId66" Type="http://schemas.openxmlformats.org/officeDocument/2006/relationships/font" Target="fonts/DMSans-boldItalic.fntdata"/><Relationship Id="rId21" Type="http://schemas.openxmlformats.org/officeDocument/2006/relationships/slide" Target="slides/slide13.xml"/><Relationship Id="rId65" Type="http://schemas.openxmlformats.org/officeDocument/2006/relationships/font" Target="fonts/DMSans-italic.fntdata"/><Relationship Id="rId24" Type="http://schemas.openxmlformats.org/officeDocument/2006/relationships/slide" Target="slides/slide16.xml"/><Relationship Id="rId68" Type="http://schemas.openxmlformats.org/officeDocument/2006/relationships/font" Target="fonts/InterMedium-bold.fntdata"/><Relationship Id="rId23" Type="http://schemas.openxmlformats.org/officeDocument/2006/relationships/slide" Target="slides/slide15.xml"/><Relationship Id="rId67" Type="http://schemas.openxmlformats.org/officeDocument/2006/relationships/font" Target="fonts/InterMedium-regular.fntdata"/><Relationship Id="rId60" Type="http://schemas.openxmlformats.org/officeDocument/2006/relationships/font" Target="fonts/InterExtraBold-boldItalic.fntdata"/><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InterMedium-italic.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InterSemiBold-italic.fntdata"/><Relationship Id="rId50" Type="http://schemas.openxmlformats.org/officeDocument/2006/relationships/font" Target="fonts/InterSemiBold-bold.fntdata"/><Relationship Id="rId53" Type="http://schemas.openxmlformats.org/officeDocument/2006/relationships/font" Target="fonts/Inter-regular.fntdata"/><Relationship Id="rId52" Type="http://schemas.openxmlformats.org/officeDocument/2006/relationships/font" Target="fonts/InterSemiBold-boldItalic.fntdata"/><Relationship Id="rId11" Type="http://schemas.openxmlformats.org/officeDocument/2006/relationships/slide" Target="slides/slide3.xml"/><Relationship Id="rId55" Type="http://schemas.openxmlformats.org/officeDocument/2006/relationships/font" Target="fonts/Inter-italic.fntdata"/><Relationship Id="rId10" Type="http://schemas.openxmlformats.org/officeDocument/2006/relationships/slide" Target="slides/slide2.xml"/><Relationship Id="rId54" Type="http://schemas.openxmlformats.org/officeDocument/2006/relationships/font" Target="fonts/Inter-bold.fntdata"/><Relationship Id="rId13" Type="http://schemas.openxmlformats.org/officeDocument/2006/relationships/slide" Target="slides/slide5.xml"/><Relationship Id="rId57" Type="http://schemas.openxmlformats.org/officeDocument/2006/relationships/font" Target="fonts/Poppins-bold.fntdata"/><Relationship Id="rId12" Type="http://schemas.openxmlformats.org/officeDocument/2006/relationships/slide" Target="slides/slide4.xml"/><Relationship Id="rId56" Type="http://schemas.openxmlformats.org/officeDocument/2006/relationships/font" Target="fonts/Inter-boldItalic.fntdata"/><Relationship Id="rId15" Type="http://schemas.openxmlformats.org/officeDocument/2006/relationships/slide" Target="slides/slide7.xml"/><Relationship Id="rId59" Type="http://schemas.openxmlformats.org/officeDocument/2006/relationships/font" Target="fonts/InterExtraBold-bold.fntdata"/><Relationship Id="rId14" Type="http://schemas.openxmlformats.org/officeDocument/2006/relationships/slide" Target="slides/slide6.xml"/><Relationship Id="rId58" Type="http://schemas.openxmlformats.org/officeDocument/2006/relationships/font" Target="fonts/Poppins-bold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5b479eff43a20c3e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h5b479eff43a20c3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5b479eff43a20c3e_0_3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h5b479eff43a20c3e_0_3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5b479eff43a20c3e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h5b479eff43a20c3e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h5b479eff43a20c3e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h5b479eff43a20c3e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h5b479eff43a20c3e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h5b479eff43a20c3e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h5b479eff43a20c3e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h5b479eff43a20c3e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h53912e1dceec579_119_17:notes"/>
          <p:cNvSpPr/>
          <p:nvPr>
            <p:ph idx="2" type="sldImg"/>
          </p:nvPr>
        </p:nvSpPr>
        <p:spPr>
          <a:xfrm>
            <a:off x="2" y="0"/>
            <a:ext cx="2999995"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h53912e1dceec579_119_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Source: Vermont Act 169 of 2026, sections 6–7 and 15. https://legislature.vermont.gov/Documents/2026/Docs/ACTS/ACT169/ACT169%20As%20Enacted.pdf</a:t>
            </a:r>
            <a:endParaRPr/>
          </a:p>
          <a:p>
            <a:pPr indent="0" lvl="0" marL="0" rtl="0" algn="l">
              <a:spcBef>
                <a:spcPts val="0"/>
              </a:spcBef>
              <a:spcAft>
                <a:spcPts val="0"/>
              </a:spcAft>
              <a:buNone/>
            </a:pPr>
            <a:r>
              <a:rPr lang="en" sz="1200"/>
              <a:t>Section 7 sets FY28 at 115.5%, FY29 at 114.5%, FY30 at 113.5%, FY31 at 113%, FY32 at 112.5%. Section 6 establishes the inflation-adjusted FY25 spending base and ongoing 112.5% threshold. FY26 and FY27 remain at 118%. Agency of Education corroboration and foundation formula contingency: https://education.vermont.gov/schools/school-governance/education-transformation</a:t>
            </a:r>
            <a:endParaRPr/>
          </a:p>
          <a:p>
            <a:pPr indent="0" lvl="0" marL="0" rtl="0" algn="l">
              <a:spcBef>
                <a:spcPts val="0"/>
              </a:spcBef>
              <a:spcAft>
                <a:spcPts val="0"/>
              </a:spcAft>
              <a:buNone/>
            </a:pPr>
            <a:r>
              <a:rPr lang="en" sz="1200"/>
              <a:t>FY27 is 118%, rather than the 115.5% initially supplied. FY28 is the first reduction. Original user-supplied PDF artwork retained. Updated act label, schedule and explanatory text are editable.</a:t>
            </a:r>
            <a:endParaRPr/>
          </a:p>
        </p:txBody>
      </p:sp>
      <p:sp>
        <p:nvSpPr>
          <p:cNvPr id="287" name="Google Shape;287;h53912e1dceec579_119_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h7f231f3a662e5f5a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h7f231f3a662e5f5a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h7f231f3a662e5f5a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h7f231f3a662e5f5a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h78edbb5c934fe25d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h78edbb5c934fe25d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h7f231f3a662e5f5a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h7f231f3a662e5f5a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h5b479eff43a20c3e_0_1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h5b479eff43a20c3e_0_1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h5b479eff43a20c3e_0_1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h5b479eff43a20c3e_0_1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h5b479eff43a20c3e_0_3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h5b479eff43a20c3e_0_34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h53912e1dceec579_11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h53912e1dceec579_11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h53912e1dceec579_113_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5" name="Google Shape;505;h53912e1dceec579_113_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h53912e1dceec579_113_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5b479eff43a20c3e_0_4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h5b479eff43a20c3e_0_4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h5b479eff43a20c3e_0_4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h5b479eff43a20c3e_0_4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h5b479eff43a20c3e_0_4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h5b479eff43a20c3e_0_4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h1589cdb183f31f06_81_2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h1589cdb183f31f06_81_2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h1589cdb183f31f06_81_1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h1589cdb183f31f06_81_12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h1589cdb183f31f06_81_1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h1589cdb183f31f06_81_1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h1589cdb183f31f06_8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h1589cdb183f31f06_8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h1589cdb183f31f06_81_10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h1589cdb183f31f06_81_10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h3f62e17a2f030919_5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h3f62e17a2f030919_5_5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h70354bb1240d039a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h70354bb1240d039a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h1589cdb183f31f06_81_2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5" name="Google Shape;1025;h1589cdb183f31f06_81_2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h1589cdb183f31f06_81_2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h1589cdb183f31f06_81_2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h3f62e17a2f030919_5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h3f62e17a2f030919_5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h53912e1dceec579_124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h53912e1dceec579_124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h53912e1dceec579_124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h53912e1dceec579_124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h53912e1dceec579_124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5" name="Google Shape;1165;h53912e1dceec579_124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h1589cdb183f31f06_4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h1589cdb183f31f06_43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h50b957c03f5faee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h50b957c03f5faee7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h50b957c03f5faee7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h50b957c03f5faee7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h53912e1dceec579_11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2" name="Google Shape;1342;h53912e1dceec579_11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h70354bb1240d039a_0_10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5" name="Google Shape;1415;h70354bb1240d039a_0_10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Talk about what happens in Path A if a budget fails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h53912e1dceec579_150_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2" name="Google Shape;1442;h53912e1dceec579_150_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Closing message for legislators: We are pursuing structural changes and affordability, but consolidation does not remove ongoing cost pressures or guarantee enough annual budget growth to sustain services after FY28. No district-specific growth percentage is asserted or calculated here. The threshold is a per-pupil tax mechanism, not a fixed annual district budget cap. Declining weighted enrollment can constrain total budget growth even as costs rise. Inflation adjusts the base while statute reduces the multiplier. The chart shows the multiplier, not the nominal dollar threshold, allowed annual growth, or projected HUUSD spending.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Current schedule: FY28 115.5%, FY29 114.5%, FY30 113.5%, FY31 113%, FY32 and thereafter 112.5%. FY30 onward applies if the current excess spending system remains in effect rather than being superseded by the contemplated foundation formula.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Sources: Vermont Agency of Education, Education Transformation, Excess Spending Timeline: https://education.vermont.gov/schools/school-governance/education-transformation ; Vermont Agency of Education, State Aid for School Construction, Excess Spending Threshold: https://education.vermont.gov/schools/construction/state-aid ; 32 V.S.A. §5401: https://legislature.vermont.gov/statutes/section/32/135/05401 . Accessed October 28, 2026.</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Conceptual framing comes from the supplied October 2026 email exchange, including Mike Leichliter's feedback to Rebecca Holcombe. This slide paraphrases the concerns and uses the user's requested phrase, designation, not a diagnosis. It does not attribute that exact phrase to Holcombe. We will prepare FY28 under current rules and ask legislators to investigate future changes now. The designation alone is not a causal analysis of geographic size, actual IEP costs, regional teacher labor markets, or community-supported enrichment programs. Student weighting and other funding mechanisms may account for some differences. This slide does not claim that no part of the funding system recognizes student needs. The reference to performance is a statement that aggregate averages cannot describe a district, not a quantified comparison or a claim that HUUSD exceeds a particular performance benchmark.</a:t>
            </a:r>
            <a:endParaRPr/>
          </a:p>
        </p:txBody>
      </p:sp>
      <p:sp>
        <p:nvSpPr>
          <p:cNvPr id="1443" name="Google Shape;1443;h53912e1dceec579_150_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h1589cdb183f31f06_81_1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4" name="Google Shape;1464;h1589cdb183f31f06_81_1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h3f62e17a2f030919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0" name="Google Shape;1490;h3f62e17a2f030919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607299796ef81957_21_0)">
  <p:cSld name="Generated (h607299796ef81957_21_0)">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h5226178b8dbda917_34_0)">
    <p:spTree>
      <p:nvGrpSpPr>
        <p:cNvPr id="51" name="Shape 51"/>
        <p:cNvGrpSpPr/>
        <p:nvPr/>
      </p:nvGrpSpPr>
      <p:grpSpPr>
        <a:xfrm>
          <a:off x="0" y="0"/>
          <a:ext cx="0" cy="0"/>
          <a:chOff x="0" y="0"/>
          <a:chExt cx="0" cy="0"/>
        </a:xfrm>
      </p:grpSpPr>
      <p:sp>
        <p:nvSpPr>
          <p:cNvPr id="52" name="Google Shape;52;p14"/>
          <p:cNvSpPr txBox="1"/>
          <p:nvPr>
            <p:ph type="title"/>
          </p:nvPr>
        </p:nvSpPr>
        <p:spPr>
          <a:xfrm>
            <a:off x="628650" y="74178"/>
            <a:ext cx="7886700" cy="9942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3" name="Google Shape;53;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4" name="Google Shape;54;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6" name="Google Shape;56;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37b41f547844d308_56_0)">
  <p:cSld name="Generated (h37b41f547844d308_56_0)">
    <p:spTree>
      <p:nvGrpSpPr>
        <p:cNvPr id="57" name="Shape 57"/>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 name="Shape 58"/>
        <p:cNvGrpSpPr/>
        <p:nvPr/>
      </p:nvGrpSpPr>
      <p:grpSpPr>
        <a:xfrm>
          <a:off x="0" y="0"/>
          <a:ext cx="0" cy="0"/>
          <a:chOff x="0" y="0"/>
          <a:chExt cx="0" cy="0"/>
        </a:xfrm>
      </p:grpSpPr>
      <p:sp>
        <p:nvSpPr>
          <p:cNvPr id="59" name="Google Shape;59;p16"/>
          <p:cNvSpPr txBox="1"/>
          <p:nvPr>
            <p:ph type="title"/>
          </p:nvPr>
        </p:nvSpPr>
        <p:spPr>
          <a:xfrm>
            <a:off x="628650" y="74178"/>
            <a:ext cx="7886700" cy="9942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0" name="Google Shape;60;p1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1" name="Google Shape;61;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2" name="Google Shape;62;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3" name="Google Shape;63;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16"/>
          <p:cNvSpPr/>
          <p:nvPr/>
        </p:nvSpPr>
        <p:spPr>
          <a:xfrm>
            <a:off x="0" y="0"/>
            <a:ext cx="390600" cy="5143500"/>
          </a:xfrm>
          <a:prstGeom prst="rect">
            <a:avLst/>
          </a:prstGeom>
          <a:solidFill>
            <a:srgbClr val="FEC10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65" name="Google Shape;65;p16"/>
          <p:cNvCxnSpPr/>
          <p:nvPr/>
        </p:nvCxnSpPr>
        <p:spPr>
          <a:xfrm>
            <a:off x="628650" y="1068350"/>
            <a:ext cx="6976500" cy="0"/>
          </a:xfrm>
          <a:prstGeom prst="straightConnector1">
            <a:avLst/>
          </a:prstGeom>
          <a:noFill/>
          <a:ln cap="flat" cmpd="sng" w="14300">
            <a:solidFill>
              <a:schemeClr val="accent2"/>
            </a:solidFill>
            <a:prstDash val="solid"/>
            <a:miter lim="8000"/>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 name="Shape 67"/>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19"/>
          <p:cNvSpPr txBox="1"/>
          <p:nvPr>
            <p:ph type="title"/>
          </p:nvPr>
        </p:nvSpPr>
        <p:spPr>
          <a:xfrm>
            <a:off x="914400" y="1943104"/>
            <a:ext cx="7315200" cy="742951"/>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9pPr>
          </a:lstStyle>
          <a:p/>
        </p:txBody>
      </p:sp>
      <p:sp>
        <p:nvSpPr>
          <p:cNvPr id="70" name="Google Shape;70;p19"/>
          <p:cNvSpPr txBox="1"/>
          <p:nvPr>
            <p:ph idx="1" type="subTitle"/>
          </p:nvPr>
        </p:nvSpPr>
        <p:spPr>
          <a:xfrm>
            <a:off x="1371600" y="2828930"/>
            <a:ext cx="6400800" cy="571501"/>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1" name="Shape 71"/>
        <p:cNvGrpSpPr/>
        <p:nvPr/>
      </p:nvGrpSpPr>
      <p:grpSpPr>
        <a:xfrm>
          <a:off x="0" y="0"/>
          <a:ext cx="0" cy="0"/>
          <a:chOff x="0" y="0"/>
          <a:chExt cx="0" cy="0"/>
        </a:xfrm>
      </p:grpSpPr>
      <p:sp>
        <p:nvSpPr>
          <p:cNvPr id="72" name="Google Shape;72;p20"/>
          <p:cNvSpPr txBox="1"/>
          <p:nvPr>
            <p:ph type="title"/>
          </p:nvPr>
        </p:nvSpPr>
        <p:spPr>
          <a:xfrm>
            <a:off x="914400" y="2143129"/>
            <a:ext cx="7315200" cy="857251"/>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3200"/>
              <a:buFont typeface="Arial"/>
              <a:buNone/>
              <a:defRPr b="1" sz="3200">
                <a:solidFill>
                  <a:schemeClr val="dk1"/>
                </a:solidFill>
                <a:latin typeface="Arial"/>
                <a:ea typeface="Arial"/>
                <a:cs typeface="Arial"/>
                <a:sym typeface="Aria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3" name="Shape 73"/>
        <p:cNvGrpSpPr/>
        <p:nvPr/>
      </p:nvGrpSpPr>
      <p:grpSpPr>
        <a:xfrm>
          <a:off x="0" y="0"/>
          <a:ext cx="0" cy="0"/>
          <a:chOff x="0" y="0"/>
          <a:chExt cx="0" cy="0"/>
        </a:xfrm>
      </p:grpSpPr>
      <p:sp>
        <p:nvSpPr>
          <p:cNvPr id="74" name="Google Shape;74;p21"/>
          <p:cNvSpPr txBox="1"/>
          <p:nvPr>
            <p:ph type="title"/>
          </p:nvPr>
        </p:nvSpPr>
        <p:spPr>
          <a:xfrm>
            <a:off x="514350" y="400050"/>
            <a:ext cx="8115300" cy="628651"/>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2500"/>
              <a:buFont typeface="Arial"/>
              <a:buNone/>
              <a:defRPr b="1" i="0" sz="25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9pPr>
          </a:lstStyle>
          <a:p/>
        </p:txBody>
      </p:sp>
      <p:sp>
        <p:nvSpPr>
          <p:cNvPr id="75" name="Google Shape;75;p21"/>
          <p:cNvSpPr txBox="1"/>
          <p:nvPr>
            <p:ph idx="1" type="body"/>
          </p:nvPr>
        </p:nvSpPr>
        <p:spPr>
          <a:xfrm>
            <a:off x="514350" y="1428753"/>
            <a:ext cx="8115300" cy="3200405"/>
          </a:xfrm>
          <a:prstGeom prst="rect">
            <a:avLst/>
          </a:prstGeom>
          <a:noFill/>
          <a:ln>
            <a:noFill/>
          </a:ln>
        </p:spPr>
        <p:txBody>
          <a:bodyPr anchorCtr="0" anchor="t" bIns="0" lIns="0" spcFirstLastPara="1" rIns="0" wrap="square" tIns="0">
            <a:normAutofit/>
          </a:bodyPr>
          <a:lstStyle>
            <a:lvl1pPr indent="-336550" lvl="0" marL="457200" marR="0" rtl="0" algn="l">
              <a:lnSpc>
                <a:spcPct val="110000"/>
              </a:lnSpc>
              <a:spcBef>
                <a:spcPts val="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1pPr>
            <a:lvl2pPr indent="-336550" lvl="1" marL="9144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2pPr>
            <a:lvl3pPr indent="-336550" lvl="2" marL="13716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3pPr>
            <a:lvl4pPr indent="-336550" lvl="3" marL="18288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4pPr>
            <a:lvl5pPr indent="-336550" lvl="4" marL="22860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5pPr>
            <a:lvl6pPr indent="-336550" lvl="5" marL="27432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6pPr>
            <a:lvl7pPr indent="-336550" lvl="6" marL="32004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7pPr>
            <a:lvl8pPr indent="-336550" lvl="7" marL="36576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8pPr>
            <a:lvl9pPr indent="-336550" lvl="8" marL="4114800" marR="0" rtl="0" algn="l">
              <a:lnSpc>
                <a:spcPct val="110000"/>
              </a:lnSpc>
              <a:spcBef>
                <a:spcPts val="900"/>
              </a:spcBef>
              <a:spcAft>
                <a:spcPts val="900"/>
              </a:spcAft>
              <a:buClr>
                <a:schemeClr val="dk1"/>
              </a:buClr>
              <a:buSzPts val="1700"/>
              <a:buFont typeface="Arial"/>
              <a:buChar char="•"/>
              <a:defRPr b="0" i="0" sz="17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76" name="Shape 76"/>
        <p:cNvGrpSpPr/>
        <p:nvPr/>
      </p:nvGrpSpPr>
      <p:grpSpPr>
        <a:xfrm>
          <a:off x="0" y="0"/>
          <a:ext cx="0" cy="0"/>
          <a:chOff x="0" y="0"/>
          <a:chExt cx="0" cy="0"/>
        </a:xfrm>
      </p:grpSpPr>
      <p:sp>
        <p:nvSpPr>
          <p:cNvPr id="77" name="Google Shape;77;p22"/>
          <p:cNvSpPr txBox="1"/>
          <p:nvPr>
            <p:ph type="title"/>
          </p:nvPr>
        </p:nvSpPr>
        <p:spPr>
          <a:xfrm>
            <a:off x="514350" y="400050"/>
            <a:ext cx="8115300" cy="628651"/>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2500"/>
              <a:buFont typeface="Arial"/>
              <a:buNone/>
              <a:defRPr b="1" i="0" sz="25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9pPr>
          </a:lstStyle>
          <a:p/>
        </p:txBody>
      </p:sp>
      <p:sp>
        <p:nvSpPr>
          <p:cNvPr id="78" name="Google Shape;78;p22"/>
          <p:cNvSpPr txBox="1"/>
          <p:nvPr>
            <p:ph idx="1" type="body"/>
          </p:nvPr>
        </p:nvSpPr>
        <p:spPr>
          <a:xfrm>
            <a:off x="514350" y="1428753"/>
            <a:ext cx="3771900" cy="3200405"/>
          </a:xfrm>
          <a:prstGeom prst="rect">
            <a:avLst/>
          </a:prstGeom>
          <a:noFill/>
          <a:ln>
            <a:noFill/>
          </a:ln>
        </p:spPr>
        <p:txBody>
          <a:bodyPr anchorCtr="0" anchor="t" bIns="0" lIns="0" spcFirstLastPara="1" rIns="0" wrap="square" tIns="0">
            <a:normAutofit/>
          </a:bodyPr>
          <a:lstStyle>
            <a:lvl1pPr indent="-330200" lvl="0" marL="457200" marR="0" rtl="0" algn="l">
              <a:lnSpc>
                <a:spcPct val="11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30200" lvl="3" marL="18288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lnSpc>
                <a:spcPct val="110000"/>
              </a:lnSpc>
              <a:spcBef>
                <a:spcPts val="900"/>
              </a:spcBef>
              <a:spcAft>
                <a:spcPts val="90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79" name="Google Shape;79;p22"/>
          <p:cNvSpPr txBox="1"/>
          <p:nvPr>
            <p:ph idx="2" type="body"/>
          </p:nvPr>
        </p:nvSpPr>
        <p:spPr>
          <a:xfrm>
            <a:off x="4857750" y="1428753"/>
            <a:ext cx="3771900" cy="3200405"/>
          </a:xfrm>
          <a:prstGeom prst="rect">
            <a:avLst/>
          </a:prstGeom>
          <a:noFill/>
          <a:ln>
            <a:noFill/>
          </a:ln>
        </p:spPr>
        <p:txBody>
          <a:bodyPr anchorCtr="0" anchor="t" bIns="0" lIns="0" spcFirstLastPara="1" rIns="0" wrap="square" tIns="0">
            <a:normAutofit/>
          </a:bodyPr>
          <a:lstStyle>
            <a:lvl1pPr indent="-330200" lvl="0" marL="457200" marR="0" rtl="0" algn="l">
              <a:lnSpc>
                <a:spcPct val="110000"/>
              </a:lnSpc>
              <a:spcBef>
                <a:spcPts val="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30200" lvl="3" marL="18288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lnSpc>
                <a:spcPct val="110000"/>
              </a:lnSpc>
              <a:spcBef>
                <a:spcPts val="9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lnSpc>
                <a:spcPct val="110000"/>
              </a:lnSpc>
              <a:spcBef>
                <a:spcPts val="900"/>
              </a:spcBef>
              <a:spcAft>
                <a:spcPts val="90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80" name="Shape 80"/>
        <p:cNvGrpSpPr/>
        <p:nvPr/>
      </p:nvGrpSpPr>
      <p:grpSpPr>
        <a:xfrm>
          <a:off x="0" y="0"/>
          <a:ext cx="0" cy="0"/>
          <a:chOff x="0" y="0"/>
          <a:chExt cx="0" cy="0"/>
        </a:xfrm>
      </p:grpSpPr>
      <p:sp>
        <p:nvSpPr>
          <p:cNvPr id="81" name="Google Shape;81;p23"/>
          <p:cNvSpPr txBox="1"/>
          <p:nvPr>
            <p:ph type="title"/>
          </p:nvPr>
        </p:nvSpPr>
        <p:spPr>
          <a:xfrm>
            <a:off x="514350" y="400050"/>
            <a:ext cx="8115300" cy="628651"/>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2500"/>
              <a:buFont typeface="Arial"/>
              <a:buNone/>
              <a:defRPr b="1" i="0" sz="25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2500"/>
              <a:buFont typeface="Arial"/>
              <a:buNone/>
              <a:defRPr b="1" sz="2500">
                <a:solidFill>
                  <a:schemeClr val="dk1"/>
                </a:solidFill>
                <a:latin typeface="Arial"/>
                <a:ea typeface="Arial"/>
                <a:cs typeface="Arial"/>
                <a:sym typeface="Arial"/>
              </a:defRPr>
            </a:lvl9pPr>
          </a:lstStyle>
          <a:p/>
        </p:txBody>
      </p:sp>
      <p:sp>
        <p:nvSpPr>
          <p:cNvPr id="82" name="Google Shape;82;p23"/>
          <p:cNvSpPr txBox="1"/>
          <p:nvPr>
            <p:ph idx="1" type="body"/>
          </p:nvPr>
        </p:nvSpPr>
        <p:spPr>
          <a:xfrm>
            <a:off x="514350" y="1428753"/>
            <a:ext cx="3771900" cy="3200405"/>
          </a:xfrm>
          <a:prstGeom prst="rect">
            <a:avLst/>
          </a:prstGeom>
          <a:noFill/>
          <a:ln>
            <a:noFill/>
          </a:ln>
        </p:spPr>
        <p:txBody>
          <a:bodyPr anchorCtr="0" anchor="t" bIns="0" lIns="0" spcFirstLastPara="1" rIns="0" wrap="square" tIns="0">
            <a:normAutofit/>
          </a:bodyPr>
          <a:lstStyle>
            <a:lvl1pPr indent="-336550" lvl="0" marL="457200" marR="0" rtl="0" algn="l">
              <a:lnSpc>
                <a:spcPct val="110000"/>
              </a:lnSpc>
              <a:spcBef>
                <a:spcPts val="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1pPr>
            <a:lvl2pPr indent="-336550" lvl="1" marL="9144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2pPr>
            <a:lvl3pPr indent="-336550" lvl="2" marL="13716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3pPr>
            <a:lvl4pPr indent="-336550" lvl="3" marL="18288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4pPr>
            <a:lvl5pPr indent="-336550" lvl="4" marL="22860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5pPr>
            <a:lvl6pPr indent="-336550" lvl="5" marL="27432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6pPr>
            <a:lvl7pPr indent="-336550" lvl="6" marL="32004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7pPr>
            <a:lvl8pPr indent="-336550" lvl="7" marL="3657600" marR="0" rtl="0" algn="l">
              <a:lnSpc>
                <a:spcPct val="110000"/>
              </a:lnSpc>
              <a:spcBef>
                <a:spcPts val="9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8pPr>
            <a:lvl9pPr indent="-336550" lvl="8" marL="4114800" marR="0" rtl="0" algn="l">
              <a:lnSpc>
                <a:spcPct val="110000"/>
              </a:lnSpc>
              <a:spcBef>
                <a:spcPts val="900"/>
              </a:spcBef>
              <a:spcAft>
                <a:spcPts val="900"/>
              </a:spcAft>
              <a:buClr>
                <a:schemeClr val="dk1"/>
              </a:buClr>
              <a:buSzPts val="1700"/>
              <a:buFont typeface="Arial"/>
              <a:buChar char="•"/>
              <a:defRPr b="0" i="0" sz="17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4" name="Shape 8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5" name="Shape 85"/>
        <p:cNvGrpSpPr/>
        <p:nvPr/>
      </p:nvGrpSpPr>
      <p:grpSpPr>
        <a:xfrm>
          <a:off x="0" y="0"/>
          <a:ext cx="0" cy="0"/>
          <a:chOff x="0" y="0"/>
          <a:chExt cx="0" cy="0"/>
        </a:xfrm>
      </p:grpSpPr>
      <p:sp>
        <p:nvSpPr>
          <p:cNvPr id="86" name="Google Shape;86;p26"/>
          <p:cNvSpPr txBox="1"/>
          <p:nvPr>
            <p:ph type="title"/>
          </p:nvPr>
        </p:nvSpPr>
        <p:spPr>
          <a:xfrm>
            <a:off x="914400" y="1943100"/>
            <a:ext cx="7315200" cy="74295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3600"/>
              <a:buFont typeface="Arial"/>
              <a:buNone/>
              <a:defRPr b="1" sz="3600">
                <a:solidFill>
                  <a:schemeClr val="dk1"/>
                </a:solidFill>
                <a:latin typeface="Arial"/>
                <a:ea typeface="Arial"/>
                <a:cs typeface="Arial"/>
                <a:sym typeface="Arial"/>
              </a:defRPr>
            </a:lvl9pPr>
          </a:lstStyle>
          <a:p/>
        </p:txBody>
      </p:sp>
      <p:sp>
        <p:nvSpPr>
          <p:cNvPr id="87" name="Google Shape;87;p26"/>
          <p:cNvSpPr txBox="1"/>
          <p:nvPr>
            <p:ph idx="1" type="subTitle"/>
          </p:nvPr>
        </p:nvSpPr>
        <p:spPr>
          <a:xfrm>
            <a:off x="1371600" y="2828925"/>
            <a:ext cx="6400800" cy="5715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1575"/>
              <a:buFont typeface="Arial"/>
              <a:buNone/>
              <a:defRPr b="0" i="0" sz="1575"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1575"/>
              <a:buFont typeface="Arial"/>
              <a:buNone/>
              <a:defRPr b="0" i="0" sz="1575"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1575"/>
              <a:buFont typeface="Arial"/>
              <a:buNone/>
              <a:defRPr b="0" i="0" sz="1575"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1575"/>
              <a:buFont typeface="Arial"/>
              <a:buNone/>
              <a:defRPr b="0" i="0" sz="1575"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1575"/>
              <a:buFont typeface="Arial"/>
              <a:buNone/>
              <a:defRPr b="0" i="0" sz="1575"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1575"/>
              <a:buFont typeface="Arial"/>
              <a:buNone/>
              <a:defRPr b="0" i="0" sz="1575"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1575"/>
              <a:buFont typeface="Arial"/>
              <a:buNone/>
              <a:defRPr b="0" i="0" sz="1575"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1575"/>
              <a:buFont typeface="Arial"/>
              <a:buNone/>
              <a:defRPr b="0" i="0" sz="1575"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1575"/>
              <a:buFont typeface="Arial"/>
              <a:buNone/>
              <a:defRPr b="0" i="0" sz="1575"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8" name="Shape 88"/>
        <p:cNvGrpSpPr/>
        <p:nvPr/>
      </p:nvGrpSpPr>
      <p:grpSpPr>
        <a:xfrm>
          <a:off x="0" y="0"/>
          <a:ext cx="0" cy="0"/>
          <a:chOff x="0" y="0"/>
          <a:chExt cx="0" cy="0"/>
        </a:xfrm>
      </p:grpSpPr>
      <p:sp>
        <p:nvSpPr>
          <p:cNvPr id="89" name="Google Shape;89;p27"/>
          <p:cNvSpPr txBox="1"/>
          <p:nvPr>
            <p:ph type="title"/>
          </p:nvPr>
        </p:nvSpPr>
        <p:spPr>
          <a:xfrm>
            <a:off x="914400" y="2143125"/>
            <a:ext cx="7315200" cy="85725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3150"/>
              <a:buFont typeface="Arial"/>
              <a:buNone/>
              <a:defRPr b="1" i="0" sz="315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3150"/>
              <a:buFont typeface="Arial"/>
              <a:buNone/>
              <a:defRPr b="1" sz="315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3150"/>
              <a:buFont typeface="Arial"/>
              <a:buNone/>
              <a:defRPr b="1" sz="315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3150"/>
              <a:buFont typeface="Arial"/>
              <a:buNone/>
              <a:defRPr b="1" sz="315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3150"/>
              <a:buFont typeface="Arial"/>
              <a:buNone/>
              <a:defRPr b="1" sz="315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3150"/>
              <a:buFont typeface="Arial"/>
              <a:buNone/>
              <a:defRPr b="1" sz="315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3150"/>
              <a:buFont typeface="Arial"/>
              <a:buNone/>
              <a:defRPr b="1" sz="315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3150"/>
              <a:buFont typeface="Arial"/>
              <a:buNone/>
              <a:defRPr b="1" sz="315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3150"/>
              <a:buFont typeface="Arial"/>
              <a:buNone/>
              <a:defRPr b="1" sz="3150">
                <a:solidFill>
                  <a:schemeClr val="dk1"/>
                </a:solidFill>
                <a:latin typeface="Arial"/>
                <a:ea typeface="Arial"/>
                <a:cs typeface="Arial"/>
                <a:sym typeface="Aria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90" name="Shape 90"/>
        <p:cNvGrpSpPr/>
        <p:nvPr/>
      </p:nvGrpSpPr>
      <p:grpSpPr>
        <a:xfrm>
          <a:off x="0" y="0"/>
          <a:ext cx="0" cy="0"/>
          <a:chOff x="0" y="0"/>
          <a:chExt cx="0" cy="0"/>
        </a:xfrm>
      </p:grpSpPr>
      <p:sp>
        <p:nvSpPr>
          <p:cNvPr id="91" name="Google Shape;91;p28"/>
          <p:cNvSpPr txBox="1"/>
          <p:nvPr>
            <p:ph type="title"/>
          </p:nvPr>
        </p:nvSpPr>
        <p:spPr>
          <a:xfrm>
            <a:off x="514350" y="400050"/>
            <a:ext cx="8115300" cy="6286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2475"/>
              <a:buFont typeface="Arial"/>
              <a:buNone/>
              <a:defRPr b="1" i="0" sz="2475"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9pPr>
          </a:lstStyle>
          <a:p/>
        </p:txBody>
      </p:sp>
      <p:sp>
        <p:nvSpPr>
          <p:cNvPr id="92" name="Google Shape;92;p28"/>
          <p:cNvSpPr txBox="1"/>
          <p:nvPr>
            <p:ph idx="1" type="body"/>
          </p:nvPr>
        </p:nvSpPr>
        <p:spPr>
          <a:xfrm>
            <a:off x="514350" y="1428750"/>
            <a:ext cx="8115300" cy="3200400"/>
          </a:xfrm>
          <a:prstGeom prst="rect">
            <a:avLst/>
          </a:prstGeom>
          <a:noFill/>
          <a:ln>
            <a:noFill/>
          </a:ln>
        </p:spPr>
        <p:txBody>
          <a:bodyPr anchorCtr="0" anchor="t" bIns="0" lIns="0" spcFirstLastPara="1" rIns="0" wrap="square" tIns="0">
            <a:normAutofit/>
          </a:bodyPr>
          <a:lstStyle>
            <a:lvl1pPr indent="-335788" lvl="0" marL="457200" marR="0" rtl="0" algn="l">
              <a:lnSpc>
                <a:spcPct val="110000"/>
              </a:lnSpc>
              <a:spcBef>
                <a:spcPts val="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1pPr>
            <a:lvl2pPr indent="-335788" lvl="1" marL="914400" marR="0" rtl="0" algn="l">
              <a:lnSpc>
                <a:spcPct val="110000"/>
              </a:lnSpc>
              <a:spcBef>
                <a:spcPts val="90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2pPr>
            <a:lvl3pPr indent="-335788" lvl="2" marL="1371600" marR="0" rtl="0" algn="l">
              <a:lnSpc>
                <a:spcPct val="110000"/>
              </a:lnSpc>
              <a:spcBef>
                <a:spcPts val="90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3pPr>
            <a:lvl4pPr indent="-335788" lvl="3" marL="1828800" marR="0" rtl="0" algn="l">
              <a:lnSpc>
                <a:spcPct val="110000"/>
              </a:lnSpc>
              <a:spcBef>
                <a:spcPts val="90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4pPr>
            <a:lvl5pPr indent="-335788" lvl="4" marL="2286000" marR="0" rtl="0" algn="l">
              <a:lnSpc>
                <a:spcPct val="110000"/>
              </a:lnSpc>
              <a:spcBef>
                <a:spcPts val="90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5pPr>
            <a:lvl6pPr indent="-335788" lvl="5" marL="2743200" marR="0" rtl="0" algn="l">
              <a:lnSpc>
                <a:spcPct val="110000"/>
              </a:lnSpc>
              <a:spcBef>
                <a:spcPts val="90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6pPr>
            <a:lvl7pPr indent="-335788" lvl="6" marL="3200400" marR="0" rtl="0" algn="l">
              <a:lnSpc>
                <a:spcPct val="110000"/>
              </a:lnSpc>
              <a:spcBef>
                <a:spcPts val="90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7pPr>
            <a:lvl8pPr indent="-335788" lvl="7" marL="3657600" marR="0" rtl="0" algn="l">
              <a:lnSpc>
                <a:spcPct val="110000"/>
              </a:lnSpc>
              <a:spcBef>
                <a:spcPts val="90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8pPr>
            <a:lvl9pPr indent="-335788" lvl="8" marL="4114800" marR="0" rtl="0" algn="l">
              <a:lnSpc>
                <a:spcPct val="110000"/>
              </a:lnSpc>
              <a:spcBef>
                <a:spcPts val="900"/>
              </a:spcBef>
              <a:spcAft>
                <a:spcPts val="900"/>
              </a:spcAft>
              <a:buClr>
                <a:schemeClr val="dk1"/>
              </a:buClr>
              <a:buSzPts val="1688"/>
              <a:buFont typeface="Arial"/>
              <a:buChar char="•"/>
              <a:defRPr b="0" i="0" sz="1688"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93" name="Shape 93"/>
        <p:cNvGrpSpPr/>
        <p:nvPr/>
      </p:nvGrpSpPr>
      <p:grpSpPr>
        <a:xfrm>
          <a:off x="0" y="0"/>
          <a:ext cx="0" cy="0"/>
          <a:chOff x="0" y="0"/>
          <a:chExt cx="0" cy="0"/>
        </a:xfrm>
      </p:grpSpPr>
      <p:sp>
        <p:nvSpPr>
          <p:cNvPr id="94" name="Google Shape;94;p29"/>
          <p:cNvSpPr txBox="1"/>
          <p:nvPr>
            <p:ph type="title"/>
          </p:nvPr>
        </p:nvSpPr>
        <p:spPr>
          <a:xfrm>
            <a:off x="514350" y="400050"/>
            <a:ext cx="8115300" cy="6286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2475"/>
              <a:buFont typeface="Arial"/>
              <a:buNone/>
              <a:defRPr b="1" i="0" sz="2475"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9pPr>
          </a:lstStyle>
          <a:p/>
        </p:txBody>
      </p:sp>
      <p:sp>
        <p:nvSpPr>
          <p:cNvPr id="95" name="Google Shape;95;p29"/>
          <p:cNvSpPr txBox="1"/>
          <p:nvPr>
            <p:ph idx="1" type="body"/>
          </p:nvPr>
        </p:nvSpPr>
        <p:spPr>
          <a:xfrm>
            <a:off x="514350" y="1428750"/>
            <a:ext cx="3771900" cy="3200400"/>
          </a:xfrm>
          <a:prstGeom prst="rect">
            <a:avLst/>
          </a:prstGeom>
          <a:noFill/>
          <a:ln>
            <a:noFill/>
          </a:ln>
        </p:spPr>
        <p:txBody>
          <a:bodyPr anchorCtr="0" anchor="t" bIns="0" lIns="0" spcFirstLastPara="1" rIns="0" wrap="square" tIns="0">
            <a:normAutofit/>
          </a:bodyPr>
          <a:lstStyle>
            <a:lvl1pPr indent="-328613" lvl="0" marL="457200" marR="0" rtl="0" algn="l">
              <a:lnSpc>
                <a:spcPct val="110000"/>
              </a:lnSpc>
              <a:spcBef>
                <a:spcPts val="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1pPr>
            <a:lvl2pPr indent="-328613" lvl="1" marL="914400" marR="0" rtl="0" algn="l">
              <a:lnSpc>
                <a:spcPct val="110000"/>
              </a:lnSpc>
              <a:spcBef>
                <a:spcPts val="90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2pPr>
            <a:lvl3pPr indent="-328613" lvl="2" marL="1371600" marR="0" rtl="0" algn="l">
              <a:lnSpc>
                <a:spcPct val="110000"/>
              </a:lnSpc>
              <a:spcBef>
                <a:spcPts val="90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3pPr>
            <a:lvl4pPr indent="-328613" lvl="3" marL="1828800" marR="0" rtl="0" algn="l">
              <a:lnSpc>
                <a:spcPct val="110000"/>
              </a:lnSpc>
              <a:spcBef>
                <a:spcPts val="90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4pPr>
            <a:lvl5pPr indent="-328613" lvl="4" marL="2286000" marR="0" rtl="0" algn="l">
              <a:lnSpc>
                <a:spcPct val="110000"/>
              </a:lnSpc>
              <a:spcBef>
                <a:spcPts val="90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5pPr>
            <a:lvl6pPr indent="-328613" lvl="5" marL="2743200" marR="0" rtl="0" algn="l">
              <a:lnSpc>
                <a:spcPct val="110000"/>
              </a:lnSpc>
              <a:spcBef>
                <a:spcPts val="90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6pPr>
            <a:lvl7pPr indent="-328613" lvl="6" marL="3200400" marR="0" rtl="0" algn="l">
              <a:lnSpc>
                <a:spcPct val="110000"/>
              </a:lnSpc>
              <a:spcBef>
                <a:spcPts val="90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7pPr>
            <a:lvl8pPr indent="-328613" lvl="7" marL="3657600" marR="0" rtl="0" algn="l">
              <a:lnSpc>
                <a:spcPct val="110000"/>
              </a:lnSpc>
              <a:spcBef>
                <a:spcPts val="90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8pPr>
            <a:lvl9pPr indent="-328613" lvl="8" marL="4114800" marR="0" rtl="0" algn="l">
              <a:lnSpc>
                <a:spcPct val="110000"/>
              </a:lnSpc>
              <a:spcBef>
                <a:spcPts val="900"/>
              </a:spcBef>
              <a:spcAft>
                <a:spcPts val="900"/>
              </a:spcAft>
              <a:buClr>
                <a:schemeClr val="dk1"/>
              </a:buClr>
              <a:buSzPts val="1575"/>
              <a:buFont typeface="Arial"/>
              <a:buChar char="•"/>
              <a:defRPr b="0" i="0" sz="1575" u="none" cap="none" strike="noStrike">
                <a:solidFill>
                  <a:schemeClr val="dk1"/>
                </a:solidFill>
                <a:latin typeface="Arial"/>
                <a:ea typeface="Arial"/>
                <a:cs typeface="Arial"/>
                <a:sym typeface="Arial"/>
              </a:defRPr>
            </a:lvl9pPr>
          </a:lstStyle>
          <a:p/>
        </p:txBody>
      </p:sp>
      <p:sp>
        <p:nvSpPr>
          <p:cNvPr id="96" name="Google Shape;96;p29"/>
          <p:cNvSpPr txBox="1"/>
          <p:nvPr>
            <p:ph idx="2" type="body"/>
          </p:nvPr>
        </p:nvSpPr>
        <p:spPr>
          <a:xfrm>
            <a:off x="4857750" y="1428750"/>
            <a:ext cx="3771900" cy="3200400"/>
          </a:xfrm>
          <a:prstGeom prst="rect">
            <a:avLst/>
          </a:prstGeom>
          <a:noFill/>
          <a:ln>
            <a:noFill/>
          </a:ln>
        </p:spPr>
        <p:txBody>
          <a:bodyPr anchorCtr="0" anchor="t" bIns="0" lIns="0" spcFirstLastPara="1" rIns="0" wrap="square" tIns="0">
            <a:normAutofit/>
          </a:bodyPr>
          <a:lstStyle>
            <a:lvl1pPr indent="-328613" lvl="0" marL="457200" marR="0" rtl="0" algn="l">
              <a:lnSpc>
                <a:spcPct val="110000"/>
              </a:lnSpc>
              <a:spcBef>
                <a:spcPts val="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1pPr>
            <a:lvl2pPr indent="-328613" lvl="1" marL="914400" marR="0" rtl="0" algn="l">
              <a:lnSpc>
                <a:spcPct val="110000"/>
              </a:lnSpc>
              <a:spcBef>
                <a:spcPts val="90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2pPr>
            <a:lvl3pPr indent="-328613" lvl="2" marL="1371600" marR="0" rtl="0" algn="l">
              <a:lnSpc>
                <a:spcPct val="110000"/>
              </a:lnSpc>
              <a:spcBef>
                <a:spcPts val="90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3pPr>
            <a:lvl4pPr indent="-328613" lvl="3" marL="1828800" marR="0" rtl="0" algn="l">
              <a:lnSpc>
                <a:spcPct val="110000"/>
              </a:lnSpc>
              <a:spcBef>
                <a:spcPts val="90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4pPr>
            <a:lvl5pPr indent="-328613" lvl="4" marL="2286000" marR="0" rtl="0" algn="l">
              <a:lnSpc>
                <a:spcPct val="110000"/>
              </a:lnSpc>
              <a:spcBef>
                <a:spcPts val="90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5pPr>
            <a:lvl6pPr indent="-328613" lvl="5" marL="2743200" marR="0" rtl="0" algn="l">
              <a:lnSpc>
                <a:spcPct val="110000"/>
              </a:lnSpc>
              <a:spcBef>
                <a:spcPts val="90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6pPr>
            <a:lvl7pPr indent="-328613" lvl="6" marL="3200400" marR="0" rtl="0" algn="l">
              <a:lnSpc>
                <a:spcPct val="110000"/>
              </a:lnSpc>
              <a:spcBef>
                <a:spcPts val="90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7pPr>
            <a:lvl8pPr indent="-328613" lvl="7" marL="3657600" marR="0" rtl="0" algn="l">
              <a:lnSpc>
                <a:spcPct val="110000"/>
              </a:lnSpc>
              <a:spcBef>
                <a:spcPts val="900"/>
              </a:spcBef>
              <a:spcAft>
                <a:spcPts val="0"/>
              </a:spcAft>
              <a:buClr>
                <a:schemeClr val="dk1"/>
              </a:buClr>
              <a:buSzPts val="1575"/>
              <a:buFont typeface="Arial"/>
              <a:buChar char="•"/>
              <a:defRPr b="0" i="0" sz="1575" u="none" cap="none" strike="noStrike">
                <a:solidFill>
                  <a:schemeClr val="dk1"/>
                </a:solidFill>
                <a:latin typeface="Arial"/>
                <a:ea typeface="Arial"/>
                <a:cs typeface="Arial"/>
                <a:sym typeface="Arial"/>
              </a:defRPr>
            </a:lvl8pPr>
            <a:lvl9pPr indent="-328613" lvl="8" marL="4114800" marR="0" rtl="0" algn="l">
              <a:lnSpc>
                <a:spcPct val="110000"/>
              </a:lnSpc>
              <a:spcBef>
                <a:spcPts val="900"/>
              </a:spcBef>
              <a:spcAft>
                <a:spcPts val="900"/>
              </a:spcAft>
              <a:buClr>
                <a:schemeClr val="dk1"/>
              </a:buClr>
              <a:buSzPts val="1575"/>
              <a:buFont typeface="Arial"/>
              <a:buChar char="•"/>
              <a:defRPr b="0" i="0" sz="1575"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97" name="Shape 97"/>
        <p:cNvGrpSpPr/>
        <p:nvPr/>
      </p:nvGrpSpPr>
      <p:grpSpPr>
        <a:xfrm>
          <a:off x="0" y="0"/>
          <a:ext cx="0" cy="0"/>
          <a:chOff x="0" y="0"/>
          <a:chExt cx="0" cy="0"/>
        </a:xfrm>
      </p:grpSpPr>
      <p:sp>
        <p:nvSpPr>
          <p:cNvPr id="98" name="Google Shape;98;p30"/>
          <p:cNvSpPr txBox="1"/>
          <p:nvPr>
            <p:ph type="title"/>
          </p:nvPr>
        </p:nvSpPr>
        <p:spPr>
          <a:xfrm>
            <a:off x="514350" y="400050"/>
            <a:ext cx="8115300" cy="62865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2475"/>
              <a:buFont typeface="Arial"/>
              <a:buNone/>
              <a:defRPr b="1" i="0" sz="2475"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2475"/>
              <a:buFont typeface="Arial"/>
              <a:buNone/>
              <a:defRPr b="1" sz="2475">
                <a:solidFill>
                  <a:schemeClr val="dk1"/>
                </a:solidFill>
                <a:latin typeface="Arial"/>
                <a:ea typeface="Arial"/>
                <a:cs typeface="Arial"/>
                <a:sym typeface="Arial"/>
              </a:defRPr>
            </a:lvl9pPr>
          </a:lstStyle>
          <a:p/>
        </p:txBody>
      </p:sp>
      <p:sp>
        <p:nvSpPr>
          <p:cNvPr id="99" name="Google Shape;99;p30"/>
          <p:cNvSpPr txBox="1"/>
          <p:nvPr>
            <p:ph idx="1" type="body"/>
          </p:nvPr>
        </p:nvSpPr>
        <p:spPr>
          <a:xfrm>
            <a:off x="514350" y="1428750"/>
            <a:ext cx="3771900" cy="3200400"/>
          </a:xfrm>
          <a:prstGeom prst="rect">
            <a:avLst/>
          </a:prstGeom>
          <a:noFill/>
          <a:ln>
            <a:noFill/>
          </a:ln>
        </p:spPr>
        <p:txBody>
          <a:bodyPr anchorCtr="0" anchor="t" bIns="0" lIns="0" spcFirstLastPara="1" rIns="0" wrap="square" tIns="0">
            <a:normAutofit/>
          </a:bodyPr>
          <a:lstStyle>
            <a:lvl1pPr indent="-335788" lvl="0" marL="457200" marR="0" rtl="0" algn="l">
              <a:lnSpc>
                <a:spcPct val="110000"/>
              </a:lnSpc>
              <a:spcBef>
                <a:spcPts val="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1pPr>
            <a:lvl2pPr indent="-335788" lvl="1" marL="914400" marR="0" rtl="0" algn="l">
              <a:lnSpc>
                <a:spcPct val="110000"/>
              </a:lnSpc>
              <a:spcBef>
                <a:spcPts val="90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2pPr>
            <a:lvl3pPr indent="-335788" lvl="2" marL="1371600" marR="0" rtl="0" algn="l">
              <a:lnSpc>
                <a:spcPct val="110000"/>
              </a:lnSpc>
              <a:spcBef>
                <a:spcPts val="90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3pPr>
            <a:lvl4pPr indent="-335788" lvl="3" marL="1828800" marR="0" rtl="0" algn="l">
              <a:lnSpc>
                <a:spcPct val="110000"/>
              </a:lnSpc>
              <a:spcBef>
                <a:spcPts val="90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4pPr>
            <a:lvl5pPr indent="-335788" lvl="4" marL="2286000" marR="0" rtl="0" algn="l">
              <a:lnSpc>
                <a:spcPct val="110000"/>
              </a:lnSpc>
              <a:spcBef>
                <a:spcPts val="90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5pPr>
            <a:lvl6pPr indent="-335788" lvl="5" marL="2743200" marR="0" rtl="0" algn="l">
              <a:lnSpc>
                <a:spcPct val="110000"/>
              </a:lnSpc>
              <a:spcBef>
                <a:spcPts val="90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6pPr>
            <a:lvl7pPr indent="-335788" lvl="6" marL="3200400" marR="0" rtl="0" algn="l">
              <a:lnSpc>
                <a:spcPct val="110000"/>
              </a:lnSpc>
              <a:spcBef>
                <a:spcPts val="90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7pPr>
            <a:lvl8pPr indent="-335788" lvl="7" marL="3657600" marR="0" rtl="0" algn="l">
              <a:lnSpc>
                <a:spcPct val="110000"/>
              </a:lnSpc>
              <a:spcBef>
                <a:spcPts val="900"/>
              </a:spcBef>
              <a:spcAft>
                <a:spcPts val="0"/>
              </a:spcAft>
              <a:buClr>
                <a:schemeClr val="dk1"/>
              </a:buClr>
              <a:buSzPts val="1688"/>
              <a:buFont typeface="Arial"/>
              <a:buChar char="•"/>
              <a:defRPr b="0" i="0" sz="1688" u="none" cap="none" strike="noStrike">
                <a:solidFill>
                  <a:schemeClr val="dk1"/>
                </a:solidFill>
                <a:latin typeface="Arial"/>
                <a:ea typeface="Arial"/>
                <a:cs typeface="Arial"/>
                <a:sym typeface="Arial"/>
              </a:defRPr>
            </a:lvl8pPr>
            <a:lvl9pPr indent="-335788" lvl="8" marL="4114800" marR="0" rtl="0" algn="l">
              <a:lnSpc>
                <a:spcPct val="110000"/>
              </a:lnSpc>
              <a:spcBef>
                <a:spcPts val="900"/>
              </a:spcBef>
              <a:spcAft>
                <a:spcPts val="900"/>
              </a:spcAft>
              <a:buClr>
                <a:schemeClr val="dk1"/>
              </a:buClr>
              <a:buSzPts val="1688"/>
              <a:buFont typeface="Arial"/>
              <a:buChar char="•"/>
              <a:defRPr b="0" i="0" sz="1688"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 name="Shape 66"/>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17.png"/><Relationship Id="rId9" Type="http://schemas.openxmlformats.org/officeDocument/2006/relationships/image" Target="../media/image4.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8.png"/><Relationship Id="rId5" Type="http://schemas.openxmlformats.org/officeDocument/2006/relationships/image" Target="../media/image25.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4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4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34.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34.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34.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34.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35.png"/><Relationship Id="rId5"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18.png"/><Relationship Id="rId4" Type="http://schemas.openxmlformats.org/officeDocument/2006/relationships/image" Target="../media/image41.png"/><Relationship Id="rId5" Type="http://schemas.openxmlformats.org/officeDocument/2006/relationships/image" Target="../media/image4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18.png"/><Relationship Id="rId4" Type="http://schemas.openxmlformats.org/officeDocument/2006/relationships/image" Target="../media/image39.png"/><Relationship Id="rId5"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18.png"/><Relationship Id="rId4" Type="http://schemas.openxmlformats.org/officeDocument/2006/relationships/image" Target="../media/image45.png"/><Relationship Id="rId5" Type="http://schemas.openxmlformats.org/officeDocument/2006/relationships/image" Target="../media/image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18.png"/><Relationship Id="rId4" Type="http://schemas.openxmlformats.org/officeDocument/2006/relationships/image" Target="../media/image46.png"/><Relationship Id="rId5" Type="http://schemas.openxmlformats.org/officeDocument/2006/relationships/image" Target="../media/image4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18.png"/><Relationship Id="rId4" Type="http://schemas.openxmlformats.org/officeDocument/2006/relationships/image" Target="../media/image50.png"/><Relationship Id="rId5" Type="http://schemas.openxmlformats.org/officeDocument/2006/relationships/image" Target="../media/image4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5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8.xml"/><Relationship Id="rId3" Type="http://schemas.openxmlformats.org/officeDocument/2006/relationships/image" Target="../media/image4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8.png"/><Relationship Id="rId4" Type="http://schemas.openxmlformats.org/officeDocument/2006/relationships/image" Target="../media/image52.png"/><Relationship Id="rId5" Type="http://schemas.openxmlformats.org/officeDocument/2006/relationships/image" Target="../media/image5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18.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3" name="Shape 103"/>
        <p:cNvGrpSpPr/>
        <p:nvPr/>
      </p:nvGrpSpPr>
      <p:grpSpPr>
        <a:xfrm>
          <a:off x="0" y="0"/>
          <a:ext cx="0" cy="0"/>
          <a:chOff x="0" y="0"/>
          <a:chExt cx="0" cy="0"/>
        </a:xfrm>
      </p:grpSpPr>
      <p:grpSp>
        <p:nvGrpSpPr>
          <p:cNvPr id="104" name="Google Shape;104;p31"/>
          <p:cNvGrpSpPr/>
          <p:nvPr/>
        </p:nvGrpSpPr>
        <p:grpSpPr>
          <a:xfrm>
            <a:off x="443100" y="128800"/>
            <a:ext cx="8499310" cy="1098721"/>
            <a:chOff x="0" y="0"/>
            <a:chExt cx="3619500" cy="1619100"/>
          </a:xfrm>
        </p:grpSpPr>
        <p:sp>
          <p:nvSpPr>
            <p:cNvPr id="105" name="Google Shape;105;p31"/>
            <p:cNvSpPr/>
            <p:nvPr/>
          </p:nvSpPr>
          <p:spPr>
            <a:xfrm>
              <a:off x="0" y="0"/>
              <a:ext cx="3619500" cy="1619100"/>
            </a:xfrm>
            <a:prstGeom prst="roundRect">
              <a:avLst>
                <a:gd fmla="val 94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31"/>
            <p:cNvSpPr txBox="1"/>
            <p:nvPr/>
          </p:nvSpPr>
          <p:spPr>
            <a:xfrm>
              <a:off x="13031" y="190503"/>
              <a:ext cx="3595800" cy="1238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000">
                  <a:solidFill>
                    <a:schemeClr val="dk1"/>
                  </a:solidFill>
                  <a:latin typeface="Inter"/>
                  <a:ea typeface="Inter"/>
                  <a:cs typeface="Inter"/>
                  <a:sym typeface="Inter"/>
                </a:rPr>
                <a:t>Aligning Facilities, Enrollment, &amp; Educational Opportunities</a:t>
              </a:r>
              <a:endParaRPr b="1" sz="2000">
                <a:solidFill>
                  <a:schemeClr val="dk1"/>
                </a:solidFill>
                <a:latin typeface="Inter"/>
                <a:ea typeface="Inter"/>
                <a:cs typeface="Inter"/>
                <a:sym typeface="Inter"/>
              </a:endParaRPr>
            </a:p>
            <a:p>
              <a:pPr indent="0" lvl="0" marL="0" rtl="0" algn="ctr">
                <a:spcBef>
                  <a:spcPts val="450"/>
                </a:spcBef>
                <a:spcAft>
                  <a:spcPts val="0"/>
                </a:spcAft>
                <a:buNone/>
              </a:pPr>
              <a:r>
                <a:rPr b="1" lang="en" sz="1500">
                  <a:solidFill>
                    <a:schemeClr val="dk1"/>
                  </a:solidFill>
                  <a:latin typeface="Inter"/>
                  <a:ea typeface="Inter"/>
                  <a:cs typeface="Inter"/>
                  <a:sym typeface="Inter"/>
                </a:rPr>
                <a:t>Dr. Mike Leichliter, Superintendent of Schools</a:t>
              </a:r>
              <a:endParaRPr b="1" sz="1500">
                <a:solidFill>
                  <a:schemeClr val="dk1"/>
                </a:solidFill>
                <a:latin typeface="Inter"/>
                <a:ea typeface="Inter"/>
                <a:cs typeface="Inter"/>
                <a:sym typeface="Inter"/>
              </a:endParaRPr>
            </a:p>
            <a:p>
              <a:pPr indent="0" lvl="0" marL="0" rtl="0" algn="ctr">
                <a:spcBef>
                  <a:spcPts val="450"/>
                </a:spcBef>
                <a:spcAft>
                  <a:spcPts val="450"/>
                </a:spcAft>
                <a:buNone/>
              </a:pPr>
              <a:r>
                <a:rPr b="1" lang="en" sz="1500">
                  <a:solidFill>
                    <a:schemeClr val="dk1"/>
                  </a:solidFill>
                  <a:latin typeface="Inter"/>
                  <a:ea typeface="Inter"/>
                  <a:cs typeface="Inter"/>
                  <a:sym typeface="Inter"/>
                </a:rPr>
                <a:t>Lisa Estler, Chief Financial Officer </a:t>
              </a:r>
              <a:endParaRPr b="1" sz="1500">
                <a:solidFill>
                  <a:schemeClr val="dk1"/>
                </a:solidFill>
                <a:latin typeface="Inter"/>
                <a:ea typeface="Inter"/>
                <a:cs typeface="Inter"/>
                <a:sym typeface="Inter"/>
              </a:endParaRPr>
            </a:p>
          </p:txBody>
        </p:sp>
      </p:grpSp>
      <p:pic>
        <p:nvPicPr>
          <p:cNvPr id="107" name="Google Shape;107;p31"/>
          <p:cNvPicPr preferRelativeResize="0"/>
          <p:nvPr/>
        </p:nvPicPr>
        <p:blipFill>
          <a:blip r:embed="rId3">
            <a:alphaModFix/>
          </a:blip>
          <a:stretch>
            <a:fillRect/>
          </a:stretch>
        </p:blipFill>
        <p:spPr>
          <a:xfrm>
            <a:off x="629325" y="1287675"/>
            <a:ext cx="8043750" cy="3482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p32"/>
          <p:cNvSpPr/>
          <p:nvPr/>
        </p:nvSpPr>
        <p:spPr>
          <a:xfrm>
            <a:off x="457200" y="400050"/>
            <a:ext cx="2428800" cy="4343400"/>
          </a:xfrm>
          <a:prstGeom prst="roundRect">
            <a:avLst>
              <a:gd fmla="val 4705" name="adj"/>
            </a:avLst>
          </a:prstGeom>
          <a:solidFill>
            <a:srgbClr val="0F172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3" name="Google Shape;113;p32"/>
          <p:cNvSpPr/>
          <p:nvPr/>
        </p:nvSpPr>
        <p:spPr>
          <a:xfrm>
            <a:off x="685800" y="4150519"/>
            <a:ext cx="1971600" cy="307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4" name="Google Shape;114;p32"/>
          <p:cNvSpPr/>
          <p:nvPr/>
        </p:nvSpPr>
        <p:spPr>
          <a:xfrm>
            <a:off x="3228975" y="400050"/>
            <a:ext cx="5457900" cy="1000200"/>
          </a:xfrm>
          <a:prstGeom prst="roundRect">
            <a:avLst>
              <a:gd fmla="val 8571" name="adj"/>
            </a:avLst>
          </a:prstGeom>
          <a:solidFill>
            <a:srgbClr val="F8FAF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5" name="Google Shape;115;p32"/>
          <p:cNvSpPr/>
          <p:nvPr/>
        </p:nvSpPr>
        <p:spPr>
          <a:xfrm>
            <a:off x="3228975" y="1514475"/>
            <a:ext cx="5457900" cy="1000200"/>
          </a:xfrm>
          <a:prstGeom prst="roundRect">
            <a:avLst>
              <a:gd fmla="val 8571" name="adj"/>
            </a:avLst>
          </a:prstGeom>
          <a:solidFill>
            <a:srgbClr val="F8FAF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6" name="Google Shape;116;p32"/>
          <p:cNvSpPr/>
          <p:nvPr/>
        </p:nvSpPr>
        <p:spPr>
          <a:xfrm>
            <a:off x="3228975" y="2628900"/>
            <a:ext cx="5457900" cy="1000200"/>
          </a:xfrm>
          <a:prstGeom prst="roundRect">
            <a:avLst>
              <a:gd fmla="val 8571" name="adj"/>
            </a:avLst>
          </a:prstGeom>
          <a:solidFill>
            <a:srgbClr val="F8FAF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7" name="Google Shape;117;p32"/>
          <p:cNvSpPr/>
          <p:nvPr/>
        </p:nvSpPr>
        <p:spPr>
          <a:xfrm>
            <a:off x="3228975" y="3743325"/>
            <a:ext cx="5457900" cy="1000200"/>
          </a:xfrm>
          <a:prstGeom prst="roundRect">
            <a:avLst>
              <a:gd fmla="val 8571" name="adj"/>
            </a:avLst>
          </a:prstGeom>
          <a:solidFill>
            <a:srgbClr val="F8FAF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8" name="Google Shape;118;p32"/>
          <p:cNvSpPr/>
          <p:nvPr/>
        </p:nvSpPr>
        <p:spPr>
          <a:xfrm>
            <a:off x="685800" y="685800"/>
            <a:ext cx="1343100" cy="200100"/>
          </a:xfrm>
          <a:prstGeom prst="roundRect">
            <a:avLst>
              <a:gd fmla="val 50000" name="adj"/>
            </a:avLst>
          </a:prstGeom>
          <a:solidFill>
            <a:srgbClr val="372A2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9" name="Google Shape;119;p32"/>
          <p:cNvSpPr/>
          <p:nvPr/>
        </p:nvSpPr>
        <p:spPr>
          <a:xfrm>
            <a:off x="685800" y="4150519"/>
            <a:ext cx="1971600" cy="7200"/>
          </a:xfrm>
          <a:prstGeom prst="rect">
            <a:avLst/>
          </a:prstGeom>
          <a:solidFill>
            <a:srgbClr val="33415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0" name="Google Shape;120;p32"/>
          <p:cNvSpPr/>
          <p:nvPr/>
        </p:nvSpPr>
        <p:spPr>
          <a:xfrm>
            <a:off x="3228975" y="1393031"/>
            <a:ext cx="54579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1" name="Google Shape;121;p32"/>
          <p:cNvSpPr/>
          <p:nvPr/>
        </p:nvSpPr>
        <p:spPr>
          <a:xfrm>
            <a:off x="3228975" y="400050"/>
            <a:ext cx="54579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2" name="Google Shape;122;p32"/>
          <p:cNvSpPr/>
          <p:nvPr/>
        </p:nvSpPr>
        <p:spPr>
          <a:xfrm>
            <a:off x="3228975" y="400050"/>
            <a:ext cx="35700" cy="1000200"/>
          </a:xfrm>
          <a:prstGeom prst="rect">
            <a:avLst/>
          </a:prstGeom>
          <a:solidFill>
            <a:srgbClr val="D9770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3" name="Google Shape;123;p32"/>
          <p:cNvSpPr/>
          <p:nvPr/>
        </p:nvSpPr>
        <p:spPr>
          <a:xfrm>
            <a:off x="8679656" y="400050"/>
            <a:ext cx="7200" cy="1000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4" name="Google Shape;124;p32"/>
          <p:cNvSpPr/>
          <p:nvPr/>
        </p:nvSpPr>
        <p:spPr>
          <a:xfrm>
            <a:off x="3228975" y="2507456"/>
            <a:ext cx="54579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5" name="Google Shape;125;p32"/>
          <p:cNvSpPr/>
          <p:nvPr/>
        </p:nvSpPr>
        <p:spPr>
          <a:xfrm>
            <a:off x="3228975" y="1514475"/>
            <a:ext cx="54579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6" name="Google Shape;126;p32"/>
          <p:cNvSpPr/>
          <p:nvPr/>
        </p:nvSpPr>
        <p:spPr>
          <a:xfrm>
            <a:off x="3228975" y="1514475"/>
            <a:ext cx="35700" cy="1000200"/>
          </a:xfrm>
          <a:prstGeom prst="rect">
            <a:avLst/>
          </a:prstGeom>
          <a:solidFill>
            <a:srgbClr val="0284C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7" name="Google Shape;127;p32"/>
          <p:cNvSpPr/>
          <p:nvPr/>
        </p:nvSpPr>
        <p:spPr>
          <a:xfrm>
            <a:off x="8679656" y="1514475"/>
            <a:ext cx="7200" cy="1000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8" name="Google Shape;128;p32"/>
          <p:cNvSpPr/>
          <p:nvPr/>
        </p:nvSpPr>
        <p:spPr>
          <a:xfrm>
            <a:off x="3228975" y="3621881"/>
            <a:ext cx="54579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9" name="Google Shape;129;p32"/>
          <p:cNvSpPr/>
          <p:nvPr/>
        </p:nvSpPr>
        <p:spPr>
          <a:xfrm>
            <a:off x="3228975" y="2628900"/>
            <a:ext cx="54579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0" name="Google Shape;130;p32"/>
          <p:cNvSpPr/>
          <p:nvPr/>
        </p:nvSpPr>
        <p:spPr>
          <a:xfrm>
            <a:off x="3228975" y="2628900"/>
            <a:ext cx="35700" cy="1000200"/>
          </a:xfrm>
          <a:prstGeom prst="rect">
            <a:avLst/>
          </a:prstGeom>
          <a:solidFill>
            <a:srgbClr val="05966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1" name="Google Shape;131;p32"/>
          <p:cNvSpPr/>
          <p:nvPr/>
        </p:nvSpPr>
        <p:spPr>
          <a:xfrm>
            <a:off x="8679656" y="2628900"/>
            <a:ext cx="7200" cy="1000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2" name="Google Shape;132;p32"/>
          <p:cNvSpPr/>
          <p:nvPr/>
        </p:nvSpPr>
        <p:spPr>
          <a:xfrm>
            <a:off x="3228975" y="4736306"/>
            <a:ext cx="54579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3" name="Google Shape;133;p32"/>
          <p:cNvSpPr/>
          <p:nvPr/>
        </p:nvSpPr>
        <p:spPr>
          <a:xfrm>
            <a:off x="3228975" y="3743325"/>
            <a:ext cx="54579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4" name="Google Shape;134;p32"/>
          <p:cNvSpPr/>
          <p:nvPr/>
        </p:nvSpPr>
        <p:spPr>
          <a:xfrm>
            <a:off x="3228975" y="3743325"/>
            <a:ext cx="35700" cy="1000200"/>
          </a:xfrm>
          <a:prstGeom prst="rect">
            <a:avLst/>
          </a:prstGeom>
          <a:solidFill>
            <a:srgbClr val="7C3AE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5" name="Google Shape;135;p32"/>
          <p:cNvSpPr/>
          <p:nvPr/>
        </p:nvSpPr>
        <p:spPr>
          <a:xfrm>
            <a:off x="8679656" y="3743325"/>
            <a:ext cx="7200" cy="1000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descr="image.png" id="136" name="Google Shape;136;p32"/>
          <p:cNvPicPr preferRelativeResize="0"/>
          <p:nvPr/>
        </p:nvPicPr>
        <p:blipFill rotWithShape="1">
          <a:blip r:embed="rId3">
            <a:alphaModFix/>
          </a:blip>
          <a:srcRect b="0" l="0" r="0" t="0"/>
          <a:stretch/>
        </p:blipFill>
        <p:spPr>
          <a:xfrm>
            <a:off x="8251031" y="771525"/>
            <a:ext cx="257175" cy="257175"/>
          </a:xfrm>
          <a:prstGeom prst="rect">
            <a:avLst/>
          </a:prstGeom>
          <a:noFill/>
          <a:ln>
            <a:noFill/>
          </a:ln>
        </p:spPr>
      </p:pic>
      <p:pic>
        <p:nvPicPr>
          <p:cNvPr descr="image.png" id="137" name="Google Shape;137;p32"/>
          <p:cNvPicPr preferRelativeResize="0"/>
          <p:nvPr/>
        </p:nvPicPr>
        <p:blipFill rotWithShape="1">
          <a:blip r:embed="rId4">
            <a:alphaModFix/>
          </a:blip>
          <a:srcRect b="0" l="0" r="0" t="0"/>
          <a:stretch/>
        </p:blipFill>
        <p:spPr>
          <a:xfrm>
            <a:off x="8251031" y="1885950"/>
            <a:ext cx="257175" cy="257175"/>
          </a:xfrm>
          <a:prstGeom prst="rect">
            <a:avLst/>
          </a:prstGeom>
          <a:noFill/>
          <a:ln>
            <a:noFill/>
          </a:ln>
        </p:spPr>
      </p:pic>
      <p:pic>
        <p:nvPicPr>
          <p:cNvPr descr="image.png" id="138" name="Google Shape;138;p32"/>
          <p:cNvPicPr preferRelativeResize="0"/>
          <p:nvPr/>
        </p:nvPicPr>
        <p:blipFill rotWithShape="1">
          <a:blip r:embed="rId3">
            <a:alphaModFix/>
          </a:blip>
          <a:srcRect b="0" l="0" r="0" t="0"/>
          <a:stretch/>
        </p:blipFill>
        <p:spPr>
          <a:xfrm>
            <a:off x="8251031" y="3000375"/>
            <a:ext cx="257175" cy="257175"/>
          </a:xfrm>
          <a:prstGeom prst="rect">
            <a:avLst/>
          </a:prstGeom>
          <a:noFill/>
          <a:ln>
            <a:noFill/>
          </a:ln>
        </p:spPr>
      </p:pic>
      <p:pic>
        <p:nvPicPr>
          <p:cNvPr descr="image.png" id="139" name="Google Shape;139;p32"/>
          <p:cNvPicPr preferRelativeResize="0"/>
          <p:nvPr/>
        </p:nvPicPr>
        <p:blipFill rotWithShape="1">
          <a:blip r:embed="rId4">
            <a:alphaModFix/>
          </a:blip>
          <a:srcRect b="0" l="0" r="0" t="0"/>
          <a:stretch/>
        </p:blipFill>
        <p:spPr>
          <a:xfrm>
            <a:off x="8251031" y="4114800"/>
            <a:ext cx="257175" cy="257175"/>
          </a:xfrm>
          <a:prstGeom prst="rect">
            <a:avLst/>
          </a:prstGeom>
          <a:noFill/>
          <a:ln>
            <a:noFill/>
          </a:ln>
        </p:spPr>
      </p:pic>
      <p:pic>
        <p:nvPicPr>
          <p:cNvPr descr="image.png" id="140" name="Google Shape;140;p32"/>
          <p:cNvPicPr preferRelativeResize="0"/>
          <p:nvPr/>
        </p:nvPicPr>
        <p:blipFill rotWithShape="1">
          <a:blip r:embed="rId5">
            <a:alphaModFix/>
          </a:blip>
          <a:srcRect b="0" l="0" r="0" t="0"/>
          <a:stretch/>
        </p:blipFill>
        <p:spPr>
          <a:xfrm>
            <a:off x="685800" y="4343400"/>
            <a:ext cx="100013" cy="100013"/>
          </a:xfrm>
          <a:prstGeom prst="rect">
            <a:avLst/>
          </a:prstGeom>
          <a:noFill/>
          <a:ln>
            <a:noFill/>
          </a:ln>
        </p:spPr>
      </p:pic>
      <p:pic>
        <p:nvPicPr>
          <p:cNvPr descr="image.png" id="141" name="Google Shape;141;p32"/>
          <p:cNvPicPr preferRelativeResize="0"/>
          <p:nvPr/>
        </p:nvPicPr>
        <p:blipFill rotWithShape="1">
          <a:blip r:embed="rId6">
            <a:alphaModFix/>
          </a:blip>
          <a:srcRect b="0" l="0" r="0" t="0"/>
          <a:stretch/>
        </p:blipFill>
        <p:spPr>
          <a:xfrm>
            <a:off x="8329613" y="850106"/>
            <a:ext cx="100013" cy="100013"/>
          </a:xfrm>
          <a:prstGeom prst="rect">
            <a:avLst/>
          </a:prstGeom>
          <a:noFill/>
          <a:ln>
            <a:noFill/>
          </a:ln>
        </p:spPr>
      </p:pic>
      <p:pic>
        <p:nvPicPr>
          <p:cNvPr descr="image.png" id="142" name="Google Shape;142;p32"/>
          <p:cNvPicPr preferRelativeResize="0"/>
          <p:nvPr/>
        </p:nvPicPr>
        <p:blipFill rotWithShape="1">
          <a:blip r:embed="rId7">
            <a:alphaModFix/>
          </a:blip>
          <a:srcRect b="0" l="0" r="0" t="0"/>
          <a:stretch/>
        </p:blipFill>
        <p:spPr>
          <a:xfrm>
            <a:off x="8340328" y="1964531"/>
            <a:ext cx="78581" cy="100013"/>
          </a:xfrm>
          <a:prstGeom prst="rect">
            <a:avLst/>
          </a:prstGeom>
          <a:noFill/>
          <a:ln>
            <a:noFill/>
          </a:ln>
        </p:spPr>
      </p:pic>
      <p:pic>
        <p:nvPicPr>
          <p:cNvPr descr="image.png" id="143" name="Google Shape;143;p32"/>
          <p:cNvPicPr preferRelativeResize="0"/>
          <p:nvPr/>
        </p:nvPicPr>
        <p:blipFill rotWithShape="1">
          <a:blip r:embed="rId8">
            <a:alphaModFix/>
          </a:blip>
          <a:srcRect b="0" l="0" r="0" t="0"/>
          <a:stretch/>
        </p:blipFill>
        <p:spPr>
          <a:xfrm>
            <a:off x="8322469" y="3078956"/>
            <a:ext cx="114300" cy="100013"/>
          </a:xfrm>
          <a:prstGeom prst="rect">
            <a:avLst/>
          </a:prstGeom>
          <a:noFill/>
          <a:ln>
            <a:noFill/>
          </a:ln>
        </p:spPr>
      </p:pic>
      <p:pic>
        <p:nvPicPr>
          <p:cNvPr descr="image.png" id="144" name="Google Shape;144;p32"/>
          <p:cNvPicPr preferRelativeResize="0"/>
          <p:nvPr/>
        </p:nvPicPr>
        <p:blipFill rotWithShape="1">
          <a:blip r:embed="rId9">
            <a:alphaModFix/>
          </a:blip>
          <a:srcRect b="0" l="0" r="0" t="0"/>
          <a:stretch/>
        </p:blipFill>
        <p:spPr>
          <a:xfrm>
            <a:off x="8329613" y="4193381"/>
            <a:ext cx="100013" cy="100013"/>
          </a:xfrm>
          <a:prstGeom prst="rect">
            <a:avLst/>
          </a:prstGeom>
          <a:noFill/>
          <a:ln>
            <a:noFill/>
          </a:ln>
        </p:spPr>
      </p:pic>
      <p:sp>
        <p:nvSpPr>
          <p:cNvPr id="145" name="Google Shape;145;p32"/>
          <p:cNvSpPr txBox="1"/>
          <p:nvPr/>
        </p:nvSpPr>
        <p:spPr>
          <a:xfrm>
            <a:off x="771525" y="728663"/>
            <a:ext cx="12432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FBBF24"/>
                </a:solidFill>
                <a:latin typeface="Space Grotesk"/>
                <a:ea typeface="Space Grotesk"/>
                <a:cs typeface="Space Grotesk"/>
                <a:sym typeface="Space Grotesk"/>
              </a:rPr>
              <a:t>PRESENTATION ROADMAP</a:t>
            </a:r>
            <a:endParaRPr sz="1100"/>
          </a:p>
        </p:txBody>
      </p:sp>
      <p:sp>
        <p:nvSpPr>
          <p:cNvPr id="146" name="Google Shape;146;p32"/>
          <p:cNvSpPr txBox="1"/>
          <p:nvPr/>
        </p:nvSpPr>
        <p:spPr>
          <a:xfrm>
            <a:off x="685800" y="1057275"/>
            <a:ext cx="2145300" cy="323100"/>
          </a:xfrm>
          <a:prstGeom prst="rect">
            <a:avLst/>
          </a:prstGeom>
          <a:noFill/>
          <a:ln>
            <a:noFill/>
          </a:ln>
        </p:spPr>
        <p:txBody>
          <a:bodyPr anchorCtr="0" anchor="t" bIns="0" lIns="0" spcFirstLastPara="1" rIns="0" wrap="square" tIns="0">
            <a:spAutoFit/>
          </a:bodyPr>
          <a:lstStyle/>
          <a:p>
            <a:pPr indent="0" lvl="0" marL="0" marR="0" rtl="0" algn="l">
              <a:lnSpc>
                <a:spcPct val="114982"/>
              </a:lnSpc>
              <a:spcBef>
                <a:spcPts val="0"/>
              </a:spcBef>
              <a:spcAft>
                <a:spcPts val="0"/>
              </a:spcAft>
              <a:buNone/>
            </a:pPr>
            <a:r>
              <a:rPr b="1" i="0" lang="en" sz="2100" u="none" cap="none" strike="noStrike">
                <a:solidFill>
                  <a:srgbClr val="FFFFFF"/>
                </a:solidFill>
                <a:latin typeface="Space Grotesk"/>
                <a:ea typeface="Space Grotesk"/>
                <a:cs typeface="Space Grotesk"/>
                <a:sym typeface="Space Grotesk"/>
              </a:rPr>
              <a:t>Today's Agenda</a:t>
            </a:r>
            <a:endParaRPr sz="1100"/>
          </a:p>
        </p:txBody>
      </p:sp>
      <p:sp>
        <p:nvSpPr>
          <p:cNvPr id="147" name="Google Shape;147;p32"/>
          <p:cNvSpPr txBox="1"/>
          <p:nvPr/>
        </p:nvSpPr>
        <p:spPr>
          <a:xfrm>
            <a:off x="685800" y="1795760"/>
            <a:ext cx="2043300" cy="4923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 sz="800" u="none" cap="none" strike="noStrike">
                <a:solidFill>
                  <a:srgbClr val="94A3B8"/>
                </a:solidFill>
                <a:latin typeface="DM Sans"/>
                <a:ea typeface="DM Sans"/>
                <a:cs typeface="DM Sans"/>
                <a:sym typeface="DM Sans"/>
              </a:rPr>
              <a:t>Key topics for evaluating HUUSD's structural future and financial sustainability.</a:t>
            </a:r>
            <a:endParaRPr sz="1100"/>
          </a:p>
        </p:txBody>
      </p:sp>
      <p:sp>
        <p:nvSpPr>
          <p:cNvPr id="148" name="Google Shape;148;p32"/>
          <p:cNvSpPr txBox="1"/>
          <p:nvPr/>
        </p:nvSpPr>
        <p:spPr>
          <a:xfrm>
            <a:off x="3436144" y="771525"/>
            <a:ext cx="5289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D97706"/>
                </a:solidFill>
                <a:latin typeface="Space Grotesk"/>
                <a:ea typeface="Space Grotesk"/>
                <a:cs typeface="Space Grotesk"/>
                <a:sym typeface="Space Grotesk"/>
              </a:rPr>
              <a:t>01</a:t>
            </a:r>
            <a:endParaRPr sz="1100"/>
          </a:p>
        </p:txBody>
      </p:sp>
      <p:sp>
        <p:nvSpPr>
          <p:cNvPr id="149" name="Google Shape;149;p32"/>
          <p:cNvSpPr txBox="1"/>
          <p:nvPr/>
        </p:nvSpPr>
        <p:spPr>
          <a:xfrm>
            <a:off x="3436144" y="1885950"/>
            <a:ext cx="5289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0284C7"/>
                </a:solidFill>
                <a:latin typeface="Space Grotesk"/>
                <a:ea typeface="Space Grotesk"/>
                <a:cs typeface="Space Grotesk"/>
                <a:sym typeface="Space Grotesk"/>
              </a:rPr>
              <a:t>02</a:t>
            </a:r>
            <a:endParaRPr sz="1100"/>
          </a:p>
        </p:txBody>
      </p:sp>
      <p:sp>
        <p:nvSpPr>
          <p:cNvPr id="150" name="Google Shape;150;p32"/>
          <p:cNvSpPr txBox="1"/>
          <p:nvPr/>
        </p:nvSpPr>
        <p:spPr>
          <a:xfrm>
            <a:off x="3436144" y="3000375"/>
            <a:ext cx="5289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059669"/>
                </a:solidFill>
                <a:latin typeface="Space Grotesk"/>
                <a:ea typeface="Space Grotesk"/>
                <a:cs typeface="Space Grotesk"/>
                <a:sym typeface="Space Grotesk"/>
              </a:rPr>
              <a:t>03</a:t>
            </a:r>
            <a:endParaRPr sz="1100"/>
          </a:p>
        </p:txBody>
      </p:sp>
      <p:sp>
        <p:nvSpPr>
          <p:cNvPr id="151" name="Google Shape;151;p32"/>
          <p:cNvSpPr txBox="1"/>
          <p:nvPr/>
        </p:nvSpPr>
        <p:spPr>
          <a:xfrm>
            <a:off x="3436144" y="4114800"/>
            <a:ext cx="5289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7C3AED"/>
                </a:solidFill>
                <a:latin typeface="Space Grotesk"/>
                <a:ea typeface="Space Grotesk"/>
                <a:cs typeface="Space Grotesk"/>
                <a:sym typeface="Space Grotesk"/>
              </a:rPr>
              <a:t>04</a:t>
            </a:r>
            <a:endParaRPr sz="1100"/>
          </a:p>
        </p:txBody>
      </p:sp>
      <p:sp>
        <p:nvSpPr>
          <p:cNvPr id="152" name="Google Shape;152;p32"/>
          <p:cNvSpPr txBox="1"/>
          <p:nvPr/>
        </p:nvSpPr>
        <p:spPr>
          <a:xfrm>
            <a:off x="871538" y="4329113"/>
            <a:ext cx="12858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800" u="none" cap="none" strike="noStrike">
                <a:solidFill>
                  <a:srgbClr val="CBD5E1"/>
                </a:solidFill>
                <a:latin typeface="DM Sans"/>
                <a:ea typeface="DM Sans"/>
                <a:cs typeface="DM Sans"/>
                <a:sym typeface="DM Sans"/>
              </a:rPr>
              <a:t>HUUSD Board Meeting</a:t>
            </a:r>
            <a:endParaRPr sz="1100"/>
          </a:p>
        </p:txBody>
      </p:sp>
      <p:sp>
        <p:nvSpPr>
          <p:cNvPr id="153" name="Google Shape;153;p32"/>
          <p:cNvSpPr txBox="1"/>
          <p:nvPr/>
        </p:nvSpPr>
        <p:spPr>
          <a:xfrm>
            <a:off x="3893344" y="735806"/>
            <a:ext cx="52506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000" u="none" cap="none" strike="noStrike">
                <a:solidFill>
                  <a:srgbClr val="0F172A"/>
                </a:solidFill>
                <a:latin typeface="DM Sans"/>
                <a:ea typeface="DM Sans"/>
                <a:cs typeface="DM Sans"/>
                <a:sym typeface="DM Sans"/>
              </a:rPr>
              <a:t>The Challenge &amp; Demographic Reality</a:t>
            </a:r>
            <a:endParaRPr sz="1100"/>
          </a:p>
        </p:txBody>
      </p:sp>
      <p:sp>
        <p:nvSpPr>
          <p:cNvPr id="154" name="Google Shape;154;p32"/>
          <p:cNvSpPr txBox="1"/>
          <p:nvPr/>
        </p:nvSpPr>
        <p:spPr>
          <a:xfrm>
            <a:off x="3893344" y="935831"/>
            <a:ext cx="52506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800" u="none" cap="none" strike="noStrike">
                <a:solidFill>
                  <a:srgbClr val="64748B"/>
                </a:solidFill>
                <a:latin typeface="DM Sans"/>
                <a:ea typeface="DM Sans"/>
                <a:cs typeface="DM Sans"/>
                <a:sym typeface="DM Sans"/>
              </a:rPr>
              <a:t>Birth rate trends and long-term enrollment </a:t>
            </a:r>
            <a:r>
              <a:rPr lang="en" sz="800">
                <a:solidFill>
                  <a:srgbClr val="64748B"/>
                </a:solidFill>
                <a:latin typeface="DM Sans"/>
                <a:ea typeface="DM Sans"/>
                <a:cs typeface="DM Sans"/>
                <a:sym typeface="DM Sans"/>
              </a:rPr>
              <a:t>projections</a:t>
            </a:r>
            <a:r>
              <a:rPr b="0" i="0" lang="en" sz="800" u="none" cap="none" strike="noStrike">
                <a:solidFill>
                  <a:srgbClr val="64748B"/>
                </a:solidFill>
                <a:latin typeface="DM Sans"/>
                <a:ea typeface="DM Sans"/>
                <a:cs typeface="DM Sans"/>
                <a:sym typeface="DM Sans"/>
              </a:rPr>
              <a:t> across towns.</a:t>
            </a:r>
            <a:endParaRPr sz="1100"/>
          </a:p>
        </p:txBody>
      </p:sp>
      <p:sp>
        <p:nvSpPr>
          <p:cNvPr id="155" name="Google Shape;155;p32"/>
          <p:cNvSpPr txBox="1"/>
          <p:nvPr/>
        </p:nvSpPr>
        <p:spPr>
          <a:xfrm>
            <a:off x="3893344" y="1850231"/>
            <a:ext cx="52506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000" u="none" cap="none" strike="noStrike">
                <a:solidFill>
                  <a:srgbClr val="0F172A"/>
                </a:solidFill>
                <a:latin typeface="DM Sans"/>
                <a:ea typeface="DM Sans"/>
                <a:cs typeface="DM Sans"/>
                <a:sym typeface="DM Sans"/>
              </a:rPr>
              <a:t>The Cost of Status Quo / Budget Cap: </a:t>
            </a:r>
            <a:r>
              <a:rPr b="1" i="0" lang="en" sz="700" u="none" cap="none" strike="noStrike">
                <a:solidFill>
                  <a:srgbClr val="0F172A"/>
                </a:solidFill>
                <a:latin typeface="DM Sans"/>
                <a:ea typeface="DM Sans"/>
                <a:cs typeface="DM Sans"/>
                <a:sym typeface="DM Sans"/>
              </a:rPr>
              <a:t>Not </a:t>
            </a:r>
            <a:r>
              <a:rPr b="1" lang="en" sz="700">
                <a:solidFill>
                  <a:srgbClr val="0F172A"/>
                </a:solidFill>
                <a:latin typeface="DM Sans"/>
                <a:ea typeface="DM Sans"/>
                <a:cs typeface="DM Sans"/>
                <a:sym typeface="DM Sans"/>
              </a:rPr>
              <a:t>Exceeding Excess Spending Threshold</a:t>
            </a:r>
            <a:r>
              <a:rPr b="1" lang="en" sz="900">
                <a:solidFill>
                  <a:srgbClr val="0F172A"/>
                </a:solidFill>
                <a:latin typeface="DM Sans"/>
                <a:ea typeface="DM Sans"/>
                <a:cs typeface="DM Sans"/>
                <a:sym typeface="DM Sans"/>
              </a:rPr>
              <a:t> </a:t>
            </a:r>
            <a:endParaRPr sz="1000"/>
          </a:p>
        </p:txBody>
      </p:sp>
      <p:sp>
        <p:nvSpPr>
          <p:cNvPr id="156" name="Google Shape;156;p32"/>
          <p:cNvSpPr txBox="1"/>
          <p:nvPr/>
        </p:nvSpPr>
        <p:spPr>
          <a:xfrm>
            <a:off x="3893344" y="2050256"/>
            <a:ext cx="52506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800" u="none" cap="none" strike="noStrike">
                <a:solidFill>
                  <a:srgbClr val="64748B"/>
                </a:solidFill>
                <a:latin typeface="DM Sans"/>
                <a:ea typeface="DM Sans"/>
                <a:cs typeface="DM Sans"/>
                <a:sym typeface="DM Sans"/>
              </a:rPr>
              <a:t>Excess spending penalties and required $3.3M program reductions.</a:t>
            </a:r>
            <a:endParaRPr sz="1100"/>
          </a:p>
        </p:txBody>
      </p:sp>
      <p:sp>
        <p:nvSpPr>
          <p:cNvPr id="157" name="Google Shape;157;p32"/>
          <p:cNvSpPr txBox="1"/>
          <p:nvPr/>
        </p:nvSpPr>
        <p:spPr>
          <a:xfrm>
            <a:off x="3893344" y="2964656"/>
            <a:ext cx="52506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000" u="none" cap="none" strike="noStrike">
                <a:solidFill>
                  <a:srgbClr val="0F172A"/>
                </a:solidFill>
                <a:latin typeface="DM Sans"/>
                <a:ea typeface="DM Sans"/>
                <a:cs typeface="DM Sans"/>
                <a:sym typeface="DM Sans"/>
              </a:rPr>
              <a:t>Proactive Consolidation Models</a:t>
            </a:r>
            <a:endParaRPr sz="1100"/>
          </a:p>
        </p:txBody>
      </p:sp>
      <p:sp>
        <p:nvSpPr>
          <p:cNvPr id="158" name="Google Shape;158;p32"/>
          <p:cNvSpPr txBox="1"/>
          <p:nvPr/>
        </p:nvSpPr>
        <p:spPr>
          <a:xfrm>
            <a:off x="3893344" y="3164681"/>
            <a:ext cx="52506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800" u="none" cap="none" strike="noStrike">
                <a:solidFill>
                  <a:srgbClr val="64748B"/>
                </a:solidFill>
                <a:latin typeface="DM Sans"/>
                <a:ea typeface="DM Sans"/>
                <a:cs typeface="DM Sans"/>
                <a:sym typeface="DM Sans"/>
              </a:rPr>
              <a:t>Evaluating Valley Elementary (4 to 2) and Middle School (2 to 1) mergers.</a:t>
            </a:r>
            <a:endParaRPr sz="1100"/>
          </a:p>
        </p:txBody>
      </p:sp>
      <p:sp>
        <p:nvSpPr>
          <p:cNvPr id="159" name="Google Shape;159;p32"/>
          <p:cNvSpPr txBox="1"/>
          <p:nvPr/>
        </p:nvSpPr>
        <p:spPr>
          <a:xfrm>
            <a:off x="3893344" y="4079081"/>
            <a:ext cx="52506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000" u="none" cap="none" strike="noStrike">
                <a:solidFill>
                  <a:srgbClr val="0F172A"/>
                </a:solidFill>
                <a:latin typeface="DM Sans"/>
                <a:ea typeface="DM Sans"/>
                <a:cs typeface="DM Sans"/>
                <a:sym typeface="DM Sans"/>
              </a:rPr>
              <a:t>Roadmap &amp; Transition Timeline</a:t>
            </a:r>
            <a:endParaRPr sz="1100"/>
          </a:p>
        </p:txBody>
      </p:sp>
      <p:sp>
        <p:nvSpPr>
          <p:cNvPr id="160" name="Google Shape;160;p32"/>
          <p:cNvSpPr txBox="1"/>
          <p:nvPr/>
        </p:nvSpPr>
        <p:spPr>
          <a:xfrm>
            <a:off x="3893344" y="4279106"/>
            <a:ext cx="52506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800" u="none" cap="none" strike="noStrike">
                <a:solidFill>
                  <a:srgbClr val="64748B"/>
                </a:solidFill>
                <a:latin typeface="DM Sans"/>
                <a:ea typeface="DM Sans"/>
                <a:cs typeface="DM Sans"/>
                <a:sym typeface="DM Sans"/>
              </a:rPr>
              <a:t>Implementation milestones, board decision points, and community engagement.</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4" name="Shape 164"/>
        <p:cNvGrpSpPr/>
        <p:nvPr/>
      </p:nvGrpSpPr>
      <p:grpSpPr>
        <a:xfrm>
          <a:off x="0" y="0"/>
          <a:ext cx="0" cy="0"/>
          <a:chOff x="0" y="0"/>
          <a:chExt cx="0" cy="0"/>
        </a:xfrm>
      </p:grpSpPr>
      <p:sp>
        <p:nvSpPr>
          <p:cNvPr id="165" name="Google Shape;165;p33"/>
          <p:cNvSpPr txBox="1"/>
          <p:nvPr/>
        </p:nvSpPr>
        <p:spPr>
          <a:xfrm>
            <a:off x="476250" y="381000"/>
            <a:ext cx="81915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960">
                <a:solidFill>
                  <a:srgbClr val="0F172A"/>
                </a:solidFill>
                <a:latin typeface="Inter ExtraBold"/>
                <a:ea typeface="Inter ExtraBold"/>
                <a:cs typeface="Inter ExtraBold"/>
                <a:sym typeface="Inter ExtraBold"/>
              </a:rPr>
              <a:t>Vermont is growing, but our student pipeline is shrinking.</a:t>
            </a:r>
            <a:endParaRPr b="0" sz="2960">
              <a:solidFill>
                <a:srgbClr val="0F172A"/>
              </a:solidFill>
              <a:latin typeface="Inter ExtraBold"/>
              <a:ea typeface="Inter ExtraBold"/>
              <a:cs typeface="Inter ExtraBold"/>
              <a:sym typeface="Inter ExtraBold"/>
            </a:endParaRPr>
          </a:p>
        </p:txBody>
      </p:sp>
      <p:cxnSp>
        <p:nvCxnSpPr>
          <p:cNvPr id="166" name="Google Shape;166;p33"/>
          <p:cNvCxnSpPr/>
          <p:nvPr/>
        </p:nvCxnSpPr>
        <p:spPr>
          <a:xfrm>
            <a:off x="1476375" y="3095625"/>
            <a:ext cx="6905700" cy="0"/>
          </a:xfrm>
          <a:prstGeom prst="straightConnector1">
            <a:avLst/>
          </a:prstGeom>
          <a:solidFill>
            <a:srgbClr val="FFFFFF"/>
          </a:solidFill>
          <a:ln cap="flat" cmpd="sng" w="14300">
            <a:solidFill>
              <a:srgbClr val="E2E8F0"/>
            </a:solidFill>
            <a:prstDash val="solid"/>
            <a:round/>
            <a:headEnd len="sm" w="sm" type="none"/>
            <a:tailEnd len="sm" w="sm" type="none"/>
          </a:ln>
        </p:spPr>
      </p:cxnSp>
      <p:grpSp>
        <p:nvGrpSpPr>
          <p:cNvPr id="167" name="Google Shape;167;p33"/>
          <p:cNvGrpSpPr/>
          <p:nvPr/>
        </p:nvGrpSpPr>
        <p:grpSpPr>
          <a:xfrm>
            <a:off x="1476375" y="1285875"/>
            <a:ext cx="5191125" cy="1809825"/>
            <a:chOff x="1476375" y="1285875"/>
            <a:chExt cx="5191125" cy="1809825"/>
          </a:xfrm>
        </p:grpSpPr>
        <p:sp>
          <p:nvSpPr>
            <p:cNvPr id="168" name="Google Shape;168;p33"/>
            <p:cNvSpPr/>
            <p:nvPr/>
          </p:nvSpPr>
          <p:spPr>
            <a:xfrm>
              <a:off x="1476375" y="1714500"/>
              <a:ext cx="4572000" cy="1381200"/>
            </a:xfrm>
            <a:custGeom>
              <a:rect b="b" l="l" r="r" t="t"/>
              <a:pathLst>
                <a:path extrusionOk="0" h="120000" w="120000">
                  <a:moveTo>
                    <a:pt x="0" y="120000"/>
                  </a:moveTo>
                  <a:cubicBezTo>
                    <a:pt x="41250" y="120000"/>
                    <a:pt x="71250" y="0"/>
                    <a:pt x="120000" y="0"/>
                  </a:cubicBezTo>
                </a:path>
              </a:pathLst>
            </a:custGeom>
            <a:solidFill>
              <a:srgbClr val="000000">
                <a:alpha val="0"/>
              </a:srgbClr>
            </a:solidFill>
            <a:ln cap="rnd" cmpd="sng" w="247650">
              <a:solidFill>
                <a:srgbClr val="2C528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33"/>
            <p:cNvSpPr/>
            <p:nvPr/>
          </p:nvSpPr>
          <p:spPr>
            <a:xfrm>
              <a:off x="5905500" y="1285875"/>
              <a:ext cx="762000" cy="857400"/>
            </a:xfrm>
            <a:custGeom>
              <a:rect b="b" l="l" r="r" t="t"/>
              <a:pathLst>
                <a:path extrusionOk="0" h="120000" w="120000">
                  <a:moveTo>
                    <a:pt x="0" y="0"/>
                  </a:moveTo>
                  <a:lnTo>
                    <a:pt x="120000" y="60000"/>
                  </a:lnTo>
                  <a:lnTo>
                    <a:pt x="22500" y="120000"/>
                  </a:lnTo>
                  <a:lnTo>
                    <a:pt x="37500" y="73333"/>
                  </a:lnTo>
                  <a:lnTo>
                    <a:pt x="0" y="73333"/>
                  </a:lnTo>
                  <a:lnTo>
                    <a:pt x="0" y="46667"/>
                  </a:lnTo>
                  <a:lnTo>
                    <a:pt x="37500" y="46667"/>
                  </a:lnTo>
                  <a:close/>
                </a:path>
              </a:pathLst>
            </a:custGeom>
            <a:solidFill>
              <a:srgbClr val="2C528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70" name="Google Shape;170;p33"/>
          <p:cNvGrpSpPr/>
          <p:nvPr/>
        </p:nvGrpSpPr>
        <p:grpSpPr>
          <a:xfrm>
            <a:off x="1476375" y="3095625"/>
            <a:ext cx="5191125" cy="1809900"/>
            <a:chOff x="1476375" y="3095625"/>
            <a:chExt cx="5191125" cy="1809900"/>
          </a:xfrm>
        </p:grpSpPr>
        <p:sp>
          <p:nvSpPr>
            <p:cNvPr id="171" name="Google Shape;171;p33"/>
            <p:cNvSpPr/>
            <p:nvPr/>
          </p:nvSpPr>
          <p:spPr>
            <a:xfrm>
              <a:off x="1476375" y="3095625"/>
              <a:ext cx="4572000" cy="1381200"/>
            </a:xfrm>
            <a:custGeom>
              <a:rect b="b" l="l" r="r" t="t"/>
              <a:pathLst>
                <a:path extrusionOk="0" h="120000" w="120000">
                  <a:moveTo>
                    <a:pt x="0" y="0"/>
                  </a:moveTo>
                  <a:cubicBezTo>
                    <a:pt x="41250" y="0"/>
                    <a:pt x="71250" y="120000"/>
                    <a:pt x="120000" y="120000"/>
                  </a:cubicBezTo>
                </a:path>
              </a:pathLst>
            </a:custGeom>
            <a:solidFill>
              <a:srgbClr val="000000">
                <a:alpha val="0"/>
              </a:srgbClr>
            </a:solidFill>
            <a:ln cap="rnd" cmpd="sng" w="247650">
              <a:solidFill>
                <a:srgbClr val="FF6B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33"/>
            <p:cNvSpPr/>
            <p:nvPr/>
          </p:nvSpPr>
          <p:spPr>
            <a:xfrm>
              <a:off x="5905500" y="4048125"/>
              <a:ext cx="762000" cy="857400"/>
            </a:xfrm>
            <a:custGeom>
              <a:rect b="b" l="l" r="r" t="t"/>
              <a:pathLst>
                <a:path extrusionOk="0" h="120000" w="120000">
                  <a:moveTo>
                    <a:pt x="0" y="120000"/>
                  </a:moveTo>
                  <a:lnTo>
                    <a:pt x="120000" y="60000"/>
                  </a:lnTo>
                  <a:lnTo>
                    <a:pt x="22500" y="0"/>
                  </a:lnTo>
                  <a:lnTo>
                    <a:pt x="37500" y="46667"/>
                  </a:lnTo>
                  <a:lnTo>
                    <a:pt x="0" y="46667"/>
                  </a:lnTo>
                  <a:lnTo>
                    <a:pt x="0" y="73333"/>
                  </a:lnTo>
                  <a:lnTo>
                    <a:pt x="37500" y="73333"/>
                  </a:lnTo>
                  <a:close/>
                </a:path>
              </a:pathLst>
            </a:custGeom>
            <a:solidFill>
              <a:srgbClr val="FF6B5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73" name="Google Shape;173;p33"/>
          <p:cNvGrpSpPr/>
          <p:nvPr/>
        </p:nvGrpSpPr>
        <p:grpSpPr>
          <a:xfrm>
            <a:off x="476250" y="2914650"/>
            <a:ext cx="1171575" cy="381000"/>
            <a:chOff x="476250" y="2914650"/>
            <a:chExt cx="1171575" cy="381000"/>
          </a:xfrm>
        </p:grpSpPr>
        <p:sp>
          <p:nvSpPr>
            <p:cNvPr id="174" name="Google Shape;174;p33"/>
            <p:cNvSpPr/>
            <p:nvPr/>
          </p:nvSpPr>
          <p:spPr>
            <a:xfrm>
              <a:off x="1304925" y="2924175"/>
              <a:ext cx="342900" cy="342900"/>
            </a:xfrm>
            <a:prstGeom prst="ellipse">
              <a:avLst/>
            </a:prstGeom>
            <a:solidFill>
              <a:srgbClr val="2C528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33"/>
            <p:cNvSpPr txBox="1"/>
            <p:nvPr/>
          </p:nvSpPr>
          <p:spPr>
            <a:xfrm>
              <a:off x="476250" y="2914650"/>
              <a:ext cx="762000" cy="381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2200">
                  <a:solidFill>
                    <a:srgbClr val="0F172A"/>
                  </a:solidFill>
                  <a:latin typeface="Inter ExtraBold"/>
                  <a:ea typeface="Inter ExtraBold"/>
                  <a:cs typeface="Inter ExtraBold"/>
                  <a:sym typeface="Inter ExtraBold"/>
                </a:rPr>
                <a:t>2009</a:t>
              </a:r>
              <a:endParaRPr b="0" sz="2200">
                <a:solidFill>
                  <a:srgbClr val="0F172A"/>
                </a:solidFill>
                <a:latin typeface="Inter ExtraBold"/>
                <a:ea typeface="Inter ExtraBold"/>
                <a:cs typeface="Inter ExtraBold"/>
                <a:sym typeface="Inter ExtraBold"/>
              </a:endParaRPr>
            </a:p>
          </p:txBody>
        </p:sp>
      </p:grpSp>
      <p:sp>
        <p:nvSpPr>
          <p:cNvPr id="176" name="Google Shape;176;p33"/>
          <p:cNvSpPr txBox="1"/>
          <p:nvPr/>
        </p:nvSpPr>
        <p:spPr>
          <a:xfrm>
            <a:off x="279700" y="1591125"/>
            <a:ext cx="3810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F172A"/>
                </a:solidFill>
                <a:latin typeface="Inter"/>
                <a:ea typeface="Inter"/>
                <a:cs typeface="Inter"/>
                <a:sym typeface="Inter"/>
              </a:rPr>
              <a:t>Vermont Population Growth (2009–2025).</a:t>
            </a:r>
            <a:endParaRPr b="1" sz="1100">
              <a:solidFill>
                <a:srgbClr val="0F172A"/>
              </a:solidFill>
              <a:latin typeface="Inter"/>
              <a:ea typeface="Inter"/>
              <a:cs typeface="Inter"/>
              <a:sym typeface="Inter"/>
            </a:endParaRPr>
          </a:p>
          <a:p>
            <a:pPr indent="0" lvl="0" marL="0" rtl="0" algn="l">
              <a:spcBef>
                <a:spcPts val="300"/>
              </a:spcBef>
              <a:spcAft>
                <a:spcPts val="0"/>
              </a:spcAft>
              <a:buNone/>
            </a:pPr>
            <a:r>
              <a:rPr b="0" lang="en" sz="1000">
                <a:solidFill>
                  <a:srgbClr val="475569"/>
                </a:solidFill>
                <a:latin typeface="Inter"/>
                <a:ea typeface="Inter"/>
                <a:cs typeface="Inter"/>
                <a:sym typeface="Inter"/>
              </a:rPr>
              <a:t>The state is gaining residents, creating the illusion of future school growth.</a:t>
            </a:r>
            <a:endParaRPr b="0" sz="1000">
              <a:solidFill>
                <a:srgbClr val="475569"/>
              </a:solidFill>
              <a:latin typeface="Inter"/>
              <a:ea typeface="Inter"/>
              <a:cs typeface="Inter"/>
              <a:sym typeface="Inter"/>
            </a:endParaRPr>
          </a:p>
        </p:txBody>
      </p:sp>
      <p:sp>
        <p:nvSpPr>
          <p:cNvPr id="177" name="Google Shape;177;p33"/>
          <p:cNvSpPr txBox="1"/>
          <p:nvPr/>
        </p:nvSpPr>
        <p:spPr>
          <a:xfrm>
            <a:off x="6810375" y="1409700"/>
            <a:ext cx="17145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800">
                <a:solidFill>
                  <a:srgbClr val="0F172A"/>
                </a:solidFill>
                <a:latin typeface="Inter ExtraBold"/>
                <a:ea typeface="Inter ExtraBold"/>
                <a:cs typeface="Inter ExtraBold"/>
                <a:sym typeface="Inter ExtraBold"/>
              </a:rPr>
              <a:t>+3.2%</a:t>
            </a:r>
            <a:endParaRPr b="0" sz="3800">
              <a:solidFill>
                <a:srgbClr val="0F172A"/>
              </a:solidFill>
              <a:latin typeface="Inter ExtraBold"/>
              <a:ea typeface="Inter ExtraBold"/>
              <a:cs typeface="Inter ExtraBold"/>
              <a:sym typeface="Inter ExtraBold"/>
            </a:endParaRPr>
          </a:p>
        </p:txBody>
      </p:sp>
      <p:sp>
        <p:nvSpPr>
          <p:cNvPr id="178" name="Google Shape;178;p33"/>
          <p:cNvSpPr txBox="1"/>
          <p:nvPr/>
        </p:nvSpPr>
        <p:spPr>
          <a:xfrm>
            <a:off x="279700" y="4048050"/>
            <a:ext cx="3810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0F172A"/>
                </a:solidFill>
                <a:latin typeface="Inter"/>
                <a:ea typeface="Inter"/>
                <a:cs typeface="Inter"/>
                <a:sym typeface="Inter"/>
              </a:rPr>
              <a:t>Vermont Live Births (2009–2024).</a:t>
            </a:r>
            <a:endParaRPr b="1" sz="1100">
              <a:solidFill>
                <a:srgbClr val="0F172A"/>
              </a:solidFill>
              <a:latin typeface="Inter"/>
              <a:ea typeface="Inter"/>
              <a:cs typeface="Inter"/>
              <a:sym typeface="Inter"/>
            </a:endParaRPr>
          </a:p>
          <a:p>
            <a:pPr indent="0" lvl="0" marL="0" rtl="0" algn="l">
              <a:spcBef>
                <a:spcPts val="300"/>
              </a:spcBef>
              <a:spcAft>
                <a:spcPts val="0"/>
              </a:spcAft>
              <a:buNone/>
            </a:pPr>
            <a:r>
              <a:rPr b="0" lang="en" sz="1000">
                <a:solidFill>
                  <a:srgbClr val="475569"/>
                </a:solidFill>
                <a:latin typeface="Inter"/>
                <a:ea typeface="Inter"/>
                <a:cs typeface="Inter"/>
                <a:sym typeface="Inter"/>
              </a:rPr>
              <a:t>We are gaining adults, but experiencing a severe, sustained collapse in infant populations.</a:t>
            </a:r>
            <a:endParaRPr b="0" sz="1000">
              <a:solidFill>
                <a:srgbClr val="475569"/>
              </a:solidFill>
              <a:latin typeface="Inter"/>
              <a:ea typeface="Inter"/>
              <a:cs typeface="Inter"/>
              <a:sym typeface="Inter"/>
            </a:endParaRPr>
          </a:p>
        </p:txBody>
      </p:sp>
      <p:sp>
        <p:nvSpPr>
          <p:cNvPr id="179" name="Google Shape;179;p33"/>
          <p:cNvSpPr txBox="1"/>
          <p:nvPr/>
        </p:nvSpPr>
        <p:spPr>
          <a:xfrm>
            <a:off x="6810375" y="4171950"/>
            <a:ext cx="17145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3800">
                <a:solidFill>
                  <a:srgbClr val="0F172A"/>
                </a:solidFill>
                <a:latin typeface="Inter ExtraBold"/>
                <a:ea typeface="Inter ExtraBold"/>
                <a:cs typeface="Inter ExtraBold"/>
                <a:sym typeface="Inter ExtraBold"/>
              </a:rPr>
              <a:t>-17.8%</a:t>
            </a:r>
            <a:endParaRPr b="0" sz="3800">
              <a:solidFill>
                <a:srgbClr val="0F172A"/>
              </a:solidFill>
              <a:latin typeface="Inter ExtraBold"/>
              <a:ea typeface="Inter ExtraBold"/>
              <a:cs typeface="Inter ExtraBold"/>
              <a:sym typeface="Inter ExtraBold"/>
            </a:endParaRPr>
          </a:p>
        </p:txBody>
      </p:sp>
      <p:sp>
        <p:nvSpPr>
          <p:cNvPr id="180" name="Google Shape;180;p33"/>
          <p:cNvSpPr txBox="1"/>
          <p:nvPr/>
        </p:nvSpPr>
        <p:spPr>
          <a:xfrm>
            <a:off x="8001000" y="4933950"/>
            <a:ext cx="952500" cy="1428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4" name="Shape 184"/>
        <p:cNvGrpSpPr/>
        <p:nvPr/>
      </p:nvGrpSpPr>
      <p:grpSpPr>
        <a:xfrm>
          <a:off x="0" y="0"/>
          <a:ext cx="0" cy="0"/>
          <a:chOff x="0" y="0"/>
          <a:chExt cx="0" cy="0"/>
        </a:xfrm>
      </p:grpSpPr>
      <p:sp>
        <p:nvSpPr>
          <p:cNvPr id="185" name="Google Shape;185;p34"/>
          <p:cNvSpPr txBox="1"/>
          <p:nvPr/>
        </p:nvSpPr>
        <p:spPr>
          <a:xfrm>
            <a:off x="476250" y="342900"/>
            <a:ext cx="8191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380">
                <a:solidFill>
                  <a:srgbClr val="0F172A"/>
                </a:solidFill>
                <a:latin typeface="Inter ExtraBold"/>
                <a:ea typeface="Inter ExtraBold"/>
                <a:cs typeface="Inter ExtraBold"/>
                <a:sym typeface="Inter ExtraBold"/>
              </a:rPr>
              <a:t>Without structural intervention, the contraction will accelerate</a:t>
            </a:r>
            <a:r>
              <a:rPr b="0" lang="en" sz="2380">
                <a:solidFill>
                  <a:srgbClr val="0F172A"/>
                </a:solidFill>
                <a:latin typeface="Inter ExtraBold"/>
                <a:ea typeface="Inter ExtraBold"/>
                <a:cs typeface="Inter ExtraBold"/>
                <a:sym typeface="Inter ExtraBold"/>
              </a:rPr>
              <a:t>.</a:t>
            </a:r>
            <a:endParaRPr b="0" sz="2380">
              <a:solidFill>
                <a:srgbClr val="0F172A"/>
              </a:solidFill>
              <a:latin typeface="Inter ExtraBold"/>
              <a:ea typeface="Inter ExtraBold"/>
              <a:cs typeface="Inter ExtraBold"/>
              <a:sym typeface="Inter ExtraBold"/>
            </a:endParaRPr>
          </a:p>
        </p:txBody>
      </p:sp>
      <p:grpSp>
        <p:nvGrpSpPr>
          <p:cNvPr id="186" name="Google Shape;186;p34"/>
          <p:cNvGrpSpPr/>
          <p:nvPr/>
        </p:nvGrpSpPr>
        <p:grpSpPr>
          <a:xfrm>
            <a:off x="409931" y="1309183"/>
            <a:ext cx="5686080" cy="2525131"/>
            <a:chOff x="-54719" y="74295"/>
            <a:chExt cx="5686080" cy="2525131"/>
          </a:xfrm>
        </p:grpSpPr>
        <p:grpSp>
          <p:nvGrpSpPr>
            <p:cNvPr id="187" name="Google Shape;187;p34"/>
            <p:cNvGrpSpPr/>
            <p:nvPr/>
          </p:nvGrpSpPr>
          <p:grpSpPr>
            <a:xfrm>
              <a:off x="68485" y="74295"/>
              <a:ext cx="5455940" cy="2043600"/>
              <a:chOff x="68485" y="74295"/>
              <a:chExt cx="5455940" cy="2043600"/>
            </a:xfrm>
          </p:grpSpPr>
          <p:sp>
            <p:nvSpPr>
              <p:cNvPr id="188" name="Google Shape;188;p34"/>
              <p:cNvSpPr txBox="1"/>
              <p:nvPr/>
            </p:nvSpPr>
            <p:spPr>
              <a:xfrm>
                <a:off x="68485" y="74295"/>
                <a:ext cx="264900" cy="13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675">
                    <a:solidFill>
                      <a:srgbClr val="64748B"/>
                    </a:solidFill>
                    <a:latin typeface="Inter SemiBold"/>
                    <a:ea typeface="Inter SemiBold"/>
                    <a:cs typeface="Inter SemiBold"/>
                    <a:sym typeface="Inter SemiBold"/>
                  </a:rPr>
                  <a:t>2,000</a:t>
                </a:r>
                <a:endParaRPr b="0" sz="675">
                  <a:solidFill>
                    <a:srgbClr val="64748B"/>
                  </a:solidFill>
                  <a:latin typeface="Inter SemiBold"/>
                  <a:ea typeface="Inter SemiBold"/>
                  <a:cs typeface="Inter SemiBold"/>
                  <a:sym typeface="Inter SemiBold"/>
                </a:endParaRPr>
              </a:p>
            </p:txBody>
          </p:sp>
          <p:pic>
            <p:nvPicPr>
              <p:cNvPr id="189" name="Google Shape;189;p34"/>
              <p:cNvPicPr preferRelativeResize="0"/>
              <p:nvPr/>
            </p:nvPicPr>
            <p:blipFill rotWithShape="1">
              <a:blip r:embed="rId4">
                <a:alphaModFix/>
              </a:blip>
              <a:srcRect b="0" l="0" r="0" t="0"/>
              <a:stretch/>
            </p:blipFill>
            <p:spPr>
              <a:xfrm>
                <a:off x="428625" y="109538"/>
                <a:ext cx="5095800" cy="9600"/>
              </a:xfrm>
              <a:prstGeom prst="rect">
                <a:avLst/>
              </a:prstGeom>
              <a:noFill/>
              <a:ln>
                <a:noFill/>
              </a:ln>
            </p:spPr>
          </p:pic>
          <p:sp>
            <p:nvSpPr>
              <p:cNvPr id="190" name="Google Shape;190;p34"/>
              <p:cNvSpPr txBox="1"/>
              <p:nvPr/>
            </p:nvSpPr>
            <p:spPr>
              <a:xfrm>
                <a:off x="68485" y="455295"/>
                <a:ext cx="264900" cy="13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675">
                    <a:solidFill>
                      <a:srgbClr val="64748B"/>
                    </a:solidFill>
                    <a:latin typeface="Inter SemiBold"/>
                    <a:ea typeface="Inter SemiBold"/>
                    <a:cs typeface="Inter SemiBold"/>
                    <a:sym typeface="Inter SemiBold"/>
                  </a:rPr>
                  <a:t>1,900</a:t>
                </a:r>
                <a:endParaRPr b="0" sz="675">
                  <a:solidFill>
                    <a:srgbClr val="64748B"/>
                  </a:solidFill>
                  <a:latin typeface="Inter SemiBold"/>
                  <a:ea typeface="Inter SemiBold"/>
                  <a:cs typeface="Inter SemiBold"/>
                  <a:sym typeface="Inter SemiBold"/>
                </a:endParaRPr>
              </a:p>
            </p:txBody>
          </p:sp>
          <p:pic>
            <p:nvPicPr>
              <p:cNvPr id="191" name="Google Shape;191;p34"/>
              <p:cNvPicPr preferRelativeResize="0"/>
              <p:nvPr/>
            </p:nvPicPr>
            <p:blipFill rotWithShape="1">
              <a:blip r:embed="rId4">
                <a:alphaModFix/>
              </a:blip>
              <a:srcRect b="0" l="0" r="0" t="0"/>
              <a:stretch/>
            </p:blipFill>
            <p:spPr>
              <a:xfrm>
                <a:off x="428625" y="490538"/>
                <a:ext cx="5095800" cy="9600"/>
              </a:xfrm>
              <a:prstGeom prst="rect">
                <a:avLst/>
              </a:prstGeom>
              <a:noFill/>
              <a:ln>
                <a:noFill/>
              </a:ln>
            </p:spPr>
          </p:pic>
          <p:sp>
            <p:nvSpPr>
              <p:cNvPr id="192" name="Google Shape;192;p34"/>
              <p:cNvSpPr txBox="1"/>
              <p:nvPr/>
            </p:nvSpPr>
            <p:spPr>
              <a:xfrm>
                <a:off x="68485" y="836295"/>
                <a:ext cx="264900" cy="13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675">
                    <a:solidFill>
                      <a:srgbClr val="64748B"/>
                    </a:solidFill>
                    <a:latin typeface="Inter SemiBold"/>
                    <a:ea typeface="Inter SemiBold"/>
                    <a:cs typeface="Inter SemiBold"/>
                    <a:sym typeface="Inter SemiBold"/>
                  </a:rPr>
                  <a:t>1,800</a:t>
                </a:r>
                <a:endParaRPr b="0" sz="675">
                  <a:solidFill>
                    <a:srgbClr val="64748B"/>
                  </a:solidFill>
                  <a:latin typeface="Inter SemiBold"/>
                  <a:ea typeface="Inter SemiBold"/>
                  <a:cs typeface="Inter SemiBold"/>
                  <a:sym typeface="Inter SemiBold"/>
                </a:endParaRPr>
              </a:p>
            </p:txBody>
          </p:sp>
          <p:pic>
            <p:nvPicPr>
              <p:cNvPr id="193" name="Google Shape;193;p34"/>
              <p:cNvPicPr preferRelativeResize="0"/>
              <p:nvPr/>
            </p:nvPicPr>
            <p:blipFill rotWithShape="1">
              <a:blip r:embed="rId4">
                <a:alphaModFix/>
              </a:blip>
              <a:srcRect b="0" l="0" r="0" t="0"/>
              <a:stretch/>
            </p:blipFill>
            <p:spPr>
              <a:xfrm>
                <a:off x="428625" y="871538"/>
                <a:ext cx="5095800" cy="9600"/>
              </a:xfrm>
              <a:prstGeom prst="rect">
                <a:avLst/>
              </a:prstGeom>
              <a:noFill/>
              <a:ln>
                <a:noFill/>
              </a:ln>
            </p:spPr>
          </p:pic>
          <p:sp>
            <p:nvSpPr>
              <p:cNvPr id="194" name="Google Shape;194;p34"/>
              <p:cNvSpPr txBox="1"/>
              <p:nvPr/>
            </p:nvSpPr>
            <p:spPr>
              <a:xfrm>
                <a:off x="68485" y="1217295"/>
                <a:ext cx="264900" cy="13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675">
                    <a:solidFill>
                      <a:srgbClr val="64748B"/>
                    </a:solidFill>
                    <a:latin typeface="Inter SemiBold"/>
                    <a:ea typeface="Inter SemiBold"/>
                    <a:cs typeface="Inter SemiBold"/>
                    <a:sym typeface="Inter SemiBold"/>
                  </a:rPr>
                  <a:t>1,700</a:t>
                </a:r>
                <a:endParaRPr b="0" sz="675">
                  <a:solidFill>
                    <a:srgbClr val="64748B"/>
                  </a:solidFill>
                  <a:latin typeface="Inter SemiBold"/>
                  <a:ea typeface="Inter SemiBold"/>
                  <a:cs typeface="Inter SemiBold"/>
                  <a:sym typeface="Inter SemiBold"/>
                </a:endParaRPr>
              </a:p>
            </p:txBody>
          </p:sp>
          <p:pic>
            <p:nvPicPr>
              <p:cNvPr id="195" name="Google Shape;195;p34"/>
              <p:cNvPicPr preferRelativeResize="0"/>
              <p:nvPr/>
            </p:nvPicPr>
            <p:blipFill rotWithShape="1">
              <a:blip r:embed="rId4">
                <a:alphaModFix/>
              </a:blip>
              <a:srcRect b="0" l="0" r="0" t="0"/>
              <a:stretch/>
            </p:blipFill>
            <p:spPr>
              <a:xfrm>
                <a:off x="428625" y="1252538"/>
                <a:ext cx="5095800" cy="9600"/>
              </a:xfrm>
              <a:prstGeom prst="rect">
                <a:avLst/>
              </a:prstGeom>
              <a:noFill/>
              <a:ln>
                <a:noFill/>
              </a:ln>
            </p:spPr>
          </p:pic>
          <p:sp>
            <p:nvSpPr>
              <p:cNvPr id="196" name="Google Shape;196;p34"/>
              <p:cNvSpPr txBox="1"/>
              <p:nvPr/>
            </p:nvSpPr>
            <p:spPr>
              <a:xfrm>
                <a:off x="68485" y="1598295"/>
                <a:ext cx="264900" cy="13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675">
                    <a:solidFill>
                      <a:srgbClr val="64748B"/>
                    </a:solidFill>
                    <a:latin typeface="Inter SemiBold"/>
                    <a:ea typeface="Inter SemiBold"/>
                    <a:cs typeface="Inter SemiBold"/>
                    <a:sym typeface="Inter SemiBold"/>
                  </a:rPr>
                  <a:t>1,600</a:t>
                </a:r>
                <a:endParaRPr b="0" sz="675">
                  <a:solidFill>
                    <a:srgbClr val="64748B"/>
                  </a:solidFill>
                  <a:latin typeface="Inter SemiBold"/>
                  <a:ea typeface="Inter SemiBold"/>
                  <a:cs typeface="Inter SemiBold"/>
                  <a:sym typeface="Inter SemiBold"/>
                </a:endParaRPr>
              </a:p>
            </p:txBody>
          </p:sp>
          <p:pic>
            <p:nvPicPr>
              <p:cNvPr id="197" name="Google Shape;197;p34"/>
              <p:cNvPicPr preferRelativeResize="0"/>
              <p:nvPr/>
            </p:nvPicPr>
            <p:blipFill rotWithShape="1">
              <a:blip r:embed="rId4">
                <a:alphaModFix/>
              </a:blip>
              <a:srcRect b="0" l="0" r="0" t="0"/>
              <a:stretch/>
            </p:blipFill>
            <p:spPr>
              <a:xfrm>
                <a:off x="428625" y="1633538"/>
                <a:ext cx="5095800" cy="9600"/>
              </a:xfrm>
              <a:prstGeom prst="rect">
                <a:avLst/>
              </a:prstGeom>
              <a:noFill/>
              <a:ln>
                <a:noFill/>
              </a:ln>
            </p:spPr>
          </p:pic>
          <p:sp>
            <p:nvSpPr>
              <p:cNvPr id="198" name="Google Shape;198;p34"/>
              <p:cNvSpPr txBox="1"/>
              <p:nvPr/>
            </p:nvSpPr>
            <p:spPr>
              <a:xfrm>
                <a:off x="68485" y="1979295"/>
                <a:ext cx="264900" cy="13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675">
                    <a:solidFill>
                      <a:srgbClr val="64748B"/>
                    </a:solidFill>
                    <a:latin typeface="Inter SemiBold"/>
                    <a:ea typeface="Inter SemiBold"/>
                    <a:cs typeface="Inter SemiBold"/>
                    <a:sym typeface="Inter SemiBold"/>
                  </a:rPr>
                  <a:t>1,500</a:t>
                </a:r>
                <a:endParaRPr b="0" sz="675">
                  <a:solidFill>
                    <a:srgbClr val="64748B"/>
                  </a:solidFill>
                  <a:latin typeface="Inter SemiBold"/>
                  <a:ea typeface="Inter SemiBold"/>
                  <a:cs typeface="Inter SemiBold"/>
                  <a:sym typeface="Inter SemiBold"/>
                </a:endParaRPr>
              </a:p>
            </p:txBody>
          </p:sp>
          <p:cxnSp>
            <p:nvCxnSpPr>
              <p:cNvPr id="199" name="Google Shape;199;p34"/>
              <p:cNvCxnSpPr/>
              <p:nvPr/>
            </p:nvCxnSpPr>
            <p:spPr>
              <a:xfrm>
                <a:off x="428625" y="2019300"/>
                <a:ext cx="5095800" cy="0"/>
              </a:xfrm>
              <a:prstGeom prst="straightConnector1">
                <a:avLst/>
              </a:prstGeom>
              <a:solidFill>
                <a:srgbClr val="FFFFFF"/>
              </a:solidFill>
              <a:ln cap="flat" cmpd="sng" w="14300">
                <a:solidFill>
                  <a:srgbClr val="CBD5E1"/>
                </a:solidFill>
                <a:prstDash val="solid"/>
                <a:round/>
                <a:headEnd len="sm" w="sm" type="none"/>
                <a:tailEnd len="sm" w="sm" type="none"/>
              </a:ln>
            </p:spPr>
          </p:cxnSp>
        </p:grpSp>
        <p:sp>
          <p:nvSpPr>
            <p:cNvPr id="200" name="Google Shape;200;p34"/>
            <p:cNvSpPr/>
            <p:nvPr/>
          </p:nvSpPr>
          <p:spPr>
            <a:xfrm>
              <a:off x="428625" y="342913"/>
              <a:ext cx="3706200" cy="1676400"/>
            </a:xfrm>
            <a:custGeom>
              <a:rect b="b" l="l" r="r" t="t"/>
              <a:pathLst>
                <a:path extrusionOk="0" h="120000" w="120000">
                  <a:moveTo>
                    <a:pt x="0" y="0"/>
                  </a:moveTo>
                  <a:lnTo>
                    <a:pt x="7500" y="5455"/>
                  </a:lnTo>
                  <a:lnTo>
                    <a:pt x="15000" y="6818"/>
                  </a:lnTo>
                  <a:lnTo>
                    <a:pt x="22500" y="11591"/>
                  </a:lnTo>
                  <a:lnTo>
                    <a:pt x="30000" y="16364"/>
                  </a:lnTo>
                  <a:lnTo>
                    <a:pt x="37500" y="14318"/>
                  </a:lnTo>
                  <a:lnTo>
                    <a:pt x="45000" y="21136"/>
                  </a:lnTo>
                  <a:lnTo>
                    <a:pt x="52500" y="25909"/>
                  </a:lnTo>
                  <a:lnTo>
                    <a:pt x="60000" y="35455"/>
                  </a:lnTo>
                  <a:lnTo>
                    <a:pt x="67500" y="41591"/>
                  </a:lnTo>
                  <a:lnTo>
                    <a:pt x="75000" y="42955"/>
                  </a:lnTo>
                  <a:lnTo>
                    <a:pt x="82500" y="48409"/>
                  </a:lnTo>
                  <a:lnTo>
                    <a:pt x="90000" y="52500"/>
                  </a:lnTo>
                  <a:lnTo>
                    <a:pt x="97500" y="55909"/>
                  </a:lnTo>
                  <a:lnTo>
                    <a:pt x="105000" y="60682"/>
                  </a:lnTo>
                  <a:lnTo>
                    <a:pt x="112500" y="62727"/>
                  </a:lnTo>
                  <a:lnTo>
                    <a:pt x="120000" y="68182"/>
                  </a:lnTo>
                  <a:lnTo>
                    <a:pt x="120000" y="120000"/>
                  </a:lnTo>
                  <a:lnTo>
                    <a:pt x="0" y="120000"/>
                  </a:lnTo>
                  <a:close/>
                </a:path>
              </a:pathLst>
            </a:custGeom>
            <a:gradFill>
              <a:gsLst>
                <a:gs pos="0">
                  <a:srgbClr val="1E293B">
                    <a:alpha val="89804"/>
                  </a:srgbClr>
                </a:gs>
                <a:gs pos="50000">
                  <a:srgbClr val="64748B">
                    <a:alpha val="80000"/>
                  </a:srgbClr>
                </a:gs>
                <a:gs pos="100000">
                  <a:srgbClr val="EE5A42">
                    <a:alpha val="85098"/>
                  </a:srgbClr>
                </a:gs>
              </a:gsLst>
              <a:lin ang="0" scaled="0"/>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34"/>
            <p:cNvSpPr/>
            <p:nvPr/>
          </p:nvSpPr>
          <p:spPr>
            <a:xfrm>
              <a:off x="428625" y="342912"/>
              <a:ext cx="3678600" cy="951000"/>
            </a:xfrm>
            <a:custGeom>
              <a:rect b="b" l="l" r="r" t="t"/>
              <a:pathLst>
                <a:path extrusionOk="0" h="120000" w="120000">
                  <a:moveTo>
                    <a:pt x="0" y="0"/>
                  </a:moveTo>
                  <a:lnTo>
                    <a:pt x="7500" y="9600"/>
                  </a:lnTo>
                  <a:lnTo>
                    <a:pt x="15000" y="12000"/>
                  </a:lnTo>
                  <a:lnTo>
                    <a:pt x="22500" y="20400"/>
                  </a:lnTo>
                  <a:lnTo>
                    <a:pt x="30000" y="28800"/>
                  </a:lnTo>
                  <a:lnTo>
                    <a:pt x="37500" y="25200"/>
                  </a:lnTo>
                  <a:lnTo>
                    <a:pt x="45000" y="37200"/>
                  </a:lnTo>
                  <a:lnTo>
                    <a:pt x="52500" y="45600"/>
                  </a:lnTo>
                  <a:lnTo>
                    <a:pt x="60000" y="62400"/>
                  </a:lnTo>
                  <a:lnTo>
                    <a:pt x="67500" y="73200"/>
                  </a:lnTo>
                  <a:lnTo>
                    <a:pt x="75000" y="75600"/>
                  </a:lnTo>
                  <a:lnTo>
                    <a:pt x="82500" y="85200"/>
                  </a:lnTo>
                  <a:lnTo>
                    <a:pt x="90000" y="92400"/>
                  </a:lnTo>
                  <a:lnTo>
                    <a:pt x="97500" y="98400"/>
                  </a:lnTo>
                  <a:lnTo>
                    <a:pt x="105000" y="106800"/>
                  </a:lnTo>
                  <a:lnTo>
                    <a:pt x="112500" y="110400"/>
                  </a:lnTo>
                  <a:lnTo>
                    <a:pt x="120000" y="120000"/>
                  </a:lnTo>
                </a:path>
              </a:pathLst>
            </a:custGeom>
            <a:solidFill>
              <a:srgbClr val="000000">
                <a:alpha val="0"/>
              </a:srgbClr>
            </a:solidFill>
            <a:ln cap="flat" cmpd="sng" w="238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02" name="Google Shape;202;p34"/>
            <p:cNvPicPr preferRelativeResize="0"/>
            <p:nvPr/>
          </p:nvPicPr>
          <p:blipFill rotWithShape="1">
            <a:blip r:embed="rId5">
              <a:alphaModFix/>
            </a:blip>
            <a:srcRect b="0" l="0" r="0" t="0"/>
            <a:stretch/>
          </p:blipFill>
          <p:spPr>
            <a:xfrm>
              <a:off x="4134815" y="1355886"/>
              <a:ext cx="1361400" cy="492000"/>
            </a:xfrm>
            <a:prstGeom prst="rect">
              <a:avLst/>
            </a:prstGeom>
            <a:noFill/>
            <a:ln>
              <a:noFill/>
            </a:ln>
          </p:spPr>
        </p:pic>
        <p:sp>
          <p:nvSpPr>
            <p:cNvPr id="203" name="Google Shape;203;p34"/>
            <p:cNvSpPr txBox="1"/>
            <p:nvPr/>
          </p:nvSpPr>
          <p:spPr>
            <a:xfrm>
              <a:off x="281464" y="190500"/>
              <a:ext cx="294300" cy="15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rgbClr val="0F172A"/>
                  </a:solidFill>
                  <a:latin typeface="Inter ExtraBold"/>
                  <a:ea typeface="Inter ExtraBold"/>
                  <a:cs typeface="Inter ExtraBold"/>
                  <a:sym typeface="Inter ExtraBold"/>
                </a:rPr>
                <a:t>1,940</a:t>
              </a:r>
              <a:endParaRPr b="0" sz="750">
                <a:solidFill>
                  <a:srgbClr val="0F172A"/>
                </a:solidFill>
                <a:latin typeface="Inter ExtraBold"/>
                <a:ea typeface="Inter ExtraBold"/>
                <a:cs typeface="Inter ExtraBold"/>
                <a:sym typeface="Inter ExtraBold"/>
              </a:endParaRPr>
            </a:p>
          </p:txBody>
        </p:sp>
        <p:sp>
          <p:nvSpPr>
            <p:cNvPr id="204" name="Google Shape;204;p34"/>
            <p:cNvSpPr/>
            <p:nvPr/>
          </p:nvSpPr>
          <p:spPr>
            <a:xfrm>
              <a:off x="4134813" y="1293963"/>
              <a:ext cx="85800" cy="85800"/>
            </a:xfrm>
            <a:prstGeom prst="ellipse">
              <a:avLst/>
            </a:prstGeom>
            <a:solidFill>
              <a:srgbClr val="EE5A4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34"/>
            <p:cNvSpPr txBox="1"/>
            <p:nvPr/>
          </p:nvSpPr>
          <p:spPr>
            <a:xfrm>
              <a:off x="4069751" y="1120665"/>
              <a:ext cx="309000" cy="161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88">
                  <a:solidFill>
                    <a:srgbClr val="0F172A"/>
                  </a:solidFill>
                  <a:latin typeface="Inter ExtraBold"/>
                  <a:ea typeface="Inter ExtraBold"/>
                  <a:cs typeface="Inter ExtraBold"/>
                  <a:sym typeface="Inter ExtraBold"/>
                </a:rPr>
                <a:t>1,5</a:t>
              </a:r>
              <a:r>
                <a:rPr lang="en" sz="788">
                  <a:solidFill>
                    <a:srgbClr val="0F172A"/>
                  </a:solidFill>
                  <a:latin typeface="Inter ExtraBold"/>
                  <a:ea typeface="Inter ExtraBold"/>
                  <a:cs typeface="Inter ExtraBold"/>
                  <a:sym typeface="Inter ExtraBold"/>
                </a:rPr>
                <a:t>67</a:t>
              </a:r>
              <a:endParaRPr b="0" sz="788">
                <a:solidFill>
                  <a:srgbClr val="0F172A"/>
                </a:solidFill>
                <a:latin typeface="Inter ExtraBold"/>
                <a:ea typeface="Inter ExtraBold"/>
                <a:cs typeface="Inter ExtraBold"/>
                <a:sym typeface="Inter ExtraBold"/>
              </a:endParaRPr>
            </a:p>
          </p:txBody>
        </p:sp>
        <p:sp>
          <p:nvSpPr>
            <p:cNvPr id="206" name="Google Shape;206;p34"/>
            <p:cNvSpPr/>
            <p:nvPr/>
          </p:nvSpPr>
          <p:spPr>
            <a:xfrm>
              <a:off x="5424488" y="1776413"/>
              <a:ext cx="104700" cy="104700"/>
            </a:xfrm>
            <a:prstGeom prst="ellipse">
              <a:avLst/>
            </a:prstGeom>
            <a:solidFill>
              <a:srgbClr val="EE5A4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34"/>
            <p:cNvSpPr txBox="1"/>
            <p:nvPr/>
          </p:nvSpPr>
          <p:spPr>
            <a:xfrm>
              <a:off x="5322360" y="1634490"/>
              <a:ext cx="309000" cy="161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88">
                  <a:solidFill>
                    <a:srgbClr val="EE5A42"/>
                  </a:solidFill>
                  <a:latin typeface="Inter ExtraBold"/>
                  <a:ea typeface="Inter ExtraBold"/>
                  <a:cs typeface="Inter ExtraBold"/>
                  <a:sym typeface="Inter ExtraBold"/>
                </a:rPr>
                <a:t>1,451</a:t>
              </a:r>
              <a:endParaRPr b="0" sz="788">
                <a:solidFill>
                  <a:srgbClr val="EE5A42"/>
                </a:solidFill>
                <a:latin typeface="Inter ExtraBold"/>
                <a:ea typeface="Inter ExtraBold"/>
                <a:cs typeface="Inter ExtraBold"/>
                <a:sym typeface="Inter ExtraBold"/>
              </a:endParaRPr>
            </a:p>
          </p:txBody>
        </p:sp>
        <p:grpSp>
          <p:nvGrpSpPr>
            <p:cNvPr id="208" name="Google Shape;208;p34"/>
            <p:cNvGrpSpPr/>
            <p:nvPr/>
          </p:nvGrpSpPr>
          <p:grpSpPr>
            <a:xfrm>
              <a:off x="-54719" y="2039026"/>
              <a:ext cx="5608650" cy="560400"/>
              <a:chOff x="-54719" y="-75524"/>
              <a:chExt cx="5608650" cy="560400"/>
            </a:xfrm>
          </p:grpSpPr>
          <p:sp>
            <p:nvSpPr>
              <p:cNvPr id="209" name="Google Shape;209;p34"/>
              <p:cNvSpPr txBox="1"/>
              <p:nvPr/>
            </p:nvSpPr>
            <p:spPr>
              <a:xfrm rot="-2700000">
                <a:off x="-63019"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2009-10</a:t>
                </a:r>
                <a:endParaRPr sz="1050">
                  <a:solidFill>
                    <a:srgbClr val="475569"/>
                  </a:solidFill>
                </a:endParaRPr>
              </a:p>
            </p:txBody>
          </p:sp>
          <p:sp>
            <p:nvSpPr>
              <p:cNvPr id="210" name="Google Shape;210;p34"/>
              <p:cNvSpPr txBox="1"/>
              <p:nvPr/>
            </p:nvSpPr>
            <p:spPr>
              <a:xfrm rot="-2700000">
                <a:off x="156056"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2010-11</a:t>
                </a:r>
                <a:endParaRPr sz="1050">
                  <a:solidFill>
                    <a:srgbClr val="475569"/>
                  </a:solidFill>
                </a:endParaRPr>
              </a:p>
            </p:txBody>
          </p:sp>
          <p:sp>
            <p:nvSpPr>
              <p:cNvPr id="211" name="Google Shape;211;p34"/>
              <p:cNvSpPr txBox="1"/>
              <p:nvPr/>
            </p:nvSpPr>
            <p:spPr>
              <a:xfrm rot="-2700000">
                <a:off x="375131"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2011-12</a:t>
                </a:r>
                <a:endParaRPr sz="1050">
                  <a:solidFill>
                    <a:srgbClr val="475569"/>
                  </a:solidFill>
                </a:endParaRPr>
              </a:p>
            </p:txBody>
          </p:sp>
          <p:sp>
            <p:nvSpPr>
              <p:cNvPr id="212" name="Google Shape;212;p34"/>
              <p:cNvSpPr txBox="1"/>
              <p:nvPr/>
            </p:nvSpPr>
            <p:spPr>
              <a:xfrm rot="-2700000">
                <a:off x="594206"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2012-13</a:t>
                </a:r>
                <a:endParaRPr sz="1050">
                  <a:solidFill>
                    <a:srgbClr val="475569"/>
                  </a:solidFill>
                </a:endParaRPr>
              </a:p>
            </p:txBody>
          </p:sp>
          <p:sp>
            <p:nvSpPr>
              <p:cNvPr id="213" name="Google Shape;213;p34"/>
              <p:cNvSpPr txBox="1"/>
              <p:nvPr/>
            </p:nvSpPr>
            <p:spPr>
              <a:xfrm rot="-2700000">
                <a:off x="813281"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2013-14</a:t>
                </a:r>
                <a:endParaRPr sz="1050">
                  <a:solidFill>
                    <a:srgbClr val="475569"/>
                  </a:solidFill>
                </a:endParaRPr>
              </a:p>
            </p:txBody>
          </p:sp>
          <p:sp>
            <p:nvSpPr>
              <p:cNvPr id="214" name="Google Shape;214;p34"/>
              <p:cNvSpPr txBox="1"/>
              <p:nvPr/>
            </p:nvSpPr>
            <p:spPr>
              <a:xfrm rot="-2700000">
                <a:off x="1032356"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2014-15</a:t>
                </a:r>
                <a:endParaRPr sz="1050">
                  <a:solidFill>
                    <a:srgbClr val="475569"/>
                  </a:solidFill>
                </a:endParaRPr>
              </a:p>
            </p:txBody>
          </p:sp>
          <p:sp>
            <p:nvSpPr>
              <p:cNvPr id="215" name="Google Shape;215;p34"/>
              <p:cNvSpPr txBox="1"/>
              <p:nvPr/>
            </p:nvSpPr>
            <p:spPr>
              <a:xfrm rot="-2700000">
                <a:off x="1251431"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2015-16</a:t>
                </a:r>
                <a:endParaRPr sz="1050">
                  <a:solidFill>
                    <a:srgbClr val="475569"/>
                  </a:solidFill>
                </a:endParaRPr>
              </a:p>
            </p:txBody>
          </p:sp>
          <p:sp>
            <p:nvSpPr>
              <p:cNvPr id="216" name="Google Shape;216;p34"/>
              <p:cNvSpPr txBox="1"/>
              <p:nvPr/>
            </p:nvSpPr>
            <p:spPr>
              <a:xfrm rot="-2700000">
                <a:off x="1470506"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2016-17</a:t>
                </a:r>
                <a:endParaRPr sz="1050">
                  <a:solidFill>
                    <a:srgbClr val="475569"/>
                  </a:solidFill>
                </a:endParaRPr>
              </a:p>
            </p:txBody>
          </p:sp>
          <p:sp>
            <p:nvSpPr>
              <p:cNvPr id="217" name="Google Shape;217;p34"/>
              <p:cNvSpPr txBox="1"/>
              <p:nvPr/>
            </p:nvSpPr>
            <p:spPr>
              <a:xfrm rot="-2700000">
                <a:off x="1689581"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2017-18</a:t>
                </a:r>
                <a:endParaRPr sz="1050">
                  <a:solidFill>
                    <a:srgbClr val="475569"/>
                  </a:solidFill>
                </a:endParaRPr>
              </a:p>
            </p:txBody>
          </p:sp>
          <p:sp>
            <p:nvSpPr>
              <p:cNvPr id="218" name="Google Shape;218;p34"/>
              <p:cNvSpPr txBox="1"/>
              <p:nvPr/>
            </p:nvSpPr>
            <p:spPr>
              <a:xfrm rot="-2700000">
                <a:off x="1908656"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2018-19</a:t>
                </a:r>
                <a:endParaRPr sz="1050">
                  <a:solidFill>
                    <a:srgbClr val="475569"/>
                  </a:solidFill>
                </a:endParaRPr>
              </a:p>
            </p:txBody>
          </p:sp>
          <p:sp>
            <p:nvSpPr>
              <p:cNvPr id="219" name="Google Shape;219;p34"/>
              <p:cNvSpPr txBox="1"/>
              <p:nvPr/>
            </p:nvSpPr>
            <p:spPr>
              <a:xfrm rot="-2700000">
                <a:off x="2127731"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2019-20</a:t>
                </a:r>
                <a:endParaRPr sz="1050">
                  <a:solidFill>
                    <a:srgbClr val="475569"/>
                  </a:solidFill>
                </a:endParaRPr>
              </a:p>
            </p:txBody>
          </p:sp>
          <p:sp>
            <p:nvSpPr>
              <p:cNvPr id="220" name="Google Shape;220;p34"/>
              <p:cNvSpPr txBox="1"/>
              <p:nvPr/>
            </p:nvSpPr>
            <p:spPr>
              <a:xfrm rot="-2700000">
                <a:off x="2346806"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2020-21</a:t>
                </a:r>
                <a:endParaRPr sz="1050">
                  <a:solidFill>
                    <a:srgbClr val="475569"/>
                  </a:solidFill>
                </a:endParaRPr>
              </a:p>
            </p:txBody>
          </p:sp>
          <p:sp>
            <p:nvSpPr>
              <p:cNvPr id="221" name="Google Shape;221;p34"/>
              <p:cNvSpPr txBox="1"/>
              <p:nvPr/>
            </p:nvSpPr>
            <p:spPr>
              <a:xfrm rot="-2700000">
                <a:off x="2565881"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2021-22</a:t>
                </a:r>
                <a:endParaRPr sz="1050">
                  <a:solidFill>
                    <a:srgbClr val="475569"/>
                  </a:solidFill>
                </a:endParaRPr>
              </a:p>
            </p:txBody>
          </p:sp>
          <p:sp>
            <p:nvSpPr>
              <p:cNvPr id="222" name="Google Shape;222;p34"/>
              <p:cNvSpPr txBox="1"/>
              <p:nvPr/>
            </p:nvSpPr>
            <p:spPr>
              <a:xfrm rot="-2700000">
                <a:off x="2784956"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2022-23</a:t>
                </a:r>
                <a:endParaRPr sz="1050">
                  <a:solidFill>
                    <a:srgbClr val="475569"/>
                  </a:solidFill>
                </a:endParaRPr>
              </a:p>
            </p:txBody>
          </p:sp>
          <p:sp>
            <p:nvSpPr>
              <p:cNvPr id="223" name="Google Shape;223;p34"/>
              <p:cNvSpPr txBox="1"/>
              <p:nvPr/>
            </p:nvSpPr>
            <p:spPr>
              <a:xfrm rot="-2700000">
                <a:off x="3004031"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2023-24</a:t>
                </a:r>
                <a:endParaRPr sz="1050">
                  <a:solidFill>
                    <a:srgbClr val="475569"/>
                  </a:solidFill>
                </a:endParaRPr>
              </a:p>
            </p:txBody>
          </p:sp>
          <p:sp>
            <p:nvSpPr>
              <p:cNvPr id="224" name="Google Shape;224;p34"/>
              <p:cNvSpPr txBox="1"/>
              <p:nvPr/>
            </p:nvSpPr>
            <p:spPr>
              <a:xfrm rot="-2700000">
                <a:off x="3223106"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2024-25</a:t>
                </a:r>
                <a:endParaRPr sz="1050">
                  <a:solidFill>
                    <a:srgbClr val="475569"/>
                  </a:solidFill>
                </a:endParaRPr>
              </a:p>
            </p:txBody>
          </p:sp>
          <p:sp>
            <p:nvSpPr>
              <p:cNvPr id="225" name="Google Shape;225;p34"/>
              <p:cNvSpPr txBox="1"/>
              <p:nvPr/>
            </p:nvSpPr>
            <p:spPr>
              <a:xfrm rot="-2700000">
                <a:off x="3442181"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1050">
                    <a:solidFill>
                      <a:srgbClr val="0F172A"/>
                    </a:solidFill>
                  </a:rPr>
                  <a:t>2025-26</a:t>
                </a:r>
                <a:endParaRPr b="0" sz="1050">
                  <a:solidFill>
                    <a:srgbClr val="0F172A"/>
                  </a:solidFill>
                </a:endParaRPr>
              </a:p>
            </p:txBody>
          </p:sp>
          <p:sp>
            <p:nvSpPr>
              <p:cNvPr id="226" name="Google Shape;226;p34"/>
              <p:cNvSpPr txBox="1"/>
              <p:nvPr/>
            </p:nvSpPr>
            <p:spPr>
              <a:xfrm rot="-2700000">
                <a:off x="3699356"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2026-27</a:t>
                </a:r>
                <a:endParaRPr sz="1050">
                  <a:solidFill>
                    <a:srgbClr val="475569"/>
                  </a:solidFill>
                </a:endParaRPr>
              </a:p>
            </p:txBody>
          </p:sp>
          <p:sp>
            <p:nvSpPr>
              <p:cNvPr id="227" name="Google Shape;227;p34"/>
              <p:cNvSpPr txBox="1"/>
              <p:nvPr/>
            </p:nvSpPr>
            <p:spPr>
              <a:xfrm rot="-2700000">
                <a:off x="3956531"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2027-28</a:t>
                </a:r>
                <a:endParaRPr sz="1050">
                  <a:solidFill>
                    <a:srgbClr val="475569"/>
                  </a:solidFill>
                </a:endParaRPr>
              </a:p>
            </p:txBody>
          </p:sp>
          <p:sp>
            <p:nvSpPr>
              <p:cNvPr id="228" name="Google Shape;228;p34"/>
              <p:cNvSpPr txBox="1"/>
              <p:nvPr/>
            </p:nvSpPr>
            <p:spPr>
              <a:xfrm rot="-2700000">
                <a:off x="4213706"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2028-29</a:t>
                </a:r>
                <a:endParaRPr sz="1050">
                  <a:solidFill>
                    <a:srgbClr val="475569"/>
                  </a:solidFill>
                </a:endParaRPr>
              </a:p>
            </p:txBody>
          </p:sp>
          <p:sp>
            <p:nvSpPr>
              <p:cNvPr id="229" name="Google Shape;229;p34"/>
              <p:cNvSpPr txBox="1"/>
              <p:nvPr/>
            </p:nvSpPr>
            <p:spPr>
              <a:xfrm rot="-2700000">
                <a:off x="4470881"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2029-30</a:t>
                </a:r>
                <a:endParaRPr sz="1050">
                  <a:solidFill>
                    <a:srgbClr val="475569"/>
                  </a:solidFill>
                </a:endParaRPr>
              </a:p>
            </p:txBody>
          </p:sp>
          <p:sp>
            <p:nvSpPr>
              <p:cNvPr id="230" name="Google Shape;230;p34"/>
              <p:cNvSpPr txBox="1"/>
              <p:nvPr/>
            </p:nvSpPr>
            <p:spPr>
              <a:xfrm rot="-2700000">
                <a:off x="4728056"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n" sz="1050">
                    <a:solidFill>
                      <a:srgbClr val="475569"/>
                    </a:solidFill>
                  </a:rPr>
                  <a:t>2030-31</a:t>
                </a:r>
                <a:endParaRPr sz="1050">
                  <a:solidFill>
                    <a:srgbClr val="475569"/>
                  </a:solidFill>
                </a:endParaRPr>
              </a:p>
            </p:txBody>
          </p:sp>
          <p:sp>
            <p:nvSpPr>
              <p:cNvPr id="231" name="Google Shape;231;p34"/>
              <p:cNvSpPr txBox="1"/>
              <p:nvPr/>
            </p:nvSpPr>
            <p:spPr>
              <a:xfrm rot="-2700000">
                <a:off x="4985231" y="96913"/>
                <a:ext cx="576999" cy="215526"/>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1050">
                    <a:solidFill>
                      <a:srgbClr val="EE5A42"/>
                    </a:solidFill>
                  </a:rPr>
                  <a:t>2031-32</a:t>
                </a:r>
                <a:endParaRPr b="0" sz="1050">
                  <a:solidFill>
                    <a:srgbClr val="EE5A42"/>
                  </a:solidFill>
                </a:endParaRPr>
              </a:p>
            </p:txBody>
          </p:sp>
        </p:grpSp>
      </p:grpSp>
      <p:cxnSp>
        <p:nvCxnSpPr>
          <p:cNvPr id="232" name="Google Shape;232;p34"/>
          <p:cNvCxnSpPr/>
          <p:nvPr/>
        </p:nvCxnSpPr>
        <p:spPr>
          <a:xfrm>
            <a:off x="6096000" y="1333500"/>
            <a:ext cx="0" cy="2667000"/>
          </a:xfrm>
          <a:prstGeom prst="straightConnector1">
            <a:avLst/>
          </a:prstGeom>
          <a:solidFill>
            <a:srgbClr val="FFFFFF"/>
          </a:solidFill>
          <a:ln cap="flat" cmpd="sng" w="9525">
            <a:solidFill>
              <a:srgbClr val="CBD5E1"/>
            </a:solidFill>
            <a:prstDash val="solid"/>
            <a:round/>
            <a:headEnd len="sm" w="sm" type="none"/>
            <a:tailEnd len="sm" w="sm" type="none"/>
          </a:ln>
        </p:spPr>
      </p:cxnSp>
      <p:grpSp>
        <p:nvGrpSpPr>
          <p:cNvPr id="233" name="Google Shape;233;p34"/>
          <p:cNvGrpSpPr/>
          <p:nvPr/>
        </p:nvGrpSpPr>
        <p:grpSpPr>
          <a:xfrm>
            <a:off x="6334125" y="1238250"/>
            <a:ext cx="2286000" cy="2667000"/>
            <a:chOff x="0" y="0"/>
            <a:chExt cx="2286000" cy="2667000"/>
          </a:xfrm>
        </p:grpSpPr>
        <p:grpSp>
          <p:nvGrpSpPr>
            <p:cNvPr id="234" name="Google Shape;234;p34"/>
            <p:cNvGrpSpPr/>
            <p:nvPr/>
          </p:nvGrpSpPr>
          <p:grpSpPr>
            <a:xfrm>
              <a:off x="0" y="0"/>
              <a:ext cx="2286000" cy="1143150"/>
              <a:chOff x="0" y="0"/>
              <a:chExt cx="2286000" cy="1143150"/>
            </a:xfrm>
          </p:grpSpPr>
          <p:cxnSp>
            <p:nvCxnSpPr>
              <p:cNvPr id="235" name="Google Shape;235;p34"/>
              <p:cNvCxnSpPr/>
              <p:nvPr/>
            </p:nvCxnSpPr>
            <p:spPr>
              <a:xfrm>
                <a:off x="0" y="0"/>
                <a:ext cx="2286000" cy="0"/>
              </a:xfrm>
              <a:prstGeom prst="straightConnector1">
                <a:avLst/>
              </a:prstGeom>
              <a:solidFill>
                <a:srgbClr val="FFFFFF"/>
              </a:solidFill>
              <a:ln cap="flat" cmpd="sng" w="38100">
                <a:solidFill>
                  <a:srgbClr val="EE5A42"/>
                </a:solidFill>
                <a:prstDash val="solid"/>
                <a:round/>
                <a:headEnd len="sm" w="sm" type="none"/>
                <a:tailEnd len="sm" w="sm" type="none"/>
              </a:ln>
            </p:spPr>
          </p:cxnSp>
          <p:sp>
            <p:nvSpPr>
              <p:cNvPr id="236" name="Google Shape;236;p34"/>
              <p:cNvSpPr txBox="1"/>
              <p:nvPr/>
            </p:nvSpPr>
            <p:spPr>
              <a:xfrm>
                <a:off x="0" y="95250"/>
                <a:ext cx="2286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3800">
                    <a:solidFill>
                      <a:srgbClr val="0F172A"/>
                    </a:solidFill>
                    <a:latin typeface="Inter ExtraBold"/>
                    <a:ea typeface="Inter ExtraBold"/>
                    <a:cs typeface="Inter ExtraBold"/>
                    <a:sym typeface="Inter ExtraBold"/>
                  </a:rPr>
                  <a:t>-140</a:t>
                </a:r>
                <a:r>
                  <a:rPr lang="en">
                    <a:latin typeface="Inter"/>
                    <a:ea typeface="Inter"/>
                    <a:cs typeface="Inter"/>
                    <a:sym typeface="Inter"/>
                  </a:rPr>
                  <a:t> </a:t>
                </a:r>
                <a:r>
                  <a:rPr b="0" lang="en" sz="1500">
                    <a:solidFill>
                      <a:srgbClr val="0F172A"/>
                    </a:solidFill>
                    <a:latin typeface="Inter ExtraBold"/>
                    <a:ea typeface="Inter ExtraBold"/>
                    <a:cs typeface="Inter ExtraBold"/>
                    <a:sym typeface="Inter ExtraBold"/>
                  </a:rPr>
                  <a:t>additional</a:t>
                </a:r>
                <a:br>
                  <a:rPr b="0" lang="en" sz="1500">
                    <a:solidFill>
                      <a:srgbClr val="0F172A"/>
                    </a:solidFill>
                    <a:latin typeface="Inter ExtraBold"/>
                    <a:ea typeface="Inter ExtraBold"/>
                    <a:cs typeface="Inter ExtraBold"/>
                    <a:sym typeface="Inter ExtraBold"/>
                  </a:rPr>
                </a:br>
                <a:r>
                  <a:rPr b="0" lang="en" sz="1500">
                    <a:solidFill>
                      <a:srgbClr val="0F172A"/>
                    </a:solidFill>
                    <a:latin typeface="Inter ExtraBold"/>
                    <a:ea typeface="Inter ExtraBold"/>
                    <a:cs typeface="Inter ExtraBold"/>
                    <a:sym typeface="Inter ExtraBold"/>
                  </a:rPr>
                  <a:t>students</a:t>
                </a:r>
                <a:endParaRPr>
                  <a:latin typeface="Inter"/>
                  <a:ea typeface="Inter"/>
                  <a:cs typeface="Inter"/>
                  <a:sym typeface="Inter"/>
                </a:endParaRPr>
              </a:p>
              <a:p>
                <a:pPr indent="0" lvl="0" marL="0" rtl="0" algn="l">
                  <a:spcBef>
                    <a:spcPts val="450"/>
                  </a:spcBef>
                  <a:spcAft>
                    <a:spcPts val="0"/>
                  </a:spcAft>
                  <a:buNone/>
                </a:pPr>
                <a:r>
                  <a:rPr b="0" lang="en" sz="950">
                    <a:solidFill>
                      <a:srgbClr val="475569"/>
                    </a:solidFill>
                    <a:latin typeface="Inter Medium"/>
                    <a:ea typeface="Inter Medium"/>
                    <a:cs typeface="Inter Medium"/>
                    <a:sym typeface="Inter Medium"/>
                  </a:rPr>
                  <a:t>(Projected decline from 2025 to 203</a:t>
                </a:r>
                <a:r>
                  <a:rPr lang="en" sz="950">
                    <a:solidFill>
                      <a:srgbClr val="475569"/>
                    </a:solidFill>
                    <a:latin typeface="Inter Medium"/>
                    <a:ea typeface="Inter Medium"/>
                    <a:cs typeface="Inter Medium"/>
                    <a:sym typeface="Inter Medium"/>
                  </a:rPr>
                  <a:t>2</a:t>
                </a:r>
                <a:r>
                  <a:rPr b="0" lang="en" sz="950">
                    <a:solidFill>
                      <a:srgbClr val="475569"/>
                    </a:solidFill>
                    <a:latin typeface="Inter Medium"/>
                    <a:ea typeface="Inter Medium"/>
                    <a:cs typeface="Inter Medium"/>
                    <a:sym typeface="Inter Medium"/>
                  </a:rPr>
                  <a:t>).</a:t>
                </a:r>
                <a:endParaRPr b="0" sz="950">
                  <a:solidFill>
                    <a:srgbClr val="475569"/>
                  </a:solidFill>
                  <a:latin typeface="Inter Medium"/>
                  <a:ea typeface="Inter Medium"/>
                  <a:cs typeface="Inter Medium"/>
                  <a:sym typeface="Inter Medium"/>
                </a:endParaRPr>
              </a:p>
            </p:txBody>
          </p:sp>
          <p:cxnSp>
            <p:nvCxnSpPr>
              <p:cNvPr id="237" name="Google Shape;237;p34"/>
              <p:cNvCxnSpPr/>
              <p:nvPr/>
            </p:nvCxnSpPr>
            <p:spPr>
              <a:xfrm>
                <a:off x="0" y="1143000"/>
                <a:ext cx="2286000" cy="0"/>
              </a:xfrm>
              <a:prstGeom prst="straightConnector1">
                <a:avLst/>
              </a:prstGeom>
              <a:solidFill>
                <a:srgbClr val="FFFFFF"/>
              </a:solidFill>
              <a:ln cap="flat" cmpd="sng" w="38100">
                <a:solidFill>
                  <a:srgbClr val="EE5A42"/>
                </a:solidFill>
                <a:prstDash val="solid"/>
                <a:round/>
                <a:headEnd len="sm" w="sm" type="none"/>
                <a:tailEnd len="sm" w="sm" type="none"/>
              </a:ln>
            </p:spPr>
          </p:cxnSp>
        </p:grpSp>
        <p:sp>
          <p:nvSpPr>
            <p:cNvPr id="238" name="Google Shape;238;p34"/>
            <p:cNvSpPr txBox="1"/>
            <p:nvPr/>
          </p:nvSpPr>
          <p:spPr>
            <a:xfrm>
              <a:off x="0" y="1333500"/>
              <a:ext cx="22860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4420">
                  <a:solidFill>
                    <a:srgbClr val="0F172A"/>
                  </a:solidFill>
                  <a:latin typeface="Inter ExtraBold"/>
                  <a:ea typeface="Inter ExtraBold"/>
                  <a:cs typeface="Inter ExtraBold"/>
                  <a:sym typeface="Inter ExtraBold"/>
                </a:rPr>
                <a:t>-489</a:t>
              </a:r>
              <a:endParaRPr b="0" sz="4420">
                <a:solidFill>
                  <a:srgbClr val="0F172A"/>
                </a:solidFill>
                <a:latin typeface="Inter ExtraBold"/>
                <a:ea typeface="Inter ExtraBold"/>
                <a:cs typeface="Inter ExtraBold"/>
                <a:sym typeface="Inter ExtraBold"/>
              </a:endParaRPr>
            </a:p>
            <a:p>
              <a:pPr indent="0" lvl="0" marL="0" rtl="0" algn="l">
                <a:spcBef>
                  <a:spcPts val="0"/>
                </a:spcBef>
                <a:spcAft>
                  <a:spcPts val="0"/>
                </a:spcAft>
                <a:buNone/>
              </a:pPr>
              <a:r>
                <a:rPr b="0" lang="en" sz="1530">
                  <a:solidFill>
                    <a:srgbClr val="0F172A"/>
                  </a:solidFill>
                  <a:latin typeface="Inter ExtraBold"/>
                  <a:ea typeface="Inter ExtraBold"/>
                  <a:cs typeface="Inter ExtraBold"/>
                  <a:sym typeface="Inter ExtraBold"/>
                </a:rPr>
                <a:t>total students lost</a:t>
              </a:r>
              <a:endParaRPr b="0" sz="1530">
                <a:solidFill>
                  <a:srgbClr val="0F172A"/>
                </a:solidFill>
                <a:latin typeface="Inter ExtraBold"/>
                <a:ea typeface="Inter ExtraBold"/>
                <a:cs typeface="Inter ExtraBold"/>
                <a:sym typeface="Inter ExtraBold"/>
              </a:endParaRPr>
            </a:p>
            <a:p>
              <a:pPr indent="0" lvl="0" marL="0" rtl="0" algn="l">
                <a:spcBef>
                  <a:spcPts val="600"/>
                </a:spcBef>
                <a:spcAft>
                  <a:spcPts val="0"/>
                </a:spcAft>
                <a:buNone/>
              </a:pPr>
              <a:r>
                <a:rPr b="0" lang="en" sz="850">
                  <a:solidFill>
                    <a:srgbClr val="475569"/>
                  </a:solidFill>
                  <a:latin typeface="Inter SemiBold"/>
                  <a:ea typeface="Inter SemiBold"/>
                  <a:cs typeface="Inter SemiBold"/>
                  <a:sym typeface="Inter SemiBold"/>
                </a:rPr>
                <a:t>A </a:t>
              </a:r>
              <a:r>
                <a:rPr b="0" lang="en" sz="850">
                  <a:solidFill>
                    <a:srgbClr val="0F172A"/>
                  </a:solidFill>
                  <a:latin typeface="Inter ExtraBold"/>
                  <a:ea typeface="Inter ExtraBold"/>
                  <a:cs typeface="Inter ExtraBold"/>
                  <a:sym typeface="Inter ExtraBold"/>
                </a:rPr>
                <a:t>25.2%</a:t>
              </a:r>
              <a:r>
                <a:rPr b="0" lang="en" sz="850">
                  <a:solidFill>
                    <a:srgbClr val="475569"/>
                  </a:solidFill>
                  <a:latin typeface="Inter SemiBold"/>
                  <a:ea typeface="Inter SemiBold"/>
                  <a:cs typeface="Inter SemiBold"/>
                  <a:sym typeface="Inter SemiBold"/>
                </a:rPr>
                <a:t> total district contraction from 2009 to 2032.</a:t>
              </a:r>
              <a:endParaRPr b="0" sz="850">
                <a:solidFill>
                  <a:srgbClr val="475569"/>
                </a:solidFill>
                <a:latin typeface="Inter SemiBold"/>
                <a:ea typeface="Inter SemiBold"/>
                <a:cs typeface="Inter SemiBold"/>
                <a:sym typeface="Inter SemiBold"/>
              </a:endParaRPr>
            </a:p>
          </p:txBody>
        </p:sp>
      </p:grpSp>
      <p:grpSp>
        <p:nvGrpSpPr>
          <p:cNvPr id="239" name="Google Shape;239;p34"/>
          <p:cNvGrpSpPr/>
          <p:nvPr/>
        </p:nvGrpSpPr>
        <p:grpSpPr>
          <a:xfrm>
            <a:off x="476250" y="4400550"/>
            <a:ext cx="8191500" cy="400200"/>
            <a:chOff x="0" y="0"/>
            <a:chExt cx="8191500" cy="400200"/>
          </a:xfrm>
        </p:grpSpPr>
        <p:sp>
          <p:nvSpPr>
            <p:cNvPr id="240" name="Google Shape;240;p34"/>
            <p:cNvSpPr/>
            <p:nvPr/>
          </p:nvSpPr>
          <p:spPr>
            <a:xfrm>
              <a:off x="0" y="0"/>
              <a:ext cx="8191500" cy="400200"/>
            </a:xfrm>
            <a:prstGeom prst="roundRect">
              <a:avLst>
                <a:gd fmla="val 9523" name="adj"/>
              </a:avLst>
            </a:prstGeom>
            <a:solidFill>
              <a:srgbClr val="EE5A4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34"/>
            <p:cNvSpPr txBox="1"/>
            <p:nvPr/>
          </p:nvSpPr>
          <p:spPr>
            <a:xfrm>
              <a:off x="142875" y="0"/>
              <a:ext cx="79059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50">
                  <a:solidFill>
                    <a:srgbClr val="FFFFFF"/>
                  </a:solidFill>
                  <a:latin typeface="Inter"/>
                  <a:ea typeface="Inter"/>
                  <a:cs typeface="Inter"/>
                  <a:sym typeface="Inter"/>
                </a:rPr>
                <a:t>Because the incoming cohorts are already born, the enrollment pipeline is projected to decline</a:t>
              </a:r>
              <a:endParaRPr b="1" sz="1150">
                <a:solidFill>
                  <a:srgbClr val="FFFFFF"/>
                </a:solidFill>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5"/>
          <p:cNvSpPr/>
          <p:nvPr/>
        </p:nvSpPr>
        <p:spPr>
          <a:xfrm>
            <a:off x="0" y="0"/>
            <a:ext cx="9144000" cy="47700"/>
          </a:xfrm>
          <a:prstGeom prst="rect">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35"/>
          <p:cNvSpPr txBox="1"/>
          <p:nvPr/>
        </p:nvSpPr>
        <p:spPr>
          <a:xfrm>
            <a:off x="571500" y="285750"/>
            <a:ext cx="8001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25">
                <a:solidFill>
                  <a:srgbClr val="2563EB"/>
                </a:solidFill>
                <a:latin typeface="Inter"/>
                <a:ea typeface="Inter"/>
                <a:cs typeface="Inter"/>
                <a:sym typeface="Inter"/>
              </a:rPr>
              <a:t>DEMOGRAPHIC ANALYSIS &amp; PLANNING</a:t>
            </a:r>
            <a:endParaRPr b="1" sz="925">
              <a:solidFill>
                <a:srgbClr val="2563EB"/>
              </a:solidFill>
              <a:latin typeface="Inter"/>
              <a:ea typeface="Inter"/>
              <a:cs typeface="Inter"/>
              <a:sym typeface="Inter"/>
            </a:endParaRPr>
          </a:p>
          <a:p>
            <a:pPr indent="0" lvl="0" marL="0" rtl="0" algn="l">
              <a:spcBef>
                <a:spcPts val="600"/>
              </a:spcBef>
              <a:spcAft>
                <a:spcPts val="0"/>
              </a:spcAft>
              <a:buNone/>
            </a:pPr>
            <a:r>
              <a:rPr b="0" lang="en" sz="2775">
                <a:solidFill>
                  <a:srgbClr val="0F172A"/>
                </a:solidFill>
                <a:latin typeface="Inter ExtraBold"/>
                <a:ea typeface="Inter ExtraBold"/>
                <a:cs typeface="Inter ExtraBold"/>
                <a:sym typeface="Inter ExtraBold"/>
              </a:rPr>
              <a:t>The Demographic </a:t>
            </a:r>
            <a:r>
              <a:rPr b="0" lang="en" sz="2775">
                <a:solidFill>
                  <a:srgbClr val="DC2626"/>
                </a:solidFill>
                <a:latin typeface="Inter ExtraBold"/>
                <a:ea typeface="Inter ExtraBold"/>
                <a:cs typeface="Inter ExtraBold"/>
                <a:sym typeface="Inter ExtraBold"/>
              </a:rPr>
              <a:t>Reality of HUUSD</a:t>
            </a:r>
            <a:endParaRPr b="0" sz="2775">
              <a:solidFill>
                <a:srgbClr val="0F172A"/>
              </a:solidFill>
              <a:latin typeface="Inter ExtraBold"/>
              <a:ea typeface="Inter ExtraBold"/>
              <a:cs typeface="Inter ExtraBold"/>
              <a:sym typeface="Inter ExtraBold"/>
            </a:endParaRPr>
          </a:p>
          <a:p>
            <a:pPr indent="0" lvl="0" marL="0" rtl="0" algn="l">
              <a:spcBef>
                <a:spcPts val="800"/>
              </a:spcBef>
              <a:spcAft>
                <a:spcPts val="0"/>
              </a:spcAft>
              <a:buNone/>
            </a:pPr>
            <a:r>
              <a:rPr b="0" lang="en" sz="1156">
                <a:solidFill>
                  <a:srgbClr val="64748B"/>
                </a:solidFill>
                <a:latin typeface="Inter"/>
                <a:ea typeface="Inter"/>
                <a:cs typeface="Inter"/>
                <a:sym typeface="Inter"/>
              </a:rPr>
              <a:t>Understanding the structural shifts driving enrollment decline and the need for strategic consolidation</a:t>
            </a:r>
            <a:endParaRPr b="0" sz="1156">
              <a:solidFill>
                <a:srgbClr val="64748B"/>
              </a:solidFill>
              <a:latin typeface="Inter"/>
              <a:ea typeface="Inter"/>
              <a:cs typeface="Inter"/>
              <a:sym typeface="Inter"/>
            </a:endParaRPr>
          </a:p>
        </p:txBody>
      </p:sp>
      <p:cxnSp>
        <p:nvCxnSpPr>
          <p:cNvPr id="248" name="Google Shape;248;p35"/>
          <p:cNvCxnSpPr/>
          <p:nvPr/>
        </p:nvCxnSpPr>
        <p:spPr>
          <a:xfrm>
            <a:off x="571500" y="1571625"/>
            <a:ext cx="8001000" cy="0"/>
          </a:xfrm>
          <a:prstGeom prst="straightConnector1">
            <a:avLst/>
          </a:prstGeom>
          <a:solidFill>
            <a:srgbClr val="FFFFFF"/>
          </a:solidFill>
          <a:ln cap="flat" cmpd="sng" w="14300">
            <a:solidFill>
              <a:srgbClr val="E2E8F0"/>
            </a:solidFill>
            <a:prstDash val="solid"/>
            <a:round/>
            <a:headEnd len="sm" w="sm" type="none"/>
            <a:tailEnd len="sm" w="sm" type="none"/>
          </a:ln>
        </p:spPr>
      </p:cxnSp>
      <p:grpSp>
        <p:nvGrpSpPr>
          <p:cNvPr id="249" name="Google Shape;249;p35"/>
          <p:cNvGrpSpPr/>
          <p:nvPr/>
        </p:nvGrpSpPr>
        <p:grpSpPr>
          <a:xfrm>
            <a:off x="571500" y="1809750"/>
            <a:ext cx="3857700" cy="2762400"/>
            <a:chOff x="0" y="0"/>
            <a:chExt cx="3857700" cy="2762400"/>
          </a:xfrm>
        </p:grpSpPr>
        <p:sp>
          <p:nvSpPr>
            <p:cNvPr id="250" name="Google Shape;250;p35"/>
            <p:cNvSpPr/>
            <p:nvPr/>
          </p:nvSpPr>
          <p:spPr>
            <a:xfrm>
              <a:off x="0" y="0"/>
              <a:ext cx="3857700" cy="2762400"/>
            </a:xfrm>
            <a:prstGeom prst="roundRect">
              <a:avLst>
                <a:gd fmla="val 551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1" name="Google Shape;251;p35"/>
            <p:cNvSpPr/>
            <p:nvPr/>
          </p:nvSpPr>
          <p:spPr>
            <a:xfrm>
              <a:off x="266700" y="266700"/>
              <a:ext cx="1428900" cy="266700"/>
            </a:xfrm>
            <a:prstGeom prst="roundRect">
              <a:avLst>
                <a:gd fmla="val 50000"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35"/>
            <p:cNvSpPr txBox="1"/>
            <p:nvPr/>
          </p:nvSpPr>
          <p:spPr>
            <a:xfrm>
              <a:off x="266700" y="266700"/>
              <a:ext cx="3324300" cy="22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25">
                  <a:solidFill>
                    <a:srgbClr val="DC2626"/>
                  </a:solidFill>
                  <a:latin typeface="Inter"/>
                  <a:ea typeface="Inter"/>
                  <a:cs typeface="Inter"/>
                  <a:sym typeface="Inter"/>
                </a:rPr>
                <a:t>STRUCTURAL SHIFTS</a:t>
              </a:r>
              <a:endParaRPr b="1" sz="925">
                <a:solidFill>
                  <a:srgbClr val="DC2626"/>
                </a:solidFill>
                <a:latin typeface="Inter"/>
                <a:ea typeface="Inter"/>
                <a:cs typeface="Inter"/>
                <a:sym typeface="Inter"/>
              </a:endParaRPr>
            </a:p>
            <a:p>
              <a:pPr indent="0" lvl="0" marL="0" rtl="0" algn="l">
                <a:spcBef>
                  <a:spcPts val="1800"/>
                </a:spcBef>
                <a:spcAft>
                  <a:spcPts val="0"/>
                </a:spcAft>
                <a:buNone/>
              </a:pPr>
              <a:r>
                <a:rPr b="1" lang="en" sz="1665">
                  <a:solidFill>
                    <a:srgbClr val="0F172A"/>
                  </a:solidFill>
                  <a:latin typeface="Inter"/>
                  <a:ea typeface="Inter"/>
                  <a:cs typeface="Inter"/>
                  <a:sym typeface="Inter"/>
                </a:rPr>
                <a:t>Enrollment Decline</a:t>
              </a:r>
              <a:endParaRPr b="1" sz="1665">
                <a:solidFill>
                  <a:srgbClr val="0F172A"/>
                </a:solidFill>
                <a:latin typeface="Inter"/>
                <a:ea typeface="Inter"/>
                <a:cs typeface="Inter"/>
                <a:sym typeface="Inter"/>
              </a:endParaRPr>
            </a:p>
            <a:p>
              <a:pPr indent="0" lvl="0" marL="0" rtl="0" algn="l">
                <a:spcBef>
                  <a:spcPts val="1000"/>
                </a:spcBef>
                <a:spcAft>
                  <a:spcPts val="0"/>
                </a:spcAft>
                <a:buNone/>
              </a:pPr>
              <a:r>
                <a:rPr b="0" lang="en" sz="1156">
                  <a:solidFill>
                    <a:srgbClr val="475569"/>
                  </a:solidFill>
                  <a:latin typeface="Inter"/>
                  <a:ea typeface="Inter"/>
                  <a:cs typeface="Inter"/>
                  <a:sym typeface="Inter"/>
                </a:rPr>
                <a:t>Long-term demographic trends and birth rate shifts are directly reducing student cohorts across district campuses.</a:t>
              </a:r>
              <a:endParaRPr b="0" sz="1156">
                <a:solidFill>
                  <a:srgbClr val="475569"/>
                </a:solidFill>
                <a:latin typeface="Inter"/>
                <a:ea typeface="Inter"/>
                <a:cs typeface="Inter"/>
                <a:sym typeface="Inter"/>
              </a:endParaRPr>
            </a:p>
            <a:p>
              <a:pPr indent="-293211" lvl="0" marL="457200" rtl="0" algn="l">
                <a:spcBef>
                  <a:spcPts val="1200"/>
                </a:spcBef>
                <a:spcAft>
                  <a:spcPts val="0"/>
                </a:spcAft>
                <a:buClr>
                  <a:srgbClr val="64748B"/>
                </a:buClr>
                <a:buSzPts val="1018"/>
                <a:buFont typeface="Inter"/>
                <a:buChar char="●"/>
              </a:pPr>
              <a:r>
                <a:rPr b="0" lang="en" sz="1018">
                  <a:solidFill>
                    <a:srgbClr val="64748B"/>
                  </a:solidFill>
                  <a:latin typeface="Inter"/>
                  <a:ea typeface="Inter"/>
                  <a:cs typeface="Inter"/>
                  <a:sym typeface="Inter"/>
                </a:rPr>
                <a:t>Shrinking incoming grade levels</a:t>
              </a:r>
              <a:endParaRPr b="0" sz="1018">
                <a:solidFill>
                  <a:srgbClr val="64748B"/>
                </a:solidFill>
                <a:latin typeface="Inter"/>
                <a:ea typeface="Inter"/>
                <a:cs typeface="Inter"/>
                <a:sym typeface="Inter"/>
              </a:endParaRPr>
            </a:p>
            <a:p>
              <a:pPr indent="-293211" lvl="0" marL="457200" rtl="0" algn="l">
                <a:spcBef>
                  <a:spcPts val="600"/>
                </a:spcBef>
                <a:spcAft>
                  <a:spcPts val="0"/>
                </a:spcAft>
                <a:buClr>
                  <a:srgbClr val="64748B"/>
                </a:buClr>
                <a:buSzPts val="1018"/>
                <a:buFont typeface="Inter"/>
                <a:buChar char="●"/>
              </a:pPr>
              <a:r>
                <a:rPr b="0" lang="en" sz="1018">
                  <a:solidFill>
                    <a:srgbClr val="64748B"/>
                  </a:solidFill>
                  <a:latin typeface="Inter"/>
                  <a:ea typeface="Inter"/>
                  <a:cs typeface="Inter"/>
                  <a:sym typeface="Inter"/>
                </a:rPr>
                <a:t>Graduating classes outstripping entry numbers</a:t>
              </a:r>
              <a:endParaRPr b="0" sz="1018">
                <a:solidFill>
                  <a:srgbClr val="64748B"/>
                </a:solidFill>
                <a:latin typeface="Inter"/>
                <a:ea typeface="Inter"/>
                <a:cs typeface="Inter"/>
                <a:sym typeface="Inter"/>
              </a:endParaRPr>
            </a:p>
            <a:p>
              <a:pPr indent="-293211" lvl="0" marL="457200" rtl="0" algn="l">
                <a:spcBef>
                  <a:spcPts val="600"/>
                </a:spcBef>
                <a:spcAft>
                  <a:spcPts val="0"/>
                </a:spcAft>
                <a:buClr>
                  <a:srgbClr val="64748B"/>
                </a:buClr>
                <a:buSzPts val="1018"/>
                <a:buFont typeface="Inter"/>
                <a:buChar char="●"/>
              </a:pPr>
              <a:r>
                <a:rPr b="0" lang="en" sz="1018">
                  <a:solidFill>
                    <a:srgbClr val="64748B"/>
                  </a:solidFill>
                  <a:latin typeface="Inter"/>
                  <a:ea typeface="Inter"/>
                  <a:cs typeface="Inter"/>
                  <a:sym typeface="Inter"/>
                </a:rPr>
                <a:t>Underutilized facility capacities</a:t>
              </a:r>
              <a:endParaRPr b="0" sz="1018">
                <a:solidFill>
                  <a:srgbClr val="64748B"/>
                </a:solidFill>
                <a:latin typeface="Inter"/>
                <a:ea typeface="Inter"/>
                <a:cs typeface="Inter"/>
                <a:sym typeface="Inter"/>
              </a:endParaRPr>
            </a:p>
          </p:txBody>
        </p:sp>
      </p:grpSp>
      <p:grpSp>
        <p:nvGrpSpPr>
          <p:cNvPr id="253" name="Google Shape;253;p35"/>
          <p:cNvGrpSpPr/>
          <p:nvPr/>
        </p:nvGrpSpPr>
        <p:grpSpPr>
          <a:xfrm>
            <a:off x="4714875" y="1809750"/>
            <a:ext cx="3857700" cy="2762400"/>
            <a:chOff x="0" y="0"/>
            <a:chExt cx="3857700" cy="2762400"/>
          </a:xfrm>
        </p:grpSpPr>
        <p:sp>
          <p:nvSpPr>
            <p:cNvPr id="254" name="Google Shape;254;p35"/>
            <p:cNvSpPr/>
            <p:nvPr/>
          </p:nvSpPr>
          <p:spPr>
            <a:xfrm>
              <a:off x="0" y="0"/>
              <a:ext cx="3857700" cy="2762400"/>
            </a:xfrm>
            <a:prstGeom prst="roundRect">
              <a:avLst>
                <a:gd fmla="val 5517"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35"/>
            <p:cNvSpPr/>
            <p:nvPr/>
          </p:nvSpPr>
          <p:spPr>
            <a:xfrm>
              <a:off x="266700" y="266700"/>
              <a:ext cx="1714500" cy="266700"/>
            </a:xfrm>
            <a:prstGeom prst="roundRect">
              <a:avLst>
                <a:gd fmla="val 5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35"/>
            <p:cNvSpPr txBox="1"/>
            <p:nvPr/>
          </p:nvSpPr>
          <p:spPr>
            <a:xfrm>
              <a:off x="266700" y="266700"/>
              <a:ext cx="3324300" cy="22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25">
                  <a:solidFill>
                    <a:srgbClr val="38BDF8"/>
                  </a:solidFill>
                  <a:latin typeface="Inter"/>
                  <a:ea typeface="Inter"/>
                  <a:cs typeface="Inter"/>
                  <a:sym typeface="Inter"/>
                </a:rPr>
                <a:t>STRATEGIC IMPERATIVE</a:t>
              </a:r>
              <a:endParaRPr b="1" sz="925">
                <a:solidFill>
                  <a:srgbClr val="38BDF8"/>
                </a:solidFill>
                <a:latin typeface="Inter"/>
                <a:ea typeface="Inter"/>
                <a:cs typeface="Inter"/>
                <a:sym typeface="Inter"/>
              </a:endParaRPr>
            </a:p>
            <a:p>
              <a:pPr indent="0" lvl="0" marL="0" rtl="0" algn="l">
                <a:spcBef>
                  <a:spcPts val="1800"/>
                </a:spcBef>
                <a:spcAft>
                  <a:spcPts val="0"/>
                </a:spcAft>
                <a:buNone/>
              </a:pPr>
              <a:r>
                <a:rPr b="1" lang="en" sz="1665">
                  <a:solidFill>
                    <a:srgbClr val="FFFFFF"/>
                  </a:solidFill>
                  <a:latin typeface="Inter"/>
                  <a:ea typeface="Inter"/>
                  <a:cs typeface="Inter"/>
                  <a:sym typeface="Inter"/>
                </a:rPr>
                <a:t>Strategic Consolidation</a:t>
              </a:r>
              <a:endParaRPr b="1" sz="1665">
                <a:solidFill>
                  <a:srgbClr val="FFFFFF"/>
                </a:solidFill>
                <a:latin typeface="Inter"/>
                <a:ea typeface="Inter"/>
                <a:cs typeface="Inter"/>
                <a:sym typeface="Inter"/>
              </a:endParaRPr>
            </a:p>
            <a:p>
              <a:pPr indent="0" lvl="0" marL="0" rtl="0" algn="l">
                <a:spcBef>
                  <a:spcPts val="1000"/>
                </a:spcBef>
                <a:spcAft>
                  <a:spcPts val="0"/>
                </a:spcAft>
                <a:buNone/>
              </a:pPr>
              <a:r>
                <a:rPr b="0" lang="en" sz="1156">
                  <a:solidFill>
                    <a:srgbClr val="94A3B8"/>
                  </a:solidFill>
                  <a:latin typeface="Inter"/>
                  <a:ea typeface="Inter"/>
                  <a:cs typeface="Inter"/>
                  <a:sym typeface="Inter"/>
                </a:rPr>
                <a:t>A mathematical necessity to realign operational footprints, ensure fiscal responsibility, and protect educational quality.</a:t>
              </a:r>
              <a:endParaRPr b="0" sz="1156">
                <a:solidFill>
                  <a:srgbClr val="94A3B8"/>
                </a:solidFill>
                <a:latin typeface="Inter"/>
                <a:ea typeface="Inter"/>
                <a:cs typeface="Inter"/>
                <a:sym typeface="Inter"/>
              </a:endParaRPr>
            </a:p>
            <a:p>
              <a:pPr indent="-293211" lvl="0" marL="457200" rtl="0" algn="l">
                <a:spcBef>
                  <a:spcPts val="1200"/>
                </a:spcBef>
                <a:spcAft>
                  <a:spcPts val="0"/>
                </a:spcAft>
                <a:buClr>
                  <a:srgbClr val="CBD5E1"/>
                </a:buClr>
                <a:buSzPts val="1018"/>
                <a:buFont typeface="Inter"/>
                <a:buChar char="●"/>
              </a:pPr>
              <a:r>
                <a:rPr b="0" lang="en" sz="1018">
                  <a:solidFill>
                    <a:srgbClr val="CBD5E1"/>
                  </a:solidFill>
                  <a:latin typeface="Inter"/>
                  <a:ea typeface="Inter"/>
                  <a:cs typeface="Inter"/>
                  <a:sym typeface="Inter"/>
                </a:rPr>
                <a:t>Optimizing district resource allocation</a:t>
              </a:r>
              <a:endParaRPr b="0" sz="1018">
                <a:solidFill>
                  <a:srgbClr val="CBD5E1"/>
                </a:solidFill>
                <a:latin typeface="Inter"/>
                <a:ea typeface="Inter"/>
                <a:cs typeface="Inter"/>
                <a:sym typeface="Inter"/>
              </a:endParaRPr>
            </a:p>
            <a:p>
              <a:pPr indent="-293211" lvl="0" marL="457200" rtl="0" algn="l">
                <a:spcBef>
                  <a:spcPts val="600"/>
                </a:spcBef>
                <a:spcAft>
                  <a:spcPts val="0"/>
                </a:spcAft>
                <a:buClr>
                  <a:srgbClr val="CBD5E1"/>
                </a:buClr>
                <a:buSzPts val="1018"/>
                <a:buFont typeface="Inter"/>
                <a:buChar char="●"/>
              </a:pPr>
              <a:r>
                <a:rPr b="0" lang="en" sz="1018">
                  <a:solidFill>
                    <a:srgbClr val="CBD5E1"/>
                  </a:solidFill>
                  <a:latin typeface="Inter"/>
                  <a:ea typeface="Inter"/>
                  <a:cs typeface="Inter"/>
                  <a:sym typeface="Inter"/>
                </a:rPr>
                <a:t>Avoiding unsustainable budget cuts</a:t>
              </a:r>
              <a:endParaRPr b="0" sz="1018">
                <a:solidFill>
                  <a:srgbClr val="CBD5E1"/>
                </a:solidFill>
                <a:latin typeface="Inter"/>
                <a:ea typeface="Inter"/>
                <a:cs typeface="Inter"/>
                <a:sym typeface="Inter"/>
              </a:endParaRPr>
            </a:p>
            <a:p>
              <a:pPr indent="-293211" lvl="0" marL="457200" rtl="0" algn="l">
                <a:spcBef>
                  <a:spcPts val="600"/>
                </a:spcBef>
                <a:spcAft>
                  <a:spcPts val="0"/>
                </a:spcAft>
                <a:buClr>
                  <a:srgbClr val="CBD5E1"/>
                </a:buClr>
                <a:buSzPts val="1018"/>
                <a:buFont typeface="Inter"/>
                <a:buChar char="●"/>
              </a:pPr>
              <a:r>
                <a:rPr b="0" lang="en" sz="1018">
                  <a:solidFill>
                    <a:srgbClr val="CBD5E1"/>
                  </a:solidFill>
                  <a:latin typeface="Inter"/>
                  <a:ea typeface="Inter"/>
                  <a:cs typeface="Inter"/>
                  <a:sym typeface="Inter"/>
                </a:rPr>
                <a:t>Sustaining rich academic programming</a:t>
              </a:r>
              <a:endParaRPr b="0" sz="1018">
                <a:solidFill>
                  <a:srgbClr val="CBD5E1"/>
                </a:solidFill>
                <a:latin typeface="Inter"/>
                <a:ea typeface="Inter"/>
                <a:cs typeface="Inter"/>
                <a:sym typeface="Inte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0" name="Shape 260"/>
        <p:cNvGrpSpPr/>
        <p:nvPr/>
      </p:nvGrpSpPr>
      <p:grpSpPr>
        <a:xfrm>
          <a:off x="0" y="0"/>
          <a:ext cx="0" cy="0"/>
          <a:chOff x="0" y="0"/>
          <a:chExt cx="0" cy="0"/>
        </a:xfrm>
      </p:grpSpPr>
      <p:grpSp>
        <p:nvGrpSpPr>
          <p:cNvPr id="261" name="Google Shape;261;p36"/>
          <p:cNvGrpSpPr/>
          <p:nvPr/>
        </p:nvGrpSpPr>
        <p:grpSpPr>
          <a:xfrm>
            <a:off x="476250" y="342900"/>
            <a:ext cx="8191500" cy="552450"/>
            <a:chOff x="0" y="0"/>
            <a:chExt cx="8191500" cy="552450"/>
          </a:xfrm>
        </p:grpSpPr>
        <p:sp>
          <p:nvSpPr>
            <p:cNvPr id="262" name="Google Shape;262;p36"/>
            <p:cNvSpPr txBox="1"/>
            <p:nvPr/>
          </p:nvSpPr>
          <p:spPr>
            <a:xfrm>
              <a:off x="0" y="0"/>
              <a:ext cx="8191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400">
                  <a:solidFill>
                    <a:srgbClr val="0F172A"/>
                  </a:solidFill>
                  <a:latin typeface="Inter ExtraBold"/>
                  <a:ea typeface="Inter ExtraBold"/>
                  <a:cs typeface="Inter ExtraBold"/>
                  <a:sym typeface="Inter ExtraBold"/>
                </a:rPr>
                <a:t>Structural Shifts Require </a:t>
              </a:r>
              <a:r>
                <a:rPr b="0" lang="en" sz="2400">
                  <a:solidFill>
                    <a:srgbClr val="DC2626"/>
                  </a:solidFill>
                  <a:latin typeface="Inter ExtraBold"/>
                  <a:ea typeface="Inter ExtraBold"/>
                  <a:cs typeface="Inter ExtraBold"/>
                  <a:sym typeface="Inter ExtraBold"/>
                </a:rPr>
                <a:t>Structural Solutions</a:t>
              </a:r>
              <a:endParaRPr b="0" sz="2400">
                <a:solidFill>
                  <a:srgbClr val="0F172A"/>
                </a:solidFill>
                <a:latin typeface="Inter ExtraBold"/>
                <a:ea typeface="Inter ExtraBold"/>
                <a:cs typeface="Inter ExtraBold"/>
                <a:sym typeface="Inter ExtraBold"/>
              </a:endParaRPr>
            </a:p>
          </p:txBody>
        </p:sp>
        <p:cxnSp>
          <p:nvCxnSpPr>
            <p:cNvPr id="263" name="Google Shape;263;p36"/>
            <p:cNvCxnSpPr/>
            <p:nvPr/>
          </p:nvCxnSpPr>
          <p:spPr>
            <a:xfrm>
              <a:off x="0" y="552450"/>
              <a:ext cx="8191500" cy="0"/>
            </a:xfrm>
            <a:prstGeom prst="straightConnector1">
              <a:avLst/>
            </a:prstGeom>
            <a:solidFill>
              <a:srgbClr val="FFFFFF"/>
            </a:solidFill>
            <a:ln cap="flat" cmpd="sng" w="19050">
              <a:solidFill>
                <a:srgbClr val="E2E8F0"/>
              </a:solidFill>
              <a:prstDash val="solid"/>
              <a:round/>
              <a:headEnd len="sm" w="sm" type="none"/>
              <a:tailEnd len="sm" w="sm" type="none"/>
            </a:ln>
          </p:spPr>
        </p:cxnSp>
      </p:grpSp>
      <p:grpSp>
        <p:nvGrpSpPr>
          <p:cNvPr id="264" name="Google Shape;264;p36"/>
          <p:cNvGrpSpPr/>
          <p:nvPr/>
        </p:nvGrpSpPr>
        <p:grpSpPr>
          <a:xfrm>
            <a:off x="476250" y="1123950"/>
            <a:ext cx="1467000" cy="1809600"/>
            <a:chOff x="0" y="0"/>
            <a:chExt cx="1467000" cy="1809600"/>
          </a:xfrm>
        </p:grpSpPr>
        <p:sp>
          <p:nvSpPr>
            <p:cNvPr id="265" name="Google Shape;265;p36"/>
            <p:cNvSpPr/>
            <p:nvPr/>
          </p:nvSpPr>
          <p:spPr>
            <a:xfrm>
              <a:off x="0" y="0"/>
              <a:ext cx="1467000" cy="1809600"/>
            </a:xfrm>
            <a:prstGeom prst="roundRect">
              <a:avLst>
                <a:gd fmla="val 7792" name="adj"/>
              </a:avLst>
            </a:prstGeom>
            <a:solidFill>
              <a:srgbClr val="EFF6FF"/>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36"/>
            <p:cNvSpPr txBox="1"/>
            <p:nvPr/>
          </p:nvSpPr>
          <p:spPr>
            <a:xfrm>
              <a:off x="114300" y="133350"/>
              <a:ext cx="1238400" cy="1543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1E3A8A"/>
                  </a:solidFill>
                  <a:highlight>
                    <a:schemeClr val="lt2"/>
                  </a:highlight>
                  <a:latin typeface="Inter"/>
                  <a:ea typeface="Inter"/>
                  <a:cs typeface="Inter"/>
                  <a:sym typeface="Inter"/>
                </a:rPr>
                <a:t>“Student</a:t>
              </a:r>
              <a:r>
                <a:rPr b="1" lang="en" sz="1300">
                  <a:solidFill>
                    <a:srgbClr val="1E3A8A"/>
                  </a:solidFill>
                  <a:highlight>
                    <a:schemeClr val="lt2"/>
                  </a:highlight>
                  <a:latin typeface="Inter"/>
                  <a:ea typeface="Inter"/>
                  <a:cs typeface="Inter"/>
                  <a:sym typeface="Inter"/>
                </a:rPr>
                <a:t> Pipeline</a:t>
              </a:r>
              <a:r>
                <a:rPr b="1" lang="en" sz="1300">
                  <a:solidFill>
                    <a:srgbClr val="1E3A8A"/>
                  </a:solidFill>
                  <a:highlight>
                    <a:schemeClr val="lt2"/>
                  </a:highlight>
                  <a:latin typeface="Inter"/>
                  <a:ea typeface="Inter"/>
                  <a:cs typeface="Inter"/>
                  <a:sym typeface="Inter"/>
                </a:rPr>
                <a:t>”</a:t>
              </a:r>
              <a:endParaRPr b="1" sz="1300">
                <a:solidFill>
                  <a:srgbClr val="1E3A8A"/>
                </a:solidFill>
                <a:highlight>
                  <a:schemeClr val="lt2"/>
                </a:highlight>
                <a:latin typeface="Inter"/>
                <a:ea typeface="Inter"/>
                <a:cs typeface="Inter"/>
                <a:sym typeface="Inter"/>
              </a:endParaRPr>
            </a:p>
            <a:p>
              <a:pPr indent="0" lvl="0" marL="0" rtl="0" algn="ctr">
                <a:spcBef>
                  <a:spcPts val="0"/>
                </a:spcBef>
                <a:spcAft>
                  <a:spcPts val="0"/>
                </a:spcAft>
                <a:buNone/>
              </a:pPr>
              <a:r>
                <a:rPr b="0" lang="en" sz="2200">
                  <a:solidFill>
                    <a:srgbClr val="2563EB"/>
                  </a:solidFill>
                  <a:latin typeface="Inter ExtraBold"/>
                  <a:ea typeface="Inter ExtraBold"/>
                  <a:cs typeface="Inter ExtraBold"/>
                  <a:sym typeface="Inter ExtraBold"/>
                </a:rPr>
                <a:t>-17.8%</a:t>
              </a:r>
              <a:endParaRPr b="0" sz="2200">
                <a:solidFill>
                  <a:srgbClr val="2563EB"/>
                </a:solidFill>
                <a:latin typeface="Inter ExtraBold"/>
                <a:ea typeface="Inter ExtraBold"/>
                <a:cs typeface="Inter ExtraBold"/>
                <a:sym typeface="Inter ExtraBold"/>
              </a:endParaRPr>
            </a:p>
          </p:txBody>
        </p:sp>
      </p:grpSp>
      <p:grpSp>
        <p:nvGrpSpPr>
          <p:cNvPr id="267" name="Google Shape;267;p36"/>
          <p:cNvGrpSpPr/>
          <p:nvPr/>
        </p:nvGrpSpPr>
        <p:grpSpPr>
          <a:xfrm>
            <a:off x="2114550" y="1123950"/>
            <a:ext cx="1467000" cy="1809600"/>
            <a:chOff x="0" y="0"/>
            <a:chExt cx="1467000" cy="1809600"/>
          </a:xfrm>
        </p:grpSpPr>
        <p:sp>
          <p:nvSpPr>
            <p:cNvPr id="268" name="Google Shape;268;p36"/>
            <p:cNvSpPr/>
            <p:nvPr/>
          </p:nvSpPr>
          <p:spPr>
            <a:xfrm>
              <a:off x="0" y="0"/>
              <a:ext cx="1467000" cy="1809600"/>
            </a:xfrm>
            <a:prstGeom prst="roundRect">
              <a:avLst>
                <a:gd fmla="val 7792" name="adj"/>
              </a:avLst>
            </a:prstGeom>
            <a:solidFill>
              <a:srgbClr val="F8FAFC"/>
            </a:solidFill>
            <a:ln cap="flat" cmpd="sng" w="14300">
              <a:solidFill>
                <a:srgbClr val="64748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36"/>
            <p:cNvSpPr txBox="1"/>
            <p:nvPr/>
          </p:nvSpPr>
          <p:spPr>
            <a:xfrm>
              <a:off x="114300" y="133350"/>
              <a:ext cx="1238400" cy="1543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1E293B"/>
                  </a:solidFill>
                  <a:latin typeface="Inter"/>
                  <a:ea typeface="Inter"/>
                  <a:cs typeface="Inter"/>
                  <a:sym typeface="Inter"/>
                </a:rPr>
                <a:t>Structural Deficit</a:t>
              </a:r>
              <a:endParaRPr b="1" sz="1300">
                <a:solidFill>
                  <a:srgbClr val="1E293B"/>
                </a:solidFill>
                <a:latin typeface="Inter"/>
                <a:ea typeface="Inter"/>
                <a:cs typeface="Inter"/>
                <a:sym typeface="Inter"/>
              </a:endParaRPr>
            </a:p>
            <a:p>
              <a:pPr indent="0" lvl="0" marL="0" rtl="0" algn="ctr">
                <a:spcBef>
                  <a:spcPts val="0"/>
                </a:spcBef>
                <a:spcAft>
                  <a:spcPts val="0"/>
                </a:spcAft>
                <a:buNone/>
              </a:pPr>
              <a:r>
                <a:rPr b="0" lang="en" sz="1100">
                  <a:solidFill>
                    <a:srgbClr val="475569"/>
                  </a:solidFill>
                  <a:latin typeface="Inter SemiBold"/>
                  <a:ea typeface="Inter SemiBold"/>
                  <a:cs typeface="Inter SemiBold"/>
                  <a:sym typeface="Inter SemiBold"/>
                </a:rPr>
                <a:t>(Graduates &gt; Incoming Students)</a:t>
              </a:r>
              <a:endParaRPr b="0" sz="1100">
                <a:solidFill>
                  <a:srgbClr val="475569"/>
                </a:solidFill>
                <a:latin typeface="Inter SemiBold"/>
                <a:ea typeface="Inter SemiBold"/>
                <a:cs typeface="Inter SemiBold"/>
                <a:sym typeface="Inter SemiBold"/>
              </a:endParaRPr>
            </a:p>
          </p:txBody>
        </p:sp>
      </p:grpSp>
      <p:grpSp>
        <p:nvGrpSpPr>
          <p:cNvPr id="270" name="Google Shape;270;p36"/>
          <p:cNvGrpSpPr/>
          <p:nvPr/>
        </p:nvGrpSpPr>
        <p:grpSpPr>
          <a:xfrm>
            <a:off x="3752850" y="1123950"/>
            <a:ext cx="1467000" cy="1809600"/>
            <a:chOff x="0" y="0"/>
            <a:chExt cx="1467000" cy="1809600"/>
          </a:xfrm>
        </p:grpSpPr>
        <p:sp>
          <p:nvSpPr>
            <p:cNvPr id="271" name="Google Shape;271;p36"/>
            <p:cNvSpPr/>
            <p:nvPr/>
          </p:nvSpPr>
          <p:spPr>
            <a:xfrm>
              <a:off x="0" y="0"/>
              <a:ext cx="1467000" cy="1809600"/>
            </a:xfrm>
            <a:prstGeom prst="roundRect">
              <a:avLst>
                <a:gd fmla="val 7792" name="adj"/>
              </a:avLst>
            </a:prstGeom>
            <a:solidFill>
              <a:srgbClr val="FEF2F2"/>
            </a:solidFill>
            <a:ln cap="flat" cmpd="sng" w="1430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36"/>
            <p:cNvSpPr txBox="1"/>
            <p:nvPr/>
          </p:nvSpPr>
          <p:spPr>
            <a:xfrm>
              <a:off x="114300" y="133350"/>
              <a:ext cx="1238400" cy="1543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991B1B"/>
                  </a:solidFill>
                  <a:latin typeface="Inter"/>
                  <a:ea typeface="Inter"/>
                  <a:cs typeface="Inter"/>
                  <a:sym typeface="Inter"/>
                </a:rPr>
                <a:t>Projected Enrollment</a:t>
              </a:r>
              <a:endParaRPr b="1" sz="1300">
                <a:solidFill>
                  <a:srgbClr val="991B1B"/>
                </a:solidFill>
                <a:latin typeface="Inter"/>
                <a:ea typeface="Inter"/>
                <a:cs typeface="Inter"/>
                <a:sym typeface="Inter"/>
              </a:endParaRPr>
            </a:p>
            <a:p>
              <a:pPr indent="0" lvl="0" marL="0" rtl="0" algn="ctr">
                <a:spcBef>
                  <a:spcPts val="0"/>
                </a:spcBef>
                <a:spcAft>
                  <a:spcPts val="0"/>
                </a:spcAft>
                <a:buNone/>
              </a:pPr>
              <a:r>
                <a:rPr b="0" lang="en" sz="2000">
                  <a:solidFill>
                    <a:srgbClr val="DC2626"/>
                  </a:solidFill>
                  <a:latin typeface="Inter ExtraBold"/>
                  <a:ea typeface="Inter ExtraBold"/>
                  <a:cs typeface="Inter ExtraBold"/>
                  <a:sym typeface="Inter ExtraBold"/>
                </a:rPr>
                <a:t>-25% Decline</a:t>
              </a:r>
              <a:endParaRPr b="0" sz="2000">
                <a:solidFill>
                  <a:srgbClr val="DC2626"/>
                </a:solidFill>
                <a:latin typeface="Inter ExtraBold"/>
                <a:ea typeface="Inter ExtraBold"/>
                <a:cs typeface="Inter ExtraBold"/>
                <a:sym typeface="Inter ExtraBold"/>
              </a:endParaRPr>
            </a:p>
          </p:txBody>
        </p:sp>
      </p:grpSp>
      <p:grpSp>
        <p:nvGrpSpPr>
          <p:cNvPr id="273" name="Google Shape;273;p36"/>
          <p:cNvGrpSpPr/>
          <p:nvPr/>
        </p:nvGrpSpPr>
        <p:grpSpPr>
          <a:xfrm>
            <a:off x="1200150" y="2933700"/>
            <a:ext cx="3295800" cy="171600"/>
            <a:chOff x="1200150" y="2933700"/>
            <a:chExt cx="3295800" cy="171600"/>
          </a:xfrm>
        </p:grpSpPr>
        <p:pic>
          <p:nvPicPr>
            <p:cNvPr id="274" name="Google Shape;274;p36"/>
            <p:cNvPicPr preferRelativeResize="0"/>
            <p:nvPr/>
          </p:nvPicPr>
          <p:blipFill rotWithShape="1">
            <a:blip r:embed="rId4">
              <a:alphaModFix/>
            </a:blip>
            <a:srcRect b="0" l="0" r="0" t="0"/>
            <a:stretch/>
          </p:blipFill>
          <p:spPr>
            <a:xfrm>
              <a:off x="1200150" y="2933700"/>
              <a:ext cx="19200" cy="171600"/>
            </a:xfrm>
            <a:prstGeom prst="rect">
              <a:avLst/>
            </a:prstGeom>
            <a:noFill/>
            <a:ln>
              <a:noFill/>
            </a:ln>
          </p:spPr>
        </p:pic>
        <p:pic>
          <p:nvPicPr>
            <p:cNvPr id="275" name="Google Shape;275;p36"/>
            <p:cNvPicPr preferRelativeResize="0"/>
            <p:nvPr/>
          </p:nvPicPr>
          <p:blipFill rotWithShape="1">
            <a:blip r:embed="rId5">
              <a:alphaModFix/>
            </a:blip>
            <a:srcRect b="0" l="0" r="0" t="0"/>
            <a:stretch/>
          </p:blipFill>
          <p:spPr>
            <a:xfrm>
              <a:off x="2838450" y="2933700"/>
              <a:ext cx="19200" cy="171600"/>
            </a:xfrm>
            <a:prstGeom prst="rect">
              <a:avLst/>
            </a:prstGeom>
            <a:noFill/>
            <a:ln>
              <a:noFill/>
            </a:ln>
          </p:spPr>
        </p:pic>
        <p:pic>
          <p:nvPicPr>
            <p:cNvPr id="276" name="Google Shape;276;p36"/>
            <p:cNvPicPr preferRelativeResize="0"/>
            <p:nvPr/>
          </p:nvPicPr>
          <p:blipFill rotWithShape="1">
            <a:blip r:embed="rId6">
              <a:alphaModFix/>
            </a:blip>
            <a:srcRect b="0" l="0" r="0" t="0"/>
            <a:stretch/>
          </p:blipFill>
          <p:spPr>
            <a:xfrm>
              <a:off x="4476750" y="2933700"/>
              <a:ext cx="19200" cy="171600"/>
            </a:xfrm>
            <a:prstGeom prst="rect">
              <a:avLst/>
            </a:prstGeom>
            <a:noFill/>
            <a:ln>
              <a:noFill/>
            </a:ln>
          </p:spPr>
        </p:pic>
      </p:grpSp>
      <p:grpSp>
        <p:nvGrpSpPr>
          <p:cNvPr id="277" name="Google Shape;277;p36"/>
          <p:cNvGrpSpPr/>
          <p:nvPr/>
        </p:nvGrpSpPr>
        <p:grpSpPr>
          <a:xfrm>
            <a:off x="476250" y="3105150"/>
            <a:ext cx="4743600" cy="1352700"/>
            <a:chOff x="0" y="0"/>
            <a:chExt cx="4743600" cy="1352700"/>
          </a:xfrm>
        </p:grpSpPr>
        <p:sp>
          <p:nvSpPr>
            <p:cNvPr id="278" name="Google Shape;278;p36"/>
            <p:cNvSpPr/>
            <p:nvPr/>
          </p:nvSpPr>
          <p:spPr>
            <a:xfrm>
              <a:off x="0" y="0"/>
              <a:ext cx="4743600" cy="1352700"/>
            </a:xfrm>
            <a:prstGeom prst="roundRect">
              <a:avLst>
                <a:gd fmla="val 9859"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36"/>
            <p:cNvSpPr txBox="1"/>
            <p:nvPr/>
          </p:nvSpPr>
          <p:spPr>
            <a:xfrm>
              <a:off x="190500" y="152400"/>
              <a:ext cx="43626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FCA5A5"/>
                  </a:solidFill>
                  <a:latin typeface="Inter ExtraBold"/>
                  <a:ea typeface="Inter ExtraBold"/>
                  <a:cs typeface="Inter ExtraBold"/>
                  <a:sym typeface="Inter ExtraBold"/>
                </a:rPr>
                <a:t>STATE PRESSURE</a:t>
              </a:r>
              <a:endParaRPr b="0" sz="1000">
                <a:solidFill>
                  <a:srgbClr val="FCA5A5"/>
                </a:solidFill>
                <a:latin typeface="Inter ExtraBold"/>
                <a:ea typeface="Inter ExtraBold"/>
                <a:cs typeface="Inter ExtraBold"/>
                <a:sym typeface="Inter ExtraBold"/>
              </a:endParaRPr>
            </a:p>
            <a:p>
              <a:pPr indent="0" lvl="0" marL="0" rtl="0" algn="l">
                <a:spcBef>
                  <a:spcPts val="600"/>
                </a:spcBef>
                <a:spcAft>
                  <a:spcPts val="0"/>
                </a:spcAft>
                <a:buNone/>
              </a:pPr>
              <a:r>
                <a:rPr b="0" lang="en" sz="1250">
                  <a:solidFill>
                    <a:srgbClr val="FFFFFF"/>
                  </a:solidFill>
                  <a:latin typeface="Inter Medium"/>
                  <a:ea typeface="Inter Medium"/>
                  <a:cs typeface="Inter Medium"/>
                  <a:sym typeface="Inter Medium"/>
                </a:rPr>
                <a:t>Legislature pressure to realign district operating scale closer to state formula funding model</a:t>
              </a:r>
              <a:endParaRPr b="0" sz="1250">
                <a:solidFill>
                  <a:srgbClr val="FFFFFF"/>
                </a:solidFill>
                <a:latin typeface="Inter Medium"/>
                <a:ea typeface="Inter Medium"/>
                <a:cs typeface="Inter Medium"/>
                <a:sym typeface="Inter Medium"/>
              </a:endParaRPr>
            </a:p>
          </p:txBody>
        </p:sp>
      </p:grpSp>
      <p:grpSp>
        <p:nvGrpSpPr>
          <p:cNvPr id="280" name="Google Shape;280;p36"/>
          <p:cNvGrpSpPr/>
          <p:nvPr/>
        </p:nvGrpSpPr>
        <p:grpSpPr>
          <a:xfrm>
            <a:off x="5486400" y="1123950"/>
            <a:ext cx="3181200" cy="3333900"/>
            <a:chOff x="0" y="0"/>
            <a:chExt cx="3181200" cy="3333900"/>
          </a:xfrm>
        </p:grpSpPr>
        <p:sp>
          <p:nvSpPr>
            <p:cNvPr id="281" name="Google Shape;281;p36"/>
            <p:cNvSpPr/>
            <p:nvPr/>
          </p:nvSpPr>
          <p:spPr>
            <a:xfrm>
              <a:off x="0" y="0"/>
              <a:ext cx="3181200" cy="3333900"/>
            </a:xfrm>
            <a:prstGeom prst="roundRect">
              <a:avLst>
                <a:gd fmla="val 479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36"/>
            <p:cNvSpPr/>
            <p:nvPr/>
          </p:nvSpPr>
          <p:spPr>
            <a:xfrm>
              <a:off x="0" y="0"/>
              <a:ext cx="57300" cy="3333900"/>
            </a:xfrm>
            <a:prstGeom prst="roundRect">
              <a:avLst>
                <a:gd fmla="val 50000" name="adj"/>
              </a:avLst>
            </a:prstGeom>
            <a:solidFill>
              <a:srgbClr val="DC26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36"/>
            <p:cNvSpPr txBox="1"/>
            <p:nvPr/>
          </p:nvSpPr>
          <p:spPr>
            <a:xfrm>
              <a:off x="266700" y="266700"/>
              <a:ext cx="2648100" cy="280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rgbClr val="DC2626"/>
                  </a:solidFill>
                  <a:latin typeface="Material Icons"/>
                  <a:ea typeface="Material Icons"/>
                  <a:cs typeface="Material Icons"/>
                  <a:sym typeface="Material Icons"/>
                </a:rPr>
                <a:t>warning</a:t>
              </a:r>
              <a:r>
                <a:rPr b="0" lang="en" sz="1500">
                  <a:solidFill>
                    <a:srgbClr val="DC2626"/>
                  </a:solidFill>
                  <a:latin typeface="Inter ExtraBold"/>
                  <a:ea typeface="Inter ExtraBold"/>
                  <a:cs typeface="Inter ExtraBold"/>
                  <a:sym typeface="Inter ExtraBold"/>
                </a:rPr>
                <a:t>KEY TAKEAWAY</a:t>
              </a:r>
              <a:endParaRPr sz="1800">
                <a:solidFill>
                  <a:srgbClr val="DC2626"/>
                </a:solidFill>
                <a:latin typeface="Material Icons"/>
                <a:ea typeface="Material Icons"/>
                <a:cs typeface="Material Icons"/>
                <a:sym typeface="Material Icons"/>
              </a:endParaRPr>
            </a:p>
            <a:p>
              <a:pPr indent="0" lvl="0" marL="0" rtl="0" algn="l">
                <a:lnSpc>
                  <a:spcPct val="115000"/>
                </a:lnSpc>
                <a:spcBef>
                  <a:spcPts val="1600"/>
                </a:spcBef>
                <a:spcAft>
                  <a:spcPts val="0"/>
                </a:spcAft>
                <a:buClr>
                  <a:schemeClr val="dk1"/>
                </a:buClr>
                <a:buSzPts val="1100"/>
                <a:buFont typeface="Arial"/>
                <a:buNone/>
              </a:pPr>
              <a:r>
                <a:rPr lang="en">
                  <a:solidFill>
                    <a:srgbClr val="334155"/>
                  </a:solidFill>
                  <a:latin typeface="Inter"/>
                  <a:ea typeface="Inter"/>
                  <a:cs typeface="Inter"/>
                  <a:sym typeface="Inter"/>
                </a:rPr>
                <a:t>Sustaining educational quality requires thoughtful alignment of our facilities with enrollment trends and the financial framework established by state policy.</a:t>
              </a:r>
              <a:endParaRPr>
                <a:solidFill>
                  <a:srgbClr val="334155"/>
                </a:solidFill>
                <a:latin typeface="Inter"/>
                <a:ea typeface="Inter"/>
                <a:cs typeface="Inter"/>
                <a:sym typeface="Inter"/>
              </a:endParaRPr>
            </a:p>
            <a:p>
              <a:pPr indent="0" lvl="0" marL="0" rtl="0" algn="l">
                <a:spcBef>
                  <a:spcPts val="1200"/>
                </a:spcBef>
                <a:spcAft>
                  <a:spcPts val="0"/>
                </a:spcAft>
                <a:buNone/>
              </a:pPr>
              <a:r>
                <a:t/>
              </a:r>
              <a:endParaRPr>
                <a:solidFill>
                  <a:srgbClr val="334155"/>
                </a:solidFill>
                <a:latin typeface="Inter"/>
                <a:ea typeface="Inter"/>
                <a:cs typeface="Inter"/>
                <a:sym typeface="Inte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37"/>
          <p:cNvPicPr preferRelativeResize="0"/>
          <p:nvPr/>
        </p:nvPicPr>
        <p:blipFill rotWithShape="1">
          <a:blip r:embed="rId3">
            <a:alphaModFix/>
          </a:blip>
          <a:srcRect b="27" l="0" r="0" t="27"/>
          <a:stretch/>
        </p:blipFill>
        <p:spPr>
          <a:xfrm>
            <a:off x="0" y="0"/>
            <a:ext cx="9144001" cy="5143501"/>
          </a:xfrm>
          <a:prstGeom prst="rect">
            <a:avLst/>
          </a:prstGeom>
          <a:noFill/>
          <a:ln>
            <a:noFill/>
          </a:ln>
        </p:spPr>
      </p:pic>
      <p:sp>
        <p:nvSpPr>
          <p:cNvPr id="290" name="Google Shape;290;p37"/>
          <p:cNvSpPr/>
          <p:nvPr/>
        </p:nvSpPr>
        <p:spPr>
          <a:xfrm>
            <a:off x="0" y="104503"/>
            <a:ext cx="9144000" cy="809898"/>
          </a:xfrm>
          <a:prstGeom prst="rect">
            <a:avLst/>
          </a:prstGeom>
          <a:solidFill>
            <a:srgbClr val="143F6C"/>
          </a:solidFill>
          <a:ln>
            <a:noFill/>
          </a:ln>
        </p:spPr>
        <p:txBody>
          <a:bodyPr anchorCtr="0" anchor="ctr" bIns="62700" lIns="62700" spcFirstLastPara="1" rIns="62700" wrap="square" tIns="62700">
            <a:noAutofit/>
          </a:bodyPr>
          <a:lstStyle/>
          <a:p>
            <a:pPr indent="0" lvl="0" marL="0" rtl="0" algn="l">
              <a:spcBef>
                <a:spcPts val="0"/>
              </a:spcBef>
              <a:spcAft>
                <a:spcPts val="0"/>
              </a:spcAft>
              <a:buNone/>
            </a:pPr>
            <a:r>
              <a:t/>
            </a:r>
            <a:endParaRPr/>
          </a:p>
        </p:txBody>
      </p:sp>
      <p:sp>
        <p:nvSpPr>
          <p:cNvPr id="291" name="Google Shape;291;p37"/>
          <p:cNvSpPr/>
          <p:nvPr/>
        </p:nvSpPr>
        <p:spPr>
          <a:xfrm>
            <a:off x="313500" y="163273"/>
            <a:ext cx="8556300" cy="8100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1200"/>
              </a:spcBef>
              <a:spcAft>
                <a:spcPts val="1200"/>
              </a:spcAft>
              <a:buSzPts val="1100"/>
              <a:buNone/>
            </a:pPr>
            <a:r>
              <a:rPr b="1" lang="en" sz="2200">
                <a:solidFill>
                  <a:schemeClr val="lt1"/>
                </a:solidFill>
              </a:rPr>
              <a:t>Converging Challenges &amp; Sustaining Strong Student Programs</a:t>
            </a:r>
            <a:endParaRPr b="1" sz="3600">
              <a:solidFill>
                <a:schemeClr val="lt1"/>
              </a:solidFill>
            </a:endParaRPr>
          </a:p>
        </p:txBody>
      </p:sp>
      <p:sp>
        <p:nvSpPr>
          <p:cNvPr id="292" name="Google Shape;292;p37"/>
          <p:cNvSpPr/>
          <p:nvPr/>
        </p:nvSpPr>
        <p:spPr>
          <a:xfrm>
            <a:off x="0" y="914402"/>
            <a:ext cx="9144000" cy="333103"/>
          </a:xfrm>
          <a:prstGeom prst="rect">
            <a:avLst/>
          </a:prstGeom>
          <a:solidFill>
            <a:srgbClr val="143F6C"/>
          </a:solidFill>
          <a:ln>
            <a:noFill/>
          </a:ln>
        </p:spPr>
        <p:txBody>
          <a:bodyPr anchorCtr="0" anchor="ctr" bIns="62700" lIns="62700" spcFirstLastPara="1" rIns="62700" wrap="square" tIns="62700">
            <a:noAutofit/>
          </a:bodyPr>
          <a:lstStyle/>
          <a:p>
            <a:pPr indent="0" lvl="0" marL="0" rtl="0" algn="l">
              <a:spcBef>
                <a:spcPts val="0"/>
              </a:spcBef>
              <a:spcAft>
                <a:spcPts val="0"/>
              </a:spcAft>
              <a:buNone/>
            </a:pPr>
            <a:r>
              <a:t/>
            </a:r>
            <a:endParaRPr/>
          </a:p>
        </p:txBody>
      </p:sp>
      <p:sp>
        <p:nvSpPr>
          <p:cNvPr id="293" name="Google Shape;293;p37"/>
          <p:cNvSpPr/>
          <p:nvPr/>
        </p:nvSpPr>
        <p:spPr>
          <a:xfrm>
            <a:off x="274320" y="933996"/>
            <a:ext cx="8595300" cy="267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lang="en" sz="1400">
                <a:solidFill>
                  <a:srgbClr val="FFFFFF"/>
                </a:solidFill>
                <a:latin typeface="Arial"/>
                <a:ea typeface="Arial"/>
                <a:cs typeface="Arial"/>
                <a:sym typeface="Arial"/>
              </a:rPr>
              <a:t>Spending above the threshold triggers an additional property tax penalty for our communities.</a:t>
            </a:r>
            <a:endParaRPr sz="1000"/>
          </a:p>
        </p:txBody>
      </p:sp>
      <p:sp>
        <p:nvSpPr>
          <p:cNvPr id="294" name="Google Shape;294;p37"/>
          <p:cNvSpPr/>
          <p:nvPr/>
        </p:nvSpPr>
        <p:spPr>
          <a:xfrm>
            <a:off x="1116874" y="3161217"/>
            <a:ext cx="1338943" cy="313509"/>
          </a:xfrm>
          <a:prstGeom prst="rect">
            <a:avLst/>
          </a:prstGeom>
          <a:solidFill>
            <a:srgbClr val="0C315A"/>
          </a:solidFill>
          <a:ln>
            <a:noFill/>
          </a:ln>
        </p:spPr>
        <p:txBody>
          <a:bodyPr anchorCtr="0" anchor="ctr" bIns="62700" lIns="62700" spcFirstLastPara="1" rIns="62700" wrap="square" tIns="62700">
            <a:noAutofit/>
          </a:bodyPr>
          <a:lstStyle/>
          <a:p>
            <a:pPr indent="0" lvl="0" marL="0" rtl="0" algn="l">
              <a:spcBef>
                <a:spcPts val="0"/>
              </a:spcBef>
              <a:spcAft>
                <a:spcPts val="0"/>
              </a:spcAft>
              <a:buNone/>
            </a:pPr>
            <a:r>
              <a:t/>
            </a:r>
            <a:endParaRPr/>
          </a:p>
        </p:txBody>
      </p:sp>
      <p:sp>
        <p:nvSpPr>
          <p:cNvPr id="295" name="Google Shape;295;p37"/>
          <p:cNvSpPr/>
          <p:nvPr/>
        </p:nvSpPr>
        <p:spPr>
          <a:xfrm>
            <a:off x="1149531" y="3180811"/>
            <a:ext cx="1293223" cy="26125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1300">
                <a:solidFill>
                  <a:srgbClr val="FFFFFF"/>
                </a:solidFill>
                <a:latin typeface="Arial"/>
                <a:ea typeface="Arial"/>
                <a:cs typeface="Arial"/>
                <a:sym typeface="Arial"/>
              </a:rPr>
              <a:t>Act 169 of 2026</a:t>
            </a:r>
            <a:endParaRPr sz="1000"/>
          </a:p>
        </p:txBody>
      </p:sp>
      <p:sp>
        <p:nvSpPr>
          <p:cNvPr id="296" name="Google Shape;296;p37"/>
          <p:cNvSpPr/>
          <p:nvPr/>
        </p:nvSpPr>
        <p:spPr>
          <a:xfrm>
            <a:off x="6786154" y="1410791"/>
            <a:ext cx="2279469" cy="3350628"/>
          </a:xfrm>
          <a:prstGeom prst="roundRect">
            <a:avLst>
              <a:gd fmla="val 4011" name="adj"/>
            </a:avLst>
          </a:prstGeom>
          <a:solidFill>
            <a:srgbClr val="F8F6F0"/>
          </a:solidFill>
          <a:ln>
            <a:noFill/>
          </a:ln>
        </p:spPr>
        <p:txBody>
          <a:bodyPr anchorCtr="0" anchor="ctr" bIns="62700" lIns="62700" spcFirstLastPara="1" rIns="62700" wrap="square" tIns="62700">
            <a:noAutofit/>
          </a:bodyPr>
          <a:lstStyle/>
          <a:p>
            <a:pPr indent="0" lvl="0" marL="0" rtl="0" algn="l">
              <a:spcBef>
                <a:spcPts val="0"/>
              </a:spcBef>
              <a:spcAft>
                <a:spcPts val="0"/>
              </a:spcAft>
              <a:buNone/>
            </a:pPr>
            <a:r>
              <a:t/>
            </a:r>
            <a:endParaRPr/>
          </a:p>
        </p:txBody>
      </p:sp>
      <p:sp>
        <p:nvSpPr>
          <p:cNvPr id="297" name="Google Shape;297;p37"/>
          <p:cNvSpPr/>
          <p:nvPr/>
        </p:nvSpPr>
        <p:spPr>
          <a:xfrm>
            <a:off x="6884126" y="1476105"/>
            <a:ext cx="2083526" cy="4702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1600">
                <a:solidFill>
                  <a:srgbClr val="0C315A"/>
                </a:solidFill>
                <a:latin typeface="Arial"/>
                <a:ea typeface="Arial"/>
                <a:cs typeface="Arial"/>
                <a:sym typeface="Arial"/>
              </a:rPr>
              <a:t>Excess Spending</a:t>
            </a:r>
            <a:endParaRPr sz="1000"/>
          </a:p>
          <a:p>
            <a:pPr indent="0" lvl="0" marL="0" marR="0" rtl="0" algn="ctr">
              <a:spcBef>
                <a:spcPts val="0"/>
              </a:spcBef>
              <a:spcAft>
                <a:spcPts val="0"/>
              </a:spcAft>
              <a:buNone/>
            </a:pPr>
            <a:r>
              <a:rPr b="1" lang="en" sz="1600">
                <a:solidFill>
                  <a:srgbClr val="0C315A"/>
                </a:solidFill>
                <a:latin typeface="Arial"/>
                <a:ea typeface="Arial"/>
                <a:cs typeface="Arial"/>
                <a:sym typeface="Arial"/>
              </a:rPr>
              <a:t>Threshold</a:t>
            </a:r>
            <a:endParaRPr sz="1000"/>
          </a:p>
        </p:txBody>
      </p:sp>
      <p:sp>
        <p:nvSpPr>
          <p:cNvPr id="298" name="Google Shape;298;p37"/>
          <p:cNvSpPr/>
          <p:nvPr/>
        </p:nvSpPr>
        <p:spPr>
          <a:xfrm>
            <a:off x="6949440" y="2018215"/>
            <a:ext cx="1952897" cy="267789"/>
          </a:xfrm>
          <a:prstGeom prst="roundRect">
            <a:avLst>
              <a:gd fmla="val 34146" name="adj"/>
            </a:avLst>
          </a:prstGeom>
          <a:solidFill>
            <a:srgbClr val="DCE3E8"/>
          </a:solidFill>
          <a:ln>
            <a:noFill/>
          </a:ln>
        </p:spPr>
        <p:txBody>
          <a:bodyPr anchorCtr="0" anchor="ctr" bIns="62700" lIns="62700" spcFirstLastPara="1" rIns="62700" wrap="square" tIns="62700">
            <a:noAutofit/>
          </a:bodyPr>
          <a:lstStyle/>
          <a:p>
            <a:pPr indent="0" lvl="0" marL="0" rtl="0" algn="l">
              <a:spcBef>
                <a:spcPts val="0"/>
              </a:spcBef>
              <a:spcAft>
                <a:spcPts val="0"/>
              </a:spcAft>
              <a:buNone/>
            </a:pPr>
            <a:r>
              <a:t/>
            </a:r>
            <a:endParaRPr/>
          </a:p>
        </p:txBody>
      </p:sp>
      <p:sp>
        <p:nvSpPr>
          <p:cNvPr id="299" name="Google Shape;299;p37"/>
          <p:cNvSpPr/>
          <p:nvPr/>
        </p:nvSpPr>
        <p:spPr>
          <a:xfrm>
            <a:off x="7053943" y="2018215"/>
            <a:ext cx="646611" cy="26778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1200">
                <a:solidFill>
                  <a:srgbClr val="0C315A"/>
                </a:solidFill>
                <a:latin typeface="Arial"/>
                <a:ea typeface="Arial"/>
                <a:cs typeface="Arial"/>
                <a:sym typeface="Arial"/>
              </a:rPr>
              <a:t>FY27</a:t>
            </a:r>
            <a:endParaRPr sz="1000"/>
          </a:p>
        </p:txBody>
      </p:sp>
      <p:sp>
        <p:nvSpPr>
          <p:cNvPr id="300" name="Google Shape;300;p37"/>
          <p:cNvSpPr/>
          <p:nvPr/>
        </p:nvSpPr>
        <p:spPr>
          <a:xfrm>
            <a:off x="7720149" y="2018215"/>
            <a:ext cx="1058091" cy="267789"/>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lang="en" sz="1500">
                <a:solidFill>
                  <a:srgbClr val="0C315A"/>
                </a:solidFill>
                <a:latin typeface="Arial"/>
                <a:ea typeface="Arial"/>
                <a:cs typeface="Arial"/>
                <a:sym typeface="Arial"/>
              </a:rPr>
              <a:t>118%</a:t>
            </a:r>
            <a:endParaRPr sz="1000"/>
          </a:p>
        </p:txBody>
      </p:sp>
      <p:sp>
        <p:nvSpPr>
          <p:cNvPr id="301" name="Google Shape;301;p37"/>
          <p:cNvSpPr/>
          <p:nvPr/>
        </p:nvSpPr>
        <p:spPr>
          <a:xfrm>
            <a:off x="6949440" y="2383975"/>
            <a:ext cx="1952897" cy="267789"/>
          </a:xfrm>
          <a:prstGeom prst="roundRect">
            <a:avLst>
              <a:gd fmla="val 34146" name="adj"/>
            </a:avLst>
          </a:prstGeom>
          <a:solidFill>
            <a:srgbClr val="0E5791"/>
          </a:solidFill>
          <a:ln>
            <a:noFill/>
          </a:ln>
        </p:spPr>
        <p:txBody>
          <a:bodyPr anchorCtr="0" anchor="ctr" bIns="62700" lIns="62700" spcFirstLastPara="1" rIns="62700" wrap="square" tIns="62700">
            <a:noAutofit/>
          </a:bodyPr>
          <a:lstStyle/>
          <a:p>
            <a:pPr indent="0" lvl="0" marL="0" rtl="0" algn="l">
              <a:spcBef>
                <a:spcPts val="0"/>
              </a:spcBef>
              <a:spcAft>
                <a:spcPts val="0"/>
              </a:spcAft>
              <a:buNone/>
            </a:pPr>
            <a:r>
              <a:t/>
            </a:r>
            <a:endParaRPr/>
          </a:p>
        </p:txBody>
      </p:sp>
      <p:sp>
        <p:nvSpPr>
          <p:cNvPr id="302" name="Google Shape;302;p37"/>
          <p:cNvSpPr/>
          <p:nvPr/>
        </p:nvSpPr>
        <p:spPr>
          <a:xfrm>
            <a:off x="7053943" y="2383975"/>
            <a:ext cx="646611" cy="26778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1200">
                <a:solidFill>
                  <a:srgbClr val="FFFFFF"/>
                </a:solidFill>
                <a:latin typeface="Arial"/>
                <a:ea typeface="Arial"/>
                <a:cs typeface="Arial"/>
                <a:sym typeface="Arial"/>
              </a:rPr>
              <a:t>FY28</a:t>
            </a:r>
            <a:endParaRPr sz="1000"/>
          </a:p>
        </p:txBody>
      </p:sp>
      <p:sp>
        <p:nvSpPr>
          <p:cNvPr id="303" name="Google Shape;303;p37"/>
          <p:cNvSpPr/>
          <p:nvPr/>
        </p:nvSpPr>
        <p:spPr>
          <a:xfrm>
            <a:off x="7720149" y="2383975"/>
            <a:ext cx="1058091" cy="267789"/>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lang="en" sz="1500">
                <a:solidFill>
                  <a:srgbClr val="FFFFFF"/>
                </a:solidFill>
                <a:latin typeface="Arial"/>
                <a:ea typeface="Arial"/>
                <a:cs typeface="Arial"/>
                <a:sym typeface="Arial"/>
              </a:rPr>
              <a:t>115.5%</a:t>
            </a:r>
            <a:endParaRPr sz="1000"/>
          </a:p>
        </p:txBody>
      </p:sp>
      <p:sp>
        <p:nvSpPr>
          <p:cNvPr id="304" name="Google Shape;304;p37"/>
          <p:cNvSpPr/>
          <p:nvPr/>
        </p:nvSpPr>
        <p:spPr>
          <a:xfrm>
            <a:off x="6949440" y="2749736"/>
            <a:ext cx="1952897" cy="267789"/>
          </a:xfrm>
          <a:prstGeom prst="roundRect">
            <a:avLst>
              <a:gd fmla="val 34146" name="adj"/>
            </a:avLst>
          </a:prstGeom>
          <a:solidFill>
            <a:srgbClr val="E6EDF2"/>
          </a:solidFill>
          <a:ln>
            <a:noFill/>
          </a:ln>
        </p:spPr>
        <p:txBody>
          <a:bodyPr anchorCtr="0" anchor="ctr" bIns="62700" lIns="62700" spcFirstLastPara="1" rIns="62700" wrap="square" tIns="62700">
            <a:noAutofit/>
          </a:bodyPr>
          <a:lstStyle/>
          <a:p>
            <a:pPr indent="0" lvl="0" marL="0" rtl="0" algn="l">
              <a:spcBef>
                <a:spcPts val="0"/>
              </a:spcBef>
              <a:spcAft>
                <a:spcPts val="0"/>
              </a:spcAft>
              <a:buNone/>
            </a:pPr>
            <a:r>
              <a:t/>
            </a:r>
            <a:endParaRPr/>
          </a:p>
        </p:txBody>
      </p:sp>
      <p:sp>
        <p:nvSpPr>
          <p:cNvPr id="305" name="Google Shape;305;p37"/>
          <p:cNvSpPr/>
          <p:nvPr/>
        </p:nvSpPr>
        <p:spPr>
          <a:xfrm>
            <a:off x="7053943" y="2749736"/>
            <a:ext cx="646611" cy="26778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1200">
                <a:solidFill>
                  <a:srgbClr val="0C315A"/>
                </a:solidFill>
                <a:latin typeface="Arial"/>
                <a:ea typeface="Arial"/>
                <a:cs typeface="Arial"/>
                <a:sym typeface="Arial"/>
              </a:rPr>
              <a:t>FY29</a:t>
            </a:r>
            <a:endParaRPr sz="1000"/>
          </a:p>
        </p:txBody>
      </p:sp>
      <p:sp>
        <p:nvSpPr>
          <p:cNvPr id="306" name="Google Shape;306;p37"/>
          <p:cNvSpPr/>
          <p:nvPr/>
        </p:nvSpPr>
        <p:spPr>
          <a:xfrm>
            <a:off x="7720149" y="2749736"/>
            <a:ext cx="1058091" cy="267789"/>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lang="en" sz="1500">
                <a:solidFill>
                  <a:srgbClr val="0C315A"/>
                </a:solidFill>
                <a:latin typeface="Arial"/>
                <a:ea typeface="Arial"/>
                <a:cs typeface="Arial"/>
                <a:sym typeface="Arial"/>
              </a:rPr>
              <a:t>114.5%</a:t>
            </a:r>
            <a:endParaRPr sz="1000"/>
          </a:p>
        </p:txBody>
      </p:sp>
      <p:sp>
        <p:nvSpPr>
          <p:cNvPr id="307" name="Google Shape;307;p37"/>
          <p:cNvSpPr/>
          <p:nvPr/>
        </p:nvSpPr>
        <p:spPr>
          <a:xfrm>
            <a:off x="6949440" y="3115497"/>
            <a:ext cx="1952897" cy="267789"/>
          </a:xfrm>
          <a:prstGeom prst="roundRect">
            <a:avLst>
              <a:gd fmla="val 34146" name="adj"/>
            </a:avLst>
          </a:prstGeom>
          <a:solidFill>
            <a:srgbClr val="E6EDF2"/>
          </a:solidFill>
          <a:ln>
            <a:noFill/>
          </a:ln>
        </p:spPr>
        <p:txBody>
          <a:bodyPr anchorCtr="0" anchor="ctr" bIns="62700" lIns="62700" spcFirstLastPara="1" rIns="62700" wrap="square" tIns="62700">
            <a:noAutofit/>
          </a:bodyPr>
          <a:lstStyle/>
          <a:p>
            <a:pPr indent="0" lvl="0" marL="0" rtl="0" algn="l">
              <a:spcBef>
                <a:spcPts val="0"/>
              </a:spcBef>
              <a:spcAft>
                <a:spcPts val="0"/>
              </a:spcAft>
              <a:buNone/>
            </a:pPr>
            <a:r>
              <a:t/>
            </a:r>
            <a:endParaRPr/>
          </a:p>
        </p:txBody>
      </p:sp>
      <p:sp>
        <p:nvSpPr>
          <p:cNvPr id="308" name="Google Shape;308;p37"/>
          <p:cNvSpPr/>
          <p:nvPr/>
        </p:nvSpPr>
        <p:spPr>
          <a:xfrm>
            <a:off x="7053943" y="3115497"/>
            <a:ext cx="646611" cy="26778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1200">
                <a:solidFill>
                  <a:srgbClr val="0C315A"/>
                </a:solidFill>
                <a:latin typeface="Arial"/>
                <a:ea typeface="Arial"/>
                <a:cs typeface="Arial"/>
                <a:sym typeface="Arial"/>
              </a:rPr>
              <a:t>FY30</a:t>
            </a:r>
            <a:endParaRPr sz="1000"/>
          </a:p>
        </p:txBody>
      </p:sp>
      <p:sp>
        <p:nvSpPr>
          <p:cNvPr id="309" name="Google Shape;309;p37"/>
          <p:cNvSpPr/>
          <p:nvPr/>
        </p:nvSpPr>
        <p:spPr>
          <a:xfrm>
            <a:off x="7720149" y="3115497"/>
            <a:ext cx="1058091" cy="267789"/>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lang="en" sz="1500">
                <a:solidFill>
                  <a:srgbClr val="0C315A"/>
                </a:solidFill>
                <a:latin typeface="Arial"/>
                <a:ea typeface="Arial"/>
                <a:cs typeface="Arial"/>
                <a:sym typeface="Arial"/>
              </a:rPr>
              <a:t>113.5%</a:t>
            </a:r>
            <a:endParaRPr sz="1000"/>
          </a:p>
        </p:txBody>
      </p:sp>
      <p:sp>
        <p:nvSpPr>
          <p:cNvPr id="310" name="Google Shape;310;p37"/>
          <p:cNvSpPr/>
          <p:nvPr/>
        </p:nvSpPr>
        <p:spPr>
          <a:xfrm>
            <a:off x="6949440" y="3481257"/>
            <a:ext cx="1952897" cy="267789"/>
          </a:xfrm>
          <a:prstGeom prst="roundRect">
            <a:avLst>
              <a:gd fmla="val 34146" name="adj"/>
            </a:avLst>
          </a:prstGeom>
          <a:solidFill>
            <a:srgbClr val="E6EDF2"/>
          </a:solidFill>
          <a:ln>
            <a:noFill/>
          </a:ln>
        </p:spPr>
        <p:txBody>
          <a:bodyPr anchorCtr="0" anchor="ctr" bIns="62700" lIns="62700" spcFirstLastPara="1" rIns="62700" wrap="square" tIns="62700">
            <a:noAutofit/>
          </a:bodyPr>
          <a:lstStyle/>
          <a:p>
            <a:pPr indent="0" lvl="0" marL="0" rtl="0" algn="l">
              <a:spcBef>
                <a:spcPts val="0"/>
              </a:spcBef>
              <a:spcAft>
                <a:spcPts val="0"/>
              </a:spcAft>
              <a:buNone/>
            </a:pPr>
            <a:r>
              <a:t/>
            </a:r>
            <a:endParaRPr/>
          </a:p>
        </p:txBody>
      </p:sp>
      <p:sp>
        <p:nvSpPr>
          <p:cNvPr id="311" name="Google Shape;311;p37"/>
          <p:cNvSpPr/>
          <p:nvPr/>
        </p:nvSpPr>
        <p:spPr>
          <a:xfrm>
            <a:off x="7053943" y="3481257"/>
            <a:ext cx="646611" cy="26778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1200">
                <a:solidFill>
                  <a:srgbClr val="0C315A"/>
                </a:solidFill>
                <a:latin typeface="Arial"/>
                <a:ea typeface="Arial"/>
                <a:cs typeface="Arial"/>
                <a:sym typeface="Arial"/>
              </a:rPr>
              <a:t>FY31</a:t>
            </a:r>
            <a:endParaRPr sz="1000"/>
          </a:p>
        </p:txBody>
      </p:sp>
      <p:sp>
        <p:nvSpPr>
          <p:cNvPr id="312" name="Google Shape;312;p37"/>
          <p:cNvSpPr/>
          <p:nvPr/>
        </p:nvSpPr>
        <p:spPr>
          <a:xfrm>
            <a:off x="7720149" y="3481257"/>
            <a:ext cx="1058091" cy="267789"/>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lang="en" sz="1500">
                <a:solidFill>
                  <a:srgbClr val="0C315A"/>
                </a:solidFill>
                <a:latin typeface="Arial"/>
                <a:ea typeface="Arial"/>
                <a:cs typeface="Arial"/>
                <a:sym typeface="Arial"/>
              </a:rPr>
              <a:t>113%</a:t>
            </a:r>
            <a:endParaRPr sz="1000"/>
          </a:p>
        </p:txBody>
      </p:sp>
      <p:sp>
        <p:nvSpPr>
          <p:cNvPr id="313" name="Google Shape;313;p37"/>
          <p:cNvSpPr/>
          <p:nvPr/>
        </p:nvSpPr>
        <p:spPr>
          <a:xfrm>
            <a:off x="6949440" y="3847018"/>
            <a:ext cx="1952897" cy="267789"/>
          </a:xfrm>
          <a:prstGeom prst="roundRect">
            <a:avLst>
              <a:gd fmla="val 34146" name="adj"/>
            </a:avLst>
          </a:prstGeom>
          <a:solidFill>
            <a:srgbClr val="E6EDF2"/>
          </a:solidFill>
          <a:ln>
            <a:noFill/>
          </a:ln>
        </p:spPr>
        <p:txBody>
          <a:bodyPr anchorCtr="0" anchor="ctr" bIns="62700" lIns="62700" spcFirstLastPara="1" rIns="62700" wrap="square" tIns="62700">
            <a:noAutofit/>
          </a:bodyPr>
          <a:lstStyle/>
          <a:p>
            <a:pPr indent="0" lvl="0" marL="0" rtl="0" algn="l">
              <a:spcBef>
                <a:spcPts val="0"/>
              </a:spcBef>
              <a:spcAft>
                <a:spcPts val="0"/>
              </a:spcAft>
              <a:buNone/>
            </a:pPr>
            <a:r>
              <a:t/>
            </a:r>
            <a:endParaRPr/>
          </a:p>
        </p:txBody>
      </p:sp>
      <p:sp>
        <p:nvSpPr>
          <p:cNvPr id="314" name="Google Shape;314;p37"/>
          <p:cNvSpPr/>
          <p:nvPr/>
        </p:nvSpPr>
        <p:spPr>
          <a:xfrm>
            <a:off x="7053943" y="3847018"/>
            <a:ext cx="646611" cy="26778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 sz="1200">
                <a:solidFill>
                  <a:srgbClr val="0C315A"/>
                </a:solidFill>
                <a:latin typeface="Arial"/>
                <a:ea typeface="Arial"/>
                <a:cs typeface="Arial"/>
                <a:sym typeface="Arial"/>
              </a:rPr>
              <a:t>FY32+</a:t>
            </a:r>
            <a:endParaRPr sz="1000"/>
          </a:p>
        </p:txBody>
      </p:sp>
      <p:sp>
        <p:nvSpPr>
          <p:cNvPr id="315" name="Google Shape;315;p37"/>
          <p:cNvSpPr/>
          <p:nvPr/>
        </p:nvSpPr>
        <p:spPr>
          <a:xfrm>
            <a:off x="7720149" y="3847018"/>
            <a:ext cx="1058091" cy="267789"/>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lang="en" sz="1500">
                <a:solidFill>
                  <a:srgbClr val="0C315A"/>
                </a:solidFill>
                <a:latin typeface="Arial"/>
                <a:ea typeface="Arial"/>
                <a:cs typeface="Arial"/>
                <a:sym typeface="Arial"/>
              </a:rPr>
              <a:t>112.5%</a:t>
            </a:r>
            <a:endParaRPr sz="1000"/>
          </a:p>
        </p:txBody>
      </p:sp>
      <p:sp>
        <p:nvSpPr>
          <p:cNvPr id="316" name="Google Shape;316;p37"/>
          <p:cNvSpPr/>
          <p:nvPr/>
        </p:nvSpPr>
        <p:spPr>
          <a:xfrm>
            <a:off x="6903720" y="4258499"/>
            <a:ext cx="2044337" cy="15022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lang="en" sz="800">
                <a:solidFill>
                  <a:srgbClr val="0C315A"/>
                </a:solidFill>
                <a:latin typeface="Arial"/>
                <a:ea typeface="Arial"/>
                <a:cs typeface="Arial"/>
                <a:sym typeface="Arial"/>
              </a:rPr>
              <a:t>Percent of the excess spending base</a:t>
            </a:r>
            <a:endParaRPr sz="1000"/>
          </a:p>
        </p:txBody>
      </p:sp>
      <p:sp>
        <p:nvSpPr>
          <p:cNvPr id="317" name="Google Shape;317;p37"/>
          <p:cNvSpPr/>
          <p:nvPr/>
        </p:nvSpPr>
        <p:spPr>
          <a:xfrm>
            <a:off x="6903720" y="4428316"/>
            <a:ext cx="2044337" cy="25472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lang="en" sz="800">
                <a:solidFill>
                  <a:srgbClr val="0C315A"/>
                </a:solidFill>
                <a:latin typeface="Arial"/>
                <a:ea typeface="Arial"/>
                <a:cs typeface="Arial"/>
                <a:sym typeface="Arial"/>
              </a:rPr>
              <a:t>FY25 statewide per-pupil spending,</a:t>
            </a:r>
            <a:endParaRPr sz="1000"/>
          </a:p>
          <a:p>
            <a:pPr indent="0" lvl="0" marL="0" marR="0" rtl="0" algn="ctr">
              <a:spcBef>
                <a:spcPts val="0"/>
              </a:spcBef>
              <a:spcAft>
                <a:spcPts val="0"/>
              </a:spcAft>
              <a:buNone/>
            </a:pPr>
            <a:r>
              <a:rPr b="0" lang="en" sz="800">
                <a:solidFill>
                  <a:srgbClr val="0C315A"/>
                </a:solidFill>
                <a:latin typeface="Arial"/>
                <a:ea typeface="Arial"/>
                <a:cs typeface="Arial"/>
                <a:sym typeface="Arial"/>
              </a:rPr>
              <a:t>adjusted for inflation</a:t>
            </a:r>
            <a:endParaRPr sz="1000"/>
          </a:p>
        </p:txBody>
      </p:sp>
      <p:sp>
        <p:nvSpPr>
          <p:cNvPr id="318" name="Google Shape;318;p37"/>
          <p:cNvSpPr/>
          <p:nvPr/>
        </p:nvSpPr>
        <p:spPr>
          <a:xfrm>
            <a:off x="0" y="4892048"/>
            <a:ext cx="9144000" cy="248195"/>
          </a:xfrm>
          <a:prstGeom prst="rect">
            <a:avLst/>
          </a:prstGeom>
          <a:solidFill>
            <a:srgbClr val="123F6A"/>
          </a:solidFill>
          <a:ln>
            <a:noFill/>
          </a:ln>
        </p:spPr>
        <p:txBody>
          <a:bodyPr anchorCtr="0" anchor="ctr" bIns="62700" lIns="62700" spcFirstLastPara="1" rIns="62700" wrap="square" tIns="62700">
            <a:noAutofit/>
          </a:bodyPr>
          <a:lstStyle/>
          <a:p>
            <a:pPr indent="0" lvl="0" marL="0" rtl="0" algn="l">
              <a:spcBef>
                <a:spcPts val="0"/>
              </a:spcBef>
              <a:spcAft>
                <a:spcPts val="0"/>
              </a:spcAft>
              <a:buNone/>
            </a:pPr>
            <a:r>
              <a:t/>
            </a:r>
            <a:endParaRPr/>
          </a:p>
        </p:txBody>
      </p:sp>
      <p:sp>
        <p:nvSpPr>
          <p:cNvPr id="319" name="Google Shape;319;p37"/>
          <p:cNvSpPr/>
          <p:nvPr/>
        </p:nvSpPr>
        <p:spPr>
          <a:xfrm>
            <a:off x="137160" y="4911642"/>
            <a:ext cx="8869680" cy="176349"/>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lang="en" sz="900">
                <a:solidFill>
                  <a:srgbClr val="FFFFFF"/>
                </a:solidFill>
                <a:latin typeface="Arial"/>
                <a:ea typeface="Arial"/>
                <a:cs typeface="Arial"/>
                <a:sym typeface="Arial"/>
              </a:rPr>
              <a:t>FY30 onward: schedule applies if the foundation formula does not replace the excess spending threshold.</a:t>
            </a:r>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3" name="Shape 323"/>
        <p:cNvGrpSpPr/>
        <p:nvPr/>
      </p:nvGrpSpPr>
      <p:grpSpPr>
        <a:xfrm>
          <a:off x="0" y="0"/>
          <a:ext cx="0" cy="0"/>
          <a:chOff x="0" y="0"/>
          <a:chExt cx="0" cy="0"/>
        </a:xfrm>
      </p:grpSpPr>
      <p:sp>
        <p:nvSpPr>
          <p:cNvPr id="324" name="Google Shape;324;p38"/>
          <p:cNvSpPr txBox="1"/>
          <p:nvPr/>
        </p:nvSpPr>
        <p:spPr>
          <a:xfrm>
            <a:off x="457200" y="285750"/>
            <a:ext cx="82296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0F172A"/>
                </a:solidFill>
                <a:latin typeface="Inter ExtraBold"/>
                <a:ea typeface="Inter ExtraBold"/>
                <a:cs typeface="Inter ExtraBold"/>
                <a:sym typeface="Inter ExtraBold"/>
              </a:rPr>
              <a:t>Defining Choice</a:t>
            </a:r>
            <a:endParaRPr b="0" sz="2400">
              <a:solidFill>
                <a:srgbClr val="0F172A"/>
              </a:solidFill>
              <a:latin typeface="Inter ExtraBold"/>
              <a:ea typeface="Inter ExtraBold"/>
              <a:cs typeface="Inter ExtraBold"/>
              <a:sym typeface="Inter ExtraBold"/>
            </a:endParaRPr>
          </a:p>
          <a:p>
            <a:pPr indent="0" lvl="0" marL="0" rtl="0" algn="l">
              <a:spcBef>
                <a:spcPts val="300"/>
              </a:spcBef>
              <a:spcAft>
                <a:spcPts val="0"/>
              </a:spcAft>
              <a:buNone/>
            </a:pPr>
            <a:r>
              <a:rPr b="0" lang="en" sz="1200">
                <a:solidFill>
                  <a:srgbClr val="64748B"/>
                </a:solidFill>
                <a:latin typeface="Inter Medium"/>
                <a:ea typeface="Inter Medium"/>
                <a:cs typeface="Inter Medium"/>
                <a:sym typeface="Inter Medium"/>
              </a:rPr>
              <a:t>Tonight, we face a critical </a:t>
            </a:r>
            <a:r>
              <a:rPr lang="en" sz="1200">
                <a:solidFill>
                  <a:srgbClr val="64748B"/>
                </a:solidFill>
                <a:latin typeface="Inter Medium"/>
                <a:ea typeface="Inter Medium"/>
                <a:cs typeface="Inter Medium"/>
                <a:sym typeface="Inter Medium"/>
              </a:rPr>
              <a:t>question regarding</a:t>
            </a:r>
            <a:r>
              <a:rPr b="0" lang="en" sz="1200">
                <a:solidFill>
                  <a:srgbClr val="64748B"/>
                </a:solidFill>
                <a:latin typeface="Inter Medium"/>
                <a:ea typeface="Inter Medium"/>
                <a:cs typeface="Inter Medium"/>
                <a:sym typeface="Inter Medium"/>
              </a:rPr>
              <a:t> the future of our school district.</a:t>
            </a:r>
            <a:endParaRPr b="0" sz="1200">
              <a:solidFill>
                <a:srgbClr val="64748B"/>
              </a:solidFill>
              <a:latin typeface="Inter Medium"/>
              <a:ea typeface="Inter Medium"/>
              <a:cs typeface="Inter Medium"/>
              <a:sym typeface="Inter Medium"/>
            </a:endParaRPr>
          </a:p>
        </p:txBody>
      </p:sp>
      <p:grpSp>
        <p:nvGrpSpPr>
          <p:cNvPr id="325" name="Google Shape;325;p38"/>
          <p:cNvGrpSpPr/>
          <p:nvPr/>
        </p:nvGrpSpPr>
        <p:grpSpPr>
          <a:xfrm>
            <a:off x="457200" y="1047750"/>
            <a:ext cx="4305300" cy="1190700"/>
            <a:chOff x="0" y="0"/>
            <a:chExt cx="4305300" cy="1190700"/>
          </a:xfrm>
        </p:grpSpPr>
        <p:sp>
          <p:nvSpPr>
            <p:cNvPr id="326" name="Google Shape;326;p38"/>
            <p:cNvSpPr/>
            <p:nvPr/>
          </p:nvSpPr>
          <p:spPr>
            <a:xfrm>
              <a:off x="0" y="0"/>
              <a:ext cx="4305300" cy="1190700"/>
            </a:xfrm>
            <a:prstGeom prst="roundRect">
              <a:avLst>
                <a:gd fmla="val 96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38"/>
            <p:cNvSpPr/>
            <p:nvPr/>
          </p:nvSpPr>
          <p:spPr>
            <a:xfrm>
              <a:off x="190500" y="152400"/>
              <a:ext cx="1714500" cy="209700"/>
            </a:xfrm>
            <a:prstGeom prst="roundRect">
              <a:avLst>
                <a:gd fmla="val 50000"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38"/>
            <p:cNvSpPr txBox="1"/>
            <p:nvPr/>
          </p:nvSpPr>
          <p:spPr>
            <a:xfrm>
              <a:off x="0" y="0"/>
              <a:ext cx="4305300" cy="1190700"/>
            </a:xfrm>
            <a:prstGeom prst="rect">
              <a:avLst/>
            </a:prstGeom>
            <a:noFill/>
            <a:ln>
              <a:noFill/>
            </a:ln>
          </p:spPr>
          <p:txBody>
            <a:bodyPr anchorCtr="0" anchor="t" bIns="152400" lIns="190500" spcFirstLastPara="1" rIns="190500" wrap="square" tIns="152400">
              <a:noAutofit/>
            </a:bodyPr>
            <a:lstStyle/>
            <a:p>
              <a:pPr indent="0" lvl="0" marL="0" rtl="0" algn="l">
                <a:spcBef>
                  <a:spcPts val="0"/>
                </a:spcBef>
                <a:spcAft>
                  <a:spcPts val="0"/>
                </a:spcAft>
                <a:buNone/>
              </a:pPr>
              <a:r>
                <a:rPr b="1" lang="en" sz="850">
                  <a:solidFill>
                    <a:srgbClr val="DC2626"/>
                  </a:solidFill>
                  <a:latin typeface="Inter"/>
                  <a:ea typeface="Inter"/>
                  <a:cs typeface="Inter"/>
                  <a:sym typeface="Inter"/>
                </a:rPr>
                <a:t>OPTION 1: INCREMENTAL CUTS</a:t>
              </a:r>
              <a:endParaRPr b="1" sz="850">
                <a:solidFill>
                  <a:srgbClr val="DC2626"/>
                </a:solidFill>
                <a:latin typeface="Inter"/>
                <a:ea typeface="Inter"/>
                <a:cs typeface="Inter"/>
                <a:sym typeface="Inter"/>
              </a:endParaRPr>
            </a:p>
            <a:p>
              <a:pPr indent="0" lvl="0" marL="0" rtl="0" algn="l">
                <a:spcBef>
                  <a:spcPts val="1050"/>
                </a:spcBef>
                <a:spcAft>
                  <a:spcPts val="0"/>
                </a:spcAft>
                <a:buNone/>
              </a:pPr>
              <a:r>
                <a:rPr b="0" lang="en" sz="1050">
                  <a:solidFill>
                    <a:srgbClr val="334155"/>
                  </a:solidFill>
                  <a:latin typeface="Inter"/>
                  <a:ea typeface="Inter"/>
                  <a:cs typeface="Inter"/>
                  <a:sym typeface="Inter"/>
                </a:rPr>
                <a:t>Continue making </a:t>
              </a:r>
              <a:r>
                <a:rPr lang="en" sz="1050">
                  <a:solidFill>
                    <a:srgbClr val="334155"/>
                  </a:solidFill>
                  <a:latin typeface="Inter"/>
                  <a:ea typeface="Inter"/>
                  <a:cs typeface="Inter"/>
                  <a:sym typeface="Inter"/>
                </a:rPr>
                <a:t>incremental</a:t>
              </a:r>
              <a:r>
                <a:rPr b="0" lang="en" sz="1050">
                  <a:solidFill>
                    <a:srgbClr val="334155"/>
                  </a:solidFill>
                  <a:latin typeface="Inter"/>
                  <a:ea typeface="Inter"/>
                  <a:cs typeface="Inter"/>
                  <a:sym typeface="Inter"/>
                </a:rPr>
                <a:t> reductions year after year, further limiting student opportunities, placing greater demands on staff, and shifting burdens onto families.</a:t>
              </a:r>
              <a:endParaRPr b="0" sz="1050">
                <a:solidFill>
                  <a:srgbClr val="334155"/>
                </a:solidFill>
                <a:latin typeface="Inter"/>
                <a:ea typeface="Inter"/>
                <a:cs typeface="Inter"/>
                <a:sym typeface="Inter"/>
              </a:endParaRPr>
            </a:p>
          </p:txBody>
        </p:sp>
      </p:grpSp>
      <p:grpSp>
        <p:nvGrpSpPr>
          <p:cNvPr id="329" name="Google Shape;329;p38"/>
          <p:cNvGrpSpPr/>
          <p:nvPr/>
        </p:nvGrpSpPr>
        <p:grpSpPr>
          <a:xfrm>
            <a:off x="457200" y="2381250"/>
            <a:ext cx="4305300" cy="1190700"/>
            <a:chOff x="0" y="0"/>
            <a:chExt cx="4305300" cy="1190700"/>
          </a:xfrm>
        </p:grpSpPr>
        <p:sp>
          <p:nvSpPr>
            <p:cNvPr id="330" name="Google Shape;330;p38"/>
            <p:cNvSpPr/>
            <p:nvPr/>
          </p:nvSpPr>
          <p:spPr>
            <a:xfrm>
              <a:off x="0" y="0"/>
              <a:ext cx="4305300" cy="1190700"/>
            </a:xfrm>
            <a:prstGeom prst="roundRect">
              <a:avLst>
                <a:gd fmla="val 9600"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38"/>
            <p:cNvSpPr/>
            <p:nvPr/>
          </p:nvSpPr>
          <p:spPr>
            <a:xfrm>
              <a:off x="190500" y="152400"/>
              <a:ext cx="2000100" cy="209700"/>
            </a:xfrm>
            <a:prstGeom prst="roundRect">
              <a:avLst>
                <a:gd fmla="val 5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38"/>
            <p:cNvSpPr txBox="1"/>
            <p:nvPr/>
          </p:nvSpPr>
          <p:spPr>
            <a:xfrm>
              <a:off x="0" y="0"/>
              <a:ext cx="4305300" cy="1190700"/>
            </a:xfrm>
            <a:prstGeom prst="rect">
              <a:avLst/>
            </a:prstGeom>
            <a:noFill/>
            <a:ln>
              <a:noFill/>
            </a:ln>
          </p:spPr>
          <p:txBody>
            <a:bodyPr anchorCtr="0" anchor="t" bIns="152400" lIns="190500" spcFirstLastPara="1" rIns="190500" wrap="square" tIns="152400">
              <a:noAutofit/>
            </a:bodyPr>
            <a:lstStyle/>
            <a:p>
              <a:pPr indent="0" lvl="0" marL="0" rtl="0" algn="l">
                <a:spcBef>
                  <a:spcPts val="0"/>
                </a:spcBef>
                <a:spcAft>
                  <a:spcPts val="0"/>
                </a:spcAft>
                <a:buNone/>
              </a:pPr>
              <a:r>
                <a:rPr b="1" lang="en" sz="850">
                  <a:solidFill>
                    <a:srgbClr val="38BDF8"/>
                  </a:solidFill>
                  <a:latin typeface="Inter"/>
                  <a:ea typeface="Inter"/>
                  <a:cs typeface="Inter"/>
                  <a:sym typeface="Inter"/>
                </a:rPr>
                <a:t>OPTION 2: PROACTIVE EXAMINATION</a:t>
              </a:r>
              <a:endParaRPr b="1" sz="850">
                <a:solidFill>
                  <a:srgbClr val="38BDF8"/>
                </a:solidFill>
                <a:latin typeface="Inter"/>
                <a:ea typeface="Inter"/>
                <a:cs typeface="Inter"/>
                <a:sym typeface="Inter"/>
              </a:endParaRPr>
            </a:p>
            <a:p>
              <a:pPr indent="0" lvl="0" marL="0" rtl="0" algn="l">
                <a:spcBef>
                  <a:spcPts val="1050"/>
                </a:spcBef>
                <a:spcAft>
                  <a:spcPts val="0"/>
                </a:spcAft>
                <a:buNone/>
              </a:pPr>
              <a:r>
                <a:rPr b="0" lang="en" sz="1050">
                  <a:solidFill>
                    <a:srgbClr val="F1F5F9"/>
                  </a:solidFill>
                  <a:latin typeface="Inter"/>
                  <a:ea typeface="Inter"/>
                  <a:cs typeface="Inter"/>
                  <a:sym typeface="Inter"/>
                </a:rPr>
                <a:t>Take a hard look at a new district structure to concentrate resources where they matter most: in our classrooms, supporting students, and protecting quality.</a:t>
              </a:r>
              <a:endParaRPr b="0" sz="1050">
                <a:solidFill>
                  <a:srgbClr val="F1F5F9"/>
                </a:solidFill>
                <a:latin typeface="Inter"/>
                <a:ea typeface="Inter"/>
                <a:cs typeface="Inter"/>
                <a:sym typeface="Inter"/>
              </a:endParaRPr>
            </a:p>
          </p:txBody>
        </p:sp>
      </p:grpSp>
      <p:grpSp>
        <p:nvGrpSpPr>
          <p:cNvPr id="333" name="Google Shape;333;p38"/>
          <p:cNvGrpSpPr/>
          <p:nvPr/>
        </p:nvGrpSpPr>
        <p:grpSpPr>
          <a:xfrm>
            <a:off x="457200" y="3714750"/>
            <a:ext cx="4305300" cy="1000200"/>
            <a:chOff x="0" y="0"/>
            <a:chExt cx="4305300" cy="1000200"/>
          </a:xfrm>
        </p:grpSpPr>
        <p:sp>
          <p:nvSpPr>
            <p:cNvPr id="334" name="Google Shape;334;p38"/>
            <p:cNvSpPr/>
            <p:nvPr/>
          </p:nvSpPr>
          <p:spPr>
            <a:xfrm>
              <a:off x="0" y="0"/>
              <a:ext cx="4305300" cy="1000200"/>
            </a:xfrm>
            <a:prstGeom prst="roundRect">
              <a:avLst>
                <a:gd fmla="val 11428" name="adj"/>
              </a:avLst>
            </a:prstGeom>
            <a:solidFill>
              <a:srgbClr val="EFF6FF"/>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38"/>
            <p:cNvSpPr txBox="1"/>
            <p:nvPr/>
          </p:nvSpPr>
          <p:spPr>
            <a:xfrm>
              <a:off x="0" y="0"/>
              <a:ext cx="4305300" cy="1000200"/>
            </a:xfrm>
            <a:prstGeom prst="rect">
              <a:avLst/>
            </a:prstGeom>
            <a:noFill/>
            <a:ln>
              <a:noFill/>
            </a:ln>
          </p:spPr>
          <p:txBody>
            <a:bodyPr anchorCtr="0" anchor="ctr" bIns="152400" lIns="190500" spcFirstLastPara="1" rIns="190500" wrap="square" tIns="152400">
              <a:noAutofit/>
            </a:bodyPr>
            <a:lstStyle/>
            <a:p>
              <a:pPr indent="0" lvl="0" marL="0" rtl="0" algn="l">
                <a:spcBef>
                  <a:spcPts val="0"/>
                </a:spcBef>
                <a:spcAft>
                  <a:spcPts val="0"/>
                </a:spcAft>
                <a:buNone/>
              </a:pPr>
              <a:r>
                <a:rPr b="1" lang="en" sz="950">
                  <a:solidFill>
                    <a:srgbClr val="1D4ED8"/>
                  </a:solidFill>
                  <a:latin typeface="Inter"/>
                  <a:ea typeface="Inter"/>
                  <a:cs typeface="Inter"/>
                  <a:sym typeface="Inter"/>
                </a:rPr>
                <a:t>THE QUESTION BEFORE US</a:t>
              </a:r>
              <a:endParaRPr b="1" sz="950">
                <a:solidFill>
                  <a:srgbClr val="1D4ED8"/>
                </a:solidFill>
                <a:latin typeface="Inter"/>
                <a:ea typeface="Inter"/>
                <a:cs typeface="Inter"/>
                <a:sym typeface="Inter"/>
              </a:endParaRPr>
            </a:p>
            <a:p>
              <a:pPr indent="0" lvl="0" marL="0" rtl="0" algn="l">
                <a:spcBef>
                  <a:spcPts val="450"/>
                </a:spcBef>
                <a:spcAft>
                  <a:spcPts val="0"/>
                </a:spcAft>
                <a:buNone/>
              </a:pPr>
              <a:r>
                <a:rPr lang="en" sz="1000">
                  <a:solidFill>
                    <a:srgbClr val="1E3A8A"/>
                  </a:solidFill>
                  <a:latin typeface="Inter Medium"/>
                  <a:ea typeface="Inter Medium"/>
                  <a:cs typeface="Inter Medium"/>
                  <a:sym typeface="Inter Medium"/>
                </a:rPr>
                <a:t>What decisions will best support strong educational opportunities for our students while ensuring our district’s long-term financial sustainability?</a:t>
              </a:r>
              <a:endParaRPr b="0" sz="1000">
                <a:solidFill>
                  <a:srgbClr val="1E3A8A"/>
                </a:solidFill>
                <a:latin typeface="Inter Medium"/>
                <a:ea typeface="Inter Medium"/>
                <a:cs typeface="Inter Medium"/>
                <a:sym typeface="Inter Medium"/>
              </a:endParaRPr>
            </a:p>
          </p:txBody>
        </p:sp>
      </p:grpSp>
      <p:pic>
        <p:nvPicPr>
          <p:cNvPr id="336" name="Google Shape;336;p38"/>
          <p:cNvPicPr preferRelativeResize="0"/>
          <p:nvPr/>
        </p:nvPicPr>
        <p:blipFill rotWithShape="1">
          <a:blip r:embed="rId4">
            <a:alphaModFix/>
          </a:blip>
          <a:srcRect b="2144" l="0" r="0" t="2144"/>
          <a:stretch/>
        </p:blipFill>
        <p:spPr>
          <a:xfrm>
            <a:off x="4991100" y="1047750"/>
            <a:ext cx="3695700" cy="366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0" name="Shape 340"/>
        <p:cNvGrpSpPr/>
        <p:nvPr/>
      </p:nvGrpSpPr>
      <p:grpSpPr>
        <a:xfrm>
          <a:off x="0" y="0"/>
          <a:ext cx="0" cy="0"/>
          <a:chOff x="0" y="0"/>
          <a:chExt cx="0" cy="0"/>
        </a:xfrm>
      </p:grpSpPr>
      <p:sp>
        <p:nvSpPr>
          <p:cNvPr id="341" name="Google Shape;341;p39"/>
          <p:cNvSpPr txBox="1"/>
          <p:nvPr/>
        </p:nvSpPr>
        <p:spPr>
          <a:xfrm>
            <a:off x="571500" y="428625"/>
            <a:ext cx="8001000" cy="9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600">
                <a:solidFill>
                  <a:srgbClr val="0F172A"/>
                </a:solidFill>
                <a:latin typeface="Inter ExtraBold"/>
                <a:ea typeface="Inter ExtraBold"/>
                <a:cs typeface="Inter ExtraBold"/>
                <a:sym typeface="Inter ExtraBold"/>
              </a:rPr>
              <a:t>We cannot keep </a:t>
            </a:r>
            <a:r>
              <a:rPr b="0" lang="en" sz="2600">
                <a:solidFill>
                  <a:srgbClr val="DC2626"/>
                </a:solidFill>
                <a:latin typeface="Inter ExtraBold"/>
                <a:ea typeface="Inter ExtraBold"/>
                <a:cs typeface="Inter ExtraBold"/>
                <a:sym typeface="Inter ExtraBold"/>
              </a:rPr>
              <a:t>cutting our way forward</a:t>
            </a:r>
            <a:r>
              <a:rPr b="0" lang="en" sz="2600">
                <a:solidFill>
                  <a:srgbClr val="0F172A"/>
                </a:solidFill>
                <a:latin typeface="Inter ExtraBold"/>
                <a:ea typeface="Inter ExtraBold"/>
                <a:cs typeface="Inter ExtraBold"/>
                <a:sym typeface="Inter ExtraBold"/>
              </a:rPr>
              <a:t> without changing how we operate.</a:t>
            </a:r>
            <a:endParaRPr b="0" sz="2600">
              <a:solidFill>
                <a:srgbClr val="0F172A"/>
              </a:solidFill>
              <a:latin typeface="Inter ExtraBold"/>
              <a:ea typeface="Inter ExtraBold"/>
              <a:cs typeface="Inter ExtraBold"/>
              <a:sym typeface="Inter ExtraBold"/>
            </a:endParaRPr>
          </a:p>
        </p:txBody>
      </p:sp>
      <p:cxnSp>
        <p:nvCxnSpPr>
          <p:cNvPr id="342" name="Google Shape;342;p39"/>
          <p:cNvCxnSpPr/>
          <p:nvPr/>
        </p:nvCxnSpPr>
        <p:spPr>
          <a:xfrm>
            <a:off x="571500" y="1428750"/>
            <a:ext cx="8001000" cy="0"/>
          </a:xfrm>
          <a:prstGeom prst="straightConnector1">
            <a:avLst/>
          </a:prstGeom>
          <a:solidFill>
            <a:srgbClr val="FFFFFF"/>
          </a:solidFill>
          <a:ln cap="flat" cmpd="sng" w="19050">
            <a:solidFill>
              <a:srgbClr val="E2E8F0"/>
            </a:solidFill>
            <a:prstDash val="solid"/>
            <a:round/>
            <a:headEnd len="sm" w="sm" type="none"/>
            <a:tailEnd len="sm" w="sm" type="none"/>
          </a:ln>
        </p:spPr>
      </p:cxnSp>
      <p:grpSp>
        <p:nvGrpSpPr>
          <p:cNvPr id="343" name="Google Shape;343;p39"/>
          <p:cNvGrpSpPr/>
          <p:nvPr/>
        </p:nvGrpSpPr>
        <p:grpSpPr>
          <a:xfrm>
            <a:off x="571500" y="1714500"/>
            <a:ext cx="3857700" cy="2762400"/>
            <a:chOff x="0" y="0"/>
            <a:chExt cx="3857700" cy="2762400"/>
          </a:xfrm>
        </p:grpSpPr>
        <p:sp>
          <p:nvSpPr>
            <p:cNvPr id="344" name="Google Shape;344;p39"/>
            <p:cNvSpPr/>
            <p:nvPr/>
          </p:nvSpPr>
          <p:spPr>
            <a:xfrm>
              <a:off x="0" y="0"/>
              <a:ext cx="3857700" cy="2762400"/>
            </a:xfrm>
            <a:prstGeom prst="roundRect">
              <a:avLst>
                <a:gd fmla="val 551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39"/>
            <p:cNvSpPr/>
            <p:nvPr/>
          </p:nvSpPr>
          <p:spPr>
            <a:xfrm>
              <a:off x="266700" y="266700"/>
              <a:ext cx="1285800" cy="266700"/>
            </a:xfrm>
            <a:prstGeom prst="roundRect">
              <a:avLst>
                <a:gd fmla="val 50000"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46" name="Google Shape;346;p39"/>
          <p:cNvSpPr txBox="1"/>
          <p:nvPr/>
        </p:nvSpPr>
        <p:spPr>
          <a:xfrm>
            <a:off x="838200" y="1981200"/>
            <a:ext cx="33339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DC2626"/>
                </a:solidFill>
                <a:latin typeface="Inter"/>
                <a:ea typeface="Inter"/>
                <a:cs typeface="Inter"/>
                <a:sym typeface="Inter"/>
              </a:rPr>
              <a:t>THE CHALLENGE</a:t>
            </a:r>
            <a:endParaRPr b="1" sz="1000">
              <a:solidFill>
                <a:srgbClr val="DC2626"/>
              </a:solidFill>
              <a:latin typeface="Inter"/>
              <a:ea typeface="Inter"/>
              <a:cs typeface="Inter"/>
              <a:sym typeface="Inter"/>
            </a:endParaRPr>
          </a:p>
          <a:p>
            <a:pPr indent="0" lvl="0" marL="0" rtl="0" algn="l">
              <a:spcBef>
                <a:spcPts val="1350"/>
              </a:spcBef>
              <a:spcAft>
                <a:spcPts val="0"/>
              </a:spcAft>
              <a:buNone/>
            </a:pPr>
            <a:r>
              <a:rPr b="1" lang="en" sz="1800">
                <a:solidFill>
                  <a:srgbClr val="0F172A"/>
                </a:solidFill>
                <a:latin typeface="Inter"/>
                <a:ea typeface="Inter"/>
                <a:cs typeface="Inter"/>
                <a:sym typeface="Inter"/>
              </a:rPr>
              <a:t>Beyond Preserving Structures</a:t>
            </a:r>
            <a:endParaRPr b="1" sz="1800">
              <a:solidFill>
                <a:srgbClr val="0F172A"/>
              </a:solidFill>
              <a:latin typeface="Inter"/>
              <a:ea typeface="Inter"/>
              <a:cs typeface="Inter"/>
              <a:sym typeface="Inter"/>
            </a:endParaRPr>
          </a:p>
          <a:p>
            <a:pPr indent="0" lvl="0" marL="0" rtl="0" algn="l">
              <a:spcBef>
                <a:spcPts val="900"/>
              </a:spcBef>
              <a:spcAft>
                <a:spcPts val="0"/>
              </a:spcAft>
              <a:buNone/>
            </a:pPr>
            <a:r>
              <a:rPr b="0" lang="en" sz="1300">
                <a:solidFill>
                  <a:srgbClr val="475569"/>
                </a:solidFill>
                <a:latin typeface="Inter"/>
                <a:ea typeface="Inter"/>
                <a:cs typeface="Inter"/>
                <a:sym typeface="Inter"/>
              </a:rPr>
              <a:t>Our responsibility is </a:t>
            </a:r>
            <a:r>
              <a:rPr lang="en" sz="1300">
                <a:solidFill>
                  <a:srgbClr val="475569"/>
                </a:solidFill>
                <a:latin typeface="Inter"/>
                <a:ea typeface="Inter"/>
                <a:cs typeface="Inter"/>
                <a:sym typeface="Inter"/>
              </a:rPr>
              <a:t>to ensure that our facilities support strong educational opportunities for students and a financially sustainable future for our district</a:t>
            </a:r>
            <a:r>
              <a:rPr b="0" lang="en" sz="1300">
                <a:solidFill>
                  <a:srgbClr val="475569"/>
                </a:solidFill>
                <a:latin typeface="Inter"/>
                <a:ea typeface="Inter"/>
                <a:cs typeface="Inter"/>
                <a:sym typeface="Inter"/>
              </a:rPr>
              <a:t>.</a:t>
            </a:r>
            <a:endParaRPr b="0" sz="1300">
              <a:solidFill>
                <a:srgbClr val="475569"/>
              </a:solidFill>
              <a:latin typeface="Inter"/>
              <a:ea typeface="Inter"/>
              <a:cs typeface="Inter"/>
              <a:sym typeface="Inter"/>
            </a:endParaRPr>
          </a:p>
        </p:txBody>
      </p:sp>
      <p:grpSp>
        <p:nvGrpSpPr>
          <p:cNvPr id="347" name="Google Shape;347;p39"/>
          <p:cNvGrpSpPr/>
          <p:nvPr/>
        </p:nvGrpSpPr>
        <p:grpSpPr>
          <a:xfrm>
            <a:off x="4714875" y="1714500"/>
            <a:ext cx="3857700" cy="2762400"/>
            <a:chOff x="0" y="0"/>
            <a:chExt cx="3857700" cy="2762400"/>
          </a:xfrm>
        </p:grpSpPr>
        <p:sp>
          <p:nvSpPr>
            <p:cNvPr id="348" name="Google Shape;348;p39"/>
            <p:cNvSpPr/>
            <p:nvPr/>
          </p:nvSpPr>
          <p:spPr>
            <a:xfrm>
              <a:off x="0" y="0"/>
              <a:ext cx="3857700" cy="2762400"/>
            </a:xfrm>
            <a:prstGeom prst="roundRect">
              <a:avLst>
                <a:gd fmla="val 5517"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9" name="Google Shape;349;p39"/>
            <p:cNvSpPr/>
            <p:nvPr/>
          </p:nvSpPr>
          <p:spPr>
            <a:xfrm>
              <a:off x="266700" y="266700"/>
              <a:ext cx="1571700" cy="266700"/>
            </a:xfrm>
            <a:prstGeom prst="roundRect">
              <a:avLst>
                <a:gd fmla="val 5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50" name="Google Shape;350;p39"/>
          <p:cNvSpPr txBox="1"/>
          <p:nvPr/>
        </p:nvSpPr>
        <p:spPr>
          <a:xfrm>
            <a:off x="4981575" y="1981200"/>
            <a:ext cx="33339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38BDF8"/>
                </a:solidFill>
                <a:latin typeface="Inter"/>
                <a:ea typeface="Inter"/>
                <a:cs typeface="Inter"/>
                <a:sym typeface="Inter"/>
              </a:rPr>
              <a:t>OUR RESPONSIBILITY</a:t>
            </a:r>
            <a:endParaRPr b="1" sz="1000">
              <a:solidFill>
                <a:srgbClr val="38BDF8"/>
              </a:solidFill>
              <a:latin typeface="Inter"/>
              <a:ea typeface="Inter"/>
              <a:cs typeface="Inter"/>
              <a:sym typeface="Inter"/>
            </a:endParaRPr>
          </a:p>
          <a:p>
            <a:pPr indent="0" lvl="0" marL="0" rtl="0" algn="l">
              <a:spcBef>
                <a:spcPts val="1350"/>
              </a:spcBef>
              <a:spcAft>
                <a:spcPts val="0"/>
              </a:spcAft>
              <a:buNone/>
            </a:pPr>
            <a:r>
              <a:rPr b="1" lang="en" sz="1800">
                <a:solidFill>
                  <a:srgbClr val="FFFFFF"/>
                </a:solidFill>
                <a:latin typeface="Inter"/>
                <a:ea typeface="Inter"/>
                <a:cs typeface="Inter"/>
                <a:sym typeface="Inter"/>
              </a:rPr>
              <a:t>Sustainable Education</a:t>
            </a:r>
            <a:endParaRPr b="1" sz="1800">
              <a:solidFill>
                <a:srgbClr val="FFFFFF"/>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300">
                <a:solidFill>
                  <a:srgbClr val="94A3B8"/>
                </a:solidFill>
                <a:latin typeface="Inter"/>
                <a:ea typeface="Inter"/>
                <a:cs typeface="Inter"/>
                <a:sym typeface="Inter"/>
              </a:rPr>
              <a:t>Together, our collective community can plan for changing enrollment while making thoughtful use of our building footprint and human resources to meet students’ needs.</a:t>
            </a:r>
            <a:endParaRPr sz="1300">
              <a:solidFill>
                <a:srgbClr val="94A3B8"/>
              </a:solidFill>
              <a:latin typeface="Inter"/>
              <a:ea typeface="Inter"/>
              <a:cs typeface="Inter"/>
              <a:sym typeface="Inter"/>
            </a:endParaRPr>
          </a:p>
          <a:p>
            <a:pPr indent="0" lvl="0" marL="0" rtl="0" algn="l">
              <a:spcBef>
                <a:spcPts val="1200"/>
              </a:spcBef>
              <a:spcAft>
                <a:spcPts val="0"/>
              </a:spcAft>
              <a:buNone/>
            </a:pPr>
            <a:r>
              <a:t/>
            </a:r>
            <a:endParaRPr sz="1300">
              <a:solidFill>
                <a:srgbClr val="94A3B8"/>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0"/>
          <p:cNvSpPr/>
          <p:nvPr/>
        </p:nvSpPr>
        <p:spPr>
          <a:xfrm>
            <a:off x="0" y="0"/>
            <a:ext cx="9144000" cy="47700"/>
          </a:xfrm>
          <a:prstGeom prst="rect">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 name="Google Shape;356;p40"/>
          <p:cNvSpPr txBox="1"/>
          <p:nvPr/>
        </p:nvSpPr>
        <p:spPr>
          <a:xfrm>
            <a:off x="457200" y="228600"/>
            <a:ext cx="8229600" cy="743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2563EB"/>
                </a:solidFill>
                <a:latin typeface="Inter"/>
                <a:ea typeface="Inter"/>
                <a:cs typeface="Inter"/>
                <a:sym typeface="Inter"/>
              </a:rPr>
              <a:t>FINANCIAL OVERVIEW &amp; THRESHOLDS</a:t>
            </a:r>
            <a:endParaRPr b="1" sz="900">
              <a:solidFill>
                <a:srgbClr val="2563EB"/>
              </a:solidFill>
              <a:latin typeface="Inter"/>
              <a:ea typeface="Inter"/>
              <a:cs typeface="Inter"/>
              <a:sym typeface="Inter"/>
            </a:endParaRPr>
          </a:p>
          <a:p>
            <a:pPr indent="0" lvl="0" marL="0" rtl="0" algn="l">
              <a:spcBef>
                <a:spcPts val="300"/>
              </a:spcBef>
              <a:spcAft>
                <a:spcPts val="0"/>
              </a:spcAft>
              <a:buNone/>
            </a:pPr>
            <a:r>
              <a:rPr b="0" lang="en" sz="2200">
                <a:solidFill>
                  <a:srgbClr val="0F172A"/>
                </a:solidFill>
                <a:latin typeface="Inter ExtraBold"/>
                <a:ea typeface="Inter ExtraBold"/>
                <a:cs typeface="Inter ExtraBold"/>
                <a:sym typeface="Inter ExtraBold"/>
              </a:rPr>
              <a:t>Review Of FY28 Pro</a:t>
            </a:r>
            <a:r>
              <a:rPr lang="en" sz="2200">
                <a:solidFill>
                  <a:srgbClr val="0F172A"/>
                </a:solidFill>
                <a:latin typeface="Inter ExtraBold"/>
                <a:ea typeface="Inter ExtraBold"/>
                <a:cs typeface="Inter ExtraBold"/>
                <a:sym typeface="Inter ExtraBold"/>
              </a:rPr>
              <a:t>posed </a:t>
            </a:r>
            <a:r>
              <a:rPr b="0" lang="en" sz="2200">
                <a:solidFill>
                  <a:srgbClr val="0F172A"/>
                </a:solidFill>
                <a:latin typeface="Inter ExtraBold"/>
                <a:ea typeface="Inter ExtraBold"/>
                <a:cs typeface="Inter ExtraBold"/>
                <a:sym typeface="Inter ExtraBold"/>
              </a:rPr>
              <a:t>Budget </a:t>
            </a:r>
            <a:r>
              <a:rPr lang="en" sz="2200">
                <a:solidFill>
                  <a:srgbClr val="0F172A"/>
                </a:solidFill>
                <a:latin typeface="Inter ExtraBold"/>
                <a:ea typeface="Inter ExtraBold"/>
                <a:cs typeface="Inter ExtraBold"/>
                <a:sym typeface="Inter ExtraBold"/>
              </a:rPr>
              <a:t>Impacts </a:t>
            </a:r>
            <a:endParaRPr b="0" sz="2200">
              <a:solidFill>
                <a:srgbClr val="0F172A"/>
              </a:solidFill>
              <a:latin typeface="Inter ExtraBold"/>
              <a:ea typeface="Inter ExtraBold"/>
              <a:cs typeface="Inter ExtraBold"/>
              <a:sym typeface="Inter ExtraBold"/>
            </a:endParaRPr>
          </a:p>
          <a:p>
            <a:pPr indent="0" lvl="0" marL="0" rtl="0" algn="l">
              <a:spcBef>
                <a:spcPts val="300"/>
              </a:spcBef>
              <a:spcAft>
                <a:spcPts val="0"/>
              </a:spcAft>
              <a:buNone/>
            </a:pPr>
            <a:r>
              <a:rPr b="0" lang="en" sz="1050">
                <a:solidFill>
                  <a:srgbClr val="64748B"/>
                </a:solidFill>
                <a:latin typeface="Inter Medium"/>
                <a:ea typeface="Inter Medium"/>
                <a:cs typeface="Inter Medium"/>
                <a:sym typeface="Inter Medium"/>
              </a:rPr>
              <a:t>Level service budget, projected inflation rates, and Level funded (not to exceed excess spending threshold [EST])</a:t>
            </a:r>
            <a:endParaRPr b="0" sz="1050">
              <a:solidFill>
                <a:srgbClr val="64748B"/>
              </a:solidFill>
              <a:latin typeface="Inter Medium"/>
              <a:ea typeface="Inter Medium"/>
              <a:cs typeface="Inter Medium"/>
              <a:sym typeface="Inter Medium"/>
            </a:endParaRPr>
          </a:p>
        </p:txBody>
      </p:sp>
      <p:grpSp>
        <p:nvGrpSpPr>
          <p:cNvPr id="357" name="Google Shape;357;p40"/>
          <p:cNvGrpSpPr/>
          <p:nvPr/>
        </p:nvGrpSpPr>
        <p:grpSpPr>
          <a:xfrm>
            <a:off x="457200" y="1095375"/>
            <a:ext cx="2610000" cy="3095700"/>
            <a:chOff x="0" y="0"/>
            <a:chExt cx="2610000" cy="3095700"/>
          </a:xfrm>
        </p:grpSpPr>
        <p:sp>
          <p:nvSpPr>
            <p:cNvPr id="358" name="Google Shape;358;p40"/>
            <p:cNvSpPr/>
            <p:nvPr/>
          </p:nvSpPr>
          <p:spPr>
            <a:xfrm>
              <a:off x="0" y="0"/>
              <a:ext cx="2610000" cy="3095700"/>
            </a:xfrm>
            <a:prstGeom prst="roundRect">
              <a:avLst>
                <a:gd fmla="val 437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40"/>
            <p:cNvSpPr/>
            <p:nvPr/>
          </p:nvSpPr>
          <p:spPr>
            <a:xfrm>
              <a:off x="0" y="0"/>
              <a:ext cx="2610000" cy="5730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40"/>
            <p:cNvSpPr txBox="1"/>
            <p:nvPr/>
          </p:nvSpPr>
          <p:spPr>
            <a:xfrm>
              <a:off x="190500" y="190500"/>
              <a:ext cx="2229000" cy="2714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chemeClr val="dk1"/>
                  </a:solidFill>
                  <a:latin typeface="Inter"/>
                  <a:ea typeface="Inter"/>
                  <a:cs typeface="Inter"/>
                  <a:sym typeface="Inter"/>
                </a:rPr>
                <a:t>Level Service</a:t>
              </a:r>
              <a:endParaRPr sz="1600">
                <a:solidFill>
                  <a:schemeClr val="dk1"/>
                </a:solidFill>
                <a:latin typeface="Inter"/>
                <a:ea typeface="Inter"/>
                <a:cs typeface="Inter"/>
                <a:sym typeface="Inter"/>
              </a:endParaRPr>
            </a:p>
            <a:p>
              <a:pPr indent="0" lvl="0" marL="0" rtl="0" algn="l">
                <a:spcBef>
                  <a:spcPts val="900"/>
                </a:spcBef>
                <a:spcAft>
                  <a:spcPts val="0"/>
                </a:spcAft>
                <a:buNone/>
              </a:pPr>
              <a:r>
                <a:rPr b="0" lang="en" sz="2200">
                  <a:solidFill>
                    <a:srgbClr val="0284C7"/>
                  </a:solidFill>
                  <a:latin typeface="Inter ExtraBold"/>
                  <a:ea typeface="Inter ExtraBold"/>
                  <a:cs typeface="Inter ExtraBold"/>
                  <a:sym typeface="Inter ExtraBold"/>
                </a:rPr>
                <a:t>$55,224,120</a:t>
              </a:r>
              <a:endParaRPr b="0" sz="2200">
                <a:solidFill>
                  <a:srgbClr val="0284C7"/>
                </a:solidFill>
                <a:latin typeface="Inter ExtraBold"/>
                <a:ea typeface="Inter ExtraBold"/>
                <a:cs typeface="Inter ExtraBold"/>
                <a:sym typeface="Inter ExtraBold"/>
              </a:endParaRPr>
            </a:p>
            <a:p>
              <a:pPr indent="0" lvl="0" marL="0" rtl="0" algn="l">
                <a:spcBef>
                  <a:spcPts val="300"/>
                </a:spcBef>
                <a:spcAft>
                  <a:spcPts val="0"/>
                </a:spcAft>
                <a:buNone/>
              </a:pPr>
              <a:r>
                <a:rPr b="0" lang="en" sz="1300">
                  <a:solidFill>
                    <a:srgbClr val="0284C7"/>
                  </a:solidFill>
                  <a:latin typeface="Inter ExtraBold"/>
                  <a:ea typeface="Inter ExtraBold"/>
                  <a:cs typeface="Inter ExtraBold"/>
                  <a:sym typeface="Inter ExtraBold"/>
                </a:rPr>
                <a:t>+6.436% Year over </a:t>
              </a:r>
              <a:r>
                <a:rPr lang="en" sz="1300">
                  <a:solidFill>
                    <a:srgbClr val="0284C7"/>
                  </a:solidFill>
                  <a:latin typeface="Inter ExtraBold"/>
                  <a:ea typeface="Inter ExtraBold"/>
                  <a:cs typeface="Inter ExtraBold"/>
                  <a:sym typeface="Inter ExtraBold"/>
                </a:rPr>
                <a:t>Year</a:t>
              </a:r>
              <a:r>
                <a:rPr lang="en" sz="1600">
                  <a:solidFill>
                    <a:srgbClr val="0284C7"/>
                  </a:solidFill>
                  <a:latin typeface="Material Icons"/>
                  <a:ea typeface="Material Icons"/>
                  <a:cs typeface="Material Icons"/>
                  <a:sym typeface="Material Icons"/>
                </a:rPr>
                <a:t>north</a:t>
              </a:r>
              <a:endParaRPr>
                <a:latin typeface="Inter"/>
                <a:ea typeface="Inter"/>
                <a:cs typeface="Inter"/>
                <a:sym typeface="Inter"/>
              </a:endParaRPr>
            </a:p>
            <a:p>
              <a:pPr indent="0" lvl="0" marL="0" rtl="0" algn="l">
                <a:spcBef>
                  <a:spcPts val="900"/>
                </a:spcBef>
                <a:spcAft>
                  <a:spcPts val="0"/>
                </a:spcAft>
                <a:buNone/>
              </a:pPr>
              <a:r>
                <a:rPr b="0" lang="en" sz="900">
                  <a:solidFill>
                    <a:srgbClr val="991B1B"/>
                  </a:solidFill>
                  <a:highlight>
                    <a:srgbClr val="FEF2F2"/>
                  </a:highlight>
                  <a:latin typeface="Inter SemiBold"/>
                  <a:ea typeface="Inter SemiBold"/>
                  <a:cs typeface="Inter SemiBold"/>
                  <a:sym typeface="Inter SemiBold"/>
                </a:rPr>
                <a:t>Exceeds EST by </a:t>
              </a:r>
              <a:r>
                <a:rPr b="0" lang="en" sz="1100">
                  <a:solidFill>
                    <a:srgbClr val="DC2626"/>
                  </a:solidFill>
                  <a:latin typeface="Inter ExtraBold"/>
                  <a:ea typeface="Inter ExtraBold"/>
                  <a:cs typeface="Inter ExtraBold"/>
                  <a:sym typeface="Inter ExtraBold"/>
                </a:rPr>
                <a:t>$1,081 p</a:t>
              </a:r>
              <a:r>
                <a:rPr lang="en" sz="1100">
                  <a:solidFill>
                    <a:srgbClr val="DC2626"/>
                  </a:solidFill>
                  <a:latin typeface="Inter ExtraBold"/>
                  <a:ea typeface="Inter ExtraBold"/>
                  <a:cs typeface="Inter ExtraBold"/>
                  <a:sym typeface="Inter ExtraBold"/>
                </a:rPr>
                <a:t>er pupil</a:t>
              </a:r>
              <a:endParaRPr b="0" sz="900">
                <a:solidFill>
                  <a:srgbClr val="991B1B"/>
                </a:solidFill>
                <a:highlight>
                  <a:srgbClr val="FEF2F2"/>
                </a:highlight>
                <a:latin typeface="Inter SemiBold"/>
                <a:ea typeface="Inter SemiBold"/>
                <a:cs typeface="Inter SemiBold"/>
                <a:sym typeface="Inter SemiBold"/>
              </a:endParaRPr>
            </a:p>
            <a:p>
              <a:pPr indent="0" lvl="0" marL="0" rtl="0" algn="l">
                <a:spcBef>
                  <a:spcPts val="1050"/>
                </a:spcBef>
                <a:spcAft>
                  <a:spcPts val="0"/>
                </a:spcAft>
                <a:buNone/>
              </a:pPr>
              <a:r>
                <a:rPr b="1" lang="en" sz="800">
                  <a:solidFill>
                    <a:srgbClr val="64748B"/>
                  </a:solidFill>
                  <a:latin typeface="Inter"/>
                  <a:ea typeface="Inter"/>
                  <a:cs typeface="Inter"/>
                  <a:sym typeface="Inter"/>
                </a:rPr>
                <a:t>EXCESS SPENDING </a:t>
              </a:r>
              <a:r>
                <a:rPr b="1" lang="en" sz="800">
                  <a:solidFill>
                    <a:srgbClr val="64748B"/>
                  </a:solidFill>
                  <a:latin typeface="Inter"/>
                  <a:ea typeface="Inter"/>
                  <a:cs typeface="Inter"/>
                  <a:sym typeface="Inter"/>
                </a:rPr>
                <a:t>PENALTY</a:t>
              </a:r>
              <a:endParaRPr b="1" sz="800">
                <a:solidFill>
                  <a:srgbClr val="64748B"/>
                </a:solidFill>
                <a:latin typeface="Inter"/>
                <a:ea typeface="Inter"/>
                <a:cs typeface="Inter"/>
                <a:sym typeface="Inter"/>
              </a:endParaRPr>
            </a:p>
            <a:p>
              <a:pPr indent="0" lvl="0" marL="0" rtl="0" algn="l">
                <a:spcBef>
                  <a:spcPts val="300"/>
                </a:spcBef>
                <a:spcAft>
                  <a:spcPts val="0"/>
                </a:spcAft>
                <a:buNone/>
              </a:pPr>
              <a:r>
                <a:rPr b="0" lang="en" sz="1800">
                  <a:solidFill>
                    <a:srgbClr val="0F172A"/>
                  </a:solidFill>
                  <a:latin typeface="Inter ExtraBold"/>
                  <a:ea typeface="Inter ExtraBold"/>
                  <a:cs typeface="Inter ExtraBold"/>
                  <a:sym typeface="Inter ExtraBold"/>
                </a:rPr>
                <a:t>$2,773,267</a:t>
              </a:r>
              <a:endParaRPr b="0" sz="1800">
                <a:solidFill>
                  <a:srgbClr val="0F172A"/>
                </a:solidFill>
                <a:latin typeface="Inter ExtraBold"/>
                <a:ea typeface="Inter ExtraBold"/>
                <a:cs typeface="Inter ExtraBold"/>
                <a:sym typeface="Inter ExtraBold"/>
              </a:endParaRPr>
            </a:p>
            <a:p>
              <a:pPr indent="0" lvl="0" marL="0" rtl="0" algn="l">
                <a:spcBef>
                  <a:spcPts val="150"/>
                </a:spcBef>
                <a:spcAft>
                  <a:spcPts val="0"/>
                </a:spcAft>
                <a:buNone/>
              </a:pPr>
              <a:r>
                <a:rPr b="0" lang="en" sz="850">
                  <a:solidFill>
                    <a:srgbClr val="0369A1"/>
                  </a:solidFill>
                  <a:latin typeface="Inter SemiBold"/>
                  <a:ea typeface="Inter SemiBold"/>
                  <a:cs typeface="Inter SemiBold"/>
                  <a:sym typeface="Inter SemiBold"/>
                </a:rPr>
                <a:t>IMPACT ON TAXPAYERS</a:t>
              </a:r>
              <a:endParaRPr b="0" sz="850">
                <a:solidFill>
                  <a:srgbClr val="0369A1"/>
                </a:solidFill>
                <a:latin typeface="Inter SemiBold"/>
                <a:ea typeface="Inter SemiBold"/>
                <a:cs typeface="Inter SemiBold"/>
                <a:sym typeface="Inter SemiBold"/>
              </a:endParaRPr>
            </a:p>
          </p:txBody>
        </p:sp>
      </p:grpSp>
      <p:grpSp>
        <p:nvGrpSpPr>
          <p:cNvPr id="361" name="Google Shape;361;p40"/>
          <p:cNvGrpSpPr/>
          <p:nvPr/>
        </p:nvGrpSpPr>
        <p:grpSpPr>
          <a:xfrm>
            <a:off x="3267075" y="1095375"/>
            <a:ext cx="2664325" cy="3095700"/>
            <a:chOff x="0" y="0"/>
            <a:chExt cx="2664325" cy="3095700"/>
          </a:xfrm>
        </p:grpSpPr>
        <p:sp>
          <p:nvSpPr>
            <p:cNvPr id="362" name="Google Shape;362;p40"/>
            <p:cNvSpPr/>
            <p:nvPr/>
          </p:nvSpPr>
          <p:spPr>
            <a:xfrm>
              <a:off x="0" y="0"/>
              <a:ext cx="2610000" cy="3095700"/>
            </a:xfrm>
            <a:prstGeom prst="roundRect">
              <a:avLst>
                <a:gd fmla="val 437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40"/>
            <p:cNvSpPr/>
            <p:nvPr/>
          </p:nvSpPr>
          <p:spPr>
            <a:xfrm>
              <a:off x="0" y="0"/>
              <a:ext cx="2610000" cy="57300"/>
            </a:xfrm>
            <a:prstGeom prst="roundRect">
              <a:avLst>
                <a:gd fmla="val 50000" name="adj"/>
              </a:avLst>
            </a:prstGeom>
            <a:solidFill>
              <a:srgbClr val="0097A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4" name="Google Shape;364;p40"/>
            <p:cNvSpPr txBox="1"/>
            <p:nvPr/>
          </p:nvSpPr>
          <p:spPr>
            <a:xfrm>
              <a:off x="121525" y="190500"/>
              <a:ext cx="2542800" cy="2714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0F172A"/>
                  </a:solidFill>
                  <a:latin typeface="Inter"/>
                  <a:ea typeface="Inter"/>
                  <a:cs typeface="Inter"/>
                  <a:sym typeface="Inter"/>
                </a:rPr>
                <a:t>Projected Inflation</a:t>
              </a:r>
              <a:endParaRPr sz="1600">
                <a:latin typeface="Inter"/>
                <a:ea typeface="Inter"/>
                <a:cs typeface="Inter"/>
                <a:sym typeface="Inter"/>
              </a:endParaRPr>
            </a:p>
            <a:p>
              <a:pPr indent="0" lvl="0" marL="0" rtl="0" algn="l">
                <a:spcBef>
                  <a:spcPts val="900"/>
                </a:spcBef>
                <a:spcAft>
                  <a:spcPts val="0"/>
                </a:spcAft>
                <a:buNone/>
              </a:pPr>
              <a:r>
                <a:rPr b="0" lang="en" sz="2200">
                  <a:solidFill>
                    <a:srgbClr val="0097A7"/>
                  </a:solidFill>
                  <a:latin typeface="Inter ExtraBold"/>
                  <a:ea typeface="Inter ExtraBold"/>
                  <a:cs typeface="Inter ExtraBold"/>
                  <a:sym typeface="Inter ExtraBold"/>
                </a:rPr>
                <a:t>$53,285,738</a:t>
              </a:r>
              <a:endParaRPr b="0" sz="2200">
                <a:solidFill>
                  <a:srgbClr val="0097A7"/>
                </a:solidFill>
                <a:latin typeface="Inter ExtraBold"/>
                <a:ea typeface="Inter ExtraBold"/>
                <a:cs typeface="Inter ExtraBold"/>
                <a:sym typeface="Inter ExtraBold"/>
              </a:endParaRPr>
            </a:p>
            <a:p>
              <a:pPr indent="0" lvl="0" marL="0" rtl="0" algn="l">
                <a:spcBef>
                  <a:spcPts val="300"/>
                </a:spcBef>
                <a:spcAft>
                  <a:spcPts val="0"/>
                </a:spcAft>
                <a:buNone/>
              </a:pPr>
              <a:r>
                <a:rPr b="0" lang="en" sz="1300">
                  <a:solidFill>
                    <a:srgbClr val="0097A7"/>
                  </a:solidFill>
                  <a:latin typeface="Inter ExtraBold"/>
                  <a:ea typeface="Inter ExtraBold"/>
                  <a:cs typeface="Inter ExtraBold"/>
                  <a:sym typeface="Inter ExtraBold"/>
                </a:rPr>
                <a:t>+2.70% Year over Year </a:t>
              </a:r>
              <a:r>
                <a:rPr lang="en" sz="1600">
                  <a:solidFill>
                    <a:srgbClr val="0097A7"/>
                  </a:solidFill>
                  <a:latin typeface="Material Icons"/>
                  <a:ea typeface="Material Icons"/>
                  <a:cs typeface="Material Icons"/>
                  <a:sym typeface="Material Icons"/>
                </a:rPr>
                <a:t>north</a:t>
              </a:r>
              <a:endParaRPr sz="1600">
                <a:solidFill>
                  <a:srgbClr val="0097A7"/>
                </a:solidFill>
                <a:latin typeface="Material Icons"/>
                <a:ea typeface="Material Icons"/>
                <a:cs typeface="Material Icons"/>
                <a:sym typeface="Material Icons"/>
              </a:endParaRPr>
            </a:p>
            <a:p>
              <a:pPr indent="0" lvl="0" marL="0" rtl="0" algn="l">
                <a:spcBef>
                  <a:spcPts val="900"/>
                </a:spcBef>
                <a:spcAft>
                  <a:spcPts val="0"/>
                </a:spcAft>
                <a:buNone/>
              </a:pPr>
              <a:r>
                <a:rPr lang="en" sz="900">
                  <a:solidFill>
                    <a:srgbClr val="991B1B"/>
                  </a:solidFill>
                  <a:highlight>
                    <a:srgbClr val="FEF2F2"/>
                  </a:highlight>
                  <a:latin typeface="Inter SemiBold"/>
                  <a:ea typeface="Inter SemiBold"/>
                  <a:cs typeface="Inter SemiBold"/>
                  <a:sym typeface="Inter SemiBold"/>
                </a:rPr>
                <a:t>Required Cut: </a:t>
              </a:r>
              <a:r>
                <a:rPr lang="en" sz="900">
                  <a:solidFill>
                    <a:srgbClr val="991B1B"/>
                  </a:solidFill>
                  <a:latin typeface="Inter SemiBold"/>
                  <a:ea typeface="Inter SemiBold"/>
                  <a:cs typeface="Inter SemiBold"/>
                  <a:sym typeface="Inter SemiBold"/>
                </a:rPr>
                <a:t>  </a:t>
              </a:r>
              <a:r>
                <a:rPr b="1" lang="en" sz="1100">
                  <a:solidFill>
                    <a:srgbClr val="DC2626"/>
                  </a:solidFill>
                  <a:latin typeface="Inter"/>
                  <a:ea typeface="Inter"/>
                  <a:cs typeface="Inter"/>
                  <a:sym typeface="Inter"/>
                </a:rPr>
                <a:t>$1,2938,382</a:t>
              </a:r>
              <a:endParaRPr b="1" sz="1100">
                <a:solidFill>
                  <a:srgbClr val="DC2626"/>
                </a:solidFill>
                <a:latin typeface="Inter"/>
                <a:ea typeface="Inter"/>
                <a:cs typeface="Inter"/>
                <a:sym typeface="Inter"/>
              </a:endParaRPr>
            </a:p>
            <a:p>
              <a:pPr indent="0" lvl="0" marL="0" rtl="0" algn="l">
                <a:spcBef>
                  <a:spcPts val="900"/>
                </a:spcBef>
                <a:spcAft>
                  <a:spcPts val="0"/>
                </a:spcAft>
                <a:buNone/>
              </a:pPr>
              <a:r>
                <a:rPr lang="en" sz="900">
                  <a:solidFill>
                    <a:srgbClr val="991B1B"/>
                  </a:solidFill>
                  <a:highlight>
                    <a:srgbClr val="FEF2F2"/>
                  </a:highlight>
                  <a:latin typeface="Inter SemiBold"/>
                  <a:ea typeface="Inter SemiBold"/>
                  <a:cs typeface="Inter SemiBold"/>
                  <a:sym typeface="Inter SemiBold"/>
                </a:rPr>
                <a:t>E</a:t>
              </a:r>
              <a:r>
                <a:rPr b="0" lang="en" sz="900">
                  <a:solidFill>
                    <a:srgbClr val="991B1B"/>
                  </a:solidFill>
                  <a:highlight>
                    <a:srgbClr val="FEF2F2"/>
                  </a:highlight>
                  <a:latin typeface="Inter SemiBold"/>
                  <a:ea typeface="Inter SemiBold"/>
                  <a:cs typeface="Inter SemiBold"/>
                  <a:sym typeface="Inter SemiBold"/>
                </a:rPr>
                <a:t>xceeds EST by </a:t>
              </a:r>
              <a:r>
                <a:rPr b="0" lang="en" sz="1100">
                  <a:solidFill>
                    <a:srgbClr val="DC2626"/>
                  </a:solidFill>
                  <a:latin typeface="Inter ExtraBold"/>
                  <a:ea typeface="Inter ExtraBold"/>
                  <a:cs typeface="Inter ExtraBold"/>
                  <a:sym typeface="Inter ExtraBold"/>
                </a:rPr>
                <a:t>$172</a:t>
              </a:r>
              <a:endParaRPr b="0" sz="900">
                <a:solidFill>
                  <a:srgbClr val="991B1B"/>
                </a:solidFill>
                <a:highlight>
                  <a:srgbClr val="FEF2F2"/>
                </a:highlight>
                <a:latin typeface="Inter SemiBold"/>
                <a:ea typeface="Inter SemiBold"/>
                <a:cs typeface="Inter SemiBold"/>
                <a:sym typeface="Inter SemiBold"/>
              </a:endParaRPr>
            </a:p>
            <a:p>
              <a:pPr indent="0" lvl="0" marL="0" rtl="0" algn="l">
                <a:spcBef>
                  <a:spcPts val="900"/>
                </a:spcBef>
                <a:spcAft>
                  <a:spcPts val="0"/>
                </a:spcAft>
                <a:buNone/>
              </a:pPr>
              <a:r>
                <a:rPr b="1" lang="en" sz="800">
                  <a:solidFill>
                    <a:srgbClr val="64748B"/>
                  </a:solidFill>
                  <a:latin typeface="Inter"/>
                  <a:ea typeface="Inter"/>
                  <a:cs typeface="Inter"/>
                  <a:sym typeface="Inter"/>
                </a:rPr>
                <a:t>EXCESS SPENDING  PENALTY</a:t>
              </a:r>
              <a:endParaRPr b="1" sz="800">
                <a:solidFill>
                  <a:srgbClr val="64748B"/>
                </a:solidFill>
                <a:latin typeface="Inter"/>
                <a:ea typeface="Inter"/>
                <a:cs typeface="Inter"/>
                <a:sym typeface="Inter"/>
              </a:endParaRPr>
            </a:p>
            <a:p>
              <a:pPr indent="0" lvl="0" marL="0" rtl="0" algn="l">
                <a:spcBef>
                  <a:spcPts val="300"/>
                </a:spcBef>
                <a:spcAft>
                  <a:spcPts val="0"/>
                </a:spcAft>
                <a:buNone/>
              </a:pPr>
              <a:r>
                <a:rPr b="0" lang="en" sz="1800">
                  <a:solidFill>
                    <a:srgbClr val="0F172A"/>
                  </a:solidFill>
                  <a:latin typeface="Inter ExtraBold"/>
                  <a:ea typeface="Inter ExtraBold"/>
                  <a:cs typeface="Inter ExtraBold"/>
                  <a:sym typeface="Inter ExtraBold"/>
                </a:rPr>
                <a:t>$445,340</a:t>
              </a:r>
              <a:endParaRPr b="0" sz="1800">
                <a:solidFill>
                  <a:srgbClr val="0F172A"/>
                </a:solidFill>
                <a:latin typeface="Inter ExtraBold"/>
                <a:ea typeface="Inter ExtraBold"/>
                <a:cs typeface="Inter ExtraBold"/>
                <a:sym typeface="Inter ExtraBold"/>
              </a:endParaRPr>
            </a:p>
            <a:p>
              <a:pPr indent="0" lvl="0" marL="0" rtl="0" algn="l">
                <a:spcBef>
                  <a:spcPts val="150"/>
                </a:spcBef>
                <a:spcAft>
                  <a:spcPts val="0"/>
                </a:spcAft>
                <a:buNone/>
              </a:pPr>
              <a:r>
                <a:rPr b="0" lang="en" sz="850">
                  <a:solidFill>
                    <a:srgbClr val="0097A7"/>
                  </a:solidFill>
                  <a:latin typeface="Inter SemiBold"/>
                  <a:ea typeface="Inter SemiBold"/>
                  <a:cs typeface="Inter SemiBold"/>
                  <a:sym typeface="Inter SemiBold"/>
                </a:rPr>
                <a:t>IMPACT ON TAXPAYERS</a:t>
              </a:r>
              <a:endParaRPr b="0" sz="850">
                <a:solidFill>
                  <a:srgbClr val="0097A7"/>
                </a:solidFill>
                <a:latin typeface="Inter SemiBold"/>
                <a:ea typeface="Inter SemiBold"/>
                <a:cs typeface="Inter SemiBold"/>
                <a:sym typeface="Inter SemiBold"/>
              </a:endParaRPr>
            </a:p>
          </p:txBody>
        </p:sp>
      </p:grpSp>
      <p:grpSp>
        <p:nvGrpSpPr>
          <p:cNvPr id="365" name="Google Shape;365;p40"/>
          <p:cNvGrpSpPr/>
          <p:nvPr/>
        </p:nvGrpSpPr>
        <p:grpSpPr>
          <a:xfrm>
            <a:off x="6076950" y="1095375"/>
            <a:ext cx="2610000" cy="3095700"/>
            <a:chOff x="0" y="0"/>
            <a:chExt cx="2610000" cy="3095700"/>
          </a:xfrm>
        </p:grpSpPr>
        <p:sp>
          <p:nvSpPr>
            <p:cNvPr id="366" name="Google Shape;366;p40"/>
            <p:cNvSpPr/>
            <p:nvPr/>
          </p:nvSpPr>
          <p:spPr>
            <a:xfrm>
              <a:off x="0" y="0"/>
              <a:ext cx="2610000" cy="3095700"/>
            </a:xfrm>
            <a:prstGeom prst="roundRect">
              <a:avLst>
                <a:gd fmla="val 437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7" name="Google Shape;367;p40"/>
            <p:cNvSpPr/>
            <p:nvPr/>
          </p:nvSpPr>
          <p:spPr>
            <a:xfrm>
              <a:off x="0" y="0"/>
              <a:ext cx="2610000" cy="57300"/>
            </a:xfrm>
            <a:prstGeom prst="roundRect">
              <a:avLst>
                <a:gd fmla="val 50000" name="adj"/>
              </a:avLst>
            </a:prstGeom>
            <a:solidFill>
              <a:srgbClr val="4F46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40"/>
            <p:cNvSpPr txBox="1"/>
            <p:nvPr/>
          </p:nvSpPr>
          <p:spPr>
            <a:xfrm>
              <a:off x="24225" y="190500"/>
              <a:ext cx="2536200" cy="282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rgbClr val="0F172A"/>
                  </a:solidFill>
                  <a:latin typeface="Inter"/>
                  <a:ea typeface="Inter"/>
                  <a:cs typeface="Inter"/>
                  <a:sym typeface="Inter"/>
                </a:rPr>
                <a:t>Level Funded (Cap EST)</a:t>
              </a:r>
              <a:endParaRPr sz="1700">
                <a:latin typeface="Inter"/>
                <a:ea typeface="Inter"/>
                <a:cs typeface="Inter"/>
                <a:sym typeface="Inter"/>
              </a:endParaRPr>
            </a:p>
            <a:p>
              <a:pPr indent="0" lvl="0" marL="0" rtl="0" algn="l">
                <a:lnSpc>
                  <a:spcPct val="115000"/>
                </a:lnSpc>
                <a:spcBef>
                  <a:spcPts val="900"/>
                </a:spcBef>
                <a:spcAft>
                  <a:spcPts val="0"/>
                </a:spcAft>
                <a:buNone/>
              </a:pPr>
              <a:r>
                <a:rPr b="0" lang="en" sz="2200">
                  <a:solidFill>
                    <a:srgbClr val="4F46E5"/>
                  </a:solidFill>
                  <a:latin typeface="Inter ExtraBold"/>
                  <a:ea typeface="Inter ExtraBold"/>
                  <a:cs typeface="Inter ExtraBold"/>
                  <a:sym typeface="Inter ExtraBold"/>
                </a:rPr>
                <a:t>$51,884,847</a:t>
              </a:r>
              <a:endParaRPr sz="2200">
                <a:solidFill>
                  <a:srgbClr val="4F46E5"/>
                </a:solidFill>
                <a:latin typeface="Inter ExtraBold"/>
                <a:ea typeface="Inter ExtraBold"/>
                <a:cs typeface="Inter ExtraBold"/>
                <a:sym typeface="Inter ExtraBold"/>
              </a:endParaRPr>
            </a:p>
            <a:p>
              <a:pPr indent="0" lvl="0" marL="0" rtl="0" algn="l">
                <a:lnSpc>
                  <a:spcPct val="115000"/>
                </a:lnSpc>
                <a:spcBef>
                  <a:spcPts val="0"/>
                </a:spcBef>
                <a:spcAft>
                  <a:spcPts val="0"/>
                </a:spcAft>
                <a:buNone/>
              </a:pPr>
              <a:r>
                <a:rPr lang="en" sz="1200">
                  <a:solidFill>
                    <a:srgbClr val="4F46E5"/>
                  </a:solidFill>
                  <a:latin typeface="Inter ExtraBold"/>
                  <a:ea typeface="Inter ExtraBold"/>
                  <a:cs typeface="Inter ExtraBold"/>
                  <a:sym typeface="Inter ExtraBold"/>
                </a:rPr>
                <a:t>0% Year over Year </a:t>
              </a:r>
              <a:endParaRPr sz="1200">
                <a:solidFill>
                  <a:srgbClr val="4F46E5"/>
                </a:solidFill>
                <a:latin typeface="Inter ExtraBold"/>
                <a:ea typeface="Inter ExtraBold"/>
                <a:cs typeface="Inter ExtraBold"/>
                <a:sym typeface="Inter ExtraBold"/>
              </a:endParaRPr>
            </a:p>
            <a:p>
              <a:pPr indent="0" lvl="0" marL="0" rtl="0" algn="l">
                <a:spcBef>
                  <a:spcPts val="300"/>
                </a:spcBef>
                <a:spcAft>
                  <a:spcPts val="0"/>
                </a:spcAft>
                <a:buNone/>
              </a:pPr>
              <a:r>
                <a:rPr b="1" lang="en" sz="900">
                  <a:solidFill>
                    <a:srgbClr val="991B1B"/>
                  </a:solidFill>
                  <a:highlight>
                    <a:srgbClr val="FEF2F2"/>
                  </a:highlight>
                  <a:latin typeface="Inter"/>
                  <a:ea typeface="Inter"/>
                  <a:cs typeface="Inter"/>
                  <a:sym typeface="Inter"/>
                </a:rPr>
                <a:t>Required Cut:</a:t>
              </a:r>
              <a:r>
                <a:rPr b="1" lang="en" sz="550">
                  <a:solidFill>
                    <a:srgbClr val="DC2626"/>
                  </a:solidFill>
                  <a:highlight>
                    <a:srgbClr val="FEF2F2"/>
                  </a:highlight>
                  <a:latin typeface="Inter"/>
                  <a:ea typeface="Inter"/>
                  <a:cs typeface="Inter"/>
                  <a:sym typeface="Inter"/>
                </a:rPr>
                <a:t> </a:t>
              </a:r>
              <a:r>
                <a:rPr b="1" lang="en" sz="550">
                  <a:solidFill>
                    <a:srgbClr val="DC2626"/>
                  </a:solidFill>
                  <a:highlight>
                    <a:schemeClr val="lt1"/>
                  </a:highlight>
                  <a:latin typeface="Inter"/>
                  <a:ea typeface="Inter"/>
                  <a:cs typeface="Inter"/>
                  <a:sym typeface="Inter"/>
                </a:rPr>
                <a:t>    </a:t>
              </a:r>
              <a:r>
                <a:rPr b="0" lang="en" sz="1100">
                  <a:solidFill>
                    <a:srgbClr val="DC2626"/>
                  </a:solidFill>
                  <a:highlight>
                    <a:schemeClr val="lt1"/>
                  </a:highlight>
                  <a:latin typeface="Inter ExtraBold"/>
                  <a:ea typeface="Inter ExtraBold"/>
                  <a:cs typeface="Inter ExtraBold"/>
                  <a:sym typeface="Inter ExtraBold"/>
                </a:rPr>
                <a:t>$3,339,273</a:t>
              </a:r>
              <a:r>
                <a:rPr lang="en">
                  <a:solidFill>
                    <a:srgbClr val="DC2626"/>
                  </a:solidFill>
                  <a:highlight>
                    <a:schemeClr val="lt1"/>
                  </a:highlight>
                  <a:latin typeface="Material Icons"/>
                  <a:ea typeface="Material Icons"/>
                  <a:cs typeface="Material Icons"/>
                  <a:sym typeface="Material Icons"/>
                </a:rPr>
                <a:t>s</a:t>
              </a:r>
              <a:r>
                <a:rPr lang="en" sz="1200">
                  <a:solidFill>
                    <a:srgbClr val="DC2626"/>
                  </a:solidFill>
                  <a:highlight>
                    <a:schemeClr val="lt1"/>
                  </a:highlight>
                  <a:latin typeface="Material Icons"/>
                  <a:ea typeface="Material Icons"/>
                  <a:cs typeface="Material Icons"/>
                  <a:sym typeface="Material Icons"/>
                </a:rPr>
                <a:t>out</a:t>
              </a:r>
              <a:r>
                <a:rPr lang="en" sz="1500">
                  <a:solidFill>
                    <a:srgbClr val="DC2626"/>
                  </a:solidFill>
                  <a:latin typeface="Material Icons"/>
                  <a:ea typeface="Material Icons"/>
                  <a:cs typeface="Material Icons"/>
                  <a:sym typeface="Material Icons"/>
                </a:rPr>
                <a:t>h</a:t>
              </a:r>
              <a:endParaRPr>
                <a:latin typeface="Inter"/>
                <a:ea typeface="Inter"/>
                <a:cs typeface="Inter"/>
                <a:sym typeface="Inter"/>
              </a:endParaRPr>
            </a:p>
            <a:p>
              <a:pPr indent="0" lvl="0" marL="0" rtl="0" algn="l">
                <a:spcBef>
                  <a:spcPts val="900"/>
                </a:spcBef>
                <a:spcAft>
                  <a:spcPts val="0"/>
                </a:spcAft>
                <a:buNone/>
              </a:pPr>
              <a:r>
                <a:rPr b="0" lang="en" sz="900">
                  <a:solidFill>
                    <a:srgbClr val="166534"/>
                  </a:solidFill>
                  <a:highlight>
                    <a:srgbClr val="F0FDF4"/>
                  </a:highlight>
                  <a:latin typeface="Inter SemiBold"/>
                  <a:ea typeface="Inter SemiBold"/>
                  <a:cs typeface="Inter SemiBold"/>
                  <a:sym typeface="Inter SemiBold"/>
                </a:rPr>
                <a:t>Does Not Exceed EST</a:t>
              </a:r>
              <a:endParaRPr b="0" sz="900">
                <a:solidFill>
                  <a:srgbClr val="166534"/>
                </a:solidFill>
                <a:highlight>
                  <a:srgbClr val="F0FDF4"/>
                </a:highlight>
                <a:latin typeface="Inter SemiBold"/>
                <a:ea typeface="Inter SemiBold"/>
                <a:cs typeface="Inter SemiBold"/>
                <a:sym typeface="Inter SemiBold"/>
              </a:endParaRPr>
            </a:p>
            <a:p>
              <a:pPr indent="0" lvl="0" marL="0" rtl="0" algn="l">
                <a:spcBef>
                  <a:spcPts val="1050"/>
                </a:spcBef>
                <a:spcAft>
                  <a:spcPts val="0"/>
                </a:spcAft>
                <a:buNone/>
              </a:pPr>
              <a:r>
                <a:t/>
              </a:r>
              <a:endParaRPr b="1" sz="800">
                <a:solidFill>
                  <a:srgbClr val="64748B"/>
                </a:solidFill>
                <a:latin typeface="Inter"/>
                <a:ea typeface="Inter"/>
                <a:cs typeface="Inter"/>
                <a:sym typeface="Inter"/>
              </a:endParaRPr>
            </a:p>
            <a:p>
              <a:pPr indent="0" lvl="0" marL="0" rtl="0" algn="l">
                <a:spcBef>
                  <a:spcPts val="300"/>
                </a:spcBef>
                <a:spcAft>
                  <a:spcPts val="0"/>
                </a:spcAft>
                <a:buNone/>
              </a:pPr>
              <a:r>
                <a:rPr b="0" lang="en" sz="1500">
                  <a:solidFill>
                    <a:srgbClr val="15803D"/>
                  </a:solidFill>
                  <a:latin typeface="Inter ExtraBold"/>
                  <a:ea typeface="Inter ExtraBold"/>
                  <a:cs typeface="Inter ExtraBold"/>
                  <a:sym typeface="Inter ExtraBold"/>
                </a:rPr>
                <a:t>$</a:t>
              </a:r>
              <a:r>
                <a:rPr lang="en" sz="1500">
                  <a:solidFill>
                    <a:srgbClr val="15803D"/>
                  </a:solidFill>
                  <a:latin typeface="Inter ExtraBold"/>
                  <a:ea typeface="Inter ExtraBold"/>
                  <a:cs typeface="Inter ExtraBold"/>
                  <a:sym typeface="Inter ExtraBold"/>
                </a:rPr>
                <a:t>(25.67)</a:t>
              </a:r>
              <a:endParaRPr b="0" sz="1500">
                <a:solidFill>
                  <a:srgbClr val="15803D"/>
                </a:solidFill>
                <a:latin typeface="Inter ExtraBold"/>
                <a:ea typeface="Inter ExtraBold"/>
                <a:cs typeface="Inter ExtraBold"/>
                <a:sym typeface="Inter ExtraBold"/>
              </a:endParaRPr>
            </a:p>
            <a:p>
              <a:pPr indent="0" lvl="0" marL="0" rtl="0" algn="l">
                <a:spcBef>
                  <a:spcPts val="150"/>
                </a:spcBef>
                <a:spcAft>
                  <a:spcPts val="0"/>
                </a:spcAft>
                <a:buNone/>
              </a:pPr>
              <a:r>
                <a:rPr b="0" lang="en" sz="850">
                  <a:solidFill>
                    <a:srgbClr val="166534"/>
                  </a:solidFill>
                  <a:latin typeface="Inter SemiBold"/>
                  <a:ea typeface="Inter SemiBold"/>
                  <a:cs typeface="Inter SemiBold"/>
                  <a:sym typeface="Inter SemiBold"/>
                </a:rPr>
                <a:t>UNDER THRESHOLD PER PUPIL</a:t>
              </a:r>
              <a:endParaRPr b="0" sz="850">
                <a:solidFill>
                  <a:srgbClr val="166534"/>
                </a:solidFill>
                <a:latin typeface="Inter SemiBold"/>
                <a:ea typeface="Inter SemiBold"/>
                <a:cs typeface="Inter SemiBold"/>
                <a:sym typeface="Inter SemiBold"/>
              </a:endParaRPr>
            </a:p>
          </p:txBody>
        </p:sp>
      </p:grpSp>
      <p:grpSp>
        <p:nvGrpSpPr>
          <p:cNvPr id="369" name="Google Shape;369;p40"/>
          <p:cNvGrpSpPr/>
          <p:nvPr/>
        </p:nvGrpSpPr>
        <p:grpSpPr>
          <a:xfrm>
            <a:off x="457200" y="4343400"/>
            <a:ext cx="8229600" cy="495300"/>
            <a:chOff x="0" y="0"/>
            <a:chExt cx="8229600" cy="495300"/>
          </a:xfrm>
        </p:grpSpPr>
        <p:sp>
          <p:nvSpPr>
            <p:cNvPr id="370" name="Google Shape;370;p40"/>
            <p:cNvSpPr/>
            <p:nvPr/>
          </p:nvSpPr>
          <p:spPr>
            <a:xfrm>
              <a:off x="0" y="0"/>
              <a:ext cx="8229600" cy="495300"/>
            </a:xfrm>
            <a:prstGeom prst="roundRect">
              <a:avLst>
                <a:gd fmla="val 19230"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1" name="Google Shape;371;p40"/>
            <p:cNvSpPr txBox="1"/>
            <p:nvPr/>
          </p:nvSpPr>
          <p:spPr>
            <a:xfrm>
              <a:off x="0" y="0"/>
              <a:ext cx="8229600" cy="4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000">
                  <a:solidFill>
                    <a:srgbClr val="FFFFFF"/>
                  </a:solidFill>
                  <a:latin typeface="Inter"/>
                  <a:ea typeface="Inter"/>
                  <a:cs typeface="Inter"/>
                  <a:sym typeface="Inter"/>
                </a:rPr>
                <a:t>FY28 EST Threshold: </a:t>
              </a:r>
              <a:r>
                <a:rPr b="0" lang="en" sz="1000">
                  <a:solidFill>
                    <a:srgbClr val="60A5FA"/>
                  </a:solidFill>
                  <a:latin typeface="Inter ExtraBold"/>
                  <a:ea typeface="Inter ExtraBold"/>
                  <a:cs typeface="Inter ExtraBold"/>
                  <a:sym typeface="Inter ExtraBold"/>
                </a:rPr>
                <a:t>$16,562</a:t>
              </a:r>
              <a:r>
                <a:rPr lang="en" sz="1000">
                  <a:solidFill>
                    <a:srgbClr val="475569"/>
                  </a:solidFill>
                  <a:latin typeface="Inter"/>
                  <a:ea typeface="Inter"/>
                  <a:cs typeface="Inter"/>
                  <a:sym typeface="Inter"/>
                </a:rPr>
                <a:t>•</a:t>
              </a:r>
              <a:r>
                <a:rPr lang="en" sz="1000">
                  <a:solidFill>
                    <a:srgbClr val="FFFFFF"/>
                  </a:solidFill>
                  <a:latin typeface="Inter"/>
                  <a:ea typeface="Inter"/>
                  <a:cs typeface="Inter"/>
                  <a:sym typeface="Inter"/>
                </a:rPr>
                <a:t>Proposed Per Pupil Exceeds Threshold by </a:t>
              </a:r>
              <a:r>
                <a:rPr b="0" lang="en" sz="1000">
                  <a:solidFill>
                    <a:srgbClr val="F87171"/>
                  </a:solidFill>
                  <a:latin typeface="Inter ExtraBold"/>
                  <a:ea typeface="Inter ExtraBold"/>
                  <a:cs typeface="Inter ExtraBold"/>
                  <a:sym typeface="Inter ExtraBold"/>
                </a:rPr>
                <a:t>$1,081</a:t>
              </a:r>
              <a:r>
                <a:rPr lang="en" sz="1000">
                  <a:solidFill>
                    <a:srgbClr val="475569"/>
                  </a:solidFill>
                  <a:latin typeface="Inter"/>
                  <a:ea typeface="Inter"/>
                  <a:cs typeface="Inter"/>
                  <a:sym typeface="Inter"/>
                </a:rPr>
                <a:t>•</a:t>
              </a:r>
              <a:r>
                <a:rPr lang="en" sz="1000">
                  <a:solidFill>
                    <a:srgbClr val="FFFFFF"/>
                  </a:solidFill>
                  <a:latin typeface="Inter"/>
                  <a:ea typeface="Inter"/>
                  <a:cs typeface="Inter"/>
                  <a:sym typeface="Inter"/>
                </a:rPr>
                <a:t>Target Cut Needed: </a:t>
              </a:r>
              <a:r>
                <a:rPr b="0" lang="en" sz="1000">
                  <a:solidFill>
                    <a:srgbClr val="FCA5A5"/>
                  </a:solidFill>
                  <a:latin typeface="Inter ExtraBold"/>
                  <a:ea typeface="Inter ExtraBold"/>
                  <a:cs typeface="Inter ExtraBold"/>
                  <a:sym typeface="Inter ExtraBold"/>
                </a:rPr>
                <a:t>$3,339,273</a:t>
              </a:r>
              <a:endParaRPr sz="1000">
                <a:solidFill>
                  <a:srgbClr val="FFFFFF"/>
                </a:solidFill>
                <a:latin typeface="Inter"/>
                <a:ea typeface="Inter"/>
                <a:cs typeface="Inter"/>
                <a:sym typeface="Inter"/>
              </a:endParaRPr>
            </a:p>
          </p:txBody>
        </p:sp>
      </p:grpSp>
      <p:sp>
        <p:nvSpPr>
          <p:cNvPr id="372" name="Google Shape;372;p40"/>
          <p:cNvSpPr/>
          <p:nvPr/>
        </p:nvSpPr>
        <p:spPr>
          <a:xfrm>
            <a:off x="7566600" y="2684263"/>
            <a:ext cx="1120200" cy="528300"/>
          </a:xfrm>
          <a:prstGeom prst="wedgeRoundRectCallout">
            <a:avLst>
              <a:gd fmla="val -105347" name="adj1"/>
              <a:gd fmla="val 34557"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rgbClr val="DC2626"/>
                </a:solidFill>
              </a:rPr>
              <a:t>(</a:t>
            </a:r>
            <a:r>
              <a:rPr b="1" lang="en" sz="900">
                <a:solidFill>
                  <a:srgbClr val="DC2626"/>
                </a:solidFill>
              </a:rPr>
              <a:t>$220.67) was correct</a:t>
            </a:r>
            <a:r>
              <a:rPr b="1" lang="en" sz="900">
                <a:solidFill>
                  <a:srgbClr val="DC2626"/>
                </a:solidFill>
              </a:rPr>
              <a:t>ed to </a:t>
            </a:r>
            <a:r>
              <a:rPr b="1" lang="en" sz="900">
                <a:solidFill>
                  <a:srgbClr val="DC2626"/>
                </a:solidFill>
              </a:rPr>
              <a:t>remove the debt exclusion </a:t>
            </a:r>
            <a:endParaRPr b="1" sz="900">
              <a:solidFill>
                <a:srgbClr val="DC2626"/>
              </a:solidFill>
            </a:endParaRPr>
          </a:p>
        </p:txBody>
      </p:sp>
      <p:sp>
        <p:nvSpPr>
          <p:cNvPr id="373" name="Google Shape;373;p40"/>
          <p:cNvSpPr/>
          <p:nvPr/>
        </p:nvSpPr>
        <p:spPr>
          <a:xfrm>
            <a:off x="2133425" y="3058375"/>
            <a:ext cx="902400" cy="679500"/>
          </a:xfrm>
          <a:prstGeom prst="wedgeRoundRectCallout">
            <a:avLst>
              <a:gd fmla="val -62071" name="adj1"/>
              <a:gd fmla="val -127093"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DC2626"/>
                </a:solidFill>
              </a:rPr>
              <a:t>Adjusted cost per pupil $18,724.39</a:t>
            </a:r>
            <a:endParaRPr b="1" sz="1000">
              <a:solidFill>
                <a:srgbClr val="DC262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7" name="Shape 377"/>
        <p:cNvGrpSpPr/>
        <p:nvPr/>
      </p:nvGrpSpPr>
      <p:grpSpPr>
        <a:xfrm>
          <a:off x="0" y="0"/>
          <a:ext cx="0" cy="0"/>
          <a:chOff x="0" y="0"/>
          <a:chExt cx="0" cy="0"/>
        </a:xfrm>
      </p:grpSpPr>
      <p:grpSp>
        <p:nvGrpSpPr>
          <p:cNvPr id="378" name="Google Shape;378;p41"/>
          <p:cNvGrpSpPr/>
          <p:nvPr/>
        </p:nvGrpSpPr>
        <p:grpSpPr>
          <a:xfrm>
            <a:off x="571500" y="428625"/>
            <a:ext cx="8001000" cy="714300"/>
            <a:chOff x="0" y="0"/>
            <a:chExt cx="8001000" cy="714300"/>
          </a:xfrm>
        </p:grpSpPr>
        <p:sp>
          <p:nvSpPr>
            <p:cNvPr id="379" name="Google Shape;379;p41"/>
            <p:cNvSpPr/>
            <p:nvPr/>
          </p:nvSpPr>
          <p:spPr>
            <a:xfrm>
              <a:off x="0" y="0"/>
              <a:ext cx="8001000" cy="714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0" name="Google Shape;380;p41"/>
            <p:cNvSpPr txBox="1"/>
            <p:nvPr/>
          </p:nvSpPr>
          <p:spPr>
            <a:xfrm>
              <a:off x="0" y="0"/>
              <a:ext cx="8001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800">
                  <a:solidFill>
                    <a:srgbClr val="0F172A"/>
                  </a:solidFill>
                  <a:latin typeface="Inter ExtraBold"/>
                  <a:ea typeface="Inter ExtraBold"/>
                  <a:cs typeface="Inter ExtraBold"/>
                  <a:sym typeface="Inter ExtraBold"/>
                </a:rPr>
                <a:t>What consolidation </a:t>
              </a:r>
              <a:r>
                <a:rPr b="0" lang="en" sz="2800">
                  <a:solidFill>
                    <a:srgbClr val="DC2626"/>
                  </a:solidFill>
                  <a:latin typeface="Inter ExtraBold"/>
                  <a:ea typeface="Inter ExtraBold"/>
                  <a:cs typeface="Inter ExtraBold"/>
                  <a:sym typeface="Inter ExtraBold"/>
                </a:rPr>
                <a:t>means</a:t>
              </a:r>
              <a:endParaRPr b="0" sz="2800">
                <a:solidFill>
                  <a:srgbClr val="0F172A"/>
                </a:solidFill>
                <a:latin typeface="Inter ExtraBold"/>
                <a:ea typeface="Inter ExtraBold"/>
                <a:cs typeface="Inter ExtraBold"/>
                <a:sym typeface="Inter ExtraBold"/>
              </a:endParaRPr>
            </a:p>
          </p:txBody>
        </p:sp>
      </p:grpSp>
      <p:cxnSp>
        <p:nvCxnSpPr>
          <p:cNvPr id="381" name="Google Shape;381;p41"/>
          <p:cNvCxnSpPr/>
          <p:nvPr/>
        </p:nvCxnSpPr>
        <p:spPr>
          <a:xfrm>
            <a:off x="571500" y="1238250"/>
            <a:ext cx="8001000" cy="0"/>
          </a:xfrm>
          <a:prstGeom prst="straightConnector1">
            <a:avLst/>
          </a:prstGeom>
          <a:solidFill>
            <a:srgbClr val="FFFFFF"/>
          </a:solidFill>
          <a:ln cap="rnd" cmpd="sng" w="19050">
            <a:solidFill>
              <a:srgbClr val="E2E8F0"/>
            </a:solidFill>
            <a:prstDash val="solid"/>
            <a:round/>
            <a:headEnd len="sm" w="sm" type="none"/>
            <a:tailEnd len="sm" w="sm" type="none"/>
          </a:ln>
        </p:spPr>
      </p:cxnSp>
      <p:grpSp>
        <p:nvGrpSpPr>
          <p:cNvPr id="382" name="Google Shape;382;p41"/>
          <p:cNvGrpSpPr/>
          <p:nvPr/>
        </p:nvGrpSpPr>
        <p:grpSpPr>
          <a:xfrm>
            <a:off x="571500" y="1476375"/>
            <a:ext cx="3857700" cy="3238500"/>
            <a:chOff x="0" y="0"/>
            <a:chExt cx="3857700" cy="3238500"/>
          </a:xfrm>
        </p:grpSpPr>
        <p:sp>
          <p:nvSpPr>
            <p:cNvPr id="383" name="Google Shape;383;p41"/>
            <p:cNvSpPr/>
            <p:nvPr/>
          </p:nvSpPr>
          <p:spPr>
            <a:xfrm>
              <a:off x="0" y="0"/>
              <a:ext cx="3857700" cy="3238500"/>
            </a:xfrm>
            <a:prstGeom prst="roundRect">
              <a:avLst>
                <a:gd fmla="val 4705"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41"/>
            <p:cNvSpPr/>
            <p:nvPr/>
          </p:nvSpPr>
          <p:spPr>
            <a:xfrm>
              <a:off x="228600" y="228600"/>
              <a:ext cx="1381200" cy="266700"/>
            </a:xfrm>
            <a:prstGeom prst="roundRect">
              <a:avLst>
                <a:gd fmla="val 50000"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85" name="Google Shape;385;p41"/>
          <p:cNvGrpSpPr/>
          <p:nvPr/>
        </p:nvGrpSpPr>
        <p:grpSpPr>
          <a:xfrm>
            <a:off x="800100" y="1704975"/>
            <a:ext cx="3400500" cy="2762400"/>
            <a:chOff x="0" y="0"/>
            <a:chExt cx="3400500" cy="2762400"/>
          </a:xfrm>
        </p:grpSpPr>
        <p:sp>
          <p:nvSpPr>
            <p:cNvPr id="386" name="Google Shape;386;p41"/>
            <p:cNvSpPr/>
            <p:nvPr/>
          </p:nvSpPr>
          <p:spPr>
            <a:xfrm>
              <a:off x="0" y="0"/>
              <a:ext cx="3400500" cy="276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41"/>
            <p:cNvSpPr txBox="1"/>
            <p:nvPr/>
          </p:nvSpPr>
          <p:spPr>
            <a:xfrm>
              <a:off x="0" y="0"/>
              <a:ext cx="34005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DC2626"/>
                  </a:solidFill>
                  <a:latin typeface="Inter"/>
                  <a:ea typeface="Inter"/>
                  <a:cs typeface="Inter"/>
                  <a:sym typeface="Inter"/>
                </a:rPr>
                <a:t>THE CORE PURPOSE</a:t>
              </a:r>
              <a:endParaRPr b="1" sz="1000">
                <a:solidFill>
                  <a:srgbClr val="DC2626"/>
                </a:solidFill>
                <a:latin typeface="Inter"/>
                <a:ea typeface="Inter"/>
                <a:cs typeface="Inter"/>
                <a:sym typeface="Inter"/>
              </a:endParaRPr>
            </a:p>
            <a:p>
              <a:pPr indent="0" lvl="0" marL="0" rtl="0" algn="l">
                <a:spcBef>
                  <a:spcPts val="1050"/>
                </a:spcBef>
                <a:spcAft>
                  <a:spcPts val="0"/>
                </a:spcAft>
                <a:buNone/>
              </a:pPr>
              <a:r>
                <a:rPr b="1" lang="en" sz="1800">
                  <a:solidFill>
                    <a:srgbClr val="0F172A"/>
                  </a:solidFill>
                  <a:latin typeface="Inter"/>
                  <a:ea typeface="Inter"/>
                  <a:cs typeface="Inter"/>
                  <a:sym typeface="Inter"/>
                </a:rPr>
                <a:t>Beyond Closing Buildings</a:t>
              </a:r>
              <a:endParaRPr b="1" sz="1800">
                <a:solidFill>
                  <a:srgbClr val="0F172A"/>
                </a:solidFill>
                <a:latin typeface="Inter"/>
                <a:ea typeface="Inter"/>
                <a:cs typeface="Inter"/>
                <a:sym typeface="Inter"/>
              </a:endParaRPr>
            </a:p>
            <a:p>
              <a:pPr indent="0" lvl="0" marL="0" rtl="0" algn="l">
                <a:spcBef>
                  <a:spcPts val="900"/>
                </a:spcBef>
                <a:spcAft>
                  <a:spcPts val="0"/>
                </a:spcAft>
                <a:buNone/>
              </a:pPr>
              <a:r>
                <a:rPr b="0" lang="en" sz="1200">
                  <a:solidFill>
                    <a:srgbClr val="475569"/>
                  </a:solidFill>
                  <a:latin typeface="Inter"/>
                  <a:ea typeface="Inter"/>
                  <a:cs typeface="Inter"/>
                  <a:sym typeface="Inter"/>
                </a:rPr>
                <a:t>Consolidation is not simply about closing school buildings or cutting costs.</a:t>
              </a:r>
              <a:endParaRPr b="0" sz="1200">
                <a:solidFill>
                  <a:srgbClr val="475569"/>
                </a:solidFill>
                <a:latin typeface="Inter"/>
                <a:ea typeface="Inter"/>
                <a:cs typeface="Inter"/>
                <a:sym typeface="Inter"/>
              </a:endParaRPr>
            </a:p>
            <a:p>
              <a:pPr indent="0" lvl="0" marL="0" rtl="0" algn="l">
                <a:spcBef>
                  <a:spcPts val="1050"/>
                </a:spcBef>
                <a:spcAft>
                  <a:spcPts val="0"/>
                </a:spcAft>
                <a:buNone/>
              </a:pPr>
              <a:r>
                <a:rPr b="0" lang="en" sz="1200">
                  <a:solidFill>
                    <a:srgbClr val="0F172A"/>
                  </a:solidFill>
                  <a:latin typeface="Inter SemiBold"/>
                  <a:ea typeface="Inter SemiBold"/>
                  <a:cs typeface="Inter SemiBold"/>
                  <a:sym typeface="Inter SemiBold"/>
                </a:rPr>
                <a:t>It is about making </a:t>
              </a:r>
              <a:r>
                <a:rPr b="0" lang="en" sz="1200">
                  <a:solidFill>
                    <a:srgbClr val="0F172A"/>
                  </a:solidFill>
                  <a:latin typeface="Inter SemiBold"/>
                  <a:ea typeface="Inter SemiBold"/>
                  <a:cs typeface="Inter SemiBold"/>
                  <a:sym typeface="Inter SemiBold"/>
                </a:rPr>
                <a:t>difficult</a:t>
              </a:r>
              <a:r>
                <a:rPr b="0" lang="en" sz="1200">
                  <a:solidFill>
                    <a:srgbClr val="0F172A"/>
                  </a:solidFill>
                  <a:latin typeface="Inter SemiBold"/>
                  <a:ea typeface="Inter SemiBold"/>
                  <a:cs typeface="Inter SemiBold"/>
                  <a:sym typeface="Inter SemiBold"/>
                </a:rPr>
                <a:t>, long-term decisions to protect the quality of education we can provide.</a:t>
              </a:r>
              <a:endParaRPr b="0" sz="1200">
                <a:solidFill>
                  <a:srgbClr val="0F172A"/>
                </a:solidFill>
                <a:latin typeface="Inter SemiBold"/>
                <a:ea typeface="Inter SemiBold"/>
                <a:cs typeface="Inter SemiBold"/>
                <a:sym typeface="Inter SemiBold"/>
              </a:endParaRPr>
            </a:p>
          </p:txBody>
        </p:sp>
      </p:grpSp>
      <p:grpSp>
        <p:nvGrpSpPr>
          <p:cNvPr id="388" name="Google Shape;388;p41"/>
          <p:cNvGrpSpPr/>
          <p:nvPr/>
        </p:nvGrpSpPr>
        <p:grpSpPr>
          <a:xfrm>
            <a:off x="4714875" y="1476375"/>
            <a:ext cx="3857700" cy="3238500"/>
            <a:chOff x="0" y="0"/>
            <a:chExt cx="3857700" cy="3238500"/>
          </a:xfrm>
        </p:grpSpPr>
        <p:sp>
          <p:nvSpPr>
            <p:cNvPr id="389" name="Google Shape;389;p41"/>
            <p:cNvSpPr/>
            <p:nvPr/>
          </p:nvSpPr>
          <p:spPr>
            <a:xfrm>
              <a:off x="0" y="0"/>
              <a:ext cx="3857700" cy="3238500"/>
            </a:xfrm>
            <a:prstGeom prst="roundRect">
              <a:avLst>
                <a:gd fmla="val 4705"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41"/>
            <p:cNvSpPr/>
            <p:nvPr/>
          </p:nvSpPr>
          <p:spPr>
            <a:xfrm>
              <a:off x="228600" y="228600"/>
              <a:ext cx="1619100" cy="266700"/>
            </a:xfrm>
            <a:prstGeom prst="roundRect">
              <a:avLst>
                <a:gd fmla="val 5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91" name="Google Shape;391;p41"/>
          <p:cNvGrpSpPr/>
          <p:nvPr/>
        </p:nvGrpSpPr>
        <p:grpSpPr>
          <a:xfrm>
            <a:off x="4943475" y="1704975"/>
            <a:ext cx="3400500" cy="2762400"/>
            <a:chOff x="0" y="0"/>
            <a:chExt cx="3400500" cy="2762400"/>
          </a:xfrm>
        </p:grpSpPr>
        <p:sp>
          <p:nvSpPr>
            <p:cNvPr id="392" name="Google Shape;392;p41"/>
            <p:cNvSpPr/>
            <p:nvPr/>
          </p:nvSpPr>
          <p:spPr>
            <a:xfrm>
              <a:off x="0" y="0"/>
              <a:ext cx="3400500" cy="276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41"/>
            <p:cNvSpPr txBox="1"/>
            <p:nvPr/>
          </p:nvSpPr>
          <p:spPr>
            <a:xfrm>
              <a:off x="0" y="0"/>
              <a:ext cx="34005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38BDF8"/>
                  </a:solidFill>
                  <a:latin typeface="Inter"/>
                  <a:ea typeface="Inter"/>
                  <a:cs typeface="Inter"/>
                  <a:sym typeface="Inter"/>
                </a:rPr>
                <a:t>THE STRATEGIC CHOICE</a:t>
              </a:r>
              <a:endParaRPr b="1" sz="1000">
                <a:solidFill>
                  <a:srgbClr val="38BDF8"/>
                </a:solidFill>
                <a:latin typeface="Inter"/>
                <a:ea typeface="Inter"/>
                <a:cs typeface="Inter"/>
                <a:sym typeface="Inter"/>
              </a:endParaRPr>
            </a:p>
            <a:p>
              <a:pPr indent="0" lvl="0" marL="0" rtl="0" algn="l">
                <a:spcBef>
                  <a:spcPts val="1050"/>
                </a:spcBef>
                <a:spcAft>
                  <a:spcPts val="0"/>
                </a:spcAft>
                <a:buNone/>
              </a:pPr>
              <a:r>
                <a:rPr b="1" lang="en" sz="1800">
                  <a:solidFill>
                    <a:srgbClr val="FFFFFF"/>
                  </a:solidFill>
                  <a:latin typeface="Inter"/>
                  <a:ea typeface="Inter"/>
                  <a:cs typeface="Inter"/>
                  <a:sym typeface="Inter"/>
                </a:rPr>
                <a:t>Two Possible Paths Forward</a:t>
              </a:r>
              <a:endParaRPr b="1" sz="1800">
                <a:solidFill>
                  <a:srgbClr val="FFFFFF"/>
                </a:solidFill>
                <a:latin typeface="Inter"/>
                <a:ea typeface="Inter"/>
                <a:cs typeface="Inter"/>
                <a:sym typeface="Inter"/>
              </a:endParaRPr>
            </a:p>
            <a:p>
              <a:pPr indent="0" lvl="0" marL="0" rtl="0" algn="l">
                <a:spcBef>
                  <a:spcPts val="900"/>
                </a:spcBef>
                <a:spcAft>
                  <a:spcPts val="0"/>
                </a:spcAft>
                <a:buNone/>
              </a:pPr>
              <a:r>
                <a:rPr b="1" lang="en" sz="1100">
                  <a:solidFill>
                    <a:srgbClr val="38BDF8"/>
                  </a:solidFill>
                  <a:latin typeface="Inter"/>
                  <a:ea typeface="Inter"/>
                  <a:cs typeface="Inter"/>
                  <a:sym typeface="Inter"/>
                </a:rPr>
                <a:t>Proactive Restructuring</a:t>
              </a:r>
              <a:endParaRPr b="1" sz="1100">
                <a:solidFill>
                  <a:srgbClr val="38BDF8"/>
                </a:solidFill>
                <a:latin typeface="Inter"/>
                <a:ea typeface="Inter"/>
                <a:cs typeface="Inter"/>
                <a:sym typeface="Inter"/>
              </a:endParaRPr>
            </a:p>
            <a:p>
              <a:pPr indent="0" lvl="0" marL="0" rtl="0" algn="l">
                <a:spcBef>
                  <a:spcPts val="300"/>
                </a:spcBef>
                <a:spcAft>
                  <a:spcPts val="0"/>
                </a:spcAft>
                <a:buNone/>
              </a:pPr>
              <a:r>
                <a:rPr b="0" lang="en" sz="1050">
                  <a:solidFill>
                    <a:srgbClr val="E2E8F0"/>
                  </a:solidFill>
                  <a:latin typeface="Inter"/>
                  <a:ea typeface="Inter"/>
                  <a:cs typeface="Inter"/>
                  <a:sym typeface="Inter"/>
                </a:rPr>
                <a:t>Restructure our district to sustain student opportunities and educational quality.</a:t>
              </a:r>
              <a:endParaRPr b="0" sz="1050">
                <a:solidFill>
                  <a:srgbClr val="E2E8F0"/>
                </a:solidFill>
                <a:latin typeface="Inter"/>
                <a:ea typeface="Inter"/>
                <a:cs typeface="Inter"/>
                <a:sym typeface="Inter"/>
              </a:endParaRPr>
            </a:p>
            <a:p>
              <a:pPr indent="0" lvl="0" marL="0" rtl="0" algn="l">
                <a:spcBef>
                  <a:spcPts val="750"/>
                </a:spcBef>
                <a:spcAft>
                  <a:spcPts val="0"/>
                </a:spcAft>
                <a:buNone/>
              </a:pPr>
              <a:r>
                <a:rPr b="1" lang="en" sz="1100">
                  <a:solidFill>
                    <a:srgbClr val="F87171"/>
                  </a:solidFill>
                  <a:latin typeface="Inter"/>
                  <a:ea typeface="Inter"/>
                  <a:cs typeface="Inter"/>
                  <a:sym typeface="Inter"/>
                </a:rPr>
                <a:t>Reactive Status Quo</a:t>
              </a:r>
              <a:endParaRPr b="1" sz="1100">
                <a:solidFill>
                  <a:srgbClr val="F87171"/>
                </a:solidFill>
                <a:latin typeface="Inter"/>
                <a:ea typeface="Inter"/>
                <a:cs typeface="Inter"/>
                <a:sym typeface="Inter"/>
              </a:endParaRPr>
            </a:p>
            <a:p>
              <a:pPr indent="0" lvl="0" marL="0" rtl="0" algn="l">
                <a:spcBef>
                  <a:spcPts val="300"/>
                </a:spcBef>
                <a:spcAft>
                  <a:spcPts val="0"/>
                </a:spcAft>
                <a:buNone/>
              </a:pPr>
              <a:r>
                <a:rPr b="0" lang="en" sz="1050">
                  <a:solidFill>
                    <a:srgbClr val="CBD5E1"/>
                  </a:solidFill>
                  <a:latin typeface="Inter"/>
                  <a:ea typeface="Inter"/>
                  <a:cs typeface="Inter"/>
                  <a:sym typeface="Inter"/>
                </a:rPr>
                <a:t>Continue decisions that risk diminishing the student experience across all schools.</a:t>
              </a:r>
              <a:endParaRPr b="0" sz="1050">
                <a:solidFill>
                  <a:srgbClr val="CBD5E1"/>
                </a:solidFill>
                <a:latin typeface="Inter"/>
                <a:ea typeface="Inter"/>
                <a:cs typeface="Inter"/>
                <a:sym typeface="Inte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7" name="Shape 397"/>
        <p:cNvGrpSpPr/>
        <p:nvPr/>
      </p:nvGrpSpPr>
      <p:grpSpPr>
        <a:xfrm>
          <a:off x="0" y="0"/>
          <a:ext cx="0" cy="0"/>
          <a:chOff x="0" y="0"/>
          <a:chExt cx="0" cy="0"/>
        </a:xfrm>
      </p:grpSpPr>
      <p:sp>
        <p:nvSpPr>
          <p:cNvPr id="398" name="Google Shape;398;p42"/>
          <p:cNvSpPr txBox="1"/>
          <p:nvPr/>
        </p:nvSpPr>
        <p:spPr>
          <a:xfrm>
            <a:off x="457200" y="266700"/>
            <a:ext cx="82296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200">
                <a:solidFill>
                  <a:srgbClr val="0F172A"/>
                </a:solidFill>
                <a:latin typeface="Inter ExtraBold"/>
                <a:ea typeface="Inter ExtraBold"/>
                <a:cs typeface="Inter ExtraBold"/>
                <a:sym typeface="Inter ExtraBold"/>
              </a:rPr>
              <a:t>The Charge</a:t>
            </a:r>
            <a:endParaRPr b="0" sz="2200">
              <a:solidFill>
                <a:srgbClr val="0F172A"/>
              </a:solidFill>
              <a:latin typeface="Inter ExtraBold"/>
              <a:ea typeface="Inter ExtraBold"/>
              <a:cs typeface="Inter ExtraBold"/>
              <a:sym typeface="Inter ExtraBold"/>
            </a:endParaRPr>
          </a:p>
          <a:p>
            <a:pPr indent="0" lvl="0" marL="0" rtl="0" algn="l">
              <a:spcBef>
                <a:spcPts val="300"/>
              </a:spcBef>
              <a:spcAft>
                <a:spcPts val="0"/>
              </a:spcAft>
              <a:buNone/>
            </a:pPr>
            <a:r>
              <a:rPr b="0" lang="en" sz="1050">
                <a:solidFill>
                  <a:srgbClr val="64748B"/>
                </a:solidFill>
                <a:latin typeface="Inter Medium"/>
                <a:ea typeface="Inter Medium"/>
                <a:cs typeface="Inter Medium"/>
                <a:sym typeface="Inter Medium"/>
              </a:rPr>
              <a:t>Key financial and operational models under evaluation for budget development</a:t>
            </a:r>
            <a:endParaRPr b="0" sz="1050">
              <a:solidFill>
                <a:srgbClr val="64748B"/>
              </a:solidFill>
              <a:latin typeface="Inter Medium"/>
              <a:ea typeface="Inter Medium"/>
              <a:cs typeface="Inter Medium"/>
              <a:sym typeface="Inter Medium"/>
            </a:endParaRPr>
          </a:p>
        </p:txBody>
      </p:sp>
      <p:grpSp>
        <p:nvGrpSpPr>
          <p:cNvPr id="399" name="Google Shape;399;p42"/>
          <p:cNvGrpSpPr/>
          <p:nvPr/>
        </p:nvGrpSpPr>
        <p:grpSpPr>
          <a:xfrm>
            <a:off x="457200" y="1047750"/>
            <a:ext cx="3962400" cy="3714900"/>
            <a:chOff x="0" y="0"/>
            <a:chExt cx="3962400" cy="3714900"/>
          </a:xfrm>
        </p:grpSpPr>
        <p:sp>
          <p:nvSpPr>
            <p:cNvPr id="400" name="Google Shape;400;p42"/>
            <p:cNvSpPr/>
            <p:nvPr/>
          </p:nvSpPr>
          <p:spPr>
            <a:xfrm>
              <a:off x="0" y="0"/>
              <a:ext cx="3962400" cy="3714900"/>
            </a:xfrm>
            <a:prstGeom prst="roundRect">
              <a:avLst>
                <a:gd fmla="val 358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42"/>
            <p:cNvSpPr/>
            <p:nvPr/>
          </p:nvSpPr>
          <p:spPr>
            <a:xfrm>
              <a:off x="0" y="0"/>
              <a:ext cx="3962400" cy="57300"/>
            </a:xfrm>
            <a:prstGeom prst="roundRect">
              <a:avLst>
                <a:gd fmla="val 49999"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42"/>
            <p:cNvSpPr/>
            <p:nvPr/>
          </p:nvSpPr>
          <p:spPr>
            <a:xfrm>
              <a:off x="171450" y="190500"/>
              <a:ext cx="342900" cy="342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3" name="Google Shape;403;p42"/>
            <p:cNvSpPr txBox="1"/>
            <p:nvPr/>
          </p:nvSpPr>
          <p:spPr>
            <a:xfrm>
              <a:off x="171450" y="2167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rgbClr val="2563EB"/>
                  </a:solidFill>
                  <a:latin typeface="Material Icons"/>
                  <a:ea typeface="Material Icons"/>
                  <a:cs typeface="Material Icons"/>
                  <a:sym typeface="Material Icons"/>
                </a:rPr>
                <a:t>payments</a:t>
              </a:r>
              <a:endParaRPr sz="1800">
                <a:solidFill>
                  <a:srgbClr val="2563EB"/>
                </a:solidFill>
                <a:latin typeface="Material Icons"/>
                <a:ea typeface="Material Icons"/>
                <a:cs typeface="Material Icons"/>
                <a:sym typeface="Material Icons"/>
              </a:endParaRPr>
            </a:p>
          </p:txBody>
        </p:sp>
        <p:sp>
          <p:nvSpPr>
            <p:cNvPr id="404" name="Google Shape;404;p42"/>
            <p:cNvSpPr/>
            <p:nvPr/>
          </p:nvSpPr>
          <p:spPr>
            <a:xfrm>
              <a:off x="1409700" y="247650"/>
              <a:ext cx="952500" cy="228600"/>
            </a:xfrm>
            <a:prstGeom prst="roundRect">
              <a:avLst>
                <a:gd fmla="val 50000" name="adj"/>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42"/>
            <p:cNvSpPr txBox="1"/>
            <p:nvPr/>
          </p:nvSpPr>
          <p:spPr>
            <a:xfrm>
              <a:off x="190500" y="628650"/>
              <a:ext cx="35814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350">
                  <a:solidFill>
                    <a:srgbClr val="0F172A"/>
                  </a:solidFill>
                  <a:latin typeface="Inter"/>
                  <a:ea typeface="Inter"/>
                  <a:cs typeface="Inter"/>
                  <a:sym typeface="Inter"/>
                </a:rPr>
                <a:t>Budget Cap Threshold</a:t>
              </a:r>
              <a:endParaRPr b="1" i="0" sz="1350">
                <a:solidFill>
                  <a:srgbClr val="0F172A"/>
                </a:solidFill>
                <a:latin typeface="Inter"/>
                <a:ea typeface="Inter"/>
                <a:cs typeface="Inter"/>
                <a:sym typeface="Inter"/>
              </a:endParaRPr>
            </a:p>
            <a:p>
              <a:pPr indent="0" lvl="0" marL="0" rtl="0" algn="l">
                <a:spcBef>
                  <a:spcPts val="150"/>
                </a:spcBef>
                <a:spcAft>
                  <a:spcPts val="0"/>
                </a:spcAft>
                <a:buNone/>
              </a:pPr>
              <a:r>
                <a:rPr b="0" i="0" lang="en" sz="950">
                  <a:solidFill>
                    <a:srgbClr val="2563EB"/>
                  </a:solidFill>
                  <a:latin typeface="Inter SemiBold"/>
                  <a:ea typeface="Inter SemiBold"/>
                  <a:cs typeface="Inter SemiBold"/>
                  <a:sym typeface="Inter SemiBold"/>
                </a:rPr>
                <a:t>Per Pupil Spending Limit</a:t>
              </a:r>
              <a:endParaRPr b="1" i="0" sz="950">
                <a:solidFill>
                  <a:srgbClr val="0F172A"/>
                </a:solidFill>
                <a:latin typeface="Inter"/>
                <a:ea typeface="Inter"/>
                <a:cs typeface="Inter"/>
                <a:sym typeface="Inter"/>
              </a:endParaRPr>
            </a:p>
          </p:txBody>
        </p:sp>
        <p:sp>
          <p:nvSpPr>
            <p:cNvPr id="406" name="Google Shape;406;p42"/>
            <p:cNvSpPr/>
            <p:nvPr/>
          </p:nvSpPr>
          <p:spPr>
            <a:xfrm>
              <a:off x="152400" y="1200150"/>
              <a:ext cx="3657600" cy="1524000"/>
            </a:xfrm>
            <a:prstGeom prst="roundRect">
              <a:avLst>
                <a:gd fmla="val 625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42"/>
            <p:cNvSpPr txBox="1"/>
            <p:nvPr/>
          </p:nvSpPr>
          <p:spPr>
            <a:xfrm>
              <a:off x="266700" y="1314450"/>
              <a:ext cx="3429000" cy="1295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750">
                  <a:solidFill>
                    <a:srgbClr val="64748B"/>
                  </a:solidFill>
                  <a:latin typeface="Inter"/>
                  <a:ea typeface="Inter"/>
                  <a:cs typeface="Inter"/>
                  <a:sym typeface="Inter"/>
                </a:rPr>
                <a:t>EVALUATION QUESTION</a:t>
              </a:r>
              <a:endParaRPr b="1" i="0" sz="750">
                <a:solidFill>
                  <a:srgbClr val="64748B"/>
                </a:solidFill>
                <a:latin typeface="Inter"/>
                <a:ea typeface="Inter"/>
                <a:cs typeface="Inter"/>
                <a:sym typeface="Inter"/>
              </a:endParaRPr>
            </a:p>
            <a:p>
              <a:pPr indent="0" lvl="0" marL="0" rtl="0" algn="l">
                <a:spcBef>
                  <a:spcPts val="600"/>
                </a:spcBef>
                <a:spcAft>
                  <a:spcPts val="0"/>
                </a:spcAft>
                <a:buNone/>
              </a:pPr>
              <a:r>
                <a:rPr b="0" i="0" lang="en" sz="1000">
                  <a:solidFill>
                    <a:srgbClr val="334155"/>
                  </a:solidFill>
                  <a:latin typeface="Inter"/>
                  <a:ea typeface="Inter"/>
                  <a:cs typeface="Inter"/>
                  <a:sym typeface="Inter"/>
                </a:rPr>
                <a:t>What reductions would be necessary to achieve a budget not to exceed the per pupil projected spending threshold?</a:t>
              </a:r>
              <a:endParaRPr b="1" i="0" sz="750">
                <a:solidFill>
                  <a:srgbClr val="64748B"/>
                </a:solidFill>
                <a:latin typeface="Inter"/>
                <a:ea typeface="Inter"/>
                <a:cs typeface="Inter"/>
                <a:sym typeface="Inter"/>
              </a:endParaRPr>
            </a:p>
          </p:txBody>
        </p:sp>
        <p:sp>
          <p:nvSpPr>
            <p:cNvPr id="408" name="Google Shape;408;p42"/>
            <p:cNvSpPr/>
            <p:nvPr/>
          </p:nvSpPr>
          <p:spPr>
            <a:xfrm>
              <a:off x="152400" y="2838450"/>
              <a:ext cx="3657600" cy="723900"/>
            </a:xfrm>
            <a:prstGeom prst="roundRect">
              <a:avLst>
                <a:gd fmla="val 13157"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9" name="Google Shape;409;p42"/>
            <p:cNvSpPr txBox="1"/>
            <p:nvPr/>
          </p:nvSpPr>
          <p:spPr>
            <a:xfrm>
              <a:off x="266700" y="2933700"/>
              <a:ext cx="34290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750">
                  <a:solidFill>
                    <a:srgbClr val="1E40AF"/>
                  </a:solidFill>
                  <a:latin typeface="Inter"/>
                  <a:ea typeface="Inter"/>
                  <a:cs typeface="Inter"/>
                  <a:sym typeface="Inter"/>
                </a:rPr>
                <a:t>KEY FOCUS</a:t>
              </a:r>
              <a:endParaRPr b="1" i="0" sz="750">
                <a:solidFill>
                  <a:srgbClr val="1E40AF"/>
                </a:solidFill>
                <a:latin typeface="Inter"/>
                <a:ea typeface="Inter"/>
                <a:cs typeface="Inter"/>
                <a:sym typeface="Inter"/>
              </a:endParaRPr>
            </a:p>
            <a:p>
              <a:pPr indent="0" lvl="0" marL="0" rtl="0" algn="l">
                <a:spcBef>
                  <a:spcPts val="225"/>
                </a:spcBef>
                <a:spcAft>
                  <a:spcPts val="0"/>
                </a:spcAft>
                <a:buNone/>
              </a:pPr>
              <a:r>
                <a:rPr b="1" i="0" lang="en" sz="950">
                  <a:solidFill>
                    <a:srgbClr val="1E3A8A"/>
                  </a:solidFill>
                  <a:latin typeface="Inter"/>
                  <a:ea typeface="Inter"/>
                  <a:cs typeface="Inter"/>
                  <a:sym typeface="Inter"/>
                </a:rPr>
                <a:t>Targeted expenditure reductions</a:t>
              </a:r>
              <a:endParaRPr b="1" i="0" sz="750">
                <a:solidFill>
                  <a:srgbClr val="1E40AF"/>
                </a:solidFill>
                <a:latin typeface="Inter"/>
                <a:ea typeface="Inter"/>
                <a:cs typeface="Inter"/>
                <a:sym typeface="Inter"/>
              </a:endParaRPr>
            </a:p>
          </p:txBody>
        </p:sp>
      </p:grpSp>
      <p:grpSp>
        <p:nvGrpSpPr>
          <p:cNvPr id="410" name="Google Shape;410;p42"/>
          <p:cNvGrpSpPr/>
          <p:nvPr/>
        </p:nvGrpSpPr>
        <p:grpSpPr>
          <a:xfrm>
            <a:off x="4724400" y="1047750"/>
            <a:ext cx="3962400" cy="3714900"/>
            <a:chOff x="1428750" y="0"/>
            <a:chExt cx="3962400" cy="3714900"/>
          </a:xfrm>
        </p:grpSpPr>
        <p:sp>
          <p:nvSpPr>
            <p:cNvPr id="411" name="Google Shape;411;p42"/>
            <p:cNvSpPr/>
            <p:nvPr/>
          </p:nvSpPr>
          <p:spPr>
            <a:xfrm>
              <a:off x="1428750" y="0"/>
              <a:ext cx="3962400" cy="3714900"/>
            </a:xfrm>
            <a:prstGeom prst="roundRect">
              <a:avLst>
                <a:gd fmla="val 358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42"/>
            <p:cNvSpPr/>
            <p:nvPr/>
          </p:nvSpPr>
          <p:spPr>
            <a:xfrm>
              <a:off x="1428750" y="0"/>
              <a:ext cx="3962400" cy="57300"/>
            </a:xfrm>
            <a:prstGeom prst="roundRect">
              <a:avLst>
                <a:gd fmla="val 49999"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3" name="Google Shape;413;p42"/>
            <p:cNvSpPr/>
            <p:nvPr/>
          </p:nvSpPr>
          <p:spPr>
            <a:xfrm>
              <a:off x="1600200" y="190500"/>
              <a:ext cx="342900" cy="342900"/>
            </a:xfrm>
            <a:prstGeom prst="ellipse">
              <a:avLst/>
            </a:prstGeom>
            <a:solidFill>
              <a:srgbClr val="CCFB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4" name="Google Shape;414;p42"/>
            <p:cNvSpPr txBox="1"/>
            <p:nvPr/>
          </p:nvSpPr>
          <p:spPr>
            <a:xfrm>
              <a:off x="1600200" y="243078"/>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0" lang="en" sz="1800">
                  <a:solidFill>
                    <a:srgbClr val="0D9488"/>
                  </a:solidFill>
                  <a:latin typeface="Material Icons"/>
                  <a:ea typeface="Material Icons"/>
                  <a:cs typeface="Material Icons"/>
                  <a:sym typeface="Material Icons"/>
                </a:rPr>
                <a:t>school</a:t>
              </a:r>
              <a:endParaRPr b="0" i="0" sz="1800">
                <a:solidFill>
                  <a:srgbClr val="0D9488"/>
                </a:solidFill>
                <a:latin typeface="Material Icons"/>
                <a:ea typeface="Material Icons"/>
                <a:cs typeface="Material Icons"/>
                <a:sym typeface="Material Icons"/>
              </a:endParaRPr>
            </a:p>
          </p:txBody>
        </p:sp>
        <p:sp>
          <p:nvSpPr>
            <p:cNvPr id="415" name="Google Shape;415;p42"/>
            <p:cNvSpPr txBox="1"/>
            <p:nvPr/>
          </p:nvSpPr>
          <p:spPr>
            <a:xfrm>
              <a:off x="1619250" y="628650"/>
              <a:ext cx="35814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250">
                  <a:solidFill>
                    <a:srgbClr val="0F172A"/>
                  </a:solidFill>
                  <a:latin typeface="Inter"/>
                  <a:ea typeface="Inter"/>
                  <a:cs typeface="Inter"/>
                  <a:sym typeface="Inter"/>
                </a:rPr>
                <a:t>Elementary &amp; Middle Schools Consolidation</a:t>
              </a:r>
              <a:endParaRPr b="1" i="0" sz="1250">
                <a:solidFill>
                  <a:srgbClr val="0F172A"/>
                </a:solidFill>
                <a:latin typeface="Inter"/>
                <a:ea typeface="Inter"/>
                <a:cs typeface="Inter"/>
                <a:sym typeface="Inter"/>
              </a:endParaRPr>
            </a:p>
            <a:p>
              <a:pPr indent="0" lvl="0" marL="0" rtl="0" algn="l">
                <a:spcBef>
                  <a:spcPts val="150"/>
                </a:spcBef>
                <a:spcAft>
                  <a:spcPts val="0"/>
                </a:spcAft>
                <a:buNone/>
              </a:pPr>
              <a:r>
                <a:rPr b="0" i="0" lang="en" sz="850">
                  <a:solidFill>
                    <a:srgbClr val="0D9488"/>
                  </a:solidFill>
                  <a:latin typeface="Inter SemiBold"/>
                  <a:ea typeface="Inter SemiBold"/>
                  <a:cs typeface="Inter SemiBold"/>
                  <a:sym typeface="Inter SemiBold"/>
                </a:rPr>
                <a:t>4 Elem ➔ 2 Elem | 7th &amp; 8th merge with HUMH</a:t>
              </a:r>
              <a:endParaRPr b="1" i="0" sz="850">
                <a:solidFill>
                  <a:srgbClr val="0F172A"/>
                </a:solidFill>
                <a:latin typeface="Inter"/>
                <a:ea typeface="Inter"/>
                <a:cs typeface="Inter"/>
                <a:sym typeface="Inter"/>
              </a:endParaRPr>
            </a:p>
          </p:txBody>
        </p:sp>
        <p:sp>
          <p:nvSpPr>
            <p:cNvPr id="416" name="Google Shape;416;p42"/>
            <p:cNvSpPr/>
            <p:nvPr/>
          </p:nvSpPr>
          <p:spPr>
            <a:xfrm>
              <a:off x="1581150" y="1200150"/>
              <a:ext cx="3657600" cy="1524000"/>
            </a:xfrm>
            <a:prstGeom prst="roundRect">
              <a:avLst>
                <a:gd fmla="val 625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7" name="Google Shape;417;p42"/>
            <p:cNvSpPr txBox="1"/>
            <p:nvPr/>
          </p:nvSpPr>
          <p:spPr>
            <a:xfrm>
              <a:off x="1695450" y="1314450"/>
              <a:ext cx="3429000" cy="1295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750">
                  <a:solidFill>
                    <a:srgbClr val="64748B"/>
                  </a:solidFill>
                  <a:latin typeface="Inter"/>
                  <a:ea typeface="Inter"/>
                  <a:cs typeface="Inter"/>
                  <a:sym typeface="Inter"/>
                </a:rPr>
                <a:t>EVALUATION QUESTION</a:t>
              </a:r>
              <a:endParaRPr b="1" i="0" sz="750">
                <a:solidFill>
                  <a:srgbClr val="64748B"/>
                </a:solidFill>
                <a:latin typeface="Inter"/>
                <a:ea typeface="Inter"/>
                <a:cs typeface="Inter"/>
                <a:sym typeface="Inter"/>
              </a:endParaRPr>
            </a:p>
            <a:p>
              <a:pPr indent="0" lvl="0" marL="0" rtl="0" algn="l">
                <a:spcBef>
                  <a:spcPts val="600"/>
                </a:spcBef>
                <a:spcAft>
                  <a:spcPts val="0"/>
                </a:spcAft>
                <a:buNone/>
              </a:pPr>
              <a:r>
                <a:rPr b="0" i="0" lang="en" sz="1000">
                  <a:solidFill>
                    <a:srgbClr val="334155"/>
                  </a:solidFill>
                  <a:latin typeface="Inter"/>
                  <a:ea typeface="Inter"/>
                  <a:cs typeface="Inter"/>
                  <a:sym typeface="Inter"/>
                </a:rPr>
                <a:t>What are the cost efficiencies if we were to consolidate 4 valley elementary schools into 2 elementary schools and merge 2 middle schools into 1 middle school?</a:t>
              </a:r>
              <a:endParaRPr b="1" i="0" sz="750">
                <a:solidFill>
                  <a:srgbClr val="64748B"/>
                </a:solidFill>
                <a:latin typeface="Inter"/>
                <a:ea typeface="Inter"/>
                <a:cs typeface="Inter"/>
                <a:sym typeface="Inter"/>
              </a:endParaRPr>
            </a:p>
          </p:txBody>
        </p:sp>
        <p:sp>
          <p:nvSpPr>
            <p:cNvPr id="418" name="Google Shape;418;p42"/>
            <p:cNvSpPr/>
            <p:nvPr/>
          </p:nvSpPr>
          <p:spPr>
            <a:xfrm>
              <a:off x="1581150" y="2838450"/>
              <a:ext cx="3657600" cy="723900"/>
            </a:xfrm>
            <a:prstGeom prst="roundRect">
              <a:avLst>
                <a:gd fmla="val 13157" name="adj"/>
              </a:avLst>
            </a:prstGeom>
            <a:solidFill>
              <a:srgbClr val="CCFB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9" name="Google Shape;419;p42"/>
            <p:cNvSpPr txBox="1"/>
            <p:nvPr/>
          </p:nvSpPr>
          <p:spPr>
            <a:xfrm>
              <a:off x="1695450" y="2933700"/>
              <a:ext cx="34290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750">
                  <a:solidFill>
                    <a:srgbClr val="0F766E"/>
                  </a:solidFill>
                  <a:latin typeface="Inter"/>
                  <a:ea typeface="Inter"/>
                  <a:cs typeface="Inter"/>
                  <a:sym typeface="Inter"/>
                </a:rPr>
                <a:t>KEY FOCUS</a:t>
              </a:r>
              <a:endParaRPr b="1" i="0" sz="750">
                <a:solidFill>
                  <a:srgbClr val="0F766E"/>
                </a:solidFill>
                <a:latin typeface="Inter"/>
                <a:ea typeface="Inter"/>
                <a:cs typeface="Inter"/>
                <a:sym typeface="Inter"/>
              </a:endParaRPr>
            </a:p>
            <a:p>
              <a:pPr indent="0" lvl="0" marL="0" rtl="0" algn="l">
                <a:spcBef>
                  <a:spcPts val="225"/>
                </a:spcBef>
                <a:spcAft>
                  <a:spcPts val="0"/>
                </a:spcAft>
                <a:buNone/>
              </a:pPr>
              <a:r>
                <a:rPr b="1" i="0" lang="en" sz="950">
                  <a:solidFill>
                    <a:srgbClr val="115E59"/>
                  </a:solidFill>
                  <a:latin typeface="Inter"/>
                  <a:ea typeface="Inter"/>
                  <a:cs typeface="Inter"/>
                  <a:sym typeface="Inter"/>
                </a:rPr>
                <a:t>Valley elementary &amp; middle school consolidation</a:t>
              </a:r>
              <a:endParaRPr b="1" i="0" sz="750">
                <a:solidFill>
                  <a:srgbClr val="0F766E"/>
                </a:solidFill>
                <a:latin typeface="Inter"/>
                <a:ea typeface="Inter"/>
                <a:cs typeface="Inter"/>
                <a:sym typeface="Inte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3" name="Shape 423"/>
        <p:cNvGrpSpPr/>
        <p:nvPr/>
      </p:nvGrpSpPr>
      <p:grpSpPr>
        <a:xfrm>
          <a:off x="0" y="0"/>
          <a:ext cx="0" cy="0"/>
          <a:chOff x="0" y="0"/>
          <a:chExt cx="0" cy="0"/>
        </a:xfrm>
      </p:grpSpPr>
      <p:sp>
        <p:nvSpPr>
          <p:cNvPr id="424" name="Google Shape;424;p43"/>
          <p:cNvSpPr txBox="1"/>
          <p:nvPr/>
        </p:nvSpPr>
        <p:spPr>
          <a:xfrm>
            <a:off x="381000" y="171450"/>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2563EB"/>
                </a:solidFill>
                <a:latin typeface="Inter"/>
                <a:ea typeface="Inter"/>
                <a:cs typeface="Inter"/>
                <a:sym typeface="Inter"/>
              </a:rPr>
              <a:t>Budget Cap Threshold Summary</a:t>
            </a:r>
            <a:endParaRPr b="1" sz="950">
              <a:solidFill>
                <a:srgbClr val="2563EB"/>
              </a:solidFill>
              <a:latin typeface="Inter"/>
              <a:ea typeface="Inter"/>
              <a:cs typeface="Inter"/>
              <a:sym typeface="Inter"/>
            </a:endParaRPr>
          </a:p>
          <a:p>
            <a:pPr indent="0" lvl="0" marL="0" rtl="0" algn="l">
              <a:spcBef>
                <a:spcPts val="200"/>
              </a:spcBef>
              <a:spcAft>
                <a:spcPts val="0"/>
              </a:spcAft>
              <a:buNone/>
            </a:pPr>
            <a:r>
              <a:rPr b="0" lang="en" sz="2000">
                <a:solidFill>
                  <a:srgbClr val="0F172A"/>
                </a:solidFill>
                <a:latin typeface="Inter ExtraBold"/>
                <a:ea typeface="Inter ExtraBold"/>
                <a:cs typeface="Inter ExtraBold"/>
                <a:sym typeface="Inter ExtraBold"/>
              </a:rPr>
              <a:t>Total High Impact Reductions</a:t>
            </a:r>
            <a:endParaRPr b="0" sz="2000">
              <a:solidFill>
                <a:srgbClr val="0F172A"/>
              </a:solidFill>
              <a:latin typeface="Inter ExtraBold"/>
              <a:ea typeface="Inter ExtraBold"/>
              <a:cs typeface="Inter ExtraBold"/>
              <a:sym typeface="Inter ExtraBold"/>
            </a:endParaRPr>
          </a:p>
        </p:txBody>
      </p:sp>
      <p:grpSp>
        <p:nvGrpSpPr>
          <p:cNvPr id="425" name="Google Shape;425;p43"/>
          <p:cNvGrpSpPr/>
          <p:nvPr/>
        </p:nvGrpSpPr>
        <p:grpSpPr>
          <a:xfrm>
            <a:off x="381000" y="762000"/>
            <a:ext cx="8382000" cy="857400"/>
            <a:chOff x="0" y="0"/>
            <a:chExt cx="8382000" cy="857400"/>
          </a:xfrm>
        </p:grpSpPr>
        <p:sp>
          <p:nvSpPr>
            <p:cNvPr id="426" name="Google Shape;426;p43"/>
            <p:cNvSpPr/>
            <p:nvPr/>
          </p:nvSpPr>
          <p:spPr>
            <a:xfrm>
              <a:off x="0" y="0"/>
              <a:ext cx="8382000" cy="857400"/>
            </a:xfrm>
            <a:prstGeom prst="roundRect">
              <a:avLst>
                <a:gd fmla="val 11111" name="adj"/>
              </a:avLst>
            </a:prstGeom>
            <a:solidFill>
              <a:srgbClr val="1E3A8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7" name="Google Shape;427;p43"/>
            <p:cNvSpPr txBox="1"/>
            <p:nvPr/>
          </p:nvSpPr>
          <p:spPr>
            <a:xfrm>
              <a:off x="228600" y="0"/>
              <a:ext cx="7924800" cy="857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93C5FD"/>
                  </a:solidFill>
                  <a:latin typeface="Inter"/>
                  <a:ea typeface="Inter"/>
                  <a:cs typeface="Inter"/>
                  <a:sym typeface="Inter"/>
                </a:rPr>
                <a:t>CUMULATIVE BUDGET REDUCTION TARGET</a:t>
              </a:r>
              <a:endParaRPr b="1" sz="1000">
                <a:solidFill>
                  <a:srgbClr val="93C5FD"/>
                </a:solidFill>
                <a:latin typeface="Inter"/>
                <a:ea typeface="Inter"/>
                <a:cs typeface="Inter"/>
                <a:sym typeface="Inter"/>
              </a:endParaRPr>
            </a:p>
            <a:p>
              <a:pPr indent="0" lvl="0" marL="0" rtl="0" algn="ctr">
                <a:spcBef>
                  <a:spcPts val="200"/>
                </a:spcBef>
                <a:spcAft>
                  <a:spcPts val="0"/>
                </a:spcAft>
                <a:buNone/>
              </a:pPr>
              <a:r>
                <a:rPr b="0" lang="en" sz="1200">
                  <a:solidFill>
                    <a:srgbClr val="E2E8F0"/>
                  </a:solidFill>
                  <a:latin typeface="Inter"/>
                  <a:ea typeface="Inter"/>
                  <a:cs typeface="Inter"/>
                  <a:sym typeface="Inter"/>
                </a:rPr>
                <a:t>Combined cuts across transportation, academics, athletics, and student programs</a:t>
              </a:r>
              <a:endParaRPr b="0" sz="1200">
                <a:solidFill>
                  <a:srgbClr val="E2E8F0"/>
                </a:solidFill>
                <a:latin typeface="Inter"/>
                <a:ea typeface="Inter"/>
                <a:cs typeface="Inter"/>
                <a:sym typeface="Inter"/>
              </a:endParaRPr>
            </a:p>
            <a:p>
              <a:pPr indent="0" lvl="0" marL="0" rtl="0" algn="ctr">
                <a:spcBef>
                  <a:spcPts val="0"/>
                </a:spcBef>
                <a:spcAft>
                  <a:spcPts val="0"/>
                </a:spcAft>
                <a:buNone/>
              </a:pPr>
              <a:r>
                <a:rPr b="0" lang="en" sz="3200">
                  <a:solidFill>
                    <a:srgbClr val="FFFFFF"/>
                  </a:solidFill>
                  <a:latin typeface="Inter ExtraBold"/>
                  <a:ea typeface="Inter ExtraBold"/>
                  <a:cs typeface="Inter ExtraBold"/>
                  <a:sym typeface="Inter ExtraBold"/>
                </a:rPr>
                <a:t>$3,339</a:t>
              </a:r>
              <a:r>
                <a:rPr lang="en" sz="3200">
                  <a:solidFill>
                    <a:srgbClr val="FFFFFF"/>
                  </a:solidFill>
                  <a:latin typeface="Inter ExtraBold"/>
                  <a:ea typeface="Inter ExtraBold"/>
                  <a:cs typeface="Inter ExtraBold"/>
                  <a:sym typeface="Inter ExtraBold"/>
                </a:rPr>
                <a:t>,</a:t>
              </a:r>
              <a:r>
                <a:rPr b="0" lang="en" sz="3200">
                  <a:solidFill>
                    <a:srgbClr val="FFFFFF"/>
                  </a:solidFill>
                  <a:latin typeface="Inter ExtraBold"/>
                  <a:ea typeface="Inter ExtraBold"/>
                  <a:cs typeface="Inter ExtraBold"/>
                  <a:sym typeface="Inter ExtraBold"/>
                </a:rPr>
                <a:t>273</a:t>
              </a:r>
              <a:endParaRPr b="0" sz="3200">
                <a:solidFill>
                  <a:srgbClr val="FFFFFF"/>
                </a:solidFill>
                <a:latin typeface="Inter ExtraBold"/>
                <a:ea typeface="Inter ExtraBold"/>
                <a:cs typeface="Inter ExtraBold"/>
                <a:sym typeface="Inter ExtraBold"/>
              </a:endParaRPr>
            </a:p>
          </p:txBody>
        </p:sp>
      </p:grpSp>
      <p:grpSp>
        <p:nvGrpSpPr>
          <p:cNvPr id="428" name="Google Shape;428;p43"/>
          <p:cNvGrpSpPr/>
          <p:nvPr/>
        </p:nvGrpSpPr>
        <p:grpSpPr>
          <a:xfrm>
            <a:off x="381000" y="1724050"/>
            <a:ext cx="8382000" cy="2190825"/>
            <a:chOff x="0" y="0"/>
            <a:chExt cx="8382000" cy="2190825"/>
          </a:xfrm>
        </p:grpSpPr>
        <p:grpSp>
          <p:nvGrpSpPr>
            <p:cNvPr id="429" name="Google Shape;429;p43"/>
            <p:cNvGrpSpPr/>
            <p:nvPr/>
          </p:nvGrpSpPr>
          <p:grpSpPr>
            <a:xfrm>
              <a:off x="0" y="0"/>
              <a:ext cx="2667000" cy="1095300"/>
              <a:chOff x="0" y="0"/>
              <a:chExt cx="2667000" cy="1095300"/>
            </a:xfrm>
          </p:grpSpPr>
          <p:sp>
            <p:nvSpPr>
              <p:cNvPr id="430" name="Google Shape;430;p43"/>
              <p:cNvSpPr/>
              <p:nvPr/>
            </p:nvSpPr>
            <p:spPr>
              <a:xfrm>
                <a:off x="0" y="0"/>
                <a:ext cx="2667000" cy="1095300"/>
              </a:xfrm>
              <a:prstGeom prst="roundRect">
                <a:avLst>
                  <a:gd fmla="val 695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p43"/>
              <p:cNvSpPr/>
              <p:nvPr/>
            </p:nvSpPr>
            <p:spPr>
              <a:xfrm>
                <a:off x="0" y="0"/>
                <a:ext cx="2667000" cy="266700"/>
              </a:xfrm>
              <a:prstGeom prst="roundRect">
                <a:avLst>
                  <a:gd fmla="val 28571"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2" name="Google Shape;432;p43"/>
              <p:cNvSpPr txBox="1"/>
              <p:nvPr/>
            </p:nvSpPr>
            <p:spPr>
              <a:xfrm>
                <a:off x="114300" y="38100"/>
                <a:ext cx="2438400" cy="9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1E3A8A"/>
                    </a:solidFill>
                    <a:latin typeface="Inter"/>
                    <a:ea typeface="Inter"/>
                    <a:cs typeface="Inter"/>
                    <a:sym typeface="Inter"/>
                  </a:rPr>
                  <a:t>Transportation &amp; Routes</a:t>
                </a:r>
                <a:endParaRPr b="1" sz="950">
                  <a:solidFill>
                    <a:srgbClr val="1E3A8A"/>
                  </a:solidFill>
                  <a:latin typeface="Inter"/>
                  <a:ea typeface="Inter"/>
                  <a:cs typeface="Inter"/>
                  <a:sym typeface="Inter"/>
                </a:endParaRPr>
              </a:p>
              <a:p>
                <a:pPr indent="0" lvl="0" marL="0" rtl="0" algn="l">
                  <a:spcBef>
                    <a:spcPts val="800"/>
                  </a:spcBef>
                  <a:spcAft>
                    <a:spcPts val="0"/>
                  </a:spcAft>
                  <a:buNone/>
                </a:pPr>
                <a:r>
                  <a:rPr b="0" lang="en" sz="1600">
                    <a:solidFill>
                      <a:srgbClr val="DC2626"/>
                    </a:solidFill>
                    <a:latin typeface="Inter ExtraBold"/>
                    <a:ea typeface="Inter ExtraBold"/>
                    <a:cs typeface="Inter ExtraBold"/>
                    <a:sym typeface="Inter ExtraBold"/>
                  </a:rPr>
                  <a:t>$1,</a:t>
                </a:r>
                <a:r>
                  <a:rPr lang="en" sz="1600">
                    <a:solidFill>
                      <a:srgbClr val="DC2626"/>
                    </a:solidFill>
                    <a:latin typeface="Inter ExtraBold"/>
                    <a:ea typeface="Inter ExtraBold"/>
                    <a:cs typeface="Inter ExtraBold"/>
                    <a:sym typeface="Inter ExtraBold"/>
                  </a:rPr>
                  <a:t>360,000</a:t>
                </a:r>
                <a:r>
                  <a:rPr b="0" lang="en" sz="1600">
                    <a:solidFill>
                      <a:srgbClr val="DC2626"/>
                    </a:solidFill>
                    <a:latin typeface="Inter ExtraBold"/>
                    <a:ea typeface="Inter ExtraBold"/>
                    <a:cs typeface="Inter ExtraBold"/>
                    <a:sym typeface="Inter ExtraBold"/>
                  </a:rPr>
                  <a:t> </a:t>
                </a:r>
                <a:endParaRPr b="0" sz="1600">
                  <a:solidFill>
                    <a:srgbClr val="DC2626"/>
                  </a:solidFill>
                  <a:latin typeface="Inter ExtraBold"/>
                  <a:ea typeface="Inter ExtraBold"/>
                  <a:cs typeface="Inter ExtraBold"/>
                  <a:sym typeface="Inter ExtraBold"/>
                </a:endParaRPr>
              </a:p>
              <a:p>
                <a:pPr indent="0" lvl="0" marL="0" rtl="0" algn="l">
                  <a:spcBef>
                    <a:spcPts val="400"/>
                  </a:spcBef>
                  <a:spcAft>
                    <a:spcPts val="0"/>
                  </a:spcAft>
                  <a:buNone/>
                </a:pPr>
                <a:r>
                  <a:rPr lang="en" sz="800">
                    <a:solidFill>
                      <a:srgbClr val="475569"/>
                    </a:solidFill>
                    <a:latin typeface="Inter"/>
                    <a:ea typeface="Inter"/>
                    <a:cs typeface="Inter"/>
                    <a:sym typeface="Inter"/>
                  </a:rPr>
                  <a:t>Daily routes, field travel, tech school transportation </a:t>
                </a:r>
                <a:endParaRPr sz="800">
                  <a:solidFill>
                    <a:srgbClr val="475569"/>
                  </a:solidFill>
                  <a:latin typeface="Inter"/>
                  <a:ea typeface="Inter"/>
                  <a:cs typeface="Inter"/>
                  <a:sym typeface="Inter"/>
                </a:endParaRPr>
              </a:p>
            </p:txBody>
          </p:sp>
        </p:grpSp>
        <p:grpSp>
          <p:nvGrpSpPr>
            <p:cNvPr id="433" name="Google Shape;433;p43"/>
            <p:cNvGrpSpPr/>
            <p:nvPr/>
          </p:nvGrpSpPr>
          <p:grpSpPr>
            <a:xfrm>
              <a:off x="2857500" y="0"/>
              <a:ext cx="2667000" cy="1095300"/>
              <a:chOff x="0" y="0"/>
              <a:chExt cx="2667000" cy="1095300"/>
            </a:xfrm>
          </p:grpSpPr>
          <p:sp>
            <p:nvSpPr>
              <p:cNvPr id="434" name="Google Shape;434;p43"/>
              <p:cNvSpPr/>
              <p:nvPr/>
            </p:nvSpPr>
            <p:spPr>
              <a:xfrm>
                <a:off x="0" y="0"/>
                <a:ext cx="2667000" cy="1095300"/>
              </a:xfrm>
              <a:prstGeom prst="roundRect">
                <a:avLst>
                  <a:gd fmla="val 695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43"/>
              <p:cNvSpPr/>
              <p:nvPr/>
            </p:nvSpPr>
            <p:spPr>
              <a:xfrm>
                <a:off x="0" y="0"/>
                <a:ext cx="2667000" cy="266700"/>
              </a:xfrm>
              <a:prstGeom prst="roundRect">
                <a:avLst>
                  <a:gd fmla="val 28571"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6" name="Google Shape;436;p43"/>
              <p:cNvSpPr txBox="1"/>
              <p:nvPr/>
            </p:nvSpPr>
            <p:spPr>
              <a:xfrm>
                <a:off x="114300" y="38100"/>
                <a:ext cx="2438400" cy="9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1E3A8A"/>
                    </a:solidFill>
                    <a:latin typeface="Inter"/>
                    <a:ea typeface="Inter"/>
                    <a:cs typeface="Inter"/>
                    <a:sym typeface="Inter"/>
                  </a:rPr>
                  <a:t>Athletics &amp; Co-Curriculars</a:t>
                </a:r>
                <a:endParaRPr b="1" sz="950">
                  <a:solidFill>
                    <a:srgbClr val="1E3A8A"/>
                  </a:solidFill>
                  <a:latin typeface="Inter"/>
                  <a:ea typeface="Inter"/>
                  <a:cs typeface="Inter"/>
                  <a:sym typeface="Inter"/>
                </a:endParaRPr>
              </a:p>
              <a:p>
                <a:pPr indent="0" lvl="0" marL="0" rtl="0" algn="l">
                  <a:spcBef>
                    <a:spcPts val="800"/>
                  </a:spcBef>
                  <a:spcAft>
                    <a:spcPts val="0"/>
                  </a:spcAft>
                  <a:buNone/>
                </a:pPr>
                <a:r>
                  <a:rPr b="0" lang="en" sz="1600">
                    <a:solidFill>
                      <a:srgbClr val="DC2626"/>
                    </a:solidFill>
                    <a:latin typeface="Inter ExtraBold"/>
                    <a:ea typeface="Inter ExtraBold"/>
                    <a:cs typeface="Inter ExtraBold"/>
                    <a:sym typeface="Inter ExtraBold"/>
                  </a:rPr>
                  <a:t>$</a:t>
                </a:r>
                <a:r>
                  <a:rPr lang="en" sz="1600">
                    <a:solidFill>
                      <a:srgbClr val="DC2626"/>
                    </a:solidFill>
                    <a:latin typeface="Inter ExtraBold"/>
                    <a:ea typeface="Inter ExtraBold"/>
                    <a:cs typeface="Inter ExtraBold"/>
                    <a:sym typeface="Inter ExtraBold"/>
                  </a:rPr>
                  <a:t>312,757</a:t>
                </a:r>
                <a:r>
                  <a:rPr lang="en" sz="1600">
                    <a:solidFill>
                      <a:srgbClr val="DC2626"/>
                    </a:solidFill>
                    <a:latin typeface="Inter ExtraBold"/>
                    <a:ea typeface="Inter ExtraBold"/>
                    <a:cs typeface="Inter ExtraBold"/>
                    <a:sym typeface="Inter ExtraBold"/>
                  </a:rPr>
                  <a:t> </a:t>
                </a:r>
                <a:r>
                  <a:rPr lang="en" sz="1600">
                    <a:solidFill>
                      <a:srgbClr val="DC2626"/>
                    </a:solidFill>
                    <a:highlight>
                      <a:schemeClr val="lt1"/>
                    </a:highlight>
                    <a:latin typeface="Inter ExtraBold"/>
                    <a:ea typeface="Inter ExtraBold"/>
                    <a:cs typeface="Inter ExtraBold"/>
                    <a:sym typeface="Inter ExtraBold"/>
                  </a:rPr>
                  <a:t>(70% cut)</a:t>
                </a:r>
                <a:r>
                  <a:rPr lang="en" sz="1600">
                    <a:solidFill>
                      <a:srgbClr val="DC2626"/>
                    </a:solidFill>
                    <a:latin typeface="Inter ExtraBold"/>
                    <a:ea typeface="Inter ExtraBold"/>
                    <a:cs typeface="Inter ExtraBold"/>
                    <a:sym typeface="Inter ExtraBold"/>
                  </a:rPr>
                  <a:t> </a:t>
                </a:r>
                <a:endParaRPr b="0" sz="1600">
                  <a:solidFill>
                    <a:srgbClr val="DC2626"/>
                  </a:solidFill>
                  <a:latin typeface="Inter ExtraBold"/>
                  <a:ea typeface="Inter ExtraBold"/>
                  <a:cs typeface="Inter ExtraBold"/>
                  <a:sym typeface="Inter ExtraBold"/>
                </a:endParaRPr>
              </a:p>
              <a:p>
                <a:pPr indent="0" lvl="0" marL="0" rtl="0" algn="l">
                  <a:spcBef>
                    <a:spcPts val="400"/>
                  </a:spcBef>
                  <a:spcAft>
                    <a:spcPts val="0"/>
                  </a:spcAft>
                  <a:buNone/>
                </a:pPr>
                <a:r>
                  <a:rPr lang="en" sz="800">
                    <a:solidFill>
                      <a:srgbClr val="475569"/>
                    </a:solidFill>
                    <a:latin typeface="Inter"/>
                    <a:ea typeface="Inter"/>
                    <a:cs typeface="Inter"/>
                    <a:sym typeface="Inter"/>
                  </a:rPr>
                  <a:t>Sports coaches, officials, theater, music &amp; student clubs</a:t>
                </a:r>
                <a:endParaRPr sz="800">
                  <a:solidFill>
                    <a:srgbClr val="475569"/>
                  </a:solidFill>
                  <a:latin typeface="Inter"/>
                  <a:ea typeface="Inter"/>
                  <a:cs typeface="Inter"/>
                  <a:sym typeface="Inter"/>
                </a:endParaRPr>
              </a:p>
            </p:txBody>
          </p:sp>
        </p:grpSp>
        <p:grpSp>
          <p:nvGrpSpPr>
            <p:cNvPr id="437" name="Google Shape;437;p43"/>
            <p:cNvGrpSpPr/>
            <p:nvPr/>
          </p:nvGrpSpPr>
          <p:grpSpPr>
            <a:xfrm>
              <a:off x="5715000" y="0"/>
              <a:ext cx="2667000" cy="1095300"/>
              <a:chOff x="0" y="0"/>
              <a:chExt cx="2667000" cy="1095300"/>
            </a:xfrm>
          </p:grpSpPr>
          <p:sp>
            <p:nvSpPr>
              <p:cNvPr id="438" name="Google Shape;438;p43"/>
              <p:cNvSpPr/>
              <p:nvPr/>
            </p:nvSpPr>
            <p:spPr>
              <a:xfrm>
                <a:off x="0" y="0"/>
                <a:ext cx="2667000" cy="1095300"/>
              </a:xfrm>
              <a:prstGeom prst="roundRect">
                <a:avLst>
                  <a:gd fmla="val 695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9" name="Google Shape;439;p43"/>
              <p:cNvSpPr/>
              <p:nvPr/>
            </p:nvSpPr>
            <p:spPr>
              <a:xfrm>
                <a:off x="0" y="0"/>
                <a:ext cx="2667000" cy="266700"/>
              </a:xfrm>
              <a:prstGeom prst="roundRect">
                <a:avLst>
                  <a:gd fmla="val 28571"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43"/>
              <p:cNvSpPr txBox="1"/>
              <p:nvPr/>
            </p:nvSpPr>
            <p:spPr>
              <a:xfrm>
                <a:off x="114300" y="38100"/>
                <a:ext cx="2438400" cy="9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1E3A8A"/>
                    </a:solidFill>
                    <a:latin typeface="Inter"/>
                    <a:ea typeface="Inter"/>
                    <a:cs typeface="Inter"/>
                    <a:sym typeface="Inter"/>
                  </a:rPr>
                  <a:t>Special Programming</a:t>
                </a:r>
                <a:endParaRPr b="1" sz="950">
                  <a:solidFill>
                    <a:srgbClr val="1E3A8A"/>
                  </a:solidFill>
                  <a:latin typeface="Inter"/>
                  <a:ea typeface="Inter"/>
                  <a:cs typeface="Inter"/>
                  <a:sym typeface="Inter"/>
                </a:endParaRPr>
              </a:p>
              <a:p>
                <a:pPr indent="0" lvl="0" marL="0" rtl="0" algn="l">
                  <a:spcBef>
                    <a:spcPts val="800"/>
                  </a:spcBef>
                  <a:spcAft>
                    <a:spcPts val="0"/>
                  </a:spcAft>
                  <a:buNone/>
                </a:pPr>
                <a:r>
                  <a:rPr b="0" lang="en" sz="1600">
                    <a:solidFill>
                      <a:srgbClr val="DC2626"/>
                    </a:solidFill>
                    <a:latin typeface="Inter ExtraBold"/>
                    <a:ea typeface="Inter ExtraBold"/>
                    <a:cs typeface="Inter ExtraBold"/>
                    <a:sym typeface="Inter ExtraBold"/>
                  </a:rPr>
                  <a:t>$583,</a:t>
                </a:r>
                <a:r>
                  <a:rPr lang="en" sz="1600">
                    <a:solidFill>
                      <a:srgbClr val="DC2626"/>
                    </a:solidFill>
                    <a:latin typeface="Inter ExtraBold"/>
                    <a:ea typeface="Inter ExtraBold"/>
                    <a:cs typeface="Inter ExtraBold"/>
                    <a:sym typeface="Inter ExtraBold"/>
                  </a:rPr>
                  <a:t>516</a:t>
                </a:r>
                <a:endParaRPr b="0" sz="1600">
                  <a:solidFill>
                    <a:srgbClr val="DC2626"/>
                  </a:solidFill>
                  <a:latin typeface="Inter ExtraBold"/>
                  <a:ea typeface="Inter ExtraBold"/>
                  <a:cs typeface="Inter ExtraBold"/>
                  <a:sym typeface="Inter ExtraBold"/>
                </a:endParaRPr>
              </a:p>
              <a:p>
                <a:pPr indent="0" lvl="0" marL="0" rtl="0" algn="l">
                  <a:spcBef>
                    <a:spcPts val="400"/>
                  </a:spcBef>
                  <a:spcAft>
                    <a:spcPts val="0"/>
                  </a:spcAft>
                  <a:buNone/>
                </a:pPr>
                <a:r>
                  <a:rPr lang="en" sz="800">
                    <a:solidFill>
                      <a:srgbClr val="475569"/>
                    </a:solidFill>
                    <a:latin typeface="Inter"/>
                    <a:ea typeface="Inter"/>
                    <a:cs typeface="Inter"/>
                    <a:sym typeface="Inter"/>
                  </a:rPr>
                  <a:t>Farm to School, outdoor ed &amp; learning center supports</a:t>
                </a:r>
                <a:endParaRPr sz="800">
                  <a:solidFill>
                    <a:srgbClr val="475569"/>
                  </a:solidFill>
                  <a:latin typeface="Inter"/>
                  <a:ea typeface="Inter"/>
                  <a:cs typeface="Inter"/>
                  <a:sym typeface="Inter"/>
                </a:endParaRPr>
              </a:p>
            </p:txBody>
          </p:sp>
        </p:grpSp>
        <p:grpSp>
          <p:nvGrpSpPr>
            <p:cNvPr id="441" name="Google Shape;441;p43"/>
            <p:cNvGrpSpPr/>
            <p:nvPr/>
          </p:nvGrpSpPr>
          <p:grpSpPr>
            <a:xfrm>
              <a:off x="0" y="1190625"/>
              <a:ext cx="2667000" cy="1000200"/>
              <a:chOff x="0" y="0"/>
              <a:chExt cx="2667000" cy="1000200"/>
            </a:xfrm>
          </p:grpSpPr>
          <p:sp>
            <p:nvSpPr>
              <p:cNvPr id="442" name="Google Shape;442;p43"/>
              <p:cNvSpPr/>
              <p:nvPr/>
            </p:nvSpPr>
            <p:spPr>
              <a:xfrm>
                <a:off x="0" y="0"/>
                <a:ext cx="2667000" cy="1000200"/>
              </a:xfrm>
              <a:prstGeom prst="roundRect">
                <a:avLst>
                  <a:gd fmla="val 761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3" name="Google Shape;443;p43"/>
              <p:cNvSpPr/>
              <p:nvPr/>
            </p:nvSpPr>
            <p:spPr>
              <a:xfrm>
                <a:off x="0" y="0"/>
                <a:ext cx="2667000" cy="266700"/>
              </a:xfrm>
              <a:prstGeom prst="roundRect">
                <a:avLst>
                  <a:gd fmla="val 28571"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43"/>
              <p:cNvSpPr txBox="1"/>
              <p:nvPr/>
            </p:nvSpPr>
            <p:spPr>
              <a:xfrm>
                <a:off x="114300" y="38100"/>
                <a:ext cx="2438400" cy="8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1E3A8A"/>
                    </a:solidFill>
                    <a:latin typeface="Inter"/>
                    <a:ea typeface="Inter"/>
                    <a:cs typeface="Inter"/>
                    <a:sym typeface="Inter"/>
                  </a:rPr>
                  <a:t>Pre-K Tuition-Only Model</a:t>
                </a:r>
                <a:endParaRPr b="1" sz="950">
                  <a:solidFill>
                    <a:srgbClr val="1E3A8A"/>
                  </a:solidFill>
                  <a:latin typeface="Inter"/>
                  <a:ea typeface="Inter"/>
                  <a:cs typeface="Inter"/>
                  <a:sym typeface="Inter"/>
                </a:endParaRPr>
              </a:p>
              <a:p>
                <a:pPr indent="0" lvl="0" marL="0" rtl="0" algn="l">
                  <a:spcBef>
                    <a:spcPts val="800"/>
                  </a:spcBef>
                  <a:spcAft>
                    <a:spcPts val="0"/>
                  </a:spcAft>
                  <a:buNone/>
                </a:pPr>
                <a:r>
                  <a:rPr b="0" lang="en" sz="1600">
                    <a:solidFill>
                      <a:srgbClr val="DC2626"/>
                    </a:solidFill>
                    <a:latin typeface="Inter ExtraBold"/>
                    <a:ea typeface="Inter ExtraBold"/>
                    <a:cs typeface="Inter ExtraBold"/>
                    <a:sym typeface="Inter ExtraBold"/>
                  </a:rPr>
                  <a:t>$517,000</a:t>
                </a:r>
                <a:endParaRPr b="0" sz="1600">
                  <a:solidFill>
                    <a:srgbClr val="DC2626"/>
                  </a:solidFill>
                  <a:latin typeface="Inter ExtraBold"/>
                  <a:ea typeface="Inter ExtraBold"/>
                  <a:cs typeface="Inter ExtraBold"/>
                  <a:sym typeface="Inter ExtraBold"/>
                </a:endParaRPr>
              </a:p>
              <a:p>
                <a:pPr indent="0" lvl="0" marL="0" rtl="0" algn="l">
                  <a:spcBef>
                    <a:spcPts val="400"/>
                  </a:spcBef>
                  <a:spcAft>
                    <a:spcPts val="0"/>
                  </a:spcAft>
                  <a:buNone/>
                </a:pPr>
                <a:r>
                  <a:rPr lang="en" sz="800">
                    <a:solidFill>
                      <a:srgbClr val="475569"/>
                    </a:solidFill>
                    <a:latin typeface="Inter"/>
                    <a:ea typeface="Inter"/>
                    <a:cs typeface="Inter"/>
                    <a:sym typeface="Inter"/>
                  </a:rPr>
                  <a:t>Eliminates in-district public Pre-K slots &amp; limits capacity</a:t>
                </a:r>
                <a:endParaRPr sz="800">
                  <a:solidFill>
                    <a:srgbClr val="475569"/>
                  </a:solidFill>
                  <a:latin typeface="Inter"/>
                  <a:ea typeface="Inter"/>
                  <a:cs typeface="Inter"/>
                  <a:sym typeface="Inter"/>
                </a:endParaRPr>
              </a:p>
            </p:txBody>
          </p:sp>
        </p:grpSp>
        <p:grpSp>
          <p:nvGrpSpPr>
            <p:cNvPr id="445" name="Google Shape;445;p43"/>
            <p:cNvGrpSpPr/>
            <p:nvPr/>
          </p:nvGrpSpPr>
          <p:grpSpPr>
            <a:xfrm>
              <a:off x="2857500" y="1190625"/>
              <a:ext cx="2667000" cy="1000200"/>
              <a:chOff x="0" y="0"/>
              <a:chExt cx="2667000" cy="1000200"/>
            </a:xfrm>
          </p:grpSpPr>
          <p:sp>
            <p:nvSpPr>
              <p:cNvPr id="446" name="Google Shape;446;p43"/>
              <p:cNvSpPr/>
              <p:nvPr/>
            </p:nvSpPr>
            <p:spPr>
              <a:xfrm>
                <a:off x="0" y="0"/>
                <a:ext cx="2667000" cy="1000200"/>
              </a:xfrm>
              <a:prstGeom prst="roundRect">
                <a:avLst>
                  <a:gd fmla="val 761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7" name="Google Shape;447;p43"/>
              <p:cNvSpPr/>
              <p:nvPr/>
            </p:nvSpPr>
            <p:spPr>
              <a:xfrm>
                <a:off x="0" y="0"/>
                <a:ext cx="2667000" cy="266700"/>
              </a:xfrm>
              <a:prstGeom prst="roundRect">
                <a:avLst>
                  <a:gd fmla="val 28571"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8" name="Google Shape;448;p43"/>
              <p:cNvSpPr txBox="1"/>
              <p:nvPr/>
            </p:nvSpPr>
            <p:spPr>
              <a:xfrm>
                <a:off x="114300" y="38100"/>
                <a:ext cx="2438400" cy="8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1E3A8A"/>
                    </a:solidFill>
                    <a:latin typeface="Inter"/>
                    <a:ea typeface="Inter"/>
                    <a:cs typeface="Inter"/>
                    <a:sym typeface="Inter"/>
                  </a:rPr>
                  <a:t>Academic &amp; Behavioral Staff</a:t>
                </a:r>
                <a:endParaRPr b="1" sz="950">
                  <a:solidFill>
                    <a:srgbClr val="1E3A8A"/>
                  </a:solidFill>
                  <a:latin typeface="Inter"/>
                  <a:ea typeface="Inter"/>
                  <a:cs typeface="Inter"/>
                  <a:sym typeface="Inter"/>
                </a:endParaRPr>
              </a:p>
              <a:p>
                <a:pPr indent="0" lvl="0" marL="0" rtl="0" algn="l">
                  <a:spcBef>
                    <a:spcPts val="800"/>
                  </a:spcBef>
                  <a:spcAft>
                    <a:spcPts val="0"/>
                  </a:spcAft>
                  <a:buNone/>
                </a:pPr>
                <a:r>
                  <a:rPr b="0" lang="en" sz="1600">
                    <a:solidFill>
                      <a:srgbClr val="DC2626"/>
                    </a:solidFill>
                    <a:latin typeface="Inter ExtraBold"/>
                    <a:ea typeface="Inter ExtraBold"/>
                    <a:cs typeface="Inter ExtraBold"/>
                    <a:sym typeface="Inter ExtraBold"/>
                  </a:rPr>
                  <a:t>$456,000</a:t>
                </a:r>
                <a:endParaRPr b="0" sz="1600">
                  <a:solidFill>
                    <a:srgbClr val="DC2626"/>
                  </a:solidFill>
                  <a:latin typeface="Inter ExtraBold"/>
                  <a:ea typeface="Inter ExtraBold"/>
                  <a:cs typeface="Inter ExtraBold"/>
                  <a:sym typeface="Inter ExtraBold"/>
                </a:endParaRPr>
              </a:p>
              <a:p>
                <a:pPr indent="0" lvl="0" marL="0" rtl="0" algn="l">
                  <a:spcBef>
                    <a:spcPts val="400"/>
                  </a:spcBef>
                  <a:spcAft>
                    <a:spcPts val="0"/>
                  </a:spcAft>
                  <a:buNone/>
                </a:pPr>
                <a:r>
                  <a:rPr lang="en" sz="800">
                    <a:solidFill>
                      <a:srgbClr val="475569"/>
                    </a:solidFill>
                    <a:latin typeface="Inter"/>
                    <a:ea typeface="Inter"/>
                    <a:cs typeface="Inter"/>
                    <a:sym typeface="Inter"/>
                  </a:rPr>
                  <a:t>Reduces interventionists, paras &amp; tier 2/3 student support</a:t>
                </a:r>
                <a:endParaRPr sz="800">
                  <a:solidFill>
                    <a:srgbClr val="475569"/>
                  </a:solidFill>
                  <a:latin typeface="Inter"/>
                  <a:ea typeface="Inter"/>
                  <a:cs typeface="Inter"/>
                  <a:sym typeface="Inter"/>
                </a:endParaRPr>
              </a:p>
            </p:txBody>
          </p:sp>
        </p:grpSp>
        <p:grpSp>
          <p:nvGrpSpPr>
            <p:cNvPr id="449" name="Google Shape;449;p43"/>
            <p:cNvGrpSpPr/>
            <p:nvPr/>
          </p:nvGrpSpPr>
          <p:grpSpPr>
            <a:xfrm>
              <a:off x="5715000" y="1190625"/>
              <a:ext cx="2667000" cy="1000200"/>
              <a:chOff x="0" y="0"/>
              <a:chExt cx="2667000" cy="1000200"/>
            </a:xfrm>
          </p:grpSpPr>
          <p:sp>
            <p:nvSpPr>
              <p:cNvPr id="450" name="Google Shape;450;p43"/>
              <p:cNvSpPr/>
              <p:nvPr/>
            </p:nvSpPr>
            <p:spPr>
              <a:xfrm>
                <a:off x="0" y="0"/>
                <a:ext cx="2667000" cy="1000200"/>
              </a:xfrm>
              <a:prstGeom prst="roundRect">
                <a:avLst>
                  <a:gd fmla="val 761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1" name="Google Shape;451;p43"/>
              <p:cNvSpPr/>
              <p:nvPr/>
            </p:nvSpPr>
            <p:spPr>
              <a:xfrm>
                <a:off x="0" y="0"/>
                <a:ext cx="2667000" cy="266700"/>
              </a:xfrm>
              <a:prstGeom prst="roundRect">
                <a:avLst>
                  <a:gd fmla="val 28571"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2" name="Google Shape;452;p43"/>
              <p:cNvSpPr txBox="1"/>
              <p:nvPr/>
            </p:nvSpPr>
            <p:spPr>
              <a:xfrm>
                <a:off x="114300" y="38100"/>
                <a:ext cx="2438400" cy="8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1E3A8A"/>
                    </a:solidFill>
                    <a:latin typeface="Inter"/>
                    <a:ea typeface="Inter"/>
                    <a:cs typeface="Inter"/>
                    <a:sym typeface="Inter"/>
                  </a:rPr>
                  <a:t>Electives &amp; Technology</a:t>
                </a:r>
                <a:endParaRPr b="1" sz="950">
                  <a:solidFill>
                    <a:srgbClr val="1E3A8A"/>
                  </a:solidFill>
                  <a:latin typeface="Inter"/>
                  <a:ea typeface="Inter"/>
                  <a:cs typeface="Inter"/>
                  <a:sym typeface="Inter"/>
                </a:endParaRPr>
              </a:p>
              <a:p>
                <a:pPr indent="0" lvl="0" marL="0" rtl="0" algn="l">
                  <a:spcBef>
                    <a:spcPts val="800"/>
                  </a:spcBef>
                  <a:spcAft>
                    <a:spcPts val="0"/>
                  </a:spcAft>
                  <a:buNone/>
                </a:pPr>
                <a:r>
                  <a:rPr b="0" lang="en" sz="1600">
                    <a:solidFill>
                      <a:srgbClr val="DC2626"/>
                    </a:solidFill>
                    <a:latin typeface="Inter ExtraBold"/>
                    <a:ea typeface="Inter ExtraBold"/>
                    <a:cs typeface="Inter ExtraBold"/>
                    <a:sym typeface="Inter ExtraBold"/>
                  </a:rPr>
                  <a:t>$110,000</a:t>
                </a:r>
                <a:endParaRPr b="0" sz="1600">
                  <a:solidFill>
                    <a:srgbClr val="DC2626"/>
                  </a:solidFill>
                  <a:latin typeface="Inter ExtraBold"/>
                  <a:ea typeface="Inter ExtraBold"/>
                  <a:cs typeface="Inter ExtraBold"/>
                  <a:sym typeface="Inter ExtraBold"/>
                </a:endParaRPr>
              </a:p>
              <a:p>
                <a:pPr indent="0" lvl="0" marL="0" rtl="0" algn="l">
                  <a:spcBef>
                    <a:spcPts val="400"/>
                  </a:spcBef>
                  <a:spcAft>
                    <a:spcPts val="0"/>
                  </a:spcAft>
                  <a:buNone/>
                </a:pPr>
                <a:r>
                  <a:rPr lang="en" sz="800">
                    <a:solidFill>
                      <a:srgbClr val="475569"/>
                    </a:solidFill>
                    <a:latin typeface="Inter"/>
                    <a:ea typeface="Inter"/>
                    <a:cs typeface="Inter"/>
                    <a:sym typeface="Inter"/>
                  </a:rPr>
                  <a:t>Reduces course offerings, software &amp; hardware tools</a:t>
                </a:r>
                <a:endParaRPr sz="800">
                  <a:solidFill>
                    <a:srgbClr val="475569"/>
                  </a:solidFill>
                  <a:latin typeface="Inter"/>
                  <a:ea typeface="Inter"/>
                  <a:cs typeface="Inter"/>
                  <a:sym typeface="Inter"/>
                </a:endParaRPr>
              </a:p>
            </p:txBody>
          </p:sp>
        </p:grpSp>
      </p:grpSp>
      <p:grpSp>
        <p:nvGrpSpPr>
          <p:cNvPr id="453" name="Google Shape;453;p43"/>
          <p:cNvGrpSpPr/>
          <p:nvPr/>
        </p:nvGrpSpPr>
        <p:grpSpPr>
          <a:xfrm>
            <a:off x="381000" y="4019550"/>
            <a:ext cx="8382000" cy="933600"/>
            <a:chOff x="0" y="0"/>
            <a:chExt cx="8382000" cy="933600"/>
          </a:xfrm>
        </p:grpSpPr>
        <p:sp>
          <p:nvSpPr>
            <p:cNvPr id="454" name="Google Shape;454;p43"/>
            <p:cNvSpPr/>
            <p:nvPr/>
          </p:nvSpPr>
          <p:spPr>
            <a:xfrm>
              <a:off x="0" y="0"/>
              <a:ext cx="8382000" cy="933600"/>
            </a:xfrm>
            <a:prstGeom prst="roundRect">
              <a:avLst>
                <a:gd fmla="val 10204" name="adj"/>
              </a:avLst>
            </a:prstGeom>
            <a:solidFill>
              <a:srgbClr val="FEF2F2"/>
            </a:solidFill>
            <a:ln cap="flat" cmpd="sng" w="14300">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5" name="Google Shape;455;p43"/>
            <p:cNvSpPr txBox="1"/>
            <p:nvPr/>
          </p:nvSpPr>
          <p:spPr>
            <a:xfrm>
              <a:off x="190500" y="95250"/>
              <a:ext cx="8001000" cy="743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991B1B"/>
                  </a:solidFill>
                  <a:latin typeface="Inter ExtraBold"/>
                  <a:ea typeface="Inter ExtraBold"/>
                  <a:cs typeface="Inter ExtraBold"/>
                  <a:sym typeface="Inter ExtraBold"/>
                </a:rPr>
                <a:t>DEVASTATING IMPACT ON STUDENTS &amp; COMMUNITIES</a:t>
              </a:r>
              <a:endParaRPr b="0" sz="1000">
                <a:solidFill>
                  <a:srgbClr val="991B1B"/>
                </a:solidFill>
                <a:latin typeface="Inter ExtraBold"/>
                <a:ea typeface="Inter ExtraBold"/>
                <a:cs typeface="Inter ExtraBold"/>
                <a:sym typeface="Inter ExtraBold"/>
              </a:endParaRPr>
            </a:p>
            <a:p>
              <a:pPr indent="-282575" lvl="0" marL="457200" rtl="0" algn="l">
                <a:spcBef>
                  <a:spcPts val="400"/>
                </a:spcBef>
                <a:spcAft>
                  <a:spcPts val="0"/>
                </a:spcAft>
                <a:buClr>
                  <a:srgbClr val="7F1D1D"/>
                </a:buClr>
                <a:buSzPts val="850"/>
                <a:buFont typeface="Inter"/>
                <a:buChar char="●"/>
              </a:pPr>
              <a:r>
                <a:rPr b="1" lang="en" sz="850">
                  <a:solidFill>
                    <a:srgbClr val="7F1D1D"/>
                  </a:solidFill>
                  <a:latin typeface="Inter"/>
                  <a:ea typeface="Inter"/>
                  <a:cs typeface="Inter"/>
                  <a:sym typeface="Inter"/>
                </a:rPr>
                <a:t>Access &amp; Equity:</a:t>
              </a:r>
              <a:r>
                <a:rPr lang="en" sz="850">
                  <a:solidFill>
                    <a:srgbClr val="7F1D1D"/>
                  </a:solidFill>
                  <a:latin typeface="Inter"/>
                  <a:ea typeface="Inter"/>
                  <a:cs typeface="Inter"/>
                  <a:sym typeface="Inter"/>
                </a:rPr>
                <a:t> Severe transportation &amp; Pre-K barriers disproportionately affect vulnerable families.</a:t>
              </a:r>
              <a:endParaRPr sz="850">
                <a:solidFill>
                  <a:srgbClr val="7F1D1D"/>
                </a:solidFill>
                <a:latin typeface="Inter"/>
                <a:ea typeface="Inter"/>
                <a:cs typeface="Inter"/>
                <a:sym typeface="Inter"/>
              </a:endParaRPr>
            </a:p>
            <a:p>
              <a:pPr indent="-282575" lvl="0" marL="457200" rtl="0" algn="l">
                <a:spcBef>
                  <a:spcPts val="200"/>
                </a:spcBef>
                <a:spcAft>
                  <a:spcPts val="0"/>
                </a:spcAft>
                <a:buClr>
                  <a:srgbClr val="7F1D1D"/>
                </a:buClr>
                <a:buSzPts val="850"/>
                <a:buFont typeface="Inter"/>
                <a:buChar char="●"/>
              </a:pPr>
              <a:r>
                <a:rPr b="1" lang="en" sz="850">
                  <a:solidFill>
                    <a:srgbClr val="7F1D1D"/>
                  </a:solidFill>
                  <a:latin typeface="Inter"/>
                  <a:ea typeface="Inter"/>
                  <a:cs typeface="Inter"/>
                  <a:sym typeface="Inter"/>
                </a:rPr>
                <a:t>Student Development:</a:t>
              </a:r>
              <a:r>
                <a:rPr lang="en" sz="850">
                  <a:solidFill>
                    <a:srgbClr val="7F1D1D"/>
                  </a:solidFill>
                  <a:latin typeface="Inter"/>
                  <a:ea typeface="Inter"/>
                  <a:cs typeface="Inter"/>
                  <a:sym typeface="Inter"/>
                </a:rPr>
                <a:t> Widespread loss of sports, arts, electives, hands-on learning, and intervention support.</a:t>
              </a:r>
              <a:endParaRPr sz="850">
                <a:solidFill>
                  <a:srgbClr val="7F1D1D"/>
                </a:solidFill>
                <a:latin typeface="Inter"/>
                <a:ea typeface="Inter"/>
                <a:cs typeface="Inter"/>
                <a:sym typeface="Inter"/>
              </a:endParaRPr>
            </a:p>
            <a:p>
              <a:pPr indent="-282575" lvl="0" marL="457200" rtl="0" algn="l">
                <a:spcBef>
                  <a:spcPts val="200"/>
                </a:spcBef>
                <a:spcAft>
                  <a:spcPts val="0"/>
                </a:spcAft>
                <a:buClr>
                  <a:srgbClr val="7F1D1D"/>
                </a:buClr>
                <a:buSzPts val="850"/>
                <a:buFont typeface="Inter"/>
                <a:buChar char="●"/>
              </a:pPr>
              <a:r>
                <a:rPr b="1" lang="en" sz="850">
                  <a:solidFill>
                    <a:srgbClr val="7F1D1D"/>
                  </a:solidFill>
                  <a:latin typeface="Inter"/>
                  <a:ea typeface="Inter"/>
                  <a:cs typeface="Inter"/>
                  <a:sym typeface="Inter"/>
                </a:rPr>
                <a:t>School Community:</a:t>
              </a:r>
              <a:r>
                <a:rPr lang="en" sz="850">
                  <a:solidFill>
                    <a:srgbClr val="7F1D1D"/>
                  </a:solidFill>
                  <a:latin typeface="Inter"/>
                  <a:ea typeface="Inter"/>
                  <a:cs typeface="Inter"/>
                  <a:sym typeface="Inter"/>
                </a:rPr>
                <a:t> Eroded support structures, strained classroom environments, and loss of shared traditions.</a:t>
              </a:r>
              <a:endParaRPr sz="850">
                <a:solidFill>
                  <a:srgbClr val="7F1D1D"/>
                </a:solidFill>
                <a:latin typeface="Inter"/>
                <a:ea typeface="Inter"/>
                <a:cs typeface="Inter"/>
                <a:sym typeface="Inte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9" name="Shape 459"/>
        <p:cNvGrpSpPr/>
        <p:nvPr/>
      </p:nvGrpSpPr>
      <p:grpSpPr>
        <a:xfrm>
          <a:off x="0" y="0"/>
          <a:ext cx="0" cy="0"/>
          <a:chOff x="0" y="0"/>
          <a:chExt cx="0" cy="0"/>
        </a:xfrm>
      </p:grpSpPr>
      <p:sp>
        <p:nvSpPr>
          <p:cNvPr id="460" name="Google Shape;460;p44"/>
          <p:cNvSpPr txBox="1"/>
          <p:nvPr/>
        </p:nvSpPr>
        <p:spPr>
          <a:xfrm>
            <a:off x="381000" y="304800"/>
            <a:ext cx="83820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059669"/>
                </a:solidFill>
                <a:latin typeface="Inter"/>
                <a:ea typeface="Inter"/>
                <a:cs typeface="Inter"/>
                <a:sym typeface="Inter"/>
              </a:rPr>
              <a:t>PROGRAMMATIC BENEFITS OF CONSOLIDATION</a:t>
            </a:r>
            <a:endParaRPr b="1" sz="950">
              <a:solidFill>
                <a:srgbClr val="059669"/>
              </a:solidFill>
              <a:latin typeface="Inter"/>
              <a:ea typeface="Inter"/>
              <a:cs typeface="Inter"/>
              <a:sym typeface="Inter"/>
            </a:endParaRPr>
          </a:p>
          <a:p>
            <a:pPr indent="0" lvl="0" marL="0" rtl="0" algn="l">
              <a:spcBef>
                <a:spcPts val="300"/>
              </a:spcBef>
              <a:spcAft>
                <a:spcPts val="0"/>
              </a:spcAft>
              <a:buNone/>
            </a:pPr>
            <a:r>
              <a:rPr b="0" lang="en" sz="2000">
                <a:solidFill>
                  <a:srgbClr val="0F172A"/>
                </a:solidFill>
                <a:latin typeface="Inter ExtraBold"/>
                <a:ea typeface="Inter ExtraBold"/>
                <a:cs typeface="Inter ExtraBold"/>
                <a:sym typeface="Inter ExtraBold"/>
              </a:rPr>
              <a:t>Educational </a:t>
            </a:r>
            <a:r>
              <a:rPr lang="en" sz="2000">
                <a:solidFill>
                  <a:srgbClr val="0F172A"/>
                </a:solidFill>
                <a:latin typeface="Inter ExtraBold"/>
                <a:ea typeface="Inter ExtraBold"/>
                <a:cs typeface="Inter ExtraBold"/>
                <a:sym typeface="Inter ExtraBold"/>
              </a:rPr>
              <a:t>Benefits</a:t>
            </a:r>
            <a:r>
              <a:rPr b="0" lang="en" sz="2000">
                <a:solidFill>
                  <a:srgbClr val="0F172A"/>
                </a:solidFill>
                <a:latin typeface="Inter ExtraBold"/>
                <a:ea typeface="Inter ExtraBold"/>
                <a:cs typeface="Inter ExtraBold"/>
                <a:sym typeface="Inter ExtraBold"/>
              </a:rPr>
              <a:t>:</a:t>
            </a:r>
            <a:r>
              <a:rPr b="0" lang="en" sz="2000">
                <a:solidFill>
                  <a:srgbClr val="0F172A"/>
                </a:solidFill>
                <a:latin typeface="Inter ExtraBold"/>
                <a:ea typeface="Inter ExtraBold"/>
                <a:cs typeface="Inter ExtraBold"/>
                <a:sym typeface="Inter ExtraBold"/>
              </a:rPr>
              <a:t> </a:t>
            </a:r>
            <a:endParaRPr b="0" sz="2000">
              <a:solidFill>
                <a:srgbClr val="0F172A"/>
              </a:solidFill>
              <a:latin typeface="Inter ExtraBold"/>
              <a:ea typeface="Inter ExtraBold"/>
              <a:cs typeface="Inter ExtraBold"/>
              <a:sym typeface="Inter ExtraBold"/>
            </a:endParaRPr>
          </a:p>
          <a:p>
            <a:pPr indent="0" lvl="0" marL="0" rtl="0" algn="l">
              <a:spcBef>
                <a:spcPts val="300"/>
              </a:spcBef>
              <a:spcAft>
                <a:spcPts val="0"/>
              </a:spcAft>
              <a:buNone/>
            </a:pPr>
            <a:r>
              <a:rPr b="0" lang="en" sz="1000">
                <a:solidFill>
                  <a:srgbClr val="64748B"/>
                </a:solidFill>
                <a:latin typeface="Inter"/>
                <a:ea typeface="Inter"/>
                <a:cs typeface="Inter"/>
                <a:sym typeface="Inter"/>
              </a:rPr>
              <a:t>How restructuring transforms operational efficiency into enhanced academic, social, and emotional learning environments.</a:t>
            </a:r>
            <a:endParaRPr b="0" sz="1000">
              <a:solidFill>
                <a:srgbClr val="64748B"/>
              </a:solidFill>
              <a:latin typeface="Inter"/>
              <a:ea typeface="Inter"/>
              <a:cs typeface="Inter"/>
              <a:sym typeface="Inter"/>
            </a:endParaRPr>
          </a:p>
        </p:txBody>
      </p:sp>
      <p:grpSp>
        <p:nvGrpSpPr>
          <p:cNvPr id="461" name="Google Shape;461;p44"/>
          <p:cNvGrpSpPr/>
          <p:nvPr/>
        </p:nvGrpSpPr>
        <p:grpSpPr>
          <a:xfrm>
            <a:off x="381000" y="1238250"/>
            <a:ext cx="4048200" cy="1714500"/>
            <a:chOff x="0" y="0"/>
            <a:chExt cx="4048200" cy="1714500"/>
          </a:xfrm>
        </p:grpSpPr>
        <p:sp>
          <p:nvSpPr>
            <p:cNvPr id="462" name="Google Shape;462;p44"/>
            <p:cNvSpPr/>
            <p:nvPr/>
          </p:nvSpPr>
          <p:spPr>
            <a:xfrm>
              <a:off x="0" y="0"/>
              <a:ext cx="4048200" cy="1714500"/>
            </a:xfrm>
            <a:prstGeom prst="roundRect">
              <a:avLst>
                <a:gd fmla="val 666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3" name="Google Shape;463;p44"/>
            <p:cNvSpPr/>
            <p:nvPr/>
          </p:nvSpPr>
          <p:spPr>
            <a:xfrm>
              <a:off x="0" y="0"/>
              <a:ext cx="57300" cy="171450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4" name="Google Shape;464;p44"/>
            <p:cNvSpPr/>
            <p:nvPr/>
          </p:nvSpPr>
          <p:spPr>
            <a:xfrm>
              <a:off x="209550" y="171450"/>
              <a:ext cx="342900" cy="342900"/>
            </a:xfrm>
            <a:prstGeom prst="ellipse">
              <a:avLst/>
            </a:prstGeom>
            <a:solidFill>
              <a:srgbClr val="E0F2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5" name="Google Shape;465;p44"/>
            <p:cNvSpPr txBox="1"/>
            <p:nvPr/>
          </p:nvSpPr>
          <p:spPr>
            <a:xfrm>
              <a:off x="266700" y="251968"/>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600">
                  <a:solidFill>
                    <a:srgbClr val="0284C7"/>
                  </a:solidFill>
                  <a:latin typeface="Material Icons"/>
                  <a:ea typeface="Material Icons"/>
                  <a:cs typeface="Material Icons"/>
                  <a:sym typeface="Material Icons"/>
                </a:rPr>
                <a:t>groups</a:t>
              </a:r>
              <a:endParaRPr sz="1600">
                <a:solidFill>
                  <a:srgbClr val="0284C7"/>
                </a:solidFill>
                <a:latin typeface="Material Icons"/>
                <a:ea typeface="Material Icons"/>
                <a:cs typeface="Material Icons"/>
                <a:sym typeface="Material Icons"/>
              </a:endParaRPr>
            </a:p>
          </p:txBody>
        </p:sp>
        <p:sp>
          <p:nvSpPr>
            <p:cNvPr id="466" name="Google Shape;466;p44"/>
            <p:cNvSpPr txBox="1"/>
            <p:nvPr/>
          </p:nvSpPr>
          <p:spPr>
            <a:xfrm>
              <a:off x="666750" y="228600"/>
              <a:ext cx="31908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1200">
                  <a:solidFill>
                    <a:srgbClr val="0F172A"/>
                  </a:solidFill>
                  <a:latin typeface="Inter"/>
                  <a:ea typeface="Inter"/>
                  <a:cs typeface="Inter"/>
                  <a:sym typeface="Inter"/>
                </a:rPr>
                <a:t>Expanded Student Cohorts</a:t>
              </a:r>
              <a:endParaRPr b="1" i="0" sz="1200">
                <a:solidFill>
                  <a:srgbClr val="0F172A"/>
                </a:solidFill>
                <a:latin typeface="Inter"/>
                <a:ea typeface="Inter"/>
                <a:cs typeface="Inter"/>
                <a:sym typeface="Inter"/>
              </a:endParaRPr>
            </a:p>
          </p:txBody>
        </p:sp>
        <p:sp>
          <p:nvSpPr>
            <p:cNvPr id="467" name="Google Shape;467;p44"/>
            <p:cNvSpPr txBox="1"/>
            <p:nvPr/>
          </p:nvSpPr>
          <p:spPr>
            <a:xfrm>
              <a:off x="228600" y="590550"/>
              <a:ext cx="35910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 sz="950">
                  <a:solidFill>
                    <a:srgbClr val="475569"/>
                  </a:solidFill>
                  <a:latin typeface="Inter"/>
                  <a:ea typeface="Inter"/>
                  <a:cs typeface="Inter"/>
                  <a:sym typeface="Inter"/>
                </a:rPr>
                <a:t>G</a:t>
              </a:r>
              <a:r>
                <a:rPr b="0" i="0" lang="en" sz="950">
                  <a:solidFill>
                    <a:srgbClr val="475569"/>
                  </a:solidFill>
                  <a:latin typeface="Inter"/>
                  <a:ea typeface="Inter"/>
                  <a:cs typeface="Inter"/>
                  <a:sym typeface="Inter"/>
                </a:rPr>
                <a:t>rade levels </a:t>
              </a:r>
              <a:r>
                <a:rPr lang="en" sz="950">
                  <a:solidFill>
                    <a:srgbClr val="475569"/>
                  </a:solidFill>
                  <a:latin typeface="Inter"/>
                  <a:ea typeface="Inter"/>
                  <a:cs typeface="Inter"/>
                  <a:sym typeface="Inter"/>
                </a:rPr>
                <a:t>spread </a:t>
              </a:r>
              <a:r>
                <a:rPr b="0" i="0" lang="en" sz="950">
                  <a:solidFill>
                    <a:srgbClr val="475569"/>
                  </a:solidFill>
                  <a:latin typeface="Inter"/>
                  <a:ea typeface="Inter"/>
                  <a:cs typeface="Inter"/>
                  <a:sym typeface="Inter"/>
                </a:rPr>
                <a:t>across small schools restrict peer interactions and social-emotional growth.</a:t>
              </a:r>
              <a:endParaRPr b="0" i="0" sz="950">
                <a:solidFill>
                  <a:srgbClr val="475569"/>
                </a:solidFill>
                <a:latin typeface="Inter"/>
                <a:ea typeface="Inter"/>
                <a:cs typeface="Inter"/>
                <a:sym typeface="Inter"/>
              </a:endParaRPr>
            </a:p>
          </p:txBody>
        </p:sp>
        <p:sp>
          <p:nvSpPr>
            <p:cNvPr id="468" name="Google Shape;468;p44"/>
            <p:cNvSpPr/>
            <p:nvPr/>
          </p:nvSpPr>
          <p:spPr>
            <a:xfrm>
              <a:off x="228600" y="1104900"/>
              <a:ext cx="3591000" cy="457200"/>
            </a:xfrm>
            <a:prstGeom prst="roundRect">
              <a:avLst>
                <a:gd fmla="val 16666" name="adj"/>
              </a:avLst>
            </a:prstGeom>
            <a:solidFill>
              <a:srgbClr val="F0F9FF"/>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9" name="Google Shape;469;p44"/>
            <p:cNvSpPr txBox="1"/>
            <p:nvPr/>
          </p:nvSpPr>
          <p:spPr>
            <a:xfrm>
              <a:off x="342900" y="1162050"/>
              <a:ext cx="33624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850">
                  <a:solidFill>
                    <a:srgbClr val="0369A1"/>
                  </a:solidFill>
                  <a:latin typeface="Inter ExtraBold"/>
                  <a:ea typeface="Inter ExtraBold"/>
                  <a:cs typeface="Inter ExtraBold"/>
                  <a:sym typeface="Inter ExtraBold"/>
                </a:rPr>
                <a:t>Outcome: </a:t>
              </a:r>
              <a:r>
                <a:rPr b="0" i="0" lang="en" sz="850">
                  <a:solidFill>
                    <a:srgbClr val="0369A1"/>
                  </a:solidFill>
                  <a:latin typeface="Inter SemiBold"/>
                  <a:ea typeface="Inter SemiBold"/>
                  <a:cs typeface="Inter SemiBold"/>
                  <a:sym typeface="Inter SemiBold"/>
                </a:rPr>
                <a:t>Larger peer groups, dynamic social learning, and balanced classrooms.</a:t>
              </a:r>
              <a:endParaRPr b="0" i="0" sz="850">
                <a:solidFill>
                  <a:srgbClr val="0369A1"/>
                </a:solidFill>
                <a:latin typeface="Inter ExtraBold"/>
                <a:ea typeface="Inter ExtraBold"/>
                <a:cs typeface="Inter ExtraBold"/>
                <a:sym typeface="Inter ExtraBold"/>
              </a:endParaRPr>
            </a:p>
          </p:txBody>
        </p:sp>
      </p:grpSp>
      <p:grpSp>
        <p:nvGrpSpPr>
          <p:cNvPr id="470" name="Google Shape;470;p44"/>
          <p:cNvGrpSpPr/>
          <p:nvPr/>
        </p:nvGrpSpPr>
        <p:grpSpPr>
          <a:xfrm>
            <a:off x="4714875" y="1238250"/>
            <a:ext cx="4048200" cy="1714500"/>
            <a:chOff x="0" y="0"/>
            <a:chExt cx="4048200" cy="1714500"/>
          </a:xfrm>
        </p:grpSpPr>
        <p:sp>
          <p:nvSpPr>
            <p:cNvPr id="471" name="Google Shape;471;p44"/>
            <p:cNvSpPr/>
            <p:nvPr/>
          </p:nvSpPr>
          <p:spPr>
            <a:xfrm>
              <a:off x="0" y="0"/>
              <a:ext cx="4048200" cy="1714500"/>
            </a:xfrm>
            <a:prstGeom prst="roundRect">
              <a:avLst>
                <a:gd fmla="val 666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2" name="Google Shape;472;p44"/>
            <p:cNvSpPr/>
            <p:nvPr/>
          </p:nvSpPr>
          <p:spPr>
            <a:xfrm>
              <a:off x="0" y="0"/>
              <a:ext cx="57300" cy="17145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3" name="Google Shape;473;p44"/>
            <p:cNvSpPr/>
            <p:nvPr/>
          </p:nvSpPr>
          <p:spPr>
            <a:xfrm>
              <a:off x="209550" y="171450"/>
              <a:ext cx="342900" cy="342900"/>
            </a:xfrm>
            <a:prstGeom prst="ellipse">
              <a:avLst/>
            </a:prstGeom>
            <a:solidFill>
              <a:srgbClr val="D1FA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4" name="Google Shape;474;p44"/>
            <p:cNvSpPr txBox="1"/>
            <p:nvPr/>
          </p:nvSpPr>
          <p:spPr>
            <a:xfrm>
              <a:off x="266700" y="251968"/>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600">
                  <a:solidFill>
                    <a:srgbClr val="059669"/>
                  </a:solidFill>
                  <a:latin typeface="Material Icons"/>
                  <a:ea typeface="Material Icons"/>
                  <a:cs typeface="Material Icons"/>
                  <a:sym typeface="Material Icons"/>
                </a:rPr>
                <a:t>psychology</a:t>
              </a:r>
              <a:endParaRPr sz="1600">
                <a:solidFill>
                  <a:srgbClr val="059669"/>
                </a:solidFill>
                <a:latin typeface="Material Icons"/>
                <a:ea typeface="Material Icons"/>
                <a:cs typeface="Material Icons"/>
                <a:sym typeface="Material Icons"/>
              </a:endParaRPr>
            </a:p>
          </p:txBody>
        </p:sp>
        <p:sp>
          <p:nvSpPr>
            <p:cNvPr id="475" name="Google Shape;475;p44"/>
            <p:cNvSpPr txBox="1"/>
            <p:nvPr/>
          </p:nvSpPr>
          <p:spPr>
            <a:xfrm>
              <a:off x="666750" y="228600"/>
              <a:ext cx="3190800" cy="24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F172A"/>
                  </a:solidFill>
                  <a:latin typeface="Inter"/>
                  <a:ea typeface="Inter"/>
                  <a:cs typeface="Inter"/>
                  <a:sym typeface="Inter"/>
                </a:rPr>
                <a:t>Dedicated Full-Time Staff</a:t>
              </a:r>
              <a:endParaRPr b="1" sz="1200">
                <a:solidFill>
                  <a:srgbClr val="0F172A"/>
                </a:solidFill>
                <a:latin typeface="Inter"/>
                <a:ea typeface="Inter"/>
                <a:cs typeface="Inter"/>
                <a:sym typeface="Inter"/>
              </a:endParaRPr>
            </a:p>
          </p:txBody>
        </p:sp>
        <p:sp>
          <p:nvSpPr>
            <p:cNvPr id="476" name="Google Shape;476;p44"/>
            <p:cNvSpPr txBox="1"/>
            <p:nvPr/>
          </p:nvSpPr>
          <p:spPr>
            <a:xfrm>
              <a:off x="228600" y="590550"/>
              <a:ext cx="35910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950">
                  <a:solidFill>
                    <a:srgbClr val="475569"/>
                  </a:solidFill>
                  <a:latin typeface="Inter"/>
                  <a:ea typeface="Inter"/>
                  <a:cs typeface="Inter"/>
                  <a:sym typeface="Inter"/>
                </a:rPr>
                <a:t>Our four valley schools </a:t>
              </a:r>
              <a:r>
                <a:rPr b="0" lang="en" sz="950">
                  <a:solidFill>
                    <a:srgbClr val="475569"/>
                  </a:solidFill>
                  <a:latin typeface="Inter"/>
                  <a:ea typeface="Inter"/>
                  <a:cs typeface="Inter"/>
                  <a:sym typeface="Inter"/>
                </a:rPr>
                <a:t>require sharing </a:t>
              </a:r>
              <a:r>
                <a:rPr lang="en" sz="950">
                  <a:solidFill>
                    <a:srgbClr val="475569"/>
                  </a:solidFill>
                  <a:latin typeface="Inter"/>
                  <a:ea typeface="Inter"/>
                  <a:cs typeface="Inter"/>
                  <a:sym typeface="Inter"/>
                </a:rPr>
                <a:t>of staff for </a:t>
              </a:r>
              <a:r>
                <a:rPr lang="en" sz="950">
                  <a:solidFill>
                    <a:srgbClr val="475569"/>
                  </a:solidFill>
                  <a:latin typeface="Inter"/>
                  <a:ea typeface="Inter"/>
                  <a:cs typeface="Inter"/>
                  <a:sym typeface="Inter"/>
                </a:rPr>
                <a:t>integrated</a:t>
              </a:r>
              <a:r>
                <a:rPr lang="en" sz="950">
                  <a:solidFill>
                    <a:srgbClr val="475569"/>
                  </a:solidFill>
                  <a:latin typeface="Inter"/>
                  <a:ea typeface="Inter"/>
                  <a:cs typeface="Inter"/>
                  <a:sym typeface="Inter"/>
                </a:rPr>
                <a:t>  </a:t>
              </a:r>
              <a:r>
                <a:rPr b="0" lang="en" sz="950">
                  <a:solidFill>
                    <a:srgbClr val="475569"/>
                  </a:solidFill>
                  <a:latin typeface="Inter"/>
                  <a:ea typeface="Inter"/>
                  <a:cs typeface="Inter"/>
                  <a:sym typeface="Inter"/>
                </a:rPr>
                <a:t>art</a:t>
              </a:r>
              <a:r>
                <a:rPr lang="en" sz="950">
                  <a:solidFill>
                    <a:srgbClr val="475569"/>
                  </a:solidFill>
                  <a:latin typeface="Inter"/>
                  <a:ea typeface="Inter"/>
                  <a:cs typeface="Inter"/>
                  <a:sym typeface="Inter"/>
                </a:rPr>
                <a:t>s </a:t>
              </a:r>
              <a:r>
                <a:rPr b="0" lang="en" sz="950">
                  <a:solidFill>
                    <a:srgbClr val="475569"/>
                  </a:solidFill>
                  <a:latin typeface="Inter"/>
                  <a:ea typeface="Inter"/>
                  <a:cs typeface="Inter"/>
                  <a:sym typeface="Inter"/>
                </a:rPr>
                <a:t>and nurses</a:t>
              </a:r>
              <a:r>
                <a:rPr lang="en" sz="950">
                  <a:solidFill>
                    <a:srgbClr val="475569"/>
                  </a:solidFill>
                  <a:latin typeface="Inter"/>
                  <a:ea typeface="Inter"/>
                  <a:cs typeface="Inter"/>
                  <a:sym typeface="Inter"/>
                </a:rPr>
                <a:t> </a:t>
              </a:r>
              <a:r>
                <a:rPr b="0" lang="en" sz="950">
                  <a:solidFill>
                    <a:srgbClr val="475569"/>
                  </a:solidFill>
                  <a:latin typeface="Inter"/>
                  <a:ea typeface="Inter"/>
                  <a:cs typeface="Inter"/>
                  <a:sym typeface="Inter"/>
                </a:rPr>
                <a:t>each week.</a:t>
              </a:r>
              <a:endParaRPr b="0" sz="950">
                <a:solidFill>
                  <a:srgbClr val="475569"/>
                </a:solidFill>
                <a:latin typeface="Inter"/>
                <a:ea typeface="Inter"/>
                <a:cs typeface="Inter"/>
                <a:sym typeface="Inter"/>
              </a:endParaRPr>
            </a:p>
          </p:txBody>
        </p:sp>
        <p:sp>
          <p:nvSpPr>
            <p:cNvPr id="477" name="Google Shape;477;p44"/>
            <p:cNvSpPr/>
            <p:nvPr/>
          </p:nvSpPr>
          <p:spPr>
            <a:xfrm>
              <a:off x="228600" y="1104900"/>
              <a:ext cx="3591000" cy="457200"/>
            </a:xfrm>
            <a:prstGeom prst="roundRect">
              <a:avLst>
                <a:gd fmla="val 16666" name="adj"/>
              </a:avLst>
            </a:prstGeom>
            <a:solidFill>
              <a:srgbClr val="ECFDF5"/>
            </a:solidFill>
            <a:ln cap="flat" cmpd="sng" w="9525">
              <a:solidFill>
                <a:srgbClr val="A7F3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8" name="Google Shape;478;p44"/>
            <p:cNvSpPr txBox="1"/>
            <p:nvPr/>
          </p:nvSpPr>
          <p:spPr>
            <a:xfrm>
              <a:off x="342900" y="1162050"/>
              <a:ext cx="33624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50">
                  <a:solidFill>
                    <a:srgbClr val="047857"/>
                  </a:solidFill>
                  <a:latin typeface="Inter ExtraBold"/>
                  <a:ea typeface="Inter ExtraBold"/>
                  <a:cs typeface="Inter ExtraBold"/>
                  <a:sym typeface="Inter ExtraBold"/>
                </a:rPr>
                <a:t>Outcome:</a:t>
              </a:r>
              <a:r>
                <a:rPr b="0" lang="en" sz="850">
                  <a:solidFill>
                    <a:srgbClr val="047857"/>
                  </a:solidFill>
                  <a:latin typeface="Inter SemiBold"/>
                  <a:ea typeface="Inter SemiBold"/>
                  <a:cs typeface="Inter SemiBold"/>
                  <a:sym typeface="Inter SemiBold"/>
                </a:rPr>
                <a:t> </a:t>
              </a:r>
              <a:r>
                <a:rPr b="0" lang="en" sz="850">
                  <a:solidFill>
                    <a:srgbClr val="047857"/>
                  </a:solidFill>
                  <a:latin typeface="Inter SemiBold"/>
                  <a:ea typeface="Inter SemiBold"/>
                  <a:cs typeface="Inter SemiBold"/>
                  <a:sym typeface="Inter SemiBold"/>
                </a:rPr>
                <a:t>On-site, full-time </a:t>
              </a:r>
              <a:r>
                <a:rPr lang="en" sz="850">
                  <a:solidFill>
                    <a:srgbClr val="047857"/>
                  </a:solidFill>
                  <a:latin typeface="Inter SemiBold"/>
                  <a:ea typeface="Inter SemiBold"/>
                  <a:cs typeface="Inter SemiBold"/>
                  <a:sym typeface="Inter SemiBold"/>
                </a:rPr>
                <a:t>staff</a:t>
              </a:r>
              <a:r>
                <a:rPr b="0" lang="en" sz="850">
                  <a:solidFill>
                    <a:srgbClr val="047857"/>
                  </a:solidFill>
                  <a:latin typeface="Inter SemiBold"/>
                  <a:ea typeface="Inter SemiBold"/>
                  <a:cs typeface="Inter SemiBold"/>
                  <a:sym typeface="Inter SemiBold"/>
                </a:rPr>
                <a:t> in the valley elementary schools.</a:t>
              </a:r>
              <a:endParaRPr b="0" sz="850">
                <a:solidFill>
                  <a:srgbClr val="047857"/>
                </a:solidFill>
                <a:latin typeface="Inter SemiBold"/>
                <a:ea typeface="Inter SemiBold"/>
                <a:cs typeface="Inter SemiBold"/>
                <a:sym typeface="Inter SemiBold"/>
              </a:endParaRPr>
            </a:p>
          </p:txBody>
        </p:sp>
      </p:grpSp>
      <p:sp>
        <p:nvSpPr>
          <p:cNvPr id="479" name="Google Shape;479;p44"/>
          <p:cNvSpPr/>
          <p:nvPr/>
        </p:nvSpPr>
        <p:spPr>
          <a:xfrm>
            <a:off x="381000" y="3124200"/>
            <a:ext cx="4048200" cy="1714500"/>
          </a:xfrm>
          <a:prstGeom prst="roundRect">
            <a:avLst>
              <a:gd fmla="val 666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80" name="Google Shape;480;p44"/>
          <p:cNvGrpSpPr/>
          <p:nvPr/>
        </p:nvGrpSpPr>
        <p:grpSpPr>
          <a:xfrm>
            <a:off x="381000" y="3124200"/>
            <a:ext cx="3857550" cy="1714500"/>
            <a:chOff x="0" y="0"/>
            <a:chExt cx="3857550" cy="1714500"/>
          </a:xfrm>
        </p:grpSpPr>
        <p:sp>
          <p:nvSpPr>
            <p:cNvPr id="481" name="Google Shape;481;p44"/>
            <p:cNvSpPr/>
            <p:nvPr/>
          </p:nvSpPr>
          <p:spPr>
            <a:xfrm>
              <a:off x="0" y="0"/>
              <a:ext cx="57300" cy="1714500"/>
            </a:xfrm>
            <a:prstGeom prst="roundRect">
              <a:avLst>
                <a:gd fmla="val 50000" name="adj"/>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44"/>
            <p:cNvSpPr/>
            <p:nvPr/>
          </p:nvSpPr>
          <p:spPr>
            <a:xfrm>
              <a:off x="209550" y="171450"/>
              <a:ext cx="342900" cy="342900"/>
            </a:xfrm>
            <a:prstGeom prst="ellipse">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3" name="Google Shape;483;p44"/>
            <p:cNvSpPr txBox="1"/>
            <p:nvPr/>
          </p:nvSpPr>
          <p:spPr>
            <a:xfrm>
              <a:off x="266700" y="251968"/>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600">
                  <a:solidFill>
                    <a:srgbClr val="D97706"/>
                  </a:solidFill>
                  <a:latin typeface="Material Icons"/>
                  <a:ea typeface="Material Icons"/>
                  <a:cs typeface="Material Icons"/>
                  <a:sym typeface="Material Icons"/>
                </a:rPr>
                <a:t>auto_graph</a:t>
              </a:r>
              <a:endParaRPr sz="1600">
                <a:solidFill>
                  <a:srgbClr val="D97706"/>
                </a:solidFill>
                <a:latin typeface="Material Icons"/>
                <a:ea typeface="Material Icons"/>
                <a:cs typeface="Material Icons"/>
                <a:sym typeface="Material Icons"/>
              </a:endParaRPr>
            </a:p>
          </p:txBody>
        </p:sp>
        <p:sp>
          <p:nvSpPr>
            <p:cNvPr id="484" name="Google Shape;484;p44"/>
            <p:cNvSpPr txBox="1"/>
            <p:nvPr/>
          </p:nvSpPr>
          <p:spPr>
            <a:xfrm>
              <a:off x="666750" y="228600"/>
              <a:ext cx="31908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F172A"/>
                  </a:solidFill>
                  <a:latin typeface="Inter"/>
                  <a:ea typeface="Inter"/>
                  <a:cs typeface="Inter"/>
                  <a:sym typeface="Inter"/>
                </a:rPr>
                <a:t>Resource Allocation (see example)</a:t>
              </a:r>
              <a:endParaRPr b="1" i="0" sz="1200">
                <a:solidFill>
                  <a:srgbClr val="0F172A"/>
                </a:solidFill>
                <a:latin typeface="Inter"/>
                <a:ea typeface="Inter"/>
                <a:cs typeface="Inter"/>
                <a:sym typeface="Inter"/>
              </a:endParaRPr>
            </a:p>
          </p:txBody>
        </p:sp>
        <p:sp>
          <p:nvSpPr>
            <p:cNvPr id="485" name="Google Shape;485;p44"/>
            <p:cNvSpPr txBox="1"/>
            <p:nvPr/>
          </p:nvSpPr>
          <p:spPr>
            <a:xfrm>
              <a:off x="228600" y="590550"/>
              <a:ext cx="3591000" cy="4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950">
                  <a:solidFill>
                    <a:srgbClr val="475569"/>
                  </a:solidFill>
                  <a:latin typeface="Inter"/>
                  <a:ea typeface="Inter"/>
                  <a:cs typeface="Inter"/>
                  <a:sym typeface="Inter"/>
                </a:rPr>
                <a:t>Specialized services and interventions can be provided in group settings, optimizing student support</a:t>
              </a:r>
              <a:r>
                <a:rPr lang="en" sz="950">
                  <a:solidFill>
                    <a:srgbClr val="475569"/>
                  </a:solidFill>
                  <a:latin typeface="Inter"/>
                  <a:ea typeface="Inter"/>
                  <a:cs typeface="Inter"/>
                  <a:sym typeface="Inter"/>
                </a:rPr>
                <a:t> services.</a:t>
              </a:r>
              <a:endParaRPr b="0" i="0" sz="950">
                <a:solidFill>
                  <a:srgbClr val="475569"/>
                </a:solidFill>
                <a:latin typeface="Inter"/>
                <a:ea typeface="Inter"/>
                <a:cs typeface="Inter"/>
                <a:sym typeface="Inter"/>
              </a:endParaRPr>
            </a:p>
          </p:txBody>
        </p:sp>
        <p:sp>
          <p:nvSpPr>
            <p:cNvPr id="486" name="Google Shape;486;p44"/>
            <p:cNvSpPr/>
            <p:nvPr/>
          </p:nvSpPr>
          <p:spPr>
            <a:xfrm>
              <a:off x="228600" y="1104900"/>
              <a:ext cx="3591000" cy="457200"/>
            </a:xfrm>
            <a:prstGeom prst="roundRect">
              <a:avLst>
                <a:gd fmla="val 16666" name="adj"/>
              </a:avLst>
            </a:prstGeom>
            <a:solidFill>
              <a:srgbClr val="FFFBEB"/>
            </a:solidFill>
            <a:ln cap="flat" cmpd="sng" w="9525">
              <a:solidFill>
                <a:srgbClr val="FDE6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p44"/>
            <p:cNvSpPr txBox="1"/>
            <p:nvPr/>
          </p:nvSpPr>
          <p:spPr>
            <a:xfrm>
              <a:off x="342900" y="1100725"/>
              <a:ext cx="33624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850">
                  <a:solidFill>
                    <a:srgbClr val="B45309"/>
                  </a:solidFill>
                  <a:latin typeface="Inter ExtraBold"/>
                  <a:ea typeface="Inter ExtraBold"/>
                  <a:cs typeface="Inter ExtraBold"/>
                  <a:sym typeface="Inter ExtraBold"/>
                </a:rPr>
                <a:t>Outcome: Optimiz</a:t>
              </a:r>
              <a:r>
                <a:rPr lang="en" sz="850">
                  <a:solidFill>
                    <a:srgbClr val="B45309"/>
                  </a:solidFill>
                  <a:latin typeface="Inter ExtraBold"/>
                  <a:ea typeface="Inter ExtraBold"/>
                  <a:cs typeface="Inter ExtraBold"/>
                  <a:sym typeface="Inter ExtraBold"/>
                </a:rPr>
                <a:t>ation of s</a:t>
              </a:r>
              <a:r>
                <a:rPr b="0" i="0" lang="en" sz="850">
                  <a:solidFill>
                    <a:srgbClr val="B45309"/>
                  </a:solidFill>
                  <a:latin typeface="Inter ExtraBold"/>
                  <a:ea typeface="Inter ExtraBold"/>
                  <a:cs typeface="Inter ExtraBold"/>
                  <a:sym typeface="Inter ExtraBold"/>
                </a:rPr>
                <a:t>tudent </a:t>
              </a:r>
              <a:r>
                <a:rPr lang="en" sz="850">
                  <a:solidFill>
                    <a:srgbClr val="B45309"/>
                  </a:solidFill>
                  <a:latin typeface="Inter ExtraBold"/>
                  <a:ea typeface="Inter ExtraBold"/>
                  <a:cs typeface="Inter ExtraBold"/>
                  <a:sym typeface="Inter ExtraBold"/>
                </a:rPr>
                <a:t>support </a:t>
              </a:r>
              <a:endParaRPr b="0" i="0" sz="850">
                <a:solidFill>
                  <a:srgbClr val="B45309"/>
                </a:solidFill>
                <a:latin typeface="Inter ExtraBold"/>
                <a:ea typeface="Inter ExtraBold"/>
                <a:cs typeface="Inter ExtraBold"/>
                <a:sym typeface="Inter ExtraBold"/>
              </a:endParaRPr>
            </a:p>
          </p:txBody>
        </p:sp>
      </p:grpSp>
      <p:grpSp>
        <p:nvGrpSpPr>
          <p:cNvPr id="488" name="Google Shape;488;p44"/>
          <p:cNvGrpSpPr/>
          <p:nvPr/>
        </p:nvGrpSpPr>
        <p:grpSpPr>
          <a:xfrm>
            <a:off x="4714875" y="3124200"/>
            <a:ext cx="4048200" cy="1714500"/>
            <a:chOff x="0" y="0"/>
            <a:chExt cx="4048200" cy="1714500"/>
          </a:xfrm>
        </p:grpSpPr>
        <p:sp>
          <p:nvSpPr>
            <p:cNvPr id="489" name="Google Shape;489;p44"/>
            <p:cNvSpPr/>
            <p:nvPr/>
          </p:nvSpPr>
          <p:spPr>
            <a:xfrm>
              <a:off x="0" y="0"/>
              <a:ext cx="4048200" cy="1714500"/>
            </a:xfrm>
            <a:prstGeom prst="roundRect">
              <a:avLst>
                <a:gd fmla="val 666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44"/>
            <p:cNvSpPr/>
            <p:nvPr/>
          </p:nvSpPr>
          <p:spPr>
            <a:xfrm>
              <a:off x="0" y="0"/>
              <a:ext cx="57300" cy="17145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1" name="Google Shape;491;p44"/>
            <p:cNvSpPr/>
            <p:nvPr/>
          </p:nvSpPr>
          <p:spPr>
            <a:xfrm>
              <a:off x="209550" y="171450"/>
              <a:ext cx="342900" cy="342900"/>
            </a:xfrm>
            <a:prstGeom prst="ellipse">
              <a:avLst/>
            </a:prstGeom>
            <a:solidFill>
              <a:srgbClr val="EDE9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2" name="Google Shape;492;p44"/>
            <p:cNvSpPr txBox="1"/>
            <p:nvPr/>
          </p:nvSpPr>
          <p:spPr>
            <a:xfrm>
              <a:off x="266700" y="251968"/>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600">
                  <a:solidFill>
                    <a:srgbClr val="7C3AED"/>
                  </a:solidFill>
                  <a:latin typeface="Material Icons"/>
                  <a:ea typeface="Material Icons"/>
                  <a:cs typeface="Material Icons"/>
                  <a:sym typeface="Material Icons"/>
                </a:rPr>
                <a:t>diversity_3</a:t>
              </a:r>
              <a:endParaRPr sz="1600">
                <a:solidFill>
                  <a:srgbClr val="7C3AED"/>
                </a:solidFill>
                <a:latin typeface="Material Icons"/>
                <a:ea typeface="Material Icons"/>
                <a:cs typeface="Material Icons"/>
                <a:sym typeface="Material Icons"/>
              </a:endParaRPr>
            </a:p>
          </p:txBody>
        </p:sp>
        <p:sp>
          <p:nvSpPr>
            <p:cNvPr id="493" name="Google Shape;493;p44"/>
            <p:cNvSpPr txBox="1"/>
            <p:nvPr/>
          </p:nvSpPr>
          <p:spPr>
            <a:xfrm>
              <a:off x="666750" y="228600"/>
              <a:ext cx="3190800" cy="24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F172A"/>
                  </a:solidFill>
                  <a:latin typeface="Inter"/>
                  <a:ea typeface="Inter"/>
                  <a:cs typeface="Inter"/>
                  <a:sym typeface="Inter"/>
                </a:rPr>
                <a:t>Staff Collaboration </a:t>
              </a:r>
              <a:endParaRPr b="1" sz="1200">
                <a:solidFill>
                  <a:srgbClr val="0F172A"/>
                </a:solidFill>
                <a:latin typeface="Inter"/>
                <a:ea typeface="Inter"/>
                <a:cs typeface="Inter"/>
                <a:sym typeface="Inter"/>
              </a:endParaRPr>
            </a:p>
          </p:txBody>
        </p:sp>
        <p:sp>
          <p:nvSpPr>
            <p:cNvPr id="494" name="Google Shape;494;p44"/>
            <p:cNvSpPr txBox="1"/>
            <p:nvPr/>
          </p:nvSpPr>
          <p:spPr>
            <a:xfrm>
              <a:off x="228600" y="590550"/>
              <a:ext cx="35910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950">
                  <a:solidFill>
                    <a:srgbClr val="475569"/>
                  </a:solidFill>
                  <a:latin typeface="Inter"/>
                  <a:ea typeface="Inter"/>
                  <a:cs typeface="Inter"/>
                  <a:sym typeface="Inter"/>
                </a:rPr>
                <a:t>Grade</a:t>
              </a:r>
              <a:r>
                <a:rPr lang="en" sz="950">
                  <a:solidFill>
                    <a:srgbClr val="475569"/>
                  </a:solidFill>
                  <a:latin typeface="Inter"/>
                  <a:ea typeface="Inter"/>
                  <a:cs typeface="Inter"/>
                  <a:sym typeface="Inter"/>
                </a:rPr>
                <a:t> </a:t>
              </a:r>
              <a:r>
                <a:rPr lang="en" sz="950">
                  <a:solidFill>
                    <a:srgbClr val="475569"/>
                  </a:solidFill>
                  <a:latin typeface="Inter"/>
                  <a:ea typeface="Inter"/>
                  <a:cs typeface="Inter"/>
                  <a:sym typeface="Inter"/>
                </a:rPr>
                <a:t>level</a:t>
              </a:r>
              <a:r>
                <a:rPr lang="en" sz="950">
                  <a:solidFill>
                    <a:srgbClr val="475569"/>
                  </a:solidFill>
                  <a:latin typeface="Inter"/>
                  <a:ea typeface="Inter"/>
                  <a:cs typeface="Inter"/>
                  <a:sym typeface="Inter"/>
                </a:rPr>
                <a:t> alignment…..</a:t>
              </a:r>
              <a:r>
                <a:rPr b="0" lang="en" sz="950">
                  <a:solidFill>
                    <a:srgbClr val="475569"/>
                  </a:solidFill>
                  <a:latin typeface="Inter"/>
                  <a:ea typeface="Inter"/>
                  <a:cs typeface="Inter"/>
                  <a:sym typeface="Inter"/>
                </a:rPr>
                <a:t>Isolated grade levels within each valley elementary leave teachers working without direct peer colleagues on-site.</a:t>
              </a:r>
              <a:endParaRPr b="0" sz="950">
                <a:solidFill>
                  <a:srgbClr val="475569"/>
                </a:solidFill>
                <a:latin typeface="Inter"/>
                <a:ea typeface="Inter"/>
                <a:cs typeface="Inter"/>
                <a:sym typeface="Inter"/>
              </a:endParaRPr>
            </a:p>
          </p:txBody>
        </p:sp>
        <p:sp>
          <p:nvSpPr>
            <p:cNvPr id="495" name="Google Shape;495;p44"/>
            <p:cNvSpPr/>
            <p:nvPr/>
          </p:nvSpPr>
          <p:spPr>
            <a:xfrm>
              <a:off x="228600" y="1104900"/>
              <a:ext cx="3591000" cy="457200"/>
            </a:xfrm>
            <a:prstGeom prst="roundRect">
              <a:avLst>
                <a:gd fmla="val 16666" name="adj"/>
              </a:avLst>
            </a:prstGeom>
            <a:solidFill>
              <a:srgbClr val="F5F3FF"/>
            </a:solidFill>
            <a:ln cap="flat" cmpd="sng" w="9525">
              <a:solidFill>
                <a:srgbClr val="DDD6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6" name="Google Shape;496;p44"/>
            <p:cNvSpPr txBox="1"/>
            <p:nvPr/>
          </p:nvSpPr>
          <p:spPr>
            <a:xfrm>
              <a:off x="342900" y="1162050"/>
              <a:ext cx="33624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50">
                  <a:solidFill>
                    <a:srgbClr val="6D28D9"/>
                  </a:solidFill>
                  <a:latin typeface="Inter ExtraBold"/>
                  <a:ea typeface="Inter ExtraBold"/>
                  <a:cs typeface="Inter ExtraBold"/>
                  <a:sym typeface="Inter ExtraBold"/>
                </a:rPr>
                <a:t>Outcome:</a:t>
              </a:r>
              <a:r>
                <a:rPr b="0" lang="en" sz="850">
                  <a:solidFill>
                    <a:srgbClr val="6D28D9"/>
                  </a:solidFill>
                  <a:latin typeface="Inter SemiBold"/>
                  <a:ea typeface="Inter SemiBold"/>
                  <a:cs typeface="Inter SemiBold"/>
                  <a:sym typeface="Inter SemiBold"/>
                </a:rPr>
                <a:t> Grade-level team teaching, shared lesson planning, and professional growth.</a:t>
              </a:r>
              <a:endParaRPr b="0" sz="850">
                <a:solidFill>
                  <a:srgbClr val="6D28D9"/>
                </a:solidFill>
                <a:latin typeface="Inter SemiBold"/>
                <a:ea typeface="Inter SemiBold"/>
                <a:cs typeface="Inter SemiBold"/>
                <a:sym typeface="Inter SemiBold"/>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5"/>
          <p:cNvSpPr txBox="1"/>
          <p:nvPr>
            <p:ph type="title"/>
          </p:nvPr>
        </p:nvSpPr>
        <p:spPr>
          <a:xfrm>
            <a:off x="611575" y="133000"/>
            <a:ext cx="8026500" cy="5778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SzPts val="990"/>
              <a:buNone/>
            </a:pPr>
            <a:r>
              <a:rPr lang="en" sz="2020"/>
              <a:t>Rethinking Our School Structure to Strengthen Student Opportunities </a:t>
            </a:r>
            <a:endParaRPr sz="2020"/>
          </a:p>
        </p:txBody>
      </p:sp>
      <p:pic>
        <p:nvPicPr>
          <p:cNvPr id="502" name="Google Shape;502;p45"/>
          <p:cNvPicPr preferRelativeResize="0"/>
          <p:nvPr/>
        </p:nvPicPr>
        <p:blipFill>
          <a:blip r:embed="rId3">
            <a:alphaModFix/>
          </a:blip>
          <a:stretch>
            <a:fillRect/>
          </a:stretch>
        </p:blipFill>
        <p:spPr>
          <a:xfrm>
            <a:off x="558813" y="710800"/>
            <a:ext cx="8026373" cy="41908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07" name="Shape 507"/>
        <p:cNvGrpSpPr/>
        <p:nvPr/>
      </p:nvGrpSpPr>
      <p:grpSpPr>
        <a:xfrm>
          <a:off x="0" y="0"/>
          <a:ext cx="0" cy="0"/>
          <a:chOff x="0" y="0"/>
          <a:chExt cx="0" cy="0"/>
        </a:xfrm>
      </p:grpSpPr>
      <p:sp>
        <p:nvSpPr>
          <p:cNvPr id="508" name="Google Shape;508;p46"/>
          <p:cNvSpPr/>
          <p:nvPr/>
        </p:nvSpPr>
        <p:spPr>
          <a:xfrm>
            <a:off x="381000" y="266700"/>
            <a:ext cx="8382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975">
                <a:solidFill>
                  <a:srgbClr val="009F78"/>
                </a:solidFill>
                <a:latin typeface="Inter"/>
                <a:ea typeface="Inter"/>
                <a:cs typeface="Inter"/>
                <a:sym typeface="Inter"/>
              </a:rPr>
              <a:t>PROGRAMMATIC BENEFITS OF CONSOLIDATION</a:t>
            </a:r>
            <a:endParaRPr/>
          </a:p>
        </p:txBody>
      </p:sp>
      <p:sp>
        <p:nvSpPr>
          <p:cNvPr id="509" name="Google Shape;509;p46"/>
          <p:cNvSpPr/>
          <p:nvPr/>
        </p:nvSpPr>
        <p:spPr>
          <a:xfrm>
            <a:off x="381000" y="485775"/>
            <a:ext cx="838200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175">
                <a:solidFill>
                  <a:srgbClr val="11182B"/>
                </a:solidFill>
                <a:latin typeface="Inter"/>
                <a:ea typeface="Inter"/>
                <a:cs typeface="Inter"/>
                <a:sym typeface="Inter"/>
              </a:rPr>
              <a:t>What Scale Can Mean for Students</a:t>
            </a:r>
            <a:endParaRPr/>
          </a:p>
        </p:txBody>
      </p:sp>
      <p:sp>
        <p:nvSpPr>
          <p:cNvPr id="510" name="Google Shape;510;p46"/>
          <p:cNvSpPr/>
          <p:nvPr/>
        </p:nvSpPr>
        <p:spPr>
          <a:xfrm>
            <a:off x="381000" y="942975"/>
            <a:ext cx="8382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125">
                <a:solidFill>
                  <a:srgbClr val="64748B"/>
                </a:solidFill>
                <a:latin typeface="Inter"/>
                <a:ea typeface="Inter"/>
                <a:cs typeface="Inter"/>
                <a:sym typeface="Inter"/>
              </a:rPr>
              <a:t>A </a:t>
            </a:r>
            <a:r>
              <a:rPr lang="en" sz="1125">
                <a:solidFill>
                  <a:srgbClr val="64748B"/>
                </a:solidFill>
                <a:latin typeface="Inter"/>
                <a:ea typeface="Inter"/>
                <a:cs typeface="Inter"/>
                <a:sym typeface="Inter"/>
              </a:rPr>
              <a:t>practical</a:t>
            </a:r>
            <a:r>
              <a:rPr b="0" lang="en" sz="1125">
                <a:solidFill>
                  <a:srgbClr val="64748B"/>
                </a:solidFill>
                <a:latin typeface="Inter"/>
                <a:ea typeface="Inter"/>
                <a:cs typeface="Inter"/>
                <a:sym typeface="Inter"/>
              </a:rPr>
              <a:t> example: specialized reading instruction for students with IEPs</a:t>
            </a:r>
            <a:endParaRPr/>
          </a:p>
        </p:txBody>
      </p:sp>
      <p:sp>
        <p:nvSpPr>
          <p:cNvPr id="511" name="Google Shape;511;p46"/>
          <p:cNvSpPr/>
          <p:nvPr/>
        </p:nvSpPr>
        <p:spPr>
          <a:xfrm>
            <a:off x="381000" y="1400175"/>
            <a:ext cx="3952875"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007CAF"/>
                </a:solidFill>
                <a:latin typeface="Inter"/>
                <a:ea typeface="Inter"/>
                <a:cs typeface="Inter"/>
                <a:sym typeface="Inter"/>
              </a:rPr>
              <a:t>IN SEPARATE SCHOOLS</a:t>
            </a:r>
            <a:endParaRPr/>
          </a:p>
        </p:txBody>
      </p:sp>
      <p:sp>
        <p:nvSpPr>
          <p:cNvPr id="512" name="Google Shape;512;p46"/>
          <p:cNvSpPr/>
          <p:nvPr/>
        </p:nvSpPr>
        <p:spPr>
          <a:xfrm>
            <a:off x="381000" y="1704975"/>
            <a:ext cx="3952875"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875">
                <a:solidFill>
                  <a:srgbClr val="11182B"/>
                </a:solidFill>
                <a:latin typeface="Inter"/>
                <a:ea typeface="Inter"/>
                <a:cs typeface="Inter"/>
                <a:sym typeface="Inter"/>
              </a:rPr>
              <a:t>1 student + 3 students</a:t>
            </a:r>
            <a:endParaRPr/>
          </a:p>
        </p:txBody>
      </p:sp>
      <p:sp>
        <p:nvSpPr>
          <p:cNvPr id="513" name="Google Shape;513;p46"/>
          <p:cNvSpPr/>
          <p:nvPr/>
        </p:nvSpPr>
        <p:spPr>
          <a:xfrm>
            <a:off x="381000" y="2143125"/>
            <a:ext cx="3905250" cy="1400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313">
                <a:solidFill>
                  <a:srgbClr val="475569"/>
                </a:solidFill>
                <a:latin typeface="Inter"/>
                <a:ea typeface="Inter"/>
                <a:cs typeface="Inter"/>
                <a:sym typeface="Inter"/>
              </a:rPr>
              <a:t>School A: One student works one-on-one with a teacher because no appropriate peers are available.</a:t>
            </a:r>
            <a:endParaRPr/>
          </a:p>
          <a:p>
            <a:pPr indent="0" lvl="0" marL="0" marR="0" rtl="0" algn="l">
              <a:spcBef>
                <a:spcPts val="0"/>
              </a:spcBef>
              <a:spcAft>
                <a:spcPts val="0"/>
              </a:spcAft>
              <a:buNone/>
            </a:pPr>
            <a:r>
              <a:t/>
            </a:r>
            <a:endParaRPr b="0" sz="1313">
              <a:solidFill>
                <a:srgbClr val="475569"/>
              </a:solidFill>
              <a:latin typeface="Inter"/>
              <a:ea typeface="Inter"/>
              <a:cs typeface="Inter"/>
              <a:sym typeface="Inter"/>
            </a:endParaRPr>
          </a:p>
          <a:p>
            <a:pPr indent="0" lvl="0" marL="0" marR="0" rtl="0" algn="l">
              <a:spcBef>
                <a:spcPts val="0"/>
              </a:spcBef>
              <a:spcAft>
                <a:spcPts val="0"/>
              </a:spcAft>
              <a:buNone/>
            </a:pPr>
            <a:r>
              <a:rPr b="0" lang="en" sz="1313">
                <a:solidFill>
                  <a:srgbClr val="475569"/>
                </a:solidFill>
                <a:latin typeface="Inter"/>
                <a:ea typeface="Inter"/>
                <a:cs typeface="Inter"/>
                <a:sym typeface="Inter"/>
              </a:rPr>
              <a:t>School B: Three students with similar reading needs work with a second teacher.</a:t>
            </a:r>
            <a:endParaRPr/>
          </a:p>
        </p:txBody>
      </p:sp>
      <p:sp>
        <p:nvSpPr>
          <p:cNvPr id="514" name="Google Shape;514;p46"/>
          <p:cNvSpPr/>
          <p:nvPr/>
        </p:nvSpPr>
        <p:spPr>
          <a:xfrm>
            <a:off x="4810125" y="1400175"/>
            <a:ext cx="3952875"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009F78"/>
                </a:solidFill>
                <a:latin typeface="Inter"/>
                <a:ea typeface="Inter"/>
                <a:cs typeface="Inter"/>
                <a:sym typeface="Inter"/>
              </a:rPr>
              <a:t>IN A CONSOLIDATED SCHOOL</a:t>
            </a:r>
            <a:endParaRPr/>
          </a:p>
        </p:txBody>
      </p:sp>
      <p:sp>
        <p:nvSpPr>
          <p:cNvPr id="515" name="Google Shape;515;p46"/>
          <p:cNvSpPr/>
          <p:nvPr/>
        </p:nvSpPr>
        <p:spPr>
          <a:xfrm>
            <a:off x="4810125" y="1704975"/>
            <a:ext cx="3952875"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725">
                <a:solidFill>
                  <a:srgbClr val="11182B"/>
                </a:solidFill>
                <a:latin typeface="Inter"/>
                <a:ea typeface="Inter"/>
                <a:cs typeface="Inter"/>
                <a:sym typeface="Inter"/>
              </a:rPr>
              <a:t>4 students, both teachers retained</a:t>
            </a:r>
            <a:endParaRPr/>
          </a:p>
        </p:txBody>
      </p:sp>
      <p:sp>
        <p:nvSpPr>
          <p:cNvPr id="516" name="Google Shape;516;p46"/>
          <p:cNvSpPr/>
          <p:nvPr/>
        </p:nvSpPr>
        <p:spPr>
          <a:xfrm>
            <a:off x="4810125" y="2143125"/>
            <a:ext cx="3952875" cy="1400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313">
                <a:solidFill>
                  <a:srgbClr val="475569"/>
                </a:solidFill>
                <a:latin typeface="Inter"/>
                <a:ea typeface="Inter"/>
                <a:cs typeface="Inter"/>
                <a:sym typeface="Inter"/>
              </a:rPr>
              <a:t>If reading levels and IEPs support grouping, one teacher teaches the four students together.</a:t>
            </a:r>
            <a:endParaRPr/>
          </a:p>
          <a:p>
            <a:pPr indent="0" lvl="0" marL="0" marR="0" rtl="0" algn="l">
              <a:spcBef>
                <a:spcPts val="0"/>
              </a:spcBef>
              <a:spcAft>
                <a:spcPts val="0"/>
              </a:spcAft>
              <a:buNone/>
            </a:pPr>
            <a:r>
              <a:t/>
            </a:r>
            <a:endParaRPr b="0" sz="1313">
              <a:solidFill>
                <a:srgbClr val="475569"/>
              </a:solidFill>
              <a:latin typeface="Inter"/>
              <a:ea typeface="Inter"/>
              <a:cs typeface="Inter"/>
              <a:sym typeface="Inter"/>
            </a:endParaRPr>
          </a:p>
          <a:p>
            <a:pPr indent="0" lvl="0" marL="0" marR="0" rtl="0" algn="l">
              <a:spcBef>
                <a:spcPts val="0"/>
              </a:spcBef>
              <a:spcAft>
                <a:spcPts val="0"/>
              </a:spcAft>
              <a:buNone/>
            </a:pPr>
            <a:r>
              <a:rPr b="0" lang="en" sz="1313">
                <a:solidFill>
                  <a:srgbClr val="475569"/>
                </a:solidFill>
                <a:latin typeface="Inter"/>
                <a:ea typeface="Inter"/>
                <a:cs typeface="Inter"/>
                <a:sym typeface="Inter"/>
              </a:rPr>
              <a:t>The other teacher extends support to different students who cannot currently access that additional help in either building.</a:t>
            </a:r>
            <a:endParaRPr/>
          </a:p>
        </p:txBody>
      </p:sp>
      <p:sp>
        <p:nvSpPr>
          <p:cNvPr id="517" name="Google Shape;517;p46"/>
          <p:cNvSpPr/>
          <p:nvPr/>
        </p:nvSpPr>
        <p:spPr>
          <a:xfrm>
            <a:off x="381000" y="3714750"/>
            <a:ext cx="8382000" cy="238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009F78"/>
                </a:solidFill>
                <a:latin typeface="Inter"/>
                <a:ea typeface="Inter"/>
                <a:cs typeface="Inter"/>
                <a:sym typeface="Inter"/>
              </a:rPr>
              <a:t>WHY LEARNING WITH PEERS IS IMPORTANT</a:t>
            </a:r>
            <a:endParaRPr/>
          </a:p>
        </p:txBody>
      </p:sp>
      <p:sp>
        <p:nvSpPr>
          <p:cNvPr id="518" name="Google Shape;518;p46"/>
          <p:cNvSpPr/>
          <p:nvPr/>
        </p:nvSpPr>
        <p:spPr>
          <a:xfrm>
            <a:off x="381000" y="4029075"/>
            <a:ext cx="83820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313">
                <a:solidFill>
                  <a:srgbClr val="475569"/>
                </a:solidFill>
                <a:latin typeface="Inter"/>
                <a:ea typeface="Inter"/>
                <a:cs typeface="Inter"/>
                <a:sym typeface="Inter"/>
              </a:rPr>
              <a:t>One-on-one instruction is </a:t>
            </a:r>
            <a:r>
              <a:rPr lang="en" sz="1313">
                <a:solidFill>
                  <a:srgbClr val="475569"/>
                </a:solidFill>
                <a:latin typeface="Inter"/>
                <a:ea typeface="Inter"/>
                <a:cs typeface="Inter"/>
                <a:sym typeface="Inter"/>
              </a:rPr>
              <a:t>sometimes necessary</a:t>
            </a:r>
            <a:r>
              <a:rPr b="0" lang="en" sz="1313">
                <a:solidFill>
                  <a:srgbClr val="475569"/>
                </a:solidFill>
                <a:latin typeface="Inter"/>
                <a:ea typeface="Inter"/>
                <a:cs typeface="Inter"/>
                <a:sym typeface="Inter"/>
              </a:rPr>
              <a:t>, but it is not always the best setting. An appropriate small group lets students practice together, learn from one another, and build confidence and belonging.</a:t>
            </a:r>
            <a:endParaRPr/>
          </a:p>
        </p:txBody>
      </p:sp>
      <p:sp>
        <p:nvSpPr>
          <p:cNvPr id="519" name="Google Shape;519;p46"/>
          <p:cNvSpPr/>
          <p:nvPr/>
        </p:nvSpPr>
        <p:spPr>
          <a:xfrm>
            <a:off x="381000" y="4810125"/>
            <a:ext cx="83820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050">
                <a:solidFill>
                  <a:srgbClr val="11182B"/>
                </a:solidFill>
                <a:latin typeface="Inter"/>
                <a:ea typeface="Inter"/>
                <a:cs typeface="Inter"/>
                <a:sym typeface="Inter"/>
              </a:rPr>
              <a:t>Each student’s IEP and instructional needs guide grouping and services.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3" name="Shape 523"/>
        <p:cNvGrpSpPr/>
        <p:nvPr/>
      </p:nvGrpSpPr>
      <p:grpSpPr>
        <a:xfrm>
          <a:off x="0" y="0"/>
          <a:ext cx="0" cy="0"/>
          <a:chOff x="0" y="0"/>
          <a:chExt cx="0" cy="0"/>
        </a:xfrm>
      </p:grpSpPr>
      <p:sp>
        <p:nvSpPr>
          <p:cNvPr id="524" name="Google Shape;524;p47"/>
          <p:cNvSpPr txBox="1"/>
          <p:nvPr/>
        </p:nvSpPr>
        <p:spPr>
          <a:xfrm>
            <a:off x="457200" y="82350"/>
            <a:ext cx="8229600" cy="870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400">
                <a:solidFill>
                  <a:srgbClr val="0F172A"/>
                </a:solidFill>
                <a:latin typeface="Inter ExtraBold"/>
                <a:ea typeface="Inter ExtraBold"/>
                <a:cs typeface="Inter ExtraBold"/>
                <a:sym typeface="Inter ExtraBold"/>
              </a:rPr>
              <a:t>Valley Elementary Consolidation</a:t>
            </a:r>
            <a:endParaRPr b="0" sz="2400">
              <a:solidFill>
                <a:srgbClr val="0F172A"/>
              </a:solidFill>
              <a:latin typeface="Inter ExtraBold"/>
              <a:ea typeface="Inter ExtraBold"/>
              <a:cs typeface="Inter ExtraBold"/>
              <a:sym typeface="Inter ExtraBold"/>
            </a:endParaRPr>
          </a:p>
          <a:p>
            <a:pPr indent="0" lvl="0" marL="0" rtl="0" algn="l">
              <a:spcBef>
                <a:spcPts val="300"/>
              </a:spcBef>
              <a:spcAft>
                <a:spcPts val="0"/>
              </a:spcAft>
              <a:buNone/>
            </a:pPr>
            <a:r>
              <a:rPr b="0" lang="en" sz="1100">
                <a:solidFill>
                  <a:srgbClr val="64748B"/>
                </a:solidFill>
                <a:latin typeface="Inter Medium"/>
                <a:ea typeface="Inter Medium"/>
                <a:cs typeface="Inter Medium"/>
                <a:sym typeface="Inter Medium"/>
              </a:rPr>
              <a:t>Financial evaluation and outcomes of restructuring elementary school facilities</a:t>
            </a:r>
            <a:endParaRPr b="0" sz="1100">
              <a:solidFill>
                <a:srgbClr val="64748B"/>
              </a:solidFill>
              <a:latin typeface="Inter Medium"/>
              <a:ea typeface="Inter Medium"/>
              <a:cs typeface="Inter Medium"/>
              <a:sym typeface="Inter Medium"/>
            </a:endParaRPr>
          </a:p>
        </p:txBody>
      </p:sp>
      <p:grpSp>
        <p:nvGrpSpPr>
          <p:cNvPr id="525" name="Google Shape;525;p47"/>
          <p:cNvGrpSpPr/>
          <p:nvPr/>
        </p:nvGrpSpPr>
        <p:grpSpPr>
          <a:xfrm>
            <a:off x="457200" y="1095375"/>
            <a:ext cx="4038600" cy="3667200"/>
            <a:chOff x="0" y="0"/>
            <a:chExt cx="4038600" cy="3667200"/>
          </a:xfrm>
        </p:grpSpPr>
        <p:sp>
          <p:nvSpPr>
            <p:cNvPr id="526" name="Google Shape;526;p47"/>
            <p:cNvSpPr/>
            <p:nvPr/>
          </p:nvSpPr>
          <p:spPr>
            <a:xfrm>
              <a:off x="0" y="0"/>
              <a:ext cx="4038600" cy="3667200"/>
            </a:xfrm>
            <a:prstGeom prst="roundRect">
              <a:avLst>
                <a:gd fmla="val 3116"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7" name="Google Shape;527;p47"/>
            <p:cNvSpPr/>
            <p:nvPr/>
          </p:nvSpPr>
          <p:spPr>
            <a:xfrm>
              <a:off x="0" y="0"/>
              <a:ext cx="4038600" cy="573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8" name="Google Shape;528;p47"/>
            <p:cNvSpPr txBox="1"/>
            <p:nvPr/>
          </p:nvSpPr>
          <p:spPr>
            <a:xfrm>
              <a:off x="190500" y="171450"/>
              <a:ext cx="3657600" cy="3333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0F766E"/>
                  </a:solidFill>
                  <a:highlight>
                    <a:srgbClr val="CCFBF1"/>
                  </a:highlight>
                  <a:latin typeface="Inter"/>
                  <a:ea typeface="Inter"/>
                  <a:cs typeface="Inter"/>
                  <a:sym typeface="Inter"/>
                </a:rPr>
                <a:t>PROPOSAL SCOPE: 4 SCHOOLS ➜ 2 SCHOOLS</a:t>
              </a:r>
              <a:endParaRPr>
                <a:latin typeface="Inter"/>
                <a:ea typeface="Inter"/>
                <a:cs typeface="Inter"/>
                <a:sym typeface="Inter"/>
              </a:endParaRPr>
            </a:p>
            <a:p>
              <a:pPr indent="0" lvl="0" marL="0" rtl="0" algn="l">
                <a:spcBef>
                  <a:spcPts val="600"/>
                </a:spcBef>
                <a:spcAft>
                  <a:spcPts val="0"/>
                </a:spcAft>
                <a:buNone/>
              </a:pPr>
              <a:r>
                <a:rPr b="0" lang="en" sz="1500">
                  <a:solidFill>
                    <a:srgbClr val="0F172A"/>
                  </a:solidFill>
                  <a:latin typeface="Inter ExtraBold"/>
                  <a:ea typeface="Inter ExtraBold"/>
                  <a:cs typeface="Inter ExtraBold"/>
                  <a:sym typeface="Inter ExtraBold"/>
                </a:rPr>
                <a:t>Educational Efficiencies</a:t>
              </a:r>
              <a:endParaRPr b="0" sz="1500">
                <a:solidFill>
                  <a:srgbClr val="0F172A"/>
                </a:solidFill>
                <a:latin typeface="Inter ExtraBold"/>
                <a:ea typeface="Inter ExtraBold"/>
                <a:cs typeface="Inter ExtraBold"/>
                <a:sym typeface="Inter ExtraBold"/>
              </a:endParaRPr>
            </a:p>
            <a:p>
              <a:pPr indent="0" lvl="0" marL="0" rtl="0" algn="l">
                <a:spcBef>
                  <a:spcPts val="600"/>
                </a:spcBef>
                <a:spcAft>
                  <a:spcPts val="0"/>
                </a:spcAft>
                <a:buNone/>
              </a:pPr>
              <a:r>
                <a:rPr b="1" lang="en" sz="750">
                  <a:solidFill>
                    <a:srgbClr val="64748B"/>
                  </a:solidFill>
                  <a:latin typeface="Inter"/>
                  <a:ea typeface="Inter"/>
                  <a:cs typeface="Inter"/>
                  <a:sym typeface="Inter"/>
                </a:rPr>
                <a:t>EVALUATION QUESTION</a:t>
              </a:r>
              <a:endParaRPr b="1" sz="750">
                <a:solidFill>
                  <a:srgbClr val="64748B"/>
                </a:solidFill>
                <a:latin typeface="Inter"/>
                <a:ea typeface="Inter"/>
                <a:cs typeface="Inter"/>
                <a:sym typeface="Inter"/>
              </a:endParaRPr>
            </a:p>
            <a:p>
              <a:pPr indent="0" lvl="0" marL="0" rtl="0" algn="l">
                <a:spcBef>
                  <a:spcPts val="300"/>
                </a:spcBef>
                <a:spcAft>
                  <a:spcPts val="0"/>
                </a:spcAft>
                <a:buNone/>
              </a:pPr>
              <a:r>
                <a:rPr b="0" lang="en" sz="950">
                  <a:solidFill>
                    <a:srgbClr val="334155"/>
                  </a:solidFill>
                  <a:highlight>
                    <a:srgbClr val="F8FAFC"/>
                  </a:highlight>
                  <a:latin typeface="Inter"/>
                  <a:ea typeface="Inter"/>
                  <a:cs typeface="Inter"/>
                  <a:sym typeface="Inter"/>
                </a:rPr>
                <a:t>What educational and financial efficiencies could result from consolidating 4 valley elementary schools into 2?</a:t>
              </a:r>
              <a:endParaRPr b="0" sz="950">
                <a:solidFill>
                  <a:srgbClr val="334155"/>
                </a:solidFill>
                <a:highlight>
                  <a:srgbClr val="F8FAFC"/>
                </a:highlight>
                <a:latin typeface="Inter"/>
                <a:ea typeface="Inter"/>
                <a:cs typeface="Inter"/>
                <a:sym typeface="Inter"/>
              </a:endParaRPr>
            </a:p>
            <a:p>
              <a:pPr indent="0" lvl="0" marL="0" rtl="0" algn="l">
                <a:spcBef>
                  <a:spcPts val="900"/>
                </a:spcBef>
                <a:spcAft>
                  <a:spcPts val="0"/>
                </a:spcAft>
                <a:buNone/>
              </a:pPr>
              <a:r>
                <a:rPr b="1" lang="en" sz="850">
                  <a:solidFill>
                    <a:srgbClr val="0F766E"/>
                  </a:solidFill>
                  <a:latin typeface="Inter"/>
                  <a:ea typeface="Inter"/>
                  <a:cs typeface="Inter"/>
                  <a:sym typeface="Inter"/>
                </a:rPr>
                <a:t>KEY EDUCATIONAL OUTCOMES</a:t>
              </a:r>
              <a:endParaRPr b="1" sz="850">
                <a:solidFill>
                  <a:srgbClr val="0F766E"/>
                </a:solidFill>
                <a:latin typeface="Inter"/>
                <a:ea typeface="Inter"/>
                <a:cs typeface="Inter"/>
                <a:sym typeface="Inter"/>
              </a:endParaRPr>
            </a:p>
            <a:p>
              <a:pPr indent="-285750" lvl="0" marL="457200" rtl="0" algn="l">
                <a:spcBef>
                  <a:spcPts val="600"/>
                </a:spcBef>
                <a:spcAft>
                  <a:spcPts val="0"/>
                </a:spcAft>
                <a:buClr>
                  <a:srgbClr val="1E293B"/>
                </a:buClr>
                <a:buSzPts val="900"/>
                <a:buFont typeface="Inter"/>
                <a:buChar char="●"/>
              </a:pPr>
              <a:r>
                <a:rPr b="0" lang="en" sz="900">
                  <a:solidFill>
                    <a:srgbClr val="1E293B"/>
                  </a:solidFill>
                  <a:latin typeface="Inter Medium"/>
                  <a:ea typeface="Inter Medium"/>
                  <a:cs typeface="Inter Medium"/>
                  <a:sym typeface="Inter Medium"/>
                </a:rPr>
                <a:t>More flexible staff and scheduling across grade levels</a:t>
              </a:r>
              <a:endParaRPr b="0" sz="900">
                <a:solidFill>
                  <a:srgbClr val="1E293B"/>
                </a:solidFill>
                <a:latin typeface="Inter Medium"/>
                <a:ea typeface="Inter Medium"/>
                <a:cs typeface="Inter Medium"/>
                <a:sym typeface="Inter Medium"/>
              </a:endParaRPr>
            </a:p>
            <a:p>
              <a:pPr indent="-285750" lvl="0" marL="457200" rtl="0" algn="l">
                <a:spcBef>
                  <a:spcPts val="375"/>
                </a:spcBef>
                <a:spcAft>
                  <a:spcPts val="0"/>
                </a:spcAft>
                <a:buClr>
                  <a:srgbClr val="1E293B"/>
                </a:buClr>
                <a:buSzPts val="900"/>
                <a:buFont typeface="Inter"/>
                <a:buChar char="●"/>
              </a:pPr>
              <a:r>
                <a:rPr b="0" lang="en" sz="900">
                  <a:solidFill>
                    <a:srgbClr val="1E293B"/>
                  </a:solidFill>
                  <a:latin typeface="Inter Medium"/>
                  <a:ea typeface="Inter Medium"/>
                  <a:cs typeface="Inter Medium"/>
                  <a:sym typeface="Inter Medium"/>
                </a:rPr>
                <a:t>Greater opportunities for peer interaction and collaborative learning</a:t>
              </a:r>
              <a:endParaRPr b="0" sz="900">
                <a:solidFill>
                  <a:srgbClr val="1E293B"/>
                </a:solidFill>
                <a:latin typeface="Inter Medium"/>
                <a:ea typeface="Inter Medium"/>
                <a:cs typeface="Inter Medium"/>
                <a:sym typeface="Inter Medium"/>
              </a:endParaRPr>
            </a:p>
            <a:p>
              <a:pPr indent="-285750" lvl="0" marL="457200" rtl="0" algn="l">
                <a:spcBef>
                  <a:spcPts val="375"/>
                </a:spcBef>
                <a:spcAft>
                  <a:spcPts val="0"/>
                </a:spcAft>
                <a:buClr>
                  <a:srgbClr val="1E293B"/>
                </a:buClr>
                <a:buSzPts val="900"/>
                <a:buFont typeface="Inter"/>
                <a:buChar char="●"/>
              </a:pPr>
              <a:r>
                <a:rPr b="0" lang="en" sz="900">
                  <a:solidFill>
                    <a:srgbClr val="1E293B"/>
                  </a:solidFill>
                  <a:latin typeface="Inter Medium"/>
                  <a:ea typeface="Inter Medium"/>
                  <a:cs typeface="Inter Medium"/>
                  <a:sym typeface="Inter Medium"/>
                </a:rPr>
                <a:t>More consistent access to specialized instruction, interventions, and support</a:t>
              </a:r>
              <a:endParaRPr b="0" sz="900">
                <a:solidFill>
                  <a:srgbClr val="1E293B"/>
                </a:solidFill>
                <a:latin typeface="Inter Medium"/>
                <a:ea typeface="Inter Medium"/>
                <a:cs typeface="Inter Medium"/>
                <a:sym typeface="Inter Medium"/>
              </a:endParaRPr>
            </a:p>
            <a:p>
              <a:pPr indent="-285750" lvl="0" marL="457200" rtl="0" algn="l">
                <a:spcBef>
                  <a:spcPts val="375"/>
                </a:spcBef>
                <a:spcAft>
                  <a:spcPts val="0"/>
                </a:spcAft>
                <a:buClr>
                  <a:srgbClr val="1E293B"/>
                </a:buClr>
                <a:buSzPts val="900"/>
                <a:buFont typeface="Inter"/>
                <a:buChar char="●"/>
              </a:pPr>
              <a:r>
                <a:rPr b="0" lang="en" sz="900">
                  <a:solidFill>
                    <a:srgbClr val="1E293B"/>
                  </a:solidFill>
                  <a:latin typeface="Inter Medium"/>
                  <a:ea typeface="Inter Medium"/>
                  <a:cs typeface="Inter Medium"/>
                  <a:sym typeface="Inter Medium"/>
                </a:rPr>
                <a:t>Elimination of shared staff and travel time across buildings</a:t>
              </a:r>
              <a:endParaRPr b="0" sz="900">
                <a:solidFill>
                  <a:srgbClr val="1E293B"/>
                </a:solidFill>
                <a:latin typeface="Inter Medium"/>
                <a:ea typeface="Inter Medium"/>
                <a:cs typeface="Inter Medium"/>
                <a:sym typeface="Inter Medium"/>
              </a:endParaRPr>
            </a:p>
            <a:p>
              <a:pPr indent="-285750" lvl="0" marL="457200" rtl="0" algn="l">
                <a:spcBef>
                  <a:spcPts val="375"/>
                </a:spcBef>
                <a:spcAft>
                  <a:spcPts val="0"/>
                </a:spcAft>
                <a:buClr>
                  <a:srgbClr val="1E293B"/>
                </a:buClr>
                <a:buSzPts val="900"/>
                <a:buFont typeface="Inter Medium"/>
                <a:buChar char="●"/>
              </a:pPr>
              <a:r>
                <a:rPr lang="en" sz="900">
                  <a:solidFill>
                    <a:srgbClr val="1E293B"/>
                  </a:solidFill>
                  <a:latin typeface="Inter Medium"/>
                  <a:ea typeface="Inter Medium"/>
                  <a:cs typeface="Inter Medium"/>
                  <a:sym typeface="Inter Medium"/>
                </a:rPr>
                <a:t>Full time nurse at each location</a:t>
              </a:r>
              <a:endParaRPr sz="900">
                <a:solidFill>
                  <a:srgbClr val="1E293B"/>
                </a:solidFill>
                <a:latin typeface="Inter Medium"/>
                <a:ea typeface="Inter Medium"/>
                <a:cs typeface="Inter Medium"/>
                <a:sym typeface="Inter Medium"/>
              </a:endParaRPr>
            </a:p>
            <a:p>
              <a:pPr indent="-285750" lvl="0" marL="457200" rtl="0" algn="l">
                <a:spcBef>
                  <a:spcPts val="375"/>
                </a:spcBef>
                <a:spcAft>
                  <a:spcPts val="0"/>
                </a:spcAft>
                <a:buClr>
                  <a:srgbClr val="1E293B"/>
                </a:buClr>
                <a:buSzPts val="900"/>
                <a:buFont typeface="Inter"/>
                <a:buChar char="●"/>
              </a:pPr>
              <a:r>
                <a:rPr b="0" lang="en" sz="900">
                  <a:solidFill>
                    <a:srgbClr val="1E293B"/>
                  </a:solidFill>
                  <a:latin typeface="Inter Medium"/>
                  <a:ea typeface="Inter Medium"/>
                  <a:cs typeface="Inter Medium"/>
                  <a:sym typeface="Inter Medium"/>
                </a:rPr>
                <a:t>More robust educational experiences</a:t>
              </a:r>
              <a:endParaRPr b="0" sz="900">
                <a:solidFill>
                  <a:srgbClr val="1E293B"/>
                </a:solidFill>
                <a:latin typeface="Inter Medium"/>
                <a:ea typeface="Inter Medium"/>
                <a:cs typeface="Inter Medium"/>
                <a:sym typeface="Inter Medium"/>
              </a:endParaRPr>
            </a:p>
          </p:txBody>
        </p:sp>
      </p:grpSp>
      <p:grpSp>
        <p:nvGrpSpPr>
          <p:cNvPr id="529" name="Google Shape;529;p47"/>
          <p:cNvGrpSpPr/>
          <p:nvPr/>
        </p:nvGrpSpPr>
        <p:grpSpPr>
          <a:xfrm>
            <a:off x="4724400" y="1095375"/>
            <a:ext cx="4038600" cy="3667200"/>
            <a:chOff x="0" y="0"/>
            <a:chExt cx="4038600" cy="3667200"/>
          </a:xfrm>
        </p:grpSpPr>
        <p:sp>
          <p:nvSpPr>
            <p:cNvPr id="530" name="Google Shape;530;p47"/>
            <p:cNvSpPr/>
            <p:nvPr/>
          </p:nvSpPr>
          <p:spPr>
            <a:xfrm>
              <a:off x="0" y="0"/>
              <a:ext cx="4038600" cy="3667200"/>
            </a:xfrm>
            <a:prstGeom prst="roundRect">
              <a:avLst>
                <a:gd fmla="val 3116"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1" name="Google Shape;531;p47"/>
            <p:cNvSpPr/>
            <p:nvPr/>
          </p:nvSpPr>
          <p:spPr>
            <a:xfrm>
              <a:off x="0" y="0"/>
              <a:ext cx="4038600" cy="573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2" name="Google Shape;532;p47"/>
            <p:cNvSpPr txBox="1"/>
            <p:nvPr/>
          </p:nvSpPr>
          <p:spPr>
            <a:xfrm>
              <a:off x="190500" y="190500"/>
              <a:ext cx="3657600" cy="3286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850">
                  <a:solidFill>
                    <a:srgbClr val="0F766E"/>
                  </a:solidFill>
                  <a:latin typeface="Inter"/>
                  <a:ea typeface="Inter"/>
                  <a:cs typeface="Inter"/>
                  <a:sym typeface="Inter"/>
                </a:rPr>
                <a:t>FINANCIAL IMPACT &amp; EFFICIENCIES</a:t>
              </a:r>
              <a:endParaRPr b="1" sz="850">
                <a:solidFill>
                  <a:srgbClr val="0F766E"/>
                </a:solidFill>
                <a:latin typeface="Inter"/>
                <a:ea typeface="Inter"/>
                <a:cs typeface="Inter"/>
                <a:sym typeface="Inter"/>
              </a:endParaRPr>
            </a:p>
            <a:p>
              <a:pPr indent="0" lvl="0" marL="0" rtl="0" algn="ctr">
                <a:spcBef>
                  <a:spcPts val="900"/>
                </a:spcBef>
                <a:spcAft>
                  <a:spcPts val="0"/>
                </a:spcAft>
                <a:buNone/>
              </a:pPr>
              <a:r>
                <a:rPr b="0" lang="en" sz="1100">
                  <a:solidFill>
                    <a:srgbClr val="334155"/>
                  </a:solidFill>
                  <a:latin typeface="Inter SemiBold"/>
                  <a:ea typeface="Inter SemiBold"/>
                  <a:cs typeface="Inter SemiBold"/>
                  <a:sym typeface="Inter SemiBold"/>
                </a:rPr>
                <a:t>We would achieve consolidation cost efficiencies of:</a:t>
              </a:r>
              <a:endParaRPr b="0" sz="1100">
                <a:solidFill>
                  <a:srgbClr val="334155"/>
                </a:solidFill>
                <a:latin typeface="Inter SemiBold"/>
                <a:ea typeface="Inter SemiBold"/>
                <a:cs typeface="Inter SemiBold"/>
                <a:sym typeface="Inter SemiBold"/>
              </a:endParaRPr>
            </a:p>
            <a:p>
              <a:pPr indent="0" lvl="0" marL="0" rtl="0" algn="ctr">
                <a:spcBef>
                  <a:spcPts val="750"/>
                </a:spcBef>
                <a:spcAft>
                  <a:spcPts val="0"/>
                </a:spcAft>
                <a:buNone/>
              </a:pPr>
              <a:r>
                <a:rPr b="0" lang="en" sz="3400">
                  <a:solidFill>
                    <a:srgbClr val="0D9488"/>
                  </a:solidFill>
                  <a:latin typeface="Inter ExtraBold"/>
                  <a:ea typeface="Inter ExtraBold"/>
                  <a:cs typeface="Inter ExtraBold"/>
                  <a:sym typeface="Inter ExtraBold"/>
                </a:rPr>
                <a:t>~$</a:t>
              </a:r>
              <a:r>
                <a:rPr lang="en" sz="3400">
                  <a:solidFill>
                    <a:srgbClr val="0D9488"/>
                  </a:solidFill>
                  <a:latin typeface="Inter ExtraBold"/>
                  <a:ea typeface="Inter ExtraBold"/>
                  <a:cs typeface="Inter ExtraBold"/>
                  <a:sym typeface="Inter ExtraBold"/>
                </a:rPr>
                <a:t>1,826,527</a:t>
              </a:r>
              <a:r>
                <a:rPr lang="en" sz="3400">
                  <a:solidFill>
                    <a:srgbClr val="0D9488"/>
                  </a:solidFill>
                  <a:latin typeface="Inter ExtraBold"/>
                  <a:ea typeface="Inter ExtraBold"/>
                  <a:cs typeface="Inter ExtraBold"/>
                  <a:sym typeface="Inter ExtraBold"/>
                </a:rPr>
                <a:t>   </a:t>
              </a:r>
              <a:endParaRPr sz="3400">
                <a:solidFill>
                  <a:srgbClr val="0D9488"/>
                </a:solidFill>
                <a:latin typeface="Inter ExtraBold"/>
                <a:ea typeface="Inter ExtraBold"/>
                <a:cs typeface="Inter ExtraBold"/>
                <a:sym typeface="Inter ExtraBold"/>
              </a:endParaRPr>
            </a:p>
            <a:p>
              <a:pPr indent="0" lvl="0" marL="0" rtl="0" algn="ctr">
                <a:spcBef>
                  <a:spcPts val="0"/>
                </a:spcBef>
                <a:spcAft>
                  <a:spcPts val="0"/>
                </a:spcAft>
                <a:buNone/>
              </a:pPr>
              <a:r>
                <a:rPr b="1" lang="en" sz="850">
                  <a:solidFill>
                    <a:srgbClr val="15803D"/>
                  </a:solidFill>
                  <a:highlight>
                    <a:srgbClr val="F0FDF4"/>
                  </a:highlight>
                  <a:latin typeface="Inter"/>
                  <a:ea typeface="Inter"/>
                  <a:cs typeface="Inter"/>
                  <a:sym typeface="Inter"/>
                </a:rPr>
                <a:t>ESTIMATED ANNUAL OPERATING SAVINGS</a:t>
              </a:r>
              <a:endParaRPr b="1" sz="850">
                <a:solidFill>
                  <a:srgbClr val="15803D"/>
                </a:solidFill>
                <a:highlight>
                  <a:srgbClr val="F0FDF4"/>
                </a:highlight>
                <a:latin typeface="Inter"/>
                <a:ea typeface="Inter"/>
                <a:cs typeface="Inter"/>
                <a:sym typeface="Inter"/>
              </a:endParaRPr>
            </a:p>
            <a:p>
              <a:pPr indent="0" lvl="0" marL="0" rtl="0" algn="ctr">
                <a:spcBef>
                  <a:spcPts val="0"/>
                </a:spcBef>
                <a:spcAft>
                  <a:spcPts val="0"/>
                </a:spcAft>
                <a:buNone/>
              </a:pPr>
              <a:r>
                <a:t/>
              </a:r>
              <a:endParaRPr b="1" sz="850">
                <a:solidFill>
                  <a:srgbClr val="15803D"/>
                </a:solidFill>
                <a:highlight>
                  <a:srgbClr val="F0FDF4"/>
                </a:highlight>
                <a:latin typeface="Inter"/>
                <a:ea typeface="Inter"/>
                <a:cs typeface="Inter"/>
                <a:sym typeface="Inter"/>
              </a:endParaRPr>
            </a:p>
            <a:p>
              <a:pPr indent="0" lvl="0" marL="0" rtl="0" algn="ctr">
                <a:spcBef>
                  <a:spcPts val="0"/>
                </a:spcBef>
                <a:spcAft>
                  <a:spcPts val="0"/>
                </a:spcAft>
                <a:buNone/>
              </a:pPr>
              <a:r>
                <a:rPr b="1" lang="en" sz="850">
                  <a:solidFill>
                    <a:srgbClr val="15803D"/>
                  </a:solidFill>
                  <a:highlight>
                    <a:srgbClr val="F0FDF4"/>
                  </a:highlight>
                  <a:latin typeface="Inter"/>
                  <a:ea typeface="Inter"/>
                  <a:cs typeface="Inter"/>
                  <a:sym typeface="Inter"/>
                </a:rPr>
                <a:t>A REDUCTION OF -16 FTE*</a:t>
              </a:r>
              <a:endParaRPr b="1" sz="850">
                <a:solidFill>
                  <a:srgbClr val="15803D"/>
                </a:solidFill>
                <a:highlight>
                  <a:srgbClr val="F0FDF4"/>
                </a:highlight>
                <a:latin typeface="Inter"/>
                <a:ea typeface="Inter"/>
                <a:cs typeface="Inter"/>
                <a:sym typeface="Inter"/>
              </a:endParaRPr>
            </a:p>
            <a:p>
              <a:pPr indent="0" lvl="0" marL="0" rtl="0" algn="ctr">
                <a:spcBef>
                  <a:spcPts val="0"/>
                </a:spcBef>
                <a:spcAft>
                  <a:spcPts val="0"/>
                </a:spcAft>
                <a:buNone/>
              </a:pPr>
              <a:r>
                <a:t/>
              </a:r>
              <a:endParaRPr b="1" sz="850">
                <a:solidFill>
                  <a:srgbClr val="15803D"/>
                </a:solidFill>
                <a:highlight>
                  <a:srgbClr val="F0FDF4"/>
                </a:highlight>
                <a:latin typeface="Inter"/>
                <a:ea typeface="Inter"/>
                <a:cs typeface="Inter"/>
                <a:sym typeface="Inter"/>
              </a:endParaRPr>
            </a:p>
            <a:p>
              <a:pPr indent="0" lvl="0" marL="0" rtl="0" algn="ctr">
                <a:spcBef>
                  <a:spcPts val="0"/>
                </a:spcBef>
                <a:spcAft>
                  <a:spcPts val="0"/>
                </a:spcAft>
                <a:buNone/>
              </a:pPr>
              <a:r>
                <a:t/>
              </a:r>
              <a:endParaRPr b="1" sz="850">
                <a:solidFill>
                  <a:srgbClr val="15803D"/>
                </a:solidFill>
                <a:highlight>
                  <a:srgbClr val="F0FDF4"/>
                </a:highlight>
                <a:latin typeface="Inter"/>
                <a:ea typeface="Inter"/>
                <a:cs typeface="Inter"/>
                <a:sym typeface="Inter"/>
              </a:endParaRPr>
            </a:p>
            <a:p>
              <a:pPr indent="0" lvl="0" marL="0" rtl="0" algn="ctr">
                <a:spcBef>
                  <a:spcPts val="0"/>
                </a:spcBef>
                <a:spcAft>
                  <a:spcPts val="0"/>
                </a:spcAft>
                <a:buNone/>
              </a:pPr>
              <a:r>
                <a:t/>
              </a:r>
              <a:endParaRPr b="1" sz="850">
                <a:solidFill>
                  <a:srgbClr val="15803D"/>
                </a:solidFill>
                <a:highlight>
                  <a:srgbClr val="F0FDF4"/>
                </a:highlight>
                <a:latin typeface="Inter"/>
                <a:ea typeface="Inter"/>
                <a:cs typeface="Inter"/>
                <a:sym typeface="Inter"/>
              </a:endParaRPr>
            </a:p>
            <a:p>
              <a:pPr indent="0" lvl="0" marL="0" rtl="0" algn="l">
                <a:spcBef>
                  <a:spcPts val="0"/>
                </a:spcBef>
                <a:spcAft>
                  <a:spcPts val="0"/>
                </a:spcAft>
                <a:buNone/>
              </a:pPr>
              <a:r>
                <a:t/>
              </a:r>
              <a:endParaRPr b="1" sz="800">
                <a:solidFill>
                  <a:srgbClr val="0F766E"/>
                </a:solidFill>
                <a:highlight>
                  <a:srgbClr val="F8FAFC"/>
                </a:highlight>
                <a:latin typeface="Inter"/>
                <a:ea typeface="Inter"/>
                <a:cs typeface="Inter"/>
                <a:sym typeface="Inter"/>
              </a:endParaRPr>
            </a:p>
            <a:p>
              <a:pPr indent="0" lvl="0" marL="0" rtl="0" algn="l">
                <a:spcBef>
                  <a:spcPts val="300"/>
                </a:spcBef>
                <a:spcAft>
                  <a:spcPts val="0"/>
                </a:spcAft>
                <a:buNone/>
              </a:pPr>
              <a:r>
                <a:rPr b="1" lang="en" sz="800">
                  <a:solidFill>
                    <a:srgbClr val="0F766E"/>
                  </a:solidFill>
                  <a:highlight>
                    <a:srgbClr val="F8FAFC"/>
                  </a:highlight>
                  <a:latin typeface="Inter"/>
                  <a:ea typeface="Inter"/>
                  <a:cs typeface="Inter"/>
                  <a:sym typeface="Inter"/>
                </a:rPr>
                <a:t>KEY OUTCOME</a:t>
              </a:r>
              <a:endParaRPr b="1" sz="800">
                <a:solidFill>
                  <a:srgbClr val="0F766E"/>
                </a:solidFill>
                <a:highlight>
                  <a:srgbClr val="F8FAFC"/>
                </a:highlight>
                <a:latin typeface="Inter"/>
                <a:ea typeface="Inter"/>
                <a:cs typeface="Inter"/>
                <a:sym typeface="Inter"/>
              </a:endParaRPr>
            </a:p>
            <a:p>
              <a:pPr indent="0" lvl="0" marL="0" rtl="0" algn="l">
                <a:spcBef>
                  <a:spcPts val="300"/>
                </a:spcBef>
                <a:spcAft>
                  <a:spcPts val="0"/>
                </a:spcAft>
                <a:buNone/>
              </a:pPr>
              <a:r>
                <a:rPr b="0" lang="en" sz="1000">
                  <a:solidFill>
                    <a:srgbClr val="1E293B"/>
                  </a:solidFill>
                  <a:highlight>
                    <a:srgbClr val="F8FAFC"/>
                  </a:highlight>
                  <a:latin typeface="Inter SemiBold"/>
                  <a:ea typeface="Inter SemiBold"/>
                  <a:cs typeface="Inter SemiBold"/>
                  <a:sym typeface="Inter SemiBold"/>
                </a:rPr>
                <a:t>Significant annual operating savings redirected to educational quality and staff retention.</a:t>
              </a:r>
              <a:endParaRPr b="0" sz="1000">
                <a:solidFill>
                  <a:srgbClr val="1E293B"/>
                </a:solidFill>
                <a:highlight>
                  <a:srgbClr val="F8FAFC"/>
                </a:highlight>
                <a:latin typeface="Inter SemiBold"/>
                <a:ea typeface="Inter SemiBold"/>
                <a:cs typeface="Inter SemiBold"/>
                <a:sym typeface="Inter SemiBold"/>
              </a:endParaRPr>
            </a:p>
            <a:p>
              <a:pPr indent="0" lvl="0" marL="0" rtl="0" algn="l">
                <a:spcBef>
                  <a:spcPts val="0"/>
                </a:spcBef>
                <a:spcAft>
                  <a:spcPts val="0"/>
                </a:spcAft>
                <a:buNone/>
              </a:pPr>
              <a:r>
                <a:t/>
              </a:r>
              <a:endParaRPr sz="1000">
                <a:solidFill>
                  <a:srgbClr val="1E293B"/>
                </a:solidFill>
                <a:highlight>
                  <a:srgbClr val="F8FAFC"/>
                </a:highlight>
                <a:latin typeface="Inter SemiBold"/>
                <a:ea typeface="Inter SemiBold"/>
                <a:cs typeface="Inter SemiBold"/>
                <a:sym typeface="Inter SemiBold"/>
              </a:endParaRPr>
            </a:p>
            <a:p>
              <a:pPr indent="0" lvl="0" marL="0" rtl="0" algn="l">
                <a:spcBef>
                  <a:spcPts val="0"/>
                </a:spcBef>
                <a:spcAft>
                  <a:spcPts val="0"/>
                </a:spcAft>
                <a:buNone/>
              </a:pPr>
              <a:r>
                <a:t/>
              </a:r>
              <a:endParaRPr sz="1000">
                <a:solidFill>
                  <a:srgbClr val="1E293B"/>
                </a:solidFill>
                <a:highlight>
                  <a:srgbClr val="F8FAFC"/>
                </a:highlight>
                <a:latin typeface="Inter SemiBold"/>
                <a:ea typeface="Inter SemiBold"/>
                <a:cs typeface="Inter SemiBold"/>
                <a:sym typeface="Inter SemiBold"/>
              </a:endParaRPr>
            </a:p>
            <a:p>
              <a:pPr indent="0" lvl="0" marL="0" rtl="0" algn="l">
                <a:spcBef>
                  <a:spcPts val="0"/>
                </a:spcBef>
                <a:spcAft>
                  <a:spcPts val="0"/>
                </a:spcAft>
                <a:buNone/>
              </a:pPr>
              <a:r>
                <a:t/>
              </a:r>
              <a:endParaRPr sz="1000">
                <a:solidFill>
                  <a:srgbClr val="1E293B"/>
                </a:solidFill>
                <a:highlight>
                  <a:srgbClr val="F8FAFC"/>
                </a:highlight>
                <a:latin typeface="Inter SemiBold"/>
                <a:ea typeface="Inter SemiBold"/>
                <a:cs typeface="Inter SemiBold"/>
                <a:sym typeface="Inter SemiBold"/>
              </a:endParaRPr>
            </a:p>
            <a:p>
              <a:pPr indent="0" lvl="0" marL="0" rtl="0" algn="l">
                <a:spcBef>
                  <a:spcPts val="0"/>
                </a:spcBef>
                <a:spcAft>
                  <a:spcPts val="0"/>
                </a:spcAft>
                <a:buNone/>
              </a:pPr>
              <a:r>
                <a:t/>
              </a:r>
              <a:endParaRPr sz="1000">
                <a:solidFill>
                  <a:srgbClr val="1E293B"/>
                </a:solidFill>
                <a:highlight>
                  <a:srgbClr val="F8FAFC"/>
                </a:highlight>
                <a:latin typeface="Inter SemiBold"/>
                <a:ea typeface="Inter SemiBold"/>
                <a:cs typeface="Inter SemiBold"/>
                <a:sym typeface="Inter SemiBold"/>
              </a:endParaRPr>
            </a:p>
            <a:p>
              <a:pPr indent="0" lvl="0" marL="0" rtl="0" algn="l">
                <a:spcBef>
                  <a:spcPts val="0"/>
                </a:spcBef>
                <a:spcAft>
                  <a:spcPts val="0"/>
                </a:spcAft>
                <a:buNone/>
              </a:pPr>
              <a:r>
                <a:rPr lang="en" sz="1000">
                  <a:solidFill>
                    <a:srgbClr val="1E293B"/>
                  </a:solidFill>
                  <a:highlight>
                    <a:srgbClr val="F8FAFC"/>
                  </a:highlight>
                  <a:latin typeface="Inter SemiBold"/>
                  <a:ea typeface="Inter SemiBold"/>
                  <a:cs typeface="Inter SemiBold"/>
                  <a:sym typeface="Inter SemiBold"/>
                </a:rPr>
                <a:t>*FTE = Full-Time Equivalent (i.e. one person)</a:t>
              </a:r>
              <a:endParaRPr sz="1000">
                <a:solidFill>
                  <a:srgbClr val="1E293B"/>
                </a:solidFill>
                <a:highlight>
                  <a:srgbClr val="F8FAFC"/>
                </a:highlight>
                <a:latin typeface="Inter SemiBold"/>
                <a:ea typeface="Inter SemiBold"/>
                <a:cs typeface="Inter SemiBold"/>
                <a:sym typeface="Inter SemiBold"/>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6" name="Shape 536"/>
        <p:cNvGrpSpPr/>
        <p:nvPr/>
      </p:nvGrpSpPr>
      <p:grpSpPr>
        <a:xfrm>
          <a:off x="0" y="0"/>
          <a:ext cx="0" cy="0"/>
          <a:chOff x="0" y="0"/>
          <a:chExt cx="0" cy="0"/>
        </a:xfrm>
      </p:grpSpPr>
      <p:sp>
        <p:nvSpPr>
          <p:cNvPr id="537" name="Google Shape;537;p48"/>
          <p:cNvSpPr txBox="1"/>
          <p:nvPr/>
        </p:nvSpPr>
        <p:spPr>
          <a:xfrm>
            <a:off x="457200" y="342900"/>
            <a:ext cx="8229600" cy="6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2200">
                <a:solidFill>
                  <a:srgbClr val="0F172A"/>
                </a:solidFill>
                <a:latin typeface="Inter ExtraBold"/>
                <a:ea typeface="Inter ExtraBold"/>
                <a:cs typeface="Inter ExtraBold"/>
                <a:sym typeface="Inter ExtraBold"/>
              </a:rPr>
              <a:t>Middle Schools Merger  </a:t>
            </a:r>
            <a:endParaRPr sz="2200">
              <a:solidFill>
                <a:srgbClr val="0F172A"/>
              </a:solidFill>
              <a:latin typeface="Inter ExtraBold"/>
              <a:ea typeface="Inter ExtraBold"/>
              <a:cs typeface="Inter ExtraBold"/>
              <a:sym typeface="Inter ExtraBold"/>
            </a:endParaRPr>
          </a:p>
          <a:p>
            <a:pPr indent="0" lvl="0" marL="0" rtl="0" algn="l">
              <a:spcBef>
                <a:spcPts val="300"/>
              </a:spcBef>
              <a:spcAft>
                <a:spcPts val="0"/>
              </a:spcAft>
              <a:buNone/>
            </a:pPr>
            <a:r>
              <a:t/>
            </a:r>
            <a:endParaRPr sz="1100">
              <a:solidFill>
                <a:srgbClr val="64748B"/>
              </a:solidFill>
              <a:latin typeface="Inter Medium"/>
              <a:ea typeface="Inter Medium"/>
              <a:cs typeface="Inter Medium"/>
              <a:sym typeface="Inter Medium"/>
            </a:endParaRPr>
          </a:p>
        </p:txBody>
      </p:sp>
      <p:grpSp>
        <p:nvGrpSpPr>
          <p:cNvPr id="538" name="Google Shape;538;p48"/>
          <p:cNvGrpSpPr/>
          <p:nvPr/>
        </p:nvGrpSpPr>
        <p:grpSpPr>
          <a:xfrm>
            <a:off x="457200" y="1095375"/>
            <a:ext cx="4038600" cy="3667200"/>
            <a:chOff x="0" y="0"/>
            <a:chExt cx="4038600" cy="3667200"/>
          </a:xfrm>
        </p:grpSpPr>
        <p:sp>
          <p:nvSpPr>
            <p:cNvPr id="539" name="Google Shape;539;p48"/>
            <p:cNvSpPr/>
            <p:nvPr/>
          </p:nvSpPr>
          <p:spPr>
            <a:xfrm>
              <a:off x="0" y="0"/>
              <a:ext cx="4038600" cy="3667200"/>
            </a:xfrm>
            <a:prstGeom prst="roundRect">
              <a:avLst>
                <a:gd fmla="val 3116"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0" name="Google Shape;540;p48"/>
            <p:cNvSpPr/>
            <p:nvPr/>
          </p:nvSpPr>
          <p:spPr>
            <a:xfrm>
              <a:off x="0" y="0"/>
              <a:ext cx="4038600" cy="57300"/>
            </a:xfrm>
            <a:prstGeom prst="roundRect">
              <a:avLst>
                <a:gd fmla="val 50000" name="adj"/>
              </a:avLst>
            </a:prstGeom>
            <a:solidFill>
              <a:srgbClr val="1D4E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solidFill>
                  <a:srgbClr val="1D4ED8"/>
                </a:solidFill>
              </a:endParaRPr>
            </a:p>
          </p:txBody>
        </p:sp>
        <p:sp>
          <p:nvSpPr>
            <p:cNvPr id="541" name="Google Shape;541;p48"/>
            <p:cNvSpPr txBox="1"/>
            <p:nvPr/>
          </p:nvSpPr>
          <p:spPr>
            <a:xfrm>
              <a:off x="190500" y="171450"/>
              <a:ext cx="3657600" cy="3333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1249">
                  <a:solidFill>
                    <a:srgbClr val="0F172A"/>
                  </a:solidFill>
                  <a:latin typeface="Inter"/>
                  <a:ea typeface="Inter"/>
                  <a:cs typeface="Inter"/>
                  <a:sym typeface="Inter"/>
                </a:rPr>
                <a:t>Middle Schools Merger </a:t>
              </a:r>
              <a:endParaRPr b="1" i="0" sz="1249">
                <a:solidFill>
                  <a:srgbClr val="0F172A"/>
                </a:solidFill>
                <a:latin typeface="Inter"/>
                <a:ea typeface="Inter"/>
                <a:cs typeface="Inter"/>
                <a:sym typeface="Inter"/>
              </a:endParaRPr>
            </a:p>
            <a:p>
              <a:pPr indent="0" lvl="0" marL="0" rtl="0" algn="l">
                <a:spcBef>
                  <a:spcPts val="100"/>
                </a:spcBef>
                <a:spcAft>
                  <a:spcPts val="0"/>
                </a:spcAft>
                <a:buClr>
                  <a:schemeClr val="dk1"/>
                </a:buClr>
                <a:buSzPts val="1100"/>
                <a:buFont typeface="Arial"/>
                <a:buNone/>
              </a:pPr>
              <a:r>
                <a:rPr lang="en" sz="859">
                  <a:solidFill>
                    <a:srgbClr val="2563EB"/>
                  </a:solidFill>
                  <a:latin typeface="Inter SemiBold"/>
                  <a:ea typeface="Inter SemiBold"/>
                  <a:cs typeface="Inter SemiBold"/>
                  <a:sym typeface="Inter SemiBold"/>
                </a:rPr>
                <a:t>7th &amp; 8th graders merge with HUMH 5th &amp; 6th remain at CB</a:t>
              </a:r>
              <a:endParaRPr b="1" i="0" sz="1279">
                <a:solidFill>
                  <a:srgbClr val="0F172A"/>
                </a:solidFill>
                <a:latin typeface="Inter"/>
                <a:ea typeface="Inter"/>
                <a:cs typeface="Inter"/>
                <a:sym typeface="Inter"/>
              </a:endParaRPr>
            </a:p>
            <a:p>
              <a:pPr indent="0" lvl="0" marL="0" rtl="0" algn="l">
                <a:spcBef>
                  <a:spcPts val="0"/>
                </a:spcBef>
                <a:spcAft>
                  <a:spcPts val="0"/>
                </a:spcAft>
                <a:buNone/>
              </a:pPr>
              <a:r>
                <a:rPr b="1" i="0" lang="en" sz="1249">
                  <a:solidFill>
                    <a:srgbClr val="0F172A"/>
                  </a:solidFill>
                  <a:latin typeface="Inter"/>
                  <a:ea typeface="Inter"/>
                  <a:cs typeface="Inter"/>
                  <a:sym typeface="Inter"/>
                </a:rPr>
                <a:t> </a:t>
              </a:r>
              <a:endParaRPr b="1" i="0" sz="1249">
                <a:solidFill>
                  <a:srgbClr val="0F172A"/>
                </a:solidFill>
                <a:latin typeface="Inter"/>
                <a:ea typeface="Inter"/>
                <a:cs typeface="Inter"/>
                <a:sym typeface="Inter"/>
              </a:endParaRPr>
            </a:p>
            <a:p>
              <a:pPr indent="0" lvl="0" marL="0" rtl="0" algn="l">
                <a:spcBef>
                  <a:spcPts val="0"/>
                </a:spcBef>
                <a:spcAft>
                  <a:spcPts val="0"/>
                </a:spcAft>
                <a:buNone/>
              </a:pPr>
              <a:r>
                <a:rPr b="1" i="0" lang="en" sz="694">
                  <a:solidFill>
                    <a:srgbClr val="64748B"/>
                  </a:solidFill>
                  <a:latin typeface="Inter"/>
                  <a:ea typeface="Inter"/>
                  <a:cs typeface="Inter"/>
                  <a:sym typeface="Inter"/>
                </a:rPr>
                <a:t>EVALUATION QUESTION</a:t>
              </a:r>
              <a:endParaRPr b="1" i="0" sz="694">
                <a:solidFill>
                  <a:srgbClr val="0F172A"/>
                </a:solidFill>
                <a:latin typeface="Inter"/>
                <a:ea typeface="Inter"/>
                <a:cs typeface="Inter"/>
                <a:sym typeface="Inter"/>
              </a:endParaRPr>
            </a:p>
            <a:p>
              <a:pPr indent="0" lvl="0" marL="0" rtl="0" algn="l">
                <a:spcBef>
                  <a:spcPts val="300"/>
                </a:spcBef>
                <a:spcAft>
                  <a:spcPts val="0"/>
                </a:spcAft>
                <a:buNone/>
              </a:pPr>
              <a:r>
                <a:rPr b="0" i="0" lang="en" sz="879">
                  <a:solidFill>
                    <a:srgbClr val="334155"/>
                  </a:solidFill>
                  <a:latin typeface="Inter"/>
                  <a:ea typeface="Inter"/>
                  <a:cs typeface="Inter"/>
                  <a:sym typeface="Inter"/>
                </a:rPr>
                <a:t>What are the cost efficiencies if we were to consolidate 2 middle schools into 1 middle school?</a:t>
              </a:r>
              <a:endParaRPr b="1" i="0" sz="879">
                <a:solidFill>
                  <a:srgbClr val="0F172A"/>
                </a:solidFill>
                <a:latin typeface="Inter"/>
                <a:ea typeface="Inter"/>
                <a:cs typeface="Inter"/>
                <a:sym typeface="Inter"/>
              </a:endParaRPr>
            </a:p>
            <a:p>
              <a:pPr indent="0" lvl="0" marL="0" rtl="0" algn="l">
                <a:spcBef>
                  <a:spcPts val="600"/>
                </a:spcBef>
                <a:spcAft>
                  <a:spcPts val="0"/>
                </a:spcAft>
                <a:buNone/>
              </a:pPr>
              <a:r>
                <a:rPr b="1" i="0" lang="en" sz="1249">
                  <a:solidFill>
                    <a:srgbClr val="0F172A"/>
                  </a:solidFill>
                  <a:latin typeface="Inter"/>
                  <a:ea typeface="Inter"/>
                  <a:cs typeface="Inter"/>
                  <a:sym typeface="Inter"/>
                </a:rPr>
                <a:t> </a:t>
              </a:r>
              <a:endParaRPr b="1" i="0" sz="1249">
                <a:solidFill>
                  <a:srgbClr val="0F172A"/>
                </a:solidFill>
                <a:latin typeface="Inter"/>
                <a:ea typeface="Inter"/>
                <a:cs typeface="Inter"/>
                <a:sym typeface="Inter"/>
              </a:endParaRPr>
            </a:p>
            <a:p>
              <a:pPr indent="0" lvl="0" marL="0" rtl="0" algn="l">
                <a:spcBef>
                  <a:spcPts val="0"/>
                </a:spcBef>
                <a:spcAft>
                  <a:spcPts val="0"/>
                </a:spcAft>
                <a:buNone/>
              </a:pPr>
              <a:r>
                <a:rPr b="1" i="0" lang="en" sz="786">
                  <a:solidFill>
                    <a:srgbClr val="2563EB"/>
                  </a:solidFill>
                  <a:latin typeface="Inter"/>
                  <a:ea typeface="Inter"/>
                  <a:cs typeface="Inter"/>
                  <a:sym typeface="Inter"/>
                </a:rPr>
                <a:t>KEY EDUCATIONAL OUTCOMES</a:t>
              </a:r>
              <a:endParaRPr b="1" i="0" sz="786">
                <a:solidFill>
                  <a:srgbClr val="0F172A"/>
                </a:solidFill>
                <a:latin typeface="Inter"/>
                <a:ea typeface="Inter"/>
                <a:cs typeface="Inter"/>
                <a:sym typeface="Inter"/>
              </a:endParaRPr>
            </a:p>
            <a:p>
              <a:pPr indent="-307896" lvl="0" marL="457200" rtl="0" algn="l">
                <a:spcBef>
                  <a:spcPts val="600"/>
                </a:spcBef>
                <a:spcAft>
                  <a:spcPts val="0"/>
                </a:spcAft>
                <a:buClr>
                  <a:srgbClr val="0F172A"/>
                </a:buClr>
                <a:buSzPts val="1249"/>
                <a:buFont typeface="Inter"/>
                <a:buChar char="●"/>
              </a:pPr>
              <a:r>
                <a:rPr b="0" i="0" lang="en" sz="833">
                  <a:solidFill>
                    <a:srgbClr val="1E293B"/>
                  </a:solidFill>
                  <a:latin typeface="Inter Medium"/>
                  <a:ea typeface="Inter Medium"/>
                  <a:cs typeface="Inter Medium"/>
                  <a:sym typeface="Inter Medium"/>
                </a:rPr>
                <a:t>Expanded academic electives, athletics, and extracurricular offerings</a:t>
              </a:r>
              <a:endParaRPr b="1" i="0" sz="1249">
                <a:solidFill>
                  <a:srgbClr val="0F172A"/>
                </a:solidFill>
                <a:latin typeface="Inter"/>
                <a:ea typeface="Inter"/>
                <a:cs typeface="Inter"/>
                <a:sym typeface="Inter"/>
              </a:endParaRPr>
            </a:p>
            <a:p>
              <a:pPr indent="-307896" lvl="0" marL="457200" rtl="0" algn="l">
                <a:spcBef>
                  <a:spcPts val="375"/>
                </a:spcBef>
                <a:spcAft>
                  <a:spcPts val="0"/>
                </a:spcAft>
                <a:buClr>
                  <a:srgbClr val="0F172A"/>
                </a:buClr>
                <a:buSzPts val="1249"/>
                <a:buFont typeface="Inter"/>
                <a:buChar char="●"/>
              </a:pPr>
              <a:r>
                <a:rPr b="0" i="0" lang="en" sz="833">
                  <a:solidFill>
                    <a:srgbClr val="1E293B"/>
                  </a:solidFill>
                  <a:latin typeface="Inter Medium"/>
                  <a:ea typeface="Inter Medium"/>
                  <a:cs typeface="Inter Medium"/>
                  <a:sym typeface="Inter Medium"/>
                </a:rPr>
                <a:t>Dedicated grade-level teacher teams and enhanced peer collaboration</a:t>
              </a:r>
              <a:endParaRPr b="1" i="0" sz="1249">
                <a:solidFill>
                  <a:srgbClr val="0F172A"/>
                </a:solidFill>
                <a:latin typeface="Inter"/>
                <a:ea typeface="Inter"/>
                <a:cs typeface="Inter"/>
                <a:sym typeface="Inter"/>
              </a:endParaRPr>
            </a:p>
            <a:p>
              <a:pPr indent="-307896" lvl="0" marL="457200" rtl="0" algn="l">
                <a:spcBef>
                  <a:spcPts val="375"/>
                </a:spcBef>
                <a:spcAft>
                  <a:spcPts val="0"/>
                </a:spcAft>
                <a:buClr>
                  <a:srgbClr val="0F172A"/>
                </a:buClr>
                <a:buSzPts val="1249"/>
                <a:buFont typeface="Inter"/>
                <a:buChar char="●"/>
              </a:pPr>
              <a:r>
                <a:rPr b="0" i="0" lang="en" sz="833">
                  <a:solidFill>
                    <a:srgbClr val="1E293B"/>
                  </a:solidFill>
                  <a:latin typeface="Inter Medium"/>
                  <a:ea typeface="Inter Medium"/>
                  <a:cs typeface="Inter Medium"/>
                  <a:sym typeface="Inter Medium"/>
                </a:rPr>
                <a:t>Consolidated special education, counseling, and intervention support</a:t>
              </a:r>
              <a:endParaRPr b="1" i="0" sz="1249">
                <a:solidFill>
                  <a:srgbClr val="0F172A"/>
                </a:solidFill>
                <a:latin typeface="Inter"/>
                <a:ea typeface="Inter"/>
                <a:cs typeface="Inter"/>
                <a:sym typeface="Inter"/>
              </a:endParaRPr>
            </a:p>
            <a:p>
              <a:pPr indent="-307896" lvl="0" marL="457200" rtl="0" algn="l">
                <a:spcBef>
                  <a:spcPts val="375"/>
                </a:spcBef>
                <a:spcAft>
                  <a:spcPts val="375"/>
                </a:spcAft>
                <a:buClr>
                  <a:srgbClr val="0F172A"/>
                </a:buClr>
                <a:buSzPts val="1249"/>
                <a:buFont typeface="Inter"/>
                <a:buChar char="●"/>
              </a:pPr>
              <a:r>
                <a:rPr b="0" i="0" lang="en" sz="833">
                  <a:solidFill>
                    <a:srgbClr val="1E293B"/>
                  </a:solidFill>
                  <a:latin typeface="Inter Medium"/>
                  <a:ea typeface="Inter Medium"/>
                  <a:cs typeface="Inter Medium"/>
                  <a:sym typeface="Inter Medium"/>
                </a:rPr>
                <a:t>More equitable access to advanced coursework and specialized facilities</a:t>
              </a:r>
              <a:endParaRPr b="1" i="0" sz="1249">
                <a:solidFill>
                  <a:srgbClr val="0F172A"/>
                </a:solidFill>
                <a:latin typeface="Inter"/>
                <a:ea typeface="Inter"/>
                <a:cs typeface="Inter"/>
                <a:sym typeface="Inter"/>
              </a:endParaRPr>
            </a:p>
          </p:txBody>
        </p:sp>
      </p:grpSp>
      <p:grpSp>
        <p:nvGrpSpPr>
          <p:cNvPr id="542" name="Google Shape;542;p48"/>
          <p:cNvGrpSpPr/>
          <p:nvPr/>
        </p:nvGrpSpPr>
        <p:grpSpPr>
          <a:xfrm>
            <a:off x="4724400" y="1095375"/>
            <a:ext cx="4038600" cy="3667200"/>
            <a:chOff x="0" y="0"/>
            <a:chExt cx="4038600" cy="3667200"/>
          </a:xfrm>
        </p:grpSpPr>
        <p:sp>
          <p:nvSpPr>
            <p:cNvPr id="543" name="Google Shape;543;p48"/>
            <p:cNvSpPr/>
            <p:nvPr/>
          </p:nvSpPr>
          <p:spPr>
            <a:xfrm>
              <a:off x="0" y="0"/>
              <a:ext cx="4038600" cy="3667200"/>
            </a:xfrm>
            <a:prstGeom prst="roundRect">
              <a:avLst>
                <a:gd fmla="val 3116"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4" name="Google Shape;544;p48"/>
            <p:cNvSpPr/>
            <p:nvPr/>
          </p:nvSpPr>
          <p:spPr>
            <a:xfrm>
              <a:off x="0" y="0"/>
              <a:ext cx="40386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5" name="Google Shape;545;p48"/>
            <p:cNvSpPr txBox="1"/>
            <p:nvPr/>
          </p:nvSpPr>
          <p:spPr>
            <a:xfrm>
              <a:off x="190500" y="190500"/>
              <a:ext cx="3657600" cy="3286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2563EB"/>
                  </a:solidFill>
                  <a:latin typeface="Inter"/>
                  <a:ea typeface="Inter"/>
                  <a:cs typeface="Inter"/>
                  <a:sym typeface="Inter"/>
                </a:rPr>
                <a:t>FINANCIAL IMPACT &amp; EFFICIENCIES</a:t>
              </a:r>
              <a:endParaRPr b="1" sz="850">
                <a:solidFill>
                  <a:srgbClr val="2563EB"/>
                </a:solidFill>
                <a:latin typeface="Inter"/>
                <a:ea typeface="Inter"/>
                <a:cs typeface="Inter"/>
                <a:sym typeface="Inter"/>
              </a:endParaRPr>
            </a:p>
            <a:p>
              <a:pPr indent="0" lvl="0" marL="0" rtl="0" algn="ctr">
                <a:spcBef>
                  <a:spcPts val="900"/>
                </a:spcBef>
                <a:spcAft>
                  <a:spcPts val="0"/>
                </a:spcAft>
                <a:buNone/>
              </a:pPr>
              <a:r>
                <a:rPr b="0" lang="en" sz="1100">
                  <a:solidFill>
                    <a:srgbClr val="334155"/>
                  </a:solidFill>
                  <a:latin typeface="Inter SemiBold"/>
                  <a:ea typeface="Inter SemiBold"/>
                  <a:cs typeface="Inter SemiBold"/>
                  <a:sym typeface="Inter SemiBold"/>
                </a:rPr>
                <a:t>We would achieve consolidation cost efficiencies of:</a:t>
              </a:r>
              <a:endParaRPr b="0" sz="1100">
                <a:solidFill>
                  <a:srgbClr val="334155"/>
                </a:solidFill>
                <a:latin typeface="Inter SemiBold"/>
                <a:ea typeface="Inter SemiBold"/>
                <a:cs typeface="Inter SemiBold"/>
                <a:sym typeface="Inter SemiBold"/>
              </a:endParaRPr>
            </a:p>
            <a:p>
              <a:pPr indent="0" lvl="0" marL="0" rtl="0" algn="ctr">
                <a:spcBef>
                  <a:spcPts val="750"/>
                </a:spcBef>
                <a:spcAft>
                  <a:spcPts val="0"/>
                </a:spcAft>
                <a:buNone/>
              </a:pPr>
              <a:r>
                <a:rPr b="0" lang="en" sz="3400">
                  <a:solidFill>
                    <a:srgbClr val="2563EB"/>
                  </a:solidFill>
                  <a:latin typeface="Inter ExtraBold"/>
                  <a:ea typeface="Inter ExtraBold"/>
                  <a:cs typeface="Inter ExtraBold"/>
                  <a:sym typeface="Inter ExtraBold"/>
                </a:rPr>
                <a:t>~$</a:t>
              </a:r>
              <a:r>
                <a:rPr lang="en" sz="3400">
                  <a:solidFill>
                    <a:srgbClr val="2563EB"/>
                  </a:solidFill>
                  <a:latin typeface="Inter ExtraBold"/>
                  <a:ea typeface="Inter ExtraBold"/>
                  <a:cs typeface="Inter ExtraBold"/>
                  <a:sym typeface="Inter ExtraBold"/>
                </a:rPr>
                <a:t>2</a:t>
              </a:r>
              <a:r>
                <a:rPr b="0" lang="en" sz="3400">
                  <a:solidFill>
                    <a:srgbClr val="2563EB"/>
                  </a:solidFill>
                  <a:latin typeface="Inter ExtraBold"/>
                  <a:ea typeface="Inter ExtraBold"/>
                  <a:cs typeface="Inter ExtraBold"/>
                  <a:sym typeface="Inter ExtraBold"/>
                </a:rPr>
                <a:t>,102,942</a:t>
              </a:r>
              <a:endParaRPr sz="3400">
                <a:solidFill>
                  <a:srgbClr val="2563EB"/>
                </a:solidFill>
                <a:latin typeface="Inter ExtraBold"/>
                <a:ea typeface="Inter ExtraBold"/>
                <a:cs typeface="Inter ExtraBold"/>
                <a:sym typeface="Inter ExtraBold"/>
              </a:endParaRPr>
            </a:p>
            <a:p>
              <a:pPr indent="0" lvl="0" marL="0" rtl="0" algn="ctr">
                <a:spcBef>
                  <a:spcPts val="0"/>
                </a:spcBef>
                <a:spcAft>
                  <a:spcPts val="0"/>
                </a:spcAft>
                <a:buNone/>
              </a:pPr>
              <a:r>
                <a:rPr b="1" lang="en" sz="850">
                  <a:solidFill>
                    <a:srgbClr val="2563EB"/>
                  </a:solidFill>
                  <a:highlight>
                    <a:srgbClr val="F0FDF4"/>
                  </a:highlight>
                  <a:latin typeface="Inter"/>
                  <a:ea typeface="Inter"/>
                  <a:cs typeface="Inter"/>
                  <a:sym typeface="Inter"/>
                </a:rPr>
                <a:t>ESTIMATED ANNUAL OPERATING SAVINGS</a:t>
              </a:r>
              <a:endParaRPr b="1" sz="850">
                <a:solidFill>
                  <a:srgbClr val="2563EB"/>
                </a:solidFill>
                <a:highlight>
                  <a:srgbClr val="F0FDF4"/>
                </a:highlight>
                <a:latin typeface="Inter"/>
                <a:ea typeface="Inter"/>
                <a:cs typeface="Inter"/>
                <a:sym typeface="Inter"/>
              </a:endParaRPr>
            </a:p>
            <a:p>
              <a:pPr indent="0" lvl="0" marL="0" rtl="0" algn="ctr">
                <a:spcBef>
                  <a:spcPts val="0"/>
                </a:spcBef>
                <a:spcAft>
                  <a:spcPts val="0"/>
                </a:spcAft>
                <a:buNone/>
              </a:pPr>
              <a:r>
                <a:rPr b="1" lang="en" sz="1550">
                  <a:solidFill>
                    <a:srgbClr val="2563EB"/>
                  </a:solidFill>
                  <a:highlight>
                    <a:srgbClr val="F0FDF4"/>
                  </a:highlight>
                  <a:latin typeface="Inter"/>
                  <a:ea typeface="Inter"/>
                  <a:cs typeface="Inter"/>
                  <a:sym typeface="Inter"/>
                </a:rPr>
                <a:t>-16.5 </a:t>
              </a:r>
              <a:r>
                <a:rPr b="1" lang="en" sz="1550">
                  <a:solidFill>
                    <a:srgbClr val="2563EB"/>
                  </a:solidFill>
                  <a:highlight>
                    <a:srgbClr val="F0FDF4"/>
                  </a:highlight>
                  <a:latin typeface="Inter"/>
                  <a:ea typeface="Inter"/>
                  <a:cs typeface="Inter"/>
                  <a:sym typeface="Inter"/>
                </a:rPr>
                <a:t>FTEs</a:t>
              </a:r>
              <a:endParaRPr b="1" sz="1550">
                <a:solidFill>
                  <a:srgbClr val="2563EB"/>
                </a:solidFill>
                <a:highlight>
                  <a:srgbClr val="F0FDF4"/>
                </a:highlight>
                <a:latin typeface="Inter"/>
                <a:ea typeface="Inter"/>
                <a:cs typeface="Inter"/>
                <a:sym typeface="Inter"/>
              </a:endParaRPr>
            </a:p>
            <a:p>
              <a:pPr indent="0" lvl="0" marL="0" rtl="0" algn="l">
                <a:spcBef>
                  <a:spcPts val="0"/>
                </a:spcBef>
                <a:spcAft>
                  <a:spcPts val="0"/>
                </a:spcAft>
                <a:buNone/>
              </a:pPr>
              <a:r>
                <a:t/>
              </a:r>
              <a:endParaRPr b="1" sz="800">
                <a:solidFill>
                  <a:srgbClr val="2563EB"/>
                </a:solidFill>
                <a:highlight>
                  <a:srgbClr val="F8FAFC"/>
                </a:highlight>
                <a:latin typeface="Inter"/>
                <a:ea typeface="Inter"/>
                <a:cs typeface="Inter"/>
                <a:sym typeface="Inter"/>
              </a:endParaRPr>
            </a:p>
            <a:p>
              <a:pPr indent="0" lvl="0" marL="0" rtl="0" algn="l">
                <a:spcBef>
                  <a:spcPts val="300"/>
                </a:spcBef>
                <a:spcAft>
                  <a:spcPts val="0"/>
                </a:spcAft>
                <a:buNone/>
              </a:pPr>
              <a:r>
                <a:t/>
              </a:r>
              <a:endParaRPr b="1" sz="800">
                <a:solidFill>
                  <a:srgbClr val="2563EB"/>
                </a:solidFill>
                <a:highlight>
                  <a:srgbClr val="F8FAFC"/>
                </a:highlight>
                <a:latin typeface="Inter"/>
                <a:ea typeface="Inter"/>
                <a:cs typeface="Inter"/>
                <a:sym typeface="Inter"/>
              </a:endParaRPr>
            </a:p>
            <a:p>
              <a:pPr indent="0" lvl="0" marL="0" rtl="0" algn="l">
                <a:spcBef>
                  <a:spcPts val="300"/>
                </a:spcBef>
                <a:spcAft>
                  <a:spcPts val="0"/>
                </a:spcAft>
                <a:buNone/>
              </a:pPr>
              <a:r>
                <a:rPr b="1" lang="en" sz="800">
                  <a:solidFill>
                    <a:srgbClr val="2563EB"/>
                  </a:solidFill>
                  <a:highlight>
                    <a:srgbClr val="F8FAFC"/>
                  </a:highlight>
                  <a:latin typeface="Inter"/>
                  <a:ea typeface="Inter"/>
                  <a:cs typeface="Inter"/>
                  <a:sym typeface="Inter"/>
                </a:rPr>
                <a:t>KEY OUTCOME</a:t>
              </a:r>
              <a:endParaRPr b="1" sz="800">
                <a:solidFill>
                  <a:srgbClr val="2563EB"/>
                </a:solidFill>
                <a:highlight>
                  <a:srgbClr val="F8FAFC"/>
                </a:highlight>
                <a:latin typeface="Inter"/>
                <a:ea typeface="Inter"/>
                <a:cs typeface="Inter"/>
                <a:sym typeface="Inter"/>
              </a:endParaRPr>
            </a:p>
            <a:p>
              <a:pPr indent="0" lvl="0" marL="0" rtl="0" algn="l">
                <a:spcBef>
                  <a:spcPts val="300"/>
                </a:spcBef>
                <a:spcAft>
                  <a:spcPts val="0"/>
                </a:spcAft>
                <a:buNone/>
              </a:pPr>
              <a:r>
                <a:rPr b="0" lang="en" sz="1000">
                  <a:solidFill>
                    <a:srgbClr val="1E293B"/>
                  </a:solidFill>
                  <a:highlight>
                    <a:srgbClr val="F8FAFC"/>
                  </a:highlight>
                  <a:latin typeface="Inter SemiBold"/>
                  <a:ea typeface="Inter SemiBold"/>
                  <a:cs typeface="Inter SemiBold"/>
                  <a:sym typeface="Inter SemiBold"/>
                </a:rPr>
                <a:t>Significant annual operating savings redirected to educational quality and staff retention.</a:t>
              </a:r>
              <a:endParaRPr b="0" sz="1000">
                <a:solidFill>
                  <a:srgbClr val="1E293B"/>
                </a:solidFill>
                <a:highlight>
                  <a:srgbClr val="F8FAFC"/>
                </a:highlight>
                <a:latin typeface="Inter SemiBold"/>
                <a:ea typeface="Inter SemiBold"/>
                <a:cs typeface="Inter SemiBold"/>
                <a:sym typeface="Inter SemiBold"/>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9"/>
          <p:cNvSpPr txBox="1"/>
          <p:nvPr/>
        </p:nvSpPr>
        <p:spPr>
          <a:xfrm>
            <a:off x="457200" y="304800"/>
            <a:ext cx="8229600" cy="6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200">
                <a:solidFill>
                  <a:srgbClr val="0F172A"/>
                </a:solidFill>
                <a:latin typeface="Inter ExtraBold"/>
                <a:ea typeface="Inter ExtraBold"/>
                <a:cs typeface="Inter ExtraBold"/>
                <a:sym typeface="Inter ExtraBold"/>
              </a:rPr>
              <a:t>Combined School Consolidation Impact</a:t>
            </a:r>
            <a:endParaRPr b="0" sz="2200">
              <a:solidFill>
                <a:srgbClr val="0F172A"/>
              </a:solidFill>
              <a:latin typeface="Inter ExtraBold"/>
              <a:ea typeface="Inter ExtraBold"/>
              <a:cs typeface="Inter ExtraBold"/>
              <a:sym typeface="Inter ExtraBold"/>
            </a:endParaRPr>
          </a:p>
          <a:p>
            <a:pPr indent="0" lvl="0" marL="0" rtl="0" algn="l">
              <a:spcBef>
                <a:spcPts val="300"/>
              </a:spcBef>
              <a:spcAft>
                <a:spcPts val="0"/>
              </a:spcAft>
              <a:buNone/>
            </a:pPr>
            <a:r>
              <a:rPr b="0" lang="en" sz="853">
                <a:solidFill>
                  <a:srgbClr val="64748B"/>
                </a:solidFill>
                <a:latin typeface="Inter Medium"/>
                <a:ea typeface="Inter Medium"/>
                <a:cs typeface="Inter Medium"/>
                <a:sym typeface="Inter Medium"/>
              </a:rPr>
              <a:t>Comprehensive educational outcomes and combined financial efficiencies from facility restructuring</a:t>
            </a:r>
            <a:endParaRPr b="0" sz="853">
              <a:solidFill>
                <a:srgbClr val="64748B"/>
              </a:solidFill>
              <a:latin typeface="Inter Medium"/>
              <a:ea typeface="Inter Medium"/>
              <a:cs typeface="Inter Medium"/>
              <a:sym typeface="Inter Medium"/>
            </a:endParaRPr>
          </a:p>
        </p:txBody>
      </p:sp>
      <p:grpSp>
        <p:nvGrpSpPr>
          <p:cNvPr id="551" name="Google Shape;551;p49"/>
          <p:cNvGrpSpPr/>
          <p:nvPr/>
        </p:nvGrpSpPr>
        <p:grpSpPr>
          <a:xfrm>
            <a:off x="457200" y="1047750"/>
            <a:ext cx="2590800" cy="3762300"/>
            <a:chOff x="0" y="0"/>
            <a:chExt cx="2590800" cy="3762300"/>
          </a:xfrm>
        </p:grpSpPr>
        <p:sp>
          <p:nvSpPr>
            <p:cNvPr id="552" name="Google Shape;552;p49"/>
            <p:cNvSpPr/>
            <p:nvPr/>
          </p:nvSpPr>
          <p:spPr>
            <a:xfrm>
              <a:off x="0" y="0"/>
              <a:ext cx="2590800" cy="3762300"/>
            </a:xfrm>
            <a:prstGeom prst="roundRect">
              <a:avLst>
                <a:gd fmla="val 4411"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3" name="Google Shape;553;p49"/>
            <p:cNvSpPr/>
            <p:nvPr/>
          </p:nvSpPr>
          <p:spPr>
            <a:xfrm>
              <a:off x="0" y="0"/>
              <a:ext cx="2590800" cy="573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4" name="Google Shape;554;p49"/>
            <p:cNvSpPr txBox="1"/>
            <p:nvPr/>
          </p:nvSpPr>
          <p:spPr>
            <a:xfrm>
              <a:off x="171450" y="171450"/>
              <a:ext cx="22479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F766E"/>
                  </a:solidFill>
                  <a:latin typeface="Inter"/>
                  <a:ea typeface="Inter"/>
                  <a:cs typeface="Inter"/>
                  <a:sym typeface="Inter"/>
                </a:rPr>
                <a:t>Elementary Consolidation</a:t>
              </a:r>
              <a:endParaRPr b="1" sz="1200">
                <a:solidFill>
                  <a:srgbClr val="0F766E"/>
                </a:solidFill>
                <a:latin typeface="Inter"/>
                <a:ea typeface="Inter"/>
                <a:cs typeface="Inter"/>
                <a:sym typeface="Inter"/>
              </a:endParaRPr>
            </a:p>
            <a:p>
              <a:pPr indent="0" lvl="0" marL="0" rtl="0" algn="l">
                <a:spcBef>
                  <a:spcPts val="100"/>
                </a:spcBef>
                <a:spcAft>
                  <a:spcPts val="0"/>
                </a:spcAft>
                <a:buNone/>
              </a:pPr>
              <a:r>
                <a:rPr b="0" lang="en" sz="659">
                  <a:solidFill>
                    <a:srgbClr val="0D9488"/>
                  </a:solidFill>
                  <a:latin typeface="Inter SemiBold"/>
                  <a:ea typeface="Inter SemiBold"/>
                  <a:cs typeface="Inter SemiBold"/>
                  <a:sym typeface="Inter SemiBold"/>
                </a:rPr>
                <a:t>4 Schools ➜ 2 Schools</a:t>
              </a:r>
              <a:endParaRPr b="0" sz="659">
                <a:solidFill>
                  <a:srgbClr val="0D9488"/>
                </a:solidFill>
                <a:latin typeface="Inter SemiBold"/>
                <a:ea typeface="Inter SemiBold"/>
                <a:cs typeface="Inter SemiBold"/>
                <a:sym typeface="Inter SemiBold"/>
              </a:endParaRPr>
            </a:p>
            <a:p>
              <a:pPr indent="0" lvl="0" marL="0" rtl="0" algn="l">
                <a:spcBef>
                  <a:spcPts val="1200"/>
                </a:spcBef>
                <a:spcAft>
                  <a:spcPts val="0"/>
                </a:spcAft>
                <a:buNone/>
              </a:pPr>
              <a:r>
                <a:rPr b="1" lang="en" sz="581">
                  <a:solidFill>
                    <a:srgbClr val="64748B"/>
                  </a:solidFill>
                  <a:latin typeface="Inter"/>
                  <a:ea typeface="Inter"/>
                  <a:cs typeface="Inter"/>
                  <a:sym typeface="Inter"/>
                </a:rPr>
                <a:t>EVALUATION QUESTION</a:t>
              </a:r>
              <a:endParaRPr b="1" sz="581">
                <a:solidFill>
                  <a:srgbClr val="64748B"/>
                </a:solidFill>
                <a:latin typeface="Inter"/>
                <a:ea typeface="Inter"/>
                <a:cs typeface="Inter"/>
                <a:sym typeface="Inter"/>
              </a:endParaRPr>
            </a:p>
            <a:p>
              <a:pPr indent="0" lvl="0" marL="0" rtl="0" algn="l">
                <a:spcBef>
                  <a:spcPts val="300"/>
                </a:spcBef>
                <a:spcAft>
                  <a:spcPts val="0"/>
                </a:spcAft>
                <a:buNone/>
              </a:pPr>
              <a:r>
                <a:rPr lang="en" sz="659">
                  <a:solidFill>
                    <a:srgbClr val="334155"/>
                  </a:solidFill>
                  <a:latin typeface="Inter"/>
                  <a:ea typeface="Inter"/>
                  <a:cs typeface="Inter"/>
                  <a:sym typeface="Inter"/>
                </a:rPr>
                <a:t>What efficiencies result from consolidating 4 valley elementary schools into 2?</a:t>
              </a:r>
              <a:endParaRPr sz="659">
                <a:solidFill>
                  <a:srgbClr val="334155"/>
                </a:solidFill>
                <a:latin typeface="Inter"/>
                <a:ea typeface="Inter"/>
                <a:cs typeface="Inter"/>
                <a:sym typeface="Inter"/>
              </a:endParaRPr>
            </a:p>
            <a:p>
              <a:pPr indent="0" lvl="0" marL="0" rtl="0" algn="l">
                <a:spcBef>
                  <a:spcPts val="1000"/>
                </a:spcBef>
                <a:spcAft>
                  <a:spcPts val="0"/>
                </a:spcAft>
                <a:buNone/>
              </a:pPr>
              <a:r>
                <a:rPr b="1" lang="en" sz="581">
                  <a:solidFill>
                    <a:srgbClr val="0F766E"/>
                  </a:solidFill>
                  <a:latin typeface="Inter"/>
                  <a:ea typeface="Inter"/>
                  <a:cs typeface="Inter"/>
                  <a:sym typeface="Inter"/>
                </a:rPr>
                <a:t>KEY EDUCATIONAL OUTCOMES</a:t>
              </a:r>
              <a:endParaRPr b="1" sz="581">
                <a:solidFill>
                  <a:srgbClr val="0F766E"/>
                </a:solidFill>
                <a:latin typeface="Inter"/>
                <a:ea typeface="Inter"/>
                <a:cs typeface="Inter"/>
                <a:sym typeface="Inter"/>
              </a:endParaRPr>
            </a:p>
            <a:p>
              <a:pPr indent="-270431" lvl="0" marL="457200" rtl="0" algn="l">
                <a:spcBef>
                  <a:spcPts val="400"/>
                </a:spcBef>
                <a:spcAft>
                  <a:spcPts val="0"/>
                </a:spcAft>
                <a:buClr>
                  <a:srgbClr val="1E293B"/>
                </a:buClr>
                <a:buSzPts val="659"/>
                <a:buFont typeface="Inter"/>
                <a:buChar char="●"/>
              </a:pPr>
              <a:r>
                <a:rPr b="0" lang="en" sz="659">
                  <a:solidFill>
                    <a:srgbClr val="1E293B"/>
                  </a:solidFill>
                  <a:latin typeface="Inter Medium"/>
                  <a:ea typeface="Inter Medium"/>
                  <a:cs typeface="Inter Medium"/>
                  <a:sym typeface="Inter Medium"/>
                </a:rPr>
                <a:t>More flexible staff &amp; scheduling across grades</a:t>
              </a:r>
              <a:endParaRPr b="0" sz="659">
                <a:solidFill>
                  <a:srgbClr val="1E293B"/>
                </a:solidFill>
                <a:latin typeface="Inter Medium"/>
                <a:ea typeface="Inter Medium"/>
                <a:cs typeface="Inter Medium"/>
                <a:sym typeface="Inter Medium"/>
              </a:endParaRPr>
            </a:p>
            <a:p>
              <a:pPr indent="-270431" lvl="0" marL="457200" rtl="0" algn="l">
                <a:spcBef>
                  <a:spcPts val="300"/>
                </a:spcBef>
                <a:spcAft>
                  <a:spcPts val="0"/>
                </a:spcAft>
                <a:buClr>
                  <a:srgbClr val="1E293B"/>
                </a:buClr>
                <a:buSzPts val="659"/>
                <a:buFont typeface="Inter"/>
                <a:buChar char="●"/>
              </a:pPr>
              <a:r>
                <a:rPr b="0" lang="en" sz="659">
                  <a:solidFill>
                    <a:srgbClr val="1E293B"/>
                  </a:solidFill>
                  <a:latin typeface="Inter Medium"/>
                  <a:ea typeface="Inter Medium"/>
                  <a:cs typeface="Inter Medium"/>
                  <a:sym typeface="Inter Medium"/>
                </a:rPr>
                <a:t>Greater peer interaction &amp; collaborative learning</a:t>
              </a:r>
              <a:endParaRPr b="0" sz="659">
                <a:solidFill>
                  <a:srgbClr val="1E293B"/>
                </a:solidFill>
                <a:latin typeface="Inter Medium"/>
                <a:ea typeface="Inter Medium"/>
                <a:cs typeface="Inter Medium"/>
                <a:sym typeface="Inter Medium"/>
              </a:endParaRPr>
            </a:p>
            <a:p>
              <a:pPr indent="-270431" lvl="0" marL="457200" rtl="0" algn="l">
                <a:spcBef>
                  <a:spcPts val="300"/>
                </a:spcBef>
                <a:spcAft>
                  <a:spcPts val="0"/>
                </a:spcAft>
                <a:buClr>
                  <a:srgbClr val="1E293B"/>
                </a:buClr>
                <a:buSzPts val="659"/>
                <a:buFont typeface="Inter"/>
                <a:buChar char="●"/>
              </a:pPr>
              <a:r>
                <a:rPr b="0" lang="en" sz="659">
                  <a:solidFill>
                    <a:srgbClr val="1E293B"/>
                  </a:solidFill>
                  <a:latin typeface="Inter Medium"/>
                  <a:ea typeface="Inter Medium"/>
                  <a:cs typeface="Inter Medium"/>
                  <a:sym typeface="Inter Medium"/>
                </a:rPr>
                <a:t>Consistent access to specialized instruction</a:t>
              </a:r>
              <a:endParaRPr b="0" sz="659">
                <a:solidFill>
                  <a:srgbClr val="1E293B"/>
                </a:solidFill>
                <a:latin typeface="Inter Medium"/>
                <a:ea typeface="Inter Medium"/>
                <a:cs typeface="Inter Medium"/>
                <a:sym typeface="Inter Medium"/>
              </a:endParaRPr>
            </a:p>
            <a:p>
              <a:pPr indent="-270431" lvl="0" marL="457200" rtl="0" algn="l">
                <a:spcBef>
                  <a:spcPts val="300"/>
                </a:spcBef>
                <a:spcAft>
                  <a:spcPts val="0"/>
                </a:spcAft>
                <a:buClr>
                  <a:srgbClr val="1E293B"/>
                </a:buClr>
                <a:buSzPts val="659"/>
                <a:buFont typeface="Inter"/>
                <a:buChar char="●"/>
              </a:pPr>
              <a:r>
                <a:rPr b="0" lang="en" sz="659">
                  <a:solidFill>
                    <a:srgbClr val="1E293B"/>
                  </a:solidFill>
                  <a:latin typeface="Inter Medium"/>
                  <a:ea typeface="Inter Medium"/>
                  <a:cs typeface="Inter Medium"/>
                  <a:sym typeface="Inter Medium"/>
                </a:rPr>
                <a:t>Elimination of shared staff travel time</a:t>
              </a:r>
              <a:endParaRPr b="0" sz="659">
                <a:solidFill>
                  <a:srgbClr val="1E293B"/>
                </a:solidFill>
                <a:latin typeface="Inter Medium"/>
                <a:ea typeface="Inter Medium"/>
                <a:cs typeface="Inter Medium"/>
                <a:sym typeface="Inter Medium"/>
              </a:endParaRPr>
            </a:p>
            <a:p>
              <a:pPr indent="-270431" lvl="0" marL="457200" rtl="0" algn="l">
                <a:spcBef>
                  <a:spcPts val="300"/>
                </a:spcBef>
                <a:spcAft>
                  <a:spcPts val="0"/>
                </a:spcAft>
                <a:buClr>
                  <a:srgbClr val="1E293B"/>
                </a:buClr>
                <a:buSzPts val="659"/>
                <a:buFont typeface="Inter"/>
                <a:buChar char="●"/>
              </a:pPr>
              <a:r>
                <a:rPr b="0" lang="en" sz="659">
                  <a:solidFill>
                    <a:srgbClr val="1E293B"/>
                  </a:solidFill>
                  <a:latin typeface="Inter Medium"/>
                  <a:ea typeface="Inter Medium"/>
                  <a:cs typeface="Inter Medium"/>
                  <a:sym typeface="Inter Medium"/>
                </a:rPr>
                <a:t>Increased nursing staff &amp; support</a:t>
              </a:r>
              <a:endParaRPr b="0" sz="659">
                <a:solidFill>
                  <a:srgbClr val="1E293B"/>
                </a:solidFill>
                <a:latin typeface="Inter Medium"/>
                <a:ea typeface="Inter Medium"/>
                <a:cs typeface="Inter Medium"/>
                <a:sym typeface="Inter Medium"/>
              </a:endParaRPr>
            </a:p>
            <a:p>
              <a:pPr indent="0" lvl="0" marL="0" rtl="0" algn="l">
                <a:spcBef>
                  <a:spcPts val="1200"/>
                </a:spcBef>
                <a:spcAft>
                  <a:spcPts val="0"/>
                </a:spcAft>
                <a:buNone/>
              </a:pPr>
              <a:r>
                <a:rPr b="1" lang="en" sz="581">
                  <a:solidFill>
                    <a:srgbClr val="0F766E"/>
                  </a:solidFill>
                  <a:latin typeface="Inter"/>
                  <a:ea typeface="Inter"/>
                  <a:cs typeface="Inter"/>
                  <a:sym typeface="Inter"/>
                </a:rPr>
                <a:t>SUBTOTAL SAVINGS</a:t>
              </a:r>
              <a:endParaRPr b="1" sz="581">
                <a:solidFill>
                  <a:srgbClr val="0F766E"/>
                </a:solidFill>
                <a:latin typeface="Inter"/>
                <a:ea typeface="Inter"/>
                <a:cs typeface="Inter"/>
                <a:sym typeface="Inter"/>
              </a:endParaRPr>
            </a:p>
            <a:p>
              <a:pPr indent="0" lvl="0" marL="0" rtl="0" algn="l">
                <a:spcBef>
                  <a:spcPts val="200"/>
                </a:spcBef>
                <a:spcAft>
                  <a:spcPts val="0"/>
                </a:spcAft>
                <a:buNone/>
              </a:pPr>
              <a:r>
                <a:rPr b="0" lang="en" sz="1800">
                  <a:solidFill>
                    <a:srgbClr val="0D9488"/>
                  </a:solidFill>
                  <a:latin typeface="Inter ExtraBold"/>
                  <a:ea typeface="Inter ExtraBold"/>
                  <a:cs typeface="Inter ExtraBold"/>
                  <a:sym typeface="Inter ExtraBold"/>
                </a:rPr>
                <a:t>~$</a:t>
              </a:r>
              <a:r>
                <a:rPr lang="en" sz="1800">
                  <a:solidFill>
                    <a:srgbClr val="0D9488"/>
                  </a:solidFill>
                  <a:latin typeface="Inter ExtraBold"/>
                  <a:ea typeface="Inter ExtraBold"/>
                  <a:cs typeface="Inter ExtraBold"/>
                  <a:sym typeface="Inter ExtraBold"/>
                </a:rPr>
                <a:t>1,826,527</a:t>
              </a:r>
              <a:endParaRPr sz="1800">
                <a:solidFill>
                  <a:srgbClr val="0D9488"/>
                </a:solidFill>
                <a:latin typeface="Inter ExtraBold"/>
                <a:ea typeface="Inter ExtraBold"/>
                <a:cs typeface="Inter ExtraBold"/>
                <a:sym typeface="Inter ExtraBold"/>
              </a:endParaRPr>
            </a:p>
            <a:p>
              <a:pPr indent="0" lvl="0" marL="0" rtl="0" algn="l">
                <a:spcBef>
                  <a:spcPts val="0"/>
                </a:spcBef>
                <a:spcAft>
                  <a:spcPts val="0"/>
                </a:spcAft>
                <a:buNone/>
              </a:pPr>
              <a:r>
                <a:rPr lang="en" sz="1800">
                  <a:solidFill>
                    <a:srgbClr val="0D9488"/>
                  </a:solidFill>
                  <a:latin typeface="Inter ExtraBold"/>
                  <a:ea typeface="Inter ExtraBold"/>
                  <a:cs typeface="Inter ExtraBold"/>
                  <a:sym typeface="Inter ExtraBold"/>
                </a:rPr>
                <a:t>-16 </a:t>
              </a:r>
              <a:r>
                <a:rPr lang="en" sz="1800">
                  <a:solidFill>
                    <a:srgbClr val="0D9488"/>
                  </a:solidFill>
                  <a:latin typeface="Inter ExtraBold"/>
                  <a:ea typeface="Inter ExtraBold"/>
                  <a:cs typeface="Inter ExtraBold"/>
                  <a:sym typeface="Inter ExtraBold"/>
                </a:rPr>
                <a:t>FTEs</a:t>
              </a:r>
              <a:r>
                <a:rPr lang="en" sz="1800">
                  <a:solidFill>
                    <a:srgbClr val="0D9488"/>
                  </a:solidFill>
                  <a:latin typeface="Inter ExtraBold"/>
                  <a:ea typeface="Inter ExtraBold"/>
                  <a:cs typeface="Inter ExtraBold"/>
                  <a:sym typeface="Inter ExtraBold"/>
                </a:rPr>
                <a:t> </a:t>
              </a:r>
              <a:endParaRPr sz="1800">
                <a:solidFill>
                  <a:srgbClr val="0D9488"/>
                </a:solidFill>
                <a:latin typeface="Inter ExtraBold"/>
                <a:ea typeface="Inter ExtraBold"/>
                <a:cs typeface="Inter ExtraBold"/>
                <a:sym typeface="Inter ExtraBold"/>
              </a:endParaRPr>
            </a:p>
            <a:p>
              <a:pPr indent="0" lvl="0" marL="0" rtl="0" algn="l">
                <a:spcBef>
                  <a:spcPts val="0"/>
                </a:spcBef>
                <a:spcAft>
                  <a:spcPts val="0"/>
                </a:spcAft>
                <a:buNone/>
              </a:pPr>
              <a:r>
                <a:t/>
              </a:r>
              <a:endParaRPr sz="1800">
                <a:solidFill>
                  <a:srgbClr val="0D9488"/>
                </a:solidFill>
                <a:latin typeface="Inter ExtraBold"/>
                <a:ea typeface="Inter ExtraBold"/>
                <a:cs typeface="Inter ExtraBold"/>
                <a:sym typeface="Inter ExtraBold"/>
              </a:endParaRPr>
            </a:p>
          </p:txBody>
        </p:sp>
      </p:grpSp>
      <p:grpSp>
        <p:nvGrpSpPr>
          <p:cNvPr id="555" name="Google Shape;555;p49"/>
          <p:cNvGrpSpPr/>
          <p:nvPr/>
        </p:nvGrpSpPr>
        <p:grpSpPr>
          <a:xfrm>
            <a:off x="3276600" y="1047750"/>
            <a:ext cx="2590800" cy="3762300"/>
            <a:chOff x="0" y="0"/>
            <a:chExt cx="2590800" cy="3762300"/>
          </a:xfrm>
        </p:grpSpPr>
        <p:sp>
          <p:nvSpPr>
            <p:cNvPr id="556" name="Google Shape;556;p49"/>
            <p:cNvSpPr/>
            <p:nvPr/>
          </p:nvSpPr>
          <p:spPr>
            <a:xfrm>
              <a:off x="0" y="0"/>
              <a:ext cx="2590800" cy="3762300"/>
            </a:xfrm>
            <a:prstGeom prst="roundRect">
              <a:avLst>
                <a:gd fmla="val 4411"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7" name="Google Shape;557;p49"/>
            <p:cNvSpPr/>
            <p:nvPr/>
          </p:nvSpPr>
          <p:spPr>
            <a:xfrm>
              <a:off x="0" y="0"/>
              <a:ext cx="25908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8" name="Google Shape;558;p49"/>
            <p:cNvSpPr txBox="1"/>
            <p:nvPr/>
          </p:nvSpPr>
          <p:spPr>
            <a:xfrm>
              <a:off x="171450" y="171450"/>
              <a:ext cx="22479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1D4ED8"/>
                  </a:solidFill>
                  <a:latin typeface="Inter"/>
                  <a:ea typeface="Inter"/>
                  <a:cs typeface="Inter"/>
                  <a:sym typeface="Inter"/>
                </a:rPr>
                <a:t>Middle Schools Merger </a:t>
              </a:r>
              <a:endParaRPr b="1" sz="1200">
                <a:solidFill>
                  <a:srgbClr val="1D4ED8"/>
                </a:solidFill>
                <a:latin typeface="Inter"/>
                <a:ea typeface="Inter"/>
                <a:cs typeface="Inter"/>
                <a:sym typeface="Inter"/>
              </a:endParaRPr>
            </a:p>
            <a:p>
              <a:pPr indent="0" lvl="0" marL="0" rtl="0" algn="l">
                <a:spcBef>
                  <a:spcPts val="100"/>
                </a:spcBef>
                <a:spcAft>
                  <a:spcPts val="0"/>
                </a:spcAft>
                <a:buNone/>
              </a:pPr>
              <a:r>
                <a:rPr lang="en" sz="559">
                  <a:solidFill>
                    <a:srgbClr val="2563EB"/>
                  </a:solidFill>
                  <a:latin typeface="Inter SemiBold"/>
                  <a:ea typeface="Inter SemiBold"/>
                  <a:cs typeface="Inter SemiBold"/>
                  <a:sym typeface="Inter SemiBold"/>
                </a:rPr>
                <a:t>7th &amp; 8th graders merge with HUMH 5th &amp; 6th remain at CB</a:t>
              </a:r>
              <a:endParaRPr b="0" sz="559">
                <a:solidFill>
                  <a:srgbClr val="2563EB"/>
                </a:solidFill>
                <a:latin typeface="Inter SemiBold"/>
                <a:ea typeface="Inter SemiBold"/>
                <a:cs typeface="Inter SemiBold"/>
                <a:sym typeface="Inter SemiBold"/>
              </a:endParaRPr>
            </a:p>
            <a:p>
              <a:pPr indent="0" lvl="0" marL="0" rtl="0" algn="l">
                <a:spcBef>
                  <a:spcPts val="1200"/>
                </a:spcBef>
                <a:spcAft>
                  <a:spcPts val="0"/>
                </a:spcAft>
                <a:buNone/>
              </a:pPr>
              <a:r>
                <a:rPr b="1" lang="en" sz="581">
                  <a:solidFill>
                    <a:srgbClr val="64748B"/>
                  </a:solidFill>
                  <a:latin typeface="Inter"/>
                  <a:ea typeface="Inter"/>
                  <a:cs typeface="Inter"/>
                  <a:sym typeface="Inter"/>
                </a:rPr>
                <a:t>EVALUATION QUESTION</a:t>
              </a:r>
              <a:endParaRPr b="1" sz="581">
                <a:solidFill>
                  <a:srgbClr val="64748B"/>
                </a:solidFill>
                <a:latin typeface="Inter"/>
                <a:ea typeface="Inter"/>
                <a:cs typeface="Inter"/>
                <a:sym typeface="Inter"/>
              </a:endParaRPr>
            </a:p>
            <a:p>
              <a:pPr indent="0" lvl="0" marL="0" rtl="0" algn="l">
                <a:spcBef>
                  <a:spcPts val="300"/>
                </a:spcBef>
                <a:spcAft>
                  <a:spcPts val="0"/>
                </a:spcAft>
                <a:buNone/>
              </a:pPr>
              <a:r>
                <a:rPr lang="en" sz="659">
                  <a:solidFill>
                    <a:srgbClr val="334155"/>
                  </a:solidFill>
                  <a:latin typeface="Inter"/>
                  <a:ea typeface="Inter"/>
                  <a:cs typeface="Inter"/>
                  <a:sym typeface="Inter"/>
                </a:rPr>
                <a:t>What cost efficiencies exist by consolidating 2 middle schools into 1?</a:t>
              </a:r>
              <a:endParaRPr sz="659">
                <a:solidFill>
                  <a:srgbClr val="334155"/>
                </a:solidFill>
                <a:latin typeface="Inter"/>
                <a:ea typeface="Inter"/>
                <a:cs typeface="Inter"/>
                <a:sym typeface="Inter"/>
              </a:endParaRPr>
            </a:p>
            <a:p>
              <a:pPr indent="0" lvl="0" marL="0" rtl="0" algn="l">
                <a:spcBef>
                  <a:spcPts val="1000"/>
                </a:spcBef>
                <a:spcAft>
                  <a:spcPts val="0"/>
                </a:spcAft>
                <a:buNone/>
              </a:pPr>
              <a:r>
                <a:rPr b="1" lang="en" sz="581">
                  <a:solidFill>
                    <a:srgbClr val="2563EB"/>
                  </a:solidFill>
                  <a:latin typeface="Inter"/>
                  <a:ea typeface="Inter"/>
                  <a:cs typeface="Inter"/>
                  <a:sym typeface="Inter"/>
                </a:rPr>
                <a:t>KEY EDUCATIONAL OUTCOMES</a:t>
              </a:r>
              <a:endParaRPr b="1" sz="581">
                <a:solidFill>
                  <a:srgbClr val="2563EB"/>
                </a:solidFill>
                <a:latin typeface="Inter"/>
                <a:ea typeface="Inter"/>
                <a:cs typeface="Inter"/>
                <a:sym typeface="Inter"/>
              </a:endParaRPr>
            </a:p>
            <a:p>
              <a:pPr indent="-270431" lvl="0" marL="457200" rtl="0" algn="l">
                <a:spcBef>
                  <a:spcPts val="400"/>
                </a:spcBef>
                <a:spcAft>
                  <a:spcPts val="0"/>
                </a:spcAft>
                <a:buClr>
                  <a:srgbClr val="1E293B"/>
                </a:buClr>
                <a:buSzPts val="659"/>
                <a:buFont typeface="Inter"/>
                <a:buChar char="●"/>
              </a:pPr>
              <a:r>
                <a:rPr b="0" lang="en" sz="659">
                  <a:solidFill>
                    <a:srgbClr val="1E293B"/>
                  </a:solidFill>
                  <a:latin typeface="Inter Medium"/>
                  <a:ea typeface="Inter Medium"/>
                  <a:cs typeface="Inter Medium"/>
                  <a:sym typeface="Inter Medium"/>
                </a:rPr>
                <a:t>Expanded electives, athletics &amp; extracurriculars</a:t>
              </a:r>
              <a:endParaRPr b="0" sz="659">
                <a:solidFill>
                  <a:srgbClr val="1E293B"/>
                </a:solidFill>
                <a:latin typeface="Inter Medium"/>
                <a:ea typeface="Inter Medium"/>
                <a:cs typeface="Inter Medium"/>
                <a:sym typeface="Inter Medium"/>
              </a:endParaRPr>
            </a:p>
            <a:p>
              <a:pPr indent="-270431" lvl="0" marL="457200" rtl="0" algn="l">
                <a:spcBef>
                  <a:spcPts val="300"/>
                </a:spcBef>
                <a:spcAft>
                  <a:spcPts val="0"/>
                </a:spcAft>
                <a:buClr>
                  <a:srgbClr val="1E293B"/>
                </a:buClr>
                <a:buSzPts val="659"/>
                <a:buFont typeface="Inter"/>
                <a:buChar char="●"/>
              </a:pPr>
              <a:r>
                <a:rPr b="0" lang="en" sz="659">
                  <a:solidFill>
                    <a:srgbClr val="1E293B"/>
                  </a:solidFill>
                  <a:latin typeface="Inter Medium"/>
                  <a:ea typeface="Inter Medium"/>
                  <a:cs typeface="Inter Medium"/>
                  <a:sym typeface="Inter Medium"/>
                </a:rPr>
                <a:t>Dedicated grade-level teacher teams</a:t>
              </a:r>
              <a:endParaRPr b="0" sz="659">
                <a:solidFill>
                  <a:srgbClr val="1E293B"/>
                </a:solidFill>
                <a:latin typeface="Inter Medium"/>
                <a:ea typeface="Inter Medium"/>
                <a:cs typeface="Inter Medium"/>
                <a:sym typeface="Inter Medium"/>
              </a:endParaRPr>
            </a:p>
            <a:p>
              <a:pPr indent="-270431" lvl="0" marL="457200" rtl="0" algn="l">
                <a:spcBef>
                  <a:spcPts val="300"/>
                </a:spcBef>
                <a:spcAft>
                  <a:spcPts val="0"/>
                </a:spcAft>
                <a:buClr>
                  <a:srgbClr val="1E293B"/>
                </a:buClr>
                <a:buSzPts val="659"/>
                <a:buFont typeface="Inter"/>
                <a:buChar char="●"/>
              </a:pPr>
              <a:r>
                <a:rPr b="0" lang="en" sz="659">
                  <a:solidFill>
                    <a:srgbClr val="1E293B"/>
                  </a:solidFill>
                  <a:latin typeface="Inter Medium"/>
                  <a:ea typeface="Inter Medium"/>
                  <a:cs typeface="Inter Medium"/>
                  <a:sym typeface="Inter Medium"/>
                </a:rPr>
                <a:t>Consolidated special education &amp; counseling</a:t>
              </a:r>
              <a:endParaRPr b="0" sz="659">
                <a:solidFill>
                  <a:srgbClr val="1E293B"/>
                </a:solidFill>
                <a:latin typeface="Inter Medium"/>
                <a:ea typeface="Inter Medium"/>
                <a:cs typeface="Inter Medium"/>
                <a:sym typeface="Inter Medium"/>
              </a:endParaRPr>
            </a:p>
            <a:p>
              <a:pPr indent="-270431" lvl="0" marL="457200" rtl="0" algn="l">
                <a:spcBef>
                  <a:spcPts val="300"/>
                </a:spcBef>
                <a:spcAft>
                  <a:spcPts val="0"/>
                </a:spcAft>
                <a:buClr>
                  <a:srgbClr val="1E293B"/>
                </a:buClr>
                <a:buSzPts val="659"/>
                <a:buFont typeface="Inter"/>
                <a:buChar char="●"/>
              </a:pPr>
              <a:r>
                <a:rPr b="0" lang="en" sz="659">
                  <a:solidFill>
                    <a:srgbClr val="1E293B"/>
                  </a:solidFill>
                  <a:latin typeface="Inter Medium"/>
                  <a:ea typeface="Inter Medium"/>
                  <a:cs typeface="Inter Medium"/>
                  <a:sym typeface="Inter Medium"/>
                </a:rPr>
                <a:t>Equitable access to advanced coursework</a:t>
              </a:r>
              <a:endParaRPr b="0" sz="659">
                <a:solidFill>
                  <a:srgbClr val="1E293B"/>
                </a:solidFill>
                <a:latin typeface="Inter Medium"/>
                <a:ea typeface="Inter Medium"/>
                <a:cs typeface="Inter Medium"/>
                <a:sym typeface="Inter Medium"/>
              </a:endParaRPr>
            </a:p>
            <a:p>
              <a:pPr indent="0" lvl="0" marL="0" rtl="0" algn="l">
                <a:spcBef>
                  <a:spcPts val="2200"/>
                </a:spcBef>
                <a:spcAft>
                  <a:spcPts val="0"/>
                </a:spcAft>
                <a:buNone/>
              </a:pPr>
              <a:r>
                <a:rPr b="1" lang="en" sz="581">
                  <a:solidFill>
                    <a:srgbClr val="2563EB"/>
                  </a:solidFill>
                  <a:latin typeface="Inter"/>
                  <a:ea typeface="Inter"/>
                  <a:cs typeface="Inter"/>
                  <a:sym typeface="Inter"/>
                </a:rPr>
                <a:t>SUBTOTAL SAVINGS</a:t>
              </a:r>
              <a:endParaRPr b="1" sz="581">
                <a:solidFill>
                  <a:srgbClr val="2563EB"/>
                </a:solidFill>
                <a:latin typeface="Inter"/>
                <a:ea typeface="Inter"/>
                <a:cs typeface="Inter"/>
                <a:sym typeface="Inter"/>
              </a:endParaRPr>
            </a:p>
            <a:p>
              <a:pPr indent="0" lvl="0" marL="0" rtl="0" algn="l">
                <a:spcBef>
                  <a:spcPts val="200"/>
                </a:spcBef>
                <a:spcAft>
                  <a:spcPts val="0"/>
                </a:spcAft>
                <a:buNone/>
              </a:pPr>
              <a:r>
                <a:rPr b="0" lang="en" sz="1800">
                  <a:solidFill>
                    <a:srgbClr val="2563EB"/>
                  </a:solidFill>
                  <a:latin typeface="Inter ExtraBold"/>
                  <a:ea typeface="Inter ExtraBold"/>
                  <a:cs typeface="Inter ExtraBold"/>
                  <a:sym typeface="Inter ExtraBold"/>
                </a:rPr>
                <a:t>~$</a:t>
              </a:r>
              <a:r>
                <a:rPr lang="en" sz="1800">
                  <a:solidFill>
                    <a:srgbClr val="2563EB"/>
                  </a:solidFill>
                  <a:latin typeface="Inter ExtraBold"/>
                  <a:ea typeface="Inter ExtraBold"/>
                  <a:cs typeface="Inter ExtraBold"/>
                  <a:sym typeface="Inter ExtraBold"/>
                </a:rPr>
                <a:t>2,102,942</a:t>
              </a:r>
              <a:endParaRPr sz="1800">
                <a:solidFill>
                  <a:srgbClr val="2563EB"/>
                </a:solidFill>
                <a:latin typeface="Inter ExtraBold"/>
                <a:ea typeface="Inter ExtraBold"/>
                <a:cs typeface="Inter ExtraBold"/>
                <a:sym typeface="Inter ExtraBold"/>
              </a:endParaRPr>
            </a:p>
            <a:p>
              <a:pPr indent="0" lvl="0" marL="0" rtl="0" algn="l">
                <a:spcBef>
                  <a:spcPts val="0"/>
                </a:spcBef>
                <a:spcAft>
                  <a:spcPts val="0"/>
                </a:spcAft>
                <a:buNone/>
              </a:pPr>
              <a:r>
                <a:rPr lang="en" sz="1800">
                  <a:solidFill>
                    <a:srgbClr val="2563EB"/>
                  </a:solidFill>
                  <a:latin typeface="Inter ExtraBold"/>
                  <a:ea typeface="Inter ExtraBold"/>
                  <a:cs typeface="Inter ExtraBold"/>
                  <a:sym typeface="Inter ExtraBold"/>
                </a:rPr>
                <a:t>-16.5 </a:t>
              </a:r>
              <a:r>
                <a:rPr lang="en" sz="1800">
                  <a:solidFill>
                    <a:srgbClr val="2563EB"/>
                  </a:solidFill>
                  <a:latin typeface="Inter ExtraBold"/>
                  <a:ea typeface="Inter ExtraBold"/>
                  <a:cs typeface="Inter ExtraBold"/>
                  <a:sym typeface="Inter ExtraBold"/>
                </a:rPr>
                <a:t>FTEs</a:t>
              </a:r>
              <a:endParaRPr sz="1800">
                <a:solidFill>
                  <a:srgbClr val="2563EB"/>
                </a:solidFill>
                <a:latin typeface="Inter ExtraBold"/>
                <a:ea typeface="Inter ExtraBold"/>
                <a:cs typeface="Inter ExtraBold"/>
                <a:sym typeface="Inter ExtraBold"/>
              </a:endParaRPr>
            </a:p>
          </p:txBody>
        </p:sp>
      </p:grpSp>
      <p:grpSp>
        <p:nvGrpSpPr>
          <p:cNvPr id="559" name="Google Shape;559;p49"/>
          <p:cNvGrpSpPr/>
          <p:nvPr/>
        </p:nvGrpSpPr>
        <p:grpSpPr>
          <a:xfrm>
            <a:off x="6096000" y="1047750"/>
            <a:ext cx="2590800" cy="3762300"/>
            <a:chOff x="0" y="0"/>
            <a:chExt cx="2590800" cy="3762300"/>
          </a:xfrm>
        </p:grpSpPr>
        <p:sp>
          <p:nvSpPr>
            <p:cNvPr id="560" name="Google Shape;560;p49"/>
            <p:cNvSpPr/>
            <p:nvPr/>
          </p:nvSpPr>
          <p:spPr>
            <a:xfrm>
              <a:off x="0" y="0"/>
              <a:ext cx="2590800" cy="3762300"/>
            </a:xfrm>
            <a:prstGeom prst="roundRect">
              <a:avLst>
                <a:gd fmla="val 4411" name="adj"/>
              </a:avLst>
            </a:prstGeom>
            <a:solidFill>
              <a:srgbClr val="F0FDF4"/>
            </a:solidFill>
            <a:ln cap="flat" cmpd="sng" w="14300">
              <a:solidFill>
                <a:srgbClr val="86EFA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1" name="Google Shape;561;p49"/>
            <p:cNvSpPr/>
            <p:nvPr/>
          </p:nvSpPr>
          <p:spPr>
            <a:xfrm>
              <a:off x="0" y="0"/>
              <a:ext cx="2590800" cy="57300"/>
            </a:xfrm>
            <a:prstGeom prst="roundRect">
              <a:avLst>
                <a:gd fmla="val 50000" name="adj"/>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2" name="Google Shape;562;p49"/>
            <p:cNvSpPr txBox="1"/>
            <p:nvPr/>
          </p:nvSpPr>
          <p:spPr>
            <a:xfrm>
              <a:off x="171450" y="228600"/>
              <a:ext cx="2247900" cy="3333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581">
                  <a:solidFill>
                    <a:srgbClr val="166534"/>
                  </a:solidFill>
                  <a:latin typeface="Inter"/>
                  <a:ea typeface="Inter"/>
                  <a:cs typeface="Inter"/>
                  <a:sym typeface="Inter"/>
                </a:rPr>
                <a:t>TOTAL POTENTIAL IMPACT</a:t>
              </a:r>
              <a:endParaRPr b="1" sz="581">
                <a:solidFill>
                  <a:srgbClr val="166534"/>
                </a:solidFill>
                <a:latin typeface="Inter"/>
                <a:ea typeface="Inter"/>
                <a:cs typeface="Inter"/>
                <a:sym typeface="Inter"/>
              </a:endParaRPr>
            </a:p>
            <a:p>
              <a:pPr indent="0" lvl="0" marL="0" rtl="0" algn="ctr">
                <a:spcBef>
                  <a:spcPts val="600"/>
                </a:spcBef>
                <a:spcAft>
                  <a:spcPts val="0"/>
                </a:spcAft>
                <a:buNone/>
              </a:pPr>
              <a:r>
                <a:rPr b="0" lang="en" sz="853">
                  <a:solidFill>
                    <a:srgbClr val="334155"/>
                  </a:solidFill>
                  <a:latin typeface="Inter SemiBold"/>
                  <a:ea typeface="Inter SemiBold"/>
                  <a:cs typeface="Inter SemiBold"/>
                  <a:sym typeface="Inter SemiBold"/>
                </a:rPr>
                <a:t>Combined Annual Operating Savings</a:t>
              </a:r>
              <a:endParaRPr b="0" sz="853">
                <a:solidFill>
                  <a:srgbClr val="334155"/>
                </a:solidFill>
                <a:latin typeface="Inter SemiBold"/>
                <a:ea typeface="Inter SemiBold"/>
                <a:cs typeface="Inter SemiBold"/>
                <a:sym typeface="Inter SemiBold"/>
              </a:endParaRPr>
            </a:p>
            <a:p>
              <a:pPr indent="0" lvl="0" marL="0" rtl="0" algn="ctr">
                <a:spcBef>
                  <a:spcPts val="1200"/>
                </a:spcBef>
                <a:spcAft>
                  <a:spcPts val="0"/>
                </a:spcAft>
                <a:buNone/>
              </a:pPr>
              <a:r>
                <a:rPr b="0" lang="en" sz="2480">
                  <a:solidFill>
                    <a:srgbClr val="0F172A"/>
                  </a:solidFill>
                  <a:latin typeface="Inter ExtraBold"/>
                  <a:ea typeface="Inter ExtraBold"/>
                  <a:cs typeface="Inter ExtraBold"/>
                  <a:sym typeface="Inter ExtraBold"/>
                </a:rPr>
                <a:t>~$3,</a:t>
              </a:r>
              <a:r>
                <a:rPr lang="en" sz="2480">
                  <a:solidFill>
                    <a:srgbClr val="0F172A"/>
                  </a:solidFill>
                  <a:latin typeface="Inter ExtraBold"/>
                  <a:ea typeface="Inter ExtraBold"/>
                  <a:cs typeface="Inter ExtraBold"/>
                  <a:sym typeface="Inter ExtraBold"/>
                </a:rPr>
                <a:t>929,469</a:t>
              </a:r>
              <a:endParaRPr b="0" sz="2480">
                <a:solidFill>
                  <a:srgbClr val="0F172A"/>
                </a:solidFill>
                <a:latin typeface="Inter ExtraBold"/>
                <a:ea typeface="Inter ExtraBold"/>
                <a:cs typeface="Inter ExtraBold"/>
                <a:sym typeface="Inter ExtraBold"/>
              </a:endParaRPr>
            </a:p>
            <a:p>
              <a:pPr indent="0" lvl="0" marL="0" rtl="0" algn="ctr">
                <a:spcBef>
                  <a:spcPts val="0"/>
                </a:spcBef>
                <a:spcAft>
                  <a:spcPts val="0"/>
                </a:spcAft>
                <a:buNone/>
              </a:pPr>
              <a:r>
                <a:rPr b="1" lang="en" sz="659">
                  <a:solidFill>
                    <a:srgbClr val="15803D"/>
                  </a:solidFill>
                  <a:highlight>
                    <a:srgbClr val="DCFCE7"/>
                  </a:highlight>
                  <a:latin typeface="Inter"/>
                  <a:ea typeface="Inter"/>
                  <a:cs typeface="Inter"/>
                  <a:sym typeface="Inter"/>
                </a:rPr>
                <a:t>ESTIMATED ANNUAL OPERATING SAVINGS</a:t>
              </a:r>
              <a:endParaRPr b="1" sz="659">
                <a:solidFill>
                  <a:srgbClr val="15803D"/>
                </a:solidFill>
                <a:highlight>
                  <a:srgbClr val="DCFCE7"/>
                </a:highlight>
                <a:latin typeface="Inter"/>
                <a:ea typeface="Inter"/>
                <a:cs typeface="Inter"/>
                <a:sym typeface="Inter"/>
              </a:endParaRPr>
            </a:p>
            <a:p>
              <a:pPr indent="0" lvl="0" marL="0" rtl="0" algn="ctr">
                <a:spcBef>
                  <a:spcPts val="0"/>
                </a:spcBef>
                <a:spcAft>
                  <a:spcPts val="0"/>
                </a:spcAft>
                <a:buNone/>
              </a:pPr>
              <a:r>
                <a:t/>
              </a:r>
              <a:endParaRPr b="1" sz="659">
                <a:solidFill>
                  <a:srgbClr val="15803D"/>
                </a:solidFill>
                <a:highlight>
                  <a:srgbClr val="DCFCE7"/>
                </a:highlight>
                <a:latin typeface="Inter"/>
                <a:ea typeface="Inter"/>
                <a:cs typeface="Inter"/>
                <a:sym typeface="Inter"/>
              </a:endParaRPr>
            </a:p>
            <a:p>
              <a:pPr indent="0" lvl="0" marL="0" rtl="0" algn="ctr">
                <a:spcBef>
                  <a:spcPts val="0"/>
                </a:spcBef>
                <a:spcAft>
                  <a:spcPts val="0"/>
                </a:spcAft>
                <a:buNone/>
              </a:pPr>
              <a:r>
                <a:rPr b="1" lang="en" sz="959">
                  <a:solidFill>
                    <a:srgbClr val="15803D"/>
                  </a:solidFill>
                  <a:highlight>
                    <a:srgbClr val="DCFCE7"/>
                  </a:highlight>
                  <a:latin typeface="Inter"/>
                  <a:ea typeface="Inter"/>
                  <a:cs typeface="Inter"/>
                  <a:sym typeface="Inter"/>
                </a:rPr>
                <a:t>A REDUCTION OF -32.5 </a:t>
              </a:r>
              <a:r>
                <a:rPr b="1" lang="en" sz="959">
                  <a:solidFill>
                    <a:srgbClr val="15803D"/>
                  </a:solidFill>
                  <a:highlight>
                    <a:srgbClr val="DCFCE7"/>
                  </a:highlight>
                  <a:latin typeface="Inter"/>
                  <a:ea typeface="Inter"/>
                  <a:cs typeface="Inter"/>
                  <a:sym typeface="Inter"/>
                </a:rPr>
                <a:t>FTEs</a:t>
              </a:r>
              <a:endParaRPr b="1" sz="959">
                <a:solidFill>
                  <a:srgbClr val="15803D"/>
                </a:solidFill>
                <a:highlight>
                  <a:srgbClr val="DCFCE7"/>
                </a:highlight>
                <a:latin typeface="Inter"/>
                <a:ea typeface="Inter"/>
                <a:cs typeface="Inter"/>
                <a:sym typeface="Inter"/>
              </a:endParaRPr>
            </a:p>
            <a:p>
              <a:pPr indent="0" lvl="0" marL="0" rtl="0" algn="l">
                <a:spcBef>
                  <a:spcPts val="2400"/>
                </a:spcBef>
                <a:spcAft>
                  <a:spcPts val="0"/>
                </a:spcAft>
                <a:buNone/>
              </a:pPr>
              <a:r>
                <a:rPr b="1" lang="en" sz="581">
                  <a:solidFill>
                    <a:srgbClr val="166534"/>
                  </a:solidFill>
                  <a:latin typeface="Inter"/>
                  <a:ea typeface="Inter"/>
                  <a:cs typeface="Inter"/>
                  <a:sym typeface="Inter"/>
                </a:rPr>
                <a:t>KEY STRATEGIC OUTCOME</a:t>
              </a:r>
              <a:endParaRPr b="1" sz="581">
                <a:solidFill>
                  <a:srgbClr val="166534"/>
                </a:solidFill>
                <a:latin typeface="Inter"/>
                <a:ea typeface="Inter"/>
                <a:cs typeface="Inter"/>
                <a:sym typeface="Inter"/>
              </a:endParaRPr>
            </a:p>
            <a:p>
              <a:pPr indent="0" lvl="0" marL="0" rtl="0" algn="l">
                <a:spcBef>
                  <a:spcPts val="400"/>
                </a:spcBef>
                <a:spcAft>
                  <a:spcPts val="0"/>
                </a:spcAft>
                <a:buNone/>
              </a:pPr>
              <a:r>
                <a:rPr b="0" lang="en" sz="736">
                  <a:solidFill>
                    <a:srgbClr val="1E293B"/>
                  </a:solidFill>
                  <a:latin typeface="Inter SemiBold"/>
                  <a:ea typeface="Inter SemiBold"/>
                  <a:cs typeface="Inter SemiBold"/>
                  <a:sym typeface="Inter SemiBold"/>
                </a:rPr>
                <a:t>Substantial long-term budget sustainability with savings directly redirected to educational quality, student support, and staff retention.</a:t>
              </a:r>
              <a:endParaRPr b="0" sz="736">
                <a:solidFill>
                  <a:srgbClr val="1E293B"/>
                </a:solidFill>
                <a:latin typeface="Inter SemiBold"/>
                <a:ea typeface="Inter SemiBold"/>
                <a:cs typeface="Inter SemiBold"/>
                <a:sym typeface="Inter SemiBold"/>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6" name="Shape 566"/>
        <p:cNvGrpSpPr/>
        <p:nvPr/>
      </p:nvGrpSpPr>
      <p:grpSpPr>
        <a:xfrm>
          <a:off x="0" y="0"/>
          <a:ext cx="0" cy="0"/>
          <a:chOff x="0" y="0"/>
          <a:chExt cx="0" cy="0"/>
        </a:xfrm>
      </p:grpSpPr>
      <p:sp>
        <p:nvSpPr>
          <p:cNvPr id="567" name="Google Shape;567;p50"/>
          <p:cNvSpPr/>
          <p:nvPr/>
        </p:nvSpPr>
        <p:spPr>
          <a:xfrm>
            <a:off x="0" y="0"/>
            <a:ext cx="9144000" cy="47700"/>
          </a:xfrm>
          <a:prstGeom prst="rect">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8" name="Google Shape;568;p50"/>
          <p:cNvSpPr txBox="1"/>
          <p:nvPr/>
        </p:nvSpPr>
        <p:spPr>
          <a:xfrm>
            <a:off x="457200" y="266700"/>
            <a:ext cx="8229600" cy="743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2563EB"/>
                </a:solidFill>
                <a:latin typeface="Inter"/>
                <a:ea typeface="Inter"/>
                <a:cs typeface="Inter"/>
                <a:sym typeface="Inter"/>
              </a:rPr>
              <a:t>FINANCIAL OVERVIEW &amp; THRESHOLDS</a:t>
            </a:r>
            <a:endParaRPr b="1" sz="900">
              <a:solidFill>
                <a:srgbClr val="2563EB"/>
              </a:solidFill>
              <a:latin typeface="Inter"/>
              <a:ea typeface="Inter"/>
              <a:cs typeface="Inter"/>
              <a:sym typeface="Inter"/>
            </a:endParaRPr>
          </a:p>
          <a:p>
            <a:pPr indent="0" lvl="0" marL="0" rtl="0" algn="l">
              <a:spcBef>
                <a:spcPts val="300"/>
              </a:spcBef>
              <a:spcAft>
                <a:spcPts val="0"/>
              </a:spcAft>
              <a:buNone/>
            </a:pPr>
            <a:r>
              <a:rPr b="0" lang="en" sz="2200">
                <a:solidFill>
                  <a:srgbClr val="0F172A"/>
                </a:solidFill>
                <a:latin typeface="Inter ExtraBold"/>
                <a:ea typeface="Inter ExtraBold"/>
                <a:cs typeface="Inter ExtraBold"/>
                <a:sym typeface="Inter ExtraBold"/>
              </a:rPr>
              <a:t>Review Of FY28 Proposed Budget Impact</a:t>
            </a:r>
            <a:endParaRPr b="1" sz="900">
              <a:solidFill>
                <a:srgbClr val="2563EB"/>
              </a:solidFill>
              <a:latin typeface="Inter"/>
              <a:ea typeface="Inter"/>
              <a:cs typeface="Inter"/>
              <a:sym typeface="Inter"/>
            </a:endParaRPr>
          </a:p>
          <a:p>
            <a:pPr indent="0" lvl="0" marL="0" rtl="0" algn="l">
              <a:spcBef>
                <a:spcPts val="150"/>
              </a:spcBef>
              <a:spcAft>
                <a:spcPts val="0"/>
              </a:spcAft>
              <a:buNone/>
            </a:pPr>
            <a:r>
              <a:rPr b="0" lang="en" sz="1200">
                <a:solidFill>
                  <a:srgbClr val="64748B"/>
                </a:solidFill>
                <a:latin typeface="Inter SemiBold"/>
                <a:ea typeface="Inter SemiBold"/>
                <a:cs typeface="Inter SemiBold"/>
                <a:sym typeface="Inter SemiBold"/>
              </a:rPr>
              <a:t>Elementary &amp; Middle Schools Consolidation</a:t>
            </a:r>
            <a:endParaRPr b="1" sz="900">
              <a:solidFill>
                <a:srgbClr val="2563EB"/>
              </a:solidFill>
              <a:latin typeface="Inter"/>
              <a:ea typeface="Inter"/>
              <a:cs typeface="Inter"/>
              <a:sym typeface="Inter"/>
            </a:endParaRPr>
          </a:p>
        </p:txBody>
      </p:sp>
      <p:grpSp>
        <p:nvGrpSpPr>
          <p:cNvPr id="569" name="Google Shape;569;p50"/>
          <p:cNvGrpSpPr/>
          <p:nvPr/>
        </p:nvGrpSpPr>
        <p:grpSpPr>
          <a:xfrm>
            <a:off x="457200" y="1238250"/>
            <a:ext cx="3962400" cy="2095500"/>
            <a:chOff x="0" y="0"/>
            <a:chExt cx="3962400" cy="2095500"/>
          </a:xfrm>
        </p:grpSpPr>
        <p:sp>
          <p:nvSpPr>
            <p:cNvPr id="570" name="Google Shape;570;p50"/>
            <p:cNvSpPr/>
            <p:nvPr/>
          </p:nvSpPr>
          <p:spPr>
            <a:xfrm>
              <a:off x="0" y="0"/>
              <a:ext cx="3962400" cy="2095500"/>
            </a:xfrm>
            <a:prstGeom prst="roundRect">
              <a:avLst>
                <a:gd fmla="val 54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1" name="Google Shape;571;p50"/>
            <p:cNvSpPr/>
            <p:nvPr/>
          </p:nvSpPr>
          <p:spPr>
            <a:xfrm>
              <a:off x="0" y="0"/>
              <a:ext cx="3962400" cy="57300"/>
            </a:xfrm>
            <a:prstGeom prst="roundRect">
              <a:avLst>
                <a:gd fmla="val 50000" name="adj"/>
              </a:avLst>
            </a:prstGeom>
            <a:solidFill>
              <a:srgbClr val="0097A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2" name="Google Shape;572;p50"/>
            <p:cNvSpPr txBox="1"/>
            <p:nvPr/>
          </p:nvSpPr>
          <p:spPr>
            <a:xfrm>
              <a:off x="228600" y="228600"/>
              <a:ext cx="3505200" cy="16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64748B"/>
                  </a:solidFill>
                  <a:latin typeface="Inter"/>
                  <a:ea typeface="Inter"/>
                  <a:cs typeface="Inter"/>
                  <a:sym typeface="Inter"/>
                </a:rPr>
                <a:t>PROJECTED BUDGET</a:t>
              </a:r>
              <a:endParaRPr b="1" sz="900">
                <a:solidFill>
                  <a:srgbClr val="64748B"/>
                </a:solidFill>
                <a:latin typeface="Inter"/>
                <a:ea typeface="Inter"/>
                <a:cs typeface="Inter"/>
                <a:sym typeface="Inter"/>
              </a:endParaRPr>
            </a:p>
            <a:p>
              <a:pPr indent="0" lvl="0" marL="0" rtl="0" algn="l">
                <a:spcBef>
                  <a:spcPts val="900"/>
                </a:spcBef>
                <a:spcAft>
                  <a:spcPts val="0"/>
                </a:spcAft>
                <a:buNone/>
              </a:pPr>
              <a:r>
                <a:rPr b="0" lang="en" sz="3200">
                  <a:solidFill>
                    <a:srgbClr val="0F172A"/>
                  </a:solidFill>
                  <a:latin typeface="Inter ExtraBold"/>
                  <a:ea typeface="Inter ExtraBold"/>
                  <a:cs typeface="Inter ExtraBold"/>
                  <a:sym typeface="Inter ExtraBold"/>
                </a:rPr>
                <a:t>$51,294,651</a:t>
              </a:r>
              <a:endParaRPr b="0" sz="3200">
                <a:solidFill>
                  <a:srgbClr val="0F172A"/>
                </a:solidFill>
                <a:latin typeface="Inter ExtraBold"/>
                <a:ea typeface="Inter ExtraBold"/>
                <a:cs typeface="Inter ExtraBold"/>
                <a:sym typeface="Inter ExtraBold"/>
              </a:endParaRPr>
            </a:p>
            <a:p>
              <a:pPr indent="0" lvl="0" marL="0" rtl="0" algn="l">
                <a:spcBef>
                  <a:spcPts val="900"/>
                </a:spcBef>
                <a:spcAft>
                  <a:spcPts val="0"/>
                </a:spcAft>
                <a:buNone/>
              </a:pPr>
              <a:r>
                <a:rPr b="0" lang="en" sz="1300">
                  <a:solidFill>
                    <a:srgbClr val="0097A7"/>
                  </a:solidFill>
                  <a:latin typeface="Inter ExtraBold"/>
                  <a:ea typeface="Inter ExtraBold"/>
                  <a:cs typeface="Inter ExtraBold"/>
                  <a:sym typeface="Inter ExtraBold"/>
                </a:rPr>
                <a:t>-1.138%  </a:t>
              </a:r>
              <a:r>
                <a:rPr b="0" lang="en" sz="1400">
                  <a:solidFill>
                    <a:srgbClr val="0097A7"/>
                  </a:solidFill>
                  <a:latin typeface="Material Icons"/>
                  <a:ea typeface="Material Icons"/>
                  <a:cs typeface="Material Icons"/>
                  <a:sym typeface="Material Icons"/>
                </a:rPr>
                <a:t>arrow_downward</a:t>
              </a:r>
              <a:r>
                <a:rPr lang="en">
                  <a:latin typeface="Inter"/>
                  <a:ea typeface="Inter"/>
                  <a:cs typeface="Inter"/>
                  <a:sym typeface="Inter"/>
                </a:rPr>
                <a:t> </a:t>
              </a:r>
              <a:r>
                <a:rPr b="0" lang="en" sz="950">
                  <a:solidFill>
                    <a:srgbClr val="64748B"/>
                  </a:solidFill>
                  <a:latin typeface="Inter Medium"/>
                  <a:ea typeface="Inter Medium"/>
                  <a:cs typeface="Inter Medium"/>
                  <a:sym typeface="Inter Medium"/>
                </a:rPr>
                <a:t>Budget Change</a:t>
              </a:r>
              <a:endParaRPr>
                <a:latin typeface="Inter"/>
                <a:ea typeface="Inter"/>
                <a:cs typeface="Inter"/>
                <a:sym typeface="Inter"/>
              </a:endParaRPr>
            </a:p>
          </p:txBody>
        </p:sp>
      </p:grpSp>
      <p:grpSp>
        <p:nvGrpSpPr>
          <p:cNvPr id="573" name="Google Shape;573;p50"/>
          <p:cNvGrpSpPr/>
          <p:nvPr/>
        </p:nvGrpSpPr>
        <p:grpSpPr>
          <a:xfrm>
            <a:off x="4724400" y="1238250"/>
            <a:ext cx="3962400" cy="2095500"/>
            <a:chOff x="0" y="0"/>
            <a:chExt cx="3962400" cy="2095500"/>
          </a:xfrm>
        </p:grpSpPr>
        <p:sp>
          <p:nvSpPr>
            <p:cNvPr id="574" name="Google Shape;574;p50"/>
            <p:cNvSpPr/>
            <p:nvPr/>
          </p:nvSpPr>
          <p:spPr>
            <a:xfrm>
              <a:off x="0" y="0"/>
              <a:ext cx="3962400" cy="2095500"/>
            </a:xfrm>
            <a:prstGeom prst="roundRect">
              <a:avLst>
                <a:gd fmla="val 545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5" name="Google Shape;575;p50"/>
            <p:cNvSpPr/>
            <p:nvPr/>
          </p:nvSpPr>
          <p:spPr>
            <a:xfrm>
              <a:off x="0" y="0"/>
              <a:ext cx="3962400" cy="573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6" name="Google Shape;576;p50"/>
            <p:cNvSpPr txBox="1"/>
            <p:nvPr/>
          </p:nvSpPr>
          <p:spPr>
            <a:xfrm>
              <a:off x="228600" y="228600"/>
              <a:ext cx="3505200" cy="16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64748B"/>
                  </a:solidFill>
                  <a:latin typeface="Inter"/>
                  <a:ea typeface="Inter"/>
                  <a:cs typeface="Inter"/>
                  <a:sym typeface="Inter"/>
                </a:rPr>
                <a:t>PER PUPIL VARIANCE</a:t>
              </a:r>
              <a:endParaRPr b="1" sz="900">
                <a:solidFill>
                  <a:srgbClr val="64748B"/>
                </a:solidFill>
                <a:latin typeface="Inter"/>
                <a:ea typeface="Inter"/>
                <a:cs typeface="Inter"/>
                <a:sym typeface="Inter"/>
              </a:endParaRPr>
            </a:p>
            <a:p>
              <a:pPr indent="0" lvl="0" marL="0" rtl="0" algn="l">
                <a:spcBef>
                  <a:spcPts val="900"/>
                </a:spcBef>
                <a:spcAft>
                  <a:spcPts val="0"/>
                </a:spcAft>
                <a:buNone/>
              </a:pPr>
              <a:r>
                <a:rPr b="0" lang="en" sz="3200">
                  <a:solidFill>
                    <a:srgbClr val="0F172A"/>
                  </a:solidFill>
                  <a:latin typeface="Inter ExtraBold"/>
                  <a:ea typeface="Inter ExtraBold"/>
                  <a:cs typeface="Inter ExtraBold"/>
                  <a:sym typeface="Inter ExtraBold"/>
                </a:rPr>
                <a:t>($255.76)</a:t>
              </a:r>
              <a:endParaRPr b="0" sz="3200">
                <a:solidFill>
                  <a:srgbClr val="0F172A"/>
                </a:solidFill>
                <a:latin typeface="Inter ExtraBold"/>
                <a:ea typeface="Inter ExtraBold"/>
                <a:cs typeface="Inter ExtraBold"/>
                <a:sym typeface="Inter ExtraBold"/>
              </a:endParaRPr>
            </a:p>
            <a:p>
              <a:pPr indent="0" lvl="0" marL="0" rtl="0" algn="l">
                <a:spcBef>
                  <a:spcPts val="0"/>
                </a:spcBef>
                <a:spcAft>
                  <a:spcPts val="0"/>
                </a:spcAft>
                <a:buNone/>
              </a:pPr>
              <a:r>
                <a:rPr b="1" lang="en" sz="1100">
                  <a:solidFill>
                    <a:srgbClr val="15803D"/>
                  </a:solidFill>
                  <a:highlight>
                    <a:srgbClr val="DCFCE7"/>
                  </a:highlight>
                  <a:latin typeface="Inter"/>
                  <a:ea typeface="Inter"/>
                  <a:cs typeface="Inter"/>
                  <a:sym typeface="Inter"/>
                </a:rPr>
                <a:t>Below the excess spending threshold</a:t>
              </a:r>
              <a:endParaRPr>
                <a:latin typeface="Inter"/>
                <a:ea typeface="Inter"/>
                <a:cs typeface="Inter"/>
                <a:sym typeface="Inter"/>
              </a:endParaRPr>
            </a:p>
          </p:txBody>
        </p:sp>
      </p:grpSp>
      <p:grpSp>
        <p:nvGrpSpPr>
          <p:cNvPr id="577" name="Google Shape;577;p50"/>
          <p:cNvGrpSpPr/>
          <p:nvPr/>
        </p:nvGrpSpPr>
        <p:grpSpPr>
          <a:xfrm>
            <a:off x="457200" y="3571875"/>
            <a:ext cx="8229600" cy="1000200"/>
            <a:chOff x="0" y="0"/>
            <a:chExt cx="8229600" cy="1000200"/>
          </a:xfrm>
        </p:grpSpPr>
        <p:sp>
          <p:nvSpPr>
            <p:cNvPr id="578" name="Google Shape;578;p50"/>
            <p:cNvSpPr/>
            <p:nvPr/>
          </p:nvSpPr>
          <p:spPr>
            <a:xfrm>
              <a:off x="0" y="0"/>
              <a:ext cx="8229600" cy="1000200"/>
            </a:xfrm>
            <a:prstGeom prst="roundRect">
              <a:avLst>
                <a:gd fmla="val 11428"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579" name="Google Shape;579;p50"/>
            <p:cNvCxnSpPr/>
            <p:nvPr/>
          </p:nvCxnSpPr>
          <p:spPr>
            <a:xfrm>
              <a:off x="2743200" y="190500"/>
              <a:ext cx="0" cy="619200"/>
            </a:xfrm>
            <a:prstGeom prst="straightConnector1">
              <a:avLst/>
            </a:prstGeom>
            <a:solidFill>
              <a:srgbClr val="FFFFFF"/>
            </a:solidFill>
            <a:ln cap="flat" cmpd="sng" w="9525">
              <a:solidFill>
                <a:srgbClr val="334155"/>
              </a:solidFill>
              <a:prstDash val="solid"/>
              <a:round/>
              <a:headEnd len="sm" w="sm" type="none"/>
              <a:tailEnd len="sm" w="sm" type="none"/>
            </a:ln>
          </p:spPr>
        </p:cxnSp>
        <p:cxnSp>
          <p:nvCxnSpPr>
            <p:cNvPr id="580" name="Google Shape;580;p50"/>
            <p:cNvCxnSpPr/>
            <p:nvPr/>
          </p:nvCxnSpPr>
          <p:spPr>
            <a:xfrm>
              <a:off x="5486400" y="190500"/>
              <a:ext cx="0" cy="619200"/>
            </a:xfrm>
            <a:prstGeom prst="straightConnector1">
              <a:avLst/>
            </a:prstGeom>
            <a:solidFill>
              <a:srgbClr val="FFFFFF"/>
            </a:solidFill>
            <a:ln cap="flat" cmpd="sng" w="9525">
              <a:solidFill>
                <a:srgbClr val="334155"/>
              </a:solidFill>
              <a:prstDash val="solid"/>
              <a:round/>
              <a:headEnd len="sm" w="sm" type="none"/>
              <a:tailEnd len="sm" w="sm" type="none"/>
            </a:ln>
          </p:spPr>
        </p:cxnSp>
        <p:sp>
          <p:nvSpPr>
            <p:cNvPr id="581" name="Google Shape;581;p50"/>
            <p:cNvSpPr txBox="1"/>
            <p:nvPr/>
          </p:nvSpPr>
          <p:spPr>
            <a:xfrm>
              <a:off x="190500" y="142875"/>
              <a:ext cx="23622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94A3B8"/>
                  </a:solidFill>
                  <a:latin typeface="Inter"/>
                  <a:ea typeface="Inter"/>
                  <a:cs typeface="Inter"/>
                  <a:sym typeface="Inter"/>
                </a:rPr>
                <a:t>FY28 EST THRESHOLD</a:t>
              </a:r>
              <a:endParaRPr b="1" sz="800">
                <a:solidFill>
                  <a:srgbClr val="94A3B8"/>
                </a:solidFill>
                <a:latin typeface="Inter"/>
                <a:ea typeface="Inter"/>
                <a:cs typeface="Inter"/>
                <a:sym typeface="Inter"/>
              </a:endParaRPr>
            </a:p>
            <a:p>
              <a:pPr indent="0" lvl="0" marL="0" rtl="0" algn="l">
                <a:spcBef>
                  <a:spcPts val="300"/>
                </a:spcBef>
                <a:spcAft>
                  <a:spcPts val="0"/>
                </a:spcAft>
                <a:buNone/>
              </a:pPr>
              <a:r>
                <a:rPr b="0" lang="en" sz="1800">
                  <a:solidFill>
                    <a:srgbClr val="60A5FA"/>
                  </a:solidFill>
                  <a:latin typeface="Inter ExtraBold"/>
                  <a:ea typeface="Inter ExtraBold"/>
                  <a:cs typeface="Inter ExtraBold"/>
                  <a:sym typeface="Inter ExtraBold"/>
                </a:rPr>
                <a:t>$16,562</a:t>
              </a:r>
              <a:endParaRPr b="0" sz="1800">
                <a:solidFill>
                  <a:srgbClr val="60A5FA"/>
                </a:solidFill>
                <a:latin typeface="Inter ExtraBold"/>
                <a:ea typeface="Inter ExtraBold"/>
                <a:cs typeface="Inter ExtraBold"/>
                <a:sym typeface="Inter ExtraBold"/>
              </a:endParaRPr>
            </a:p>
          </p:txBody>
        </p:sp>
        <p:sp>
          <p:nvSpPr>
            <p:cNvPr id="582" name="Google Shape;582;p50"/>
            <p:cNvSpPr txBox="1"/>
            <p:nvPr/>
          </p:nvSpPr>
          <p:spPr>
            <a:xfrm>
              <a:off x="2933700" y="142875"/>
              <a:ext cx="23622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94A3B8"/>
                  </a:solidFill>
                  <a:latin typeface="Inter"/>
                  <a:ea typeface="Inter"/>
                  <a:cs typeface="Inter"/>
                  <a:sym typeface="Inter"/>
                </a:rPr>
                <a:t>PROJECTED PER PUPIL</a:t>
              </a:r>
              <a:endParaRPr b="1" sz="800">
                <a:solidFill>
                  <a:srgbClr val="94A3B8"/>
                </a:solidFill>
                <a:latin typeface="Inter"/>
                <a:ea typeface="Inter"/>
                <a:cs typeface="Inter"/>
                <a:sym typeface="Inter"/>
              </a:endParaRPr>
            </a:p>
            <a:p>
              <a:pPr indent="0" lvl="0" marL="0" rtl="0" algn="l">
                <a:spcBef>
                  <a:spcPts val="300"/>
                </a:spcBef>
                <a:spcAft>
                  <a:spcPts val="0"/>
                </a:spcAft>
                <a:buNone/>
              </a:pPr>
              <a:r>
                <a:rPr b="0" lang="en" sz="1800">
                  <a:solidFill>
                    <a:srgbClr val="FFFFFF"/>
                  </a:solidFill>
                  <a:latin typeface="Inter ExtraBold"/>
                  <a:ea typeface="Inter ExtraBold"/>
                  <a:cs typeface="Inter ExtraBold"/>
                  <a:sym typeface="Inter ExtraBold"/>
                </a:rPr>
                <a:t>$16,306.24</a:t>
              </a:r>
              <a:endParaRPr b="0" sz="1800">
                <a:solidFill>
                  <a:srgbClr val="FFFFFF"/>
                </a:solidFill>
                <a:latin typeface="Inter ExtraBold"/>
                <a:ea typeface="Inter ExtraBold"/>
                <a:cs typeface="Inter ExtraBold"/>
                <a:sym typeface="Inter ExtraBold"/>
              </a:endParaRPr>
            </a:p>
          </p:txBody>
        </p:sp>
        <p:sp>
          <p:nvSpPr>
            <p:cNvPr id="583" name="Google Shape;583;p50"/>
            <p:cNvSpPr txBox="1"/>
            <p:nvPr/>
          </p:nvSpPr>
          <p:spPr>
            <a:xfrm>
              <a:off x="5676900" y="142875"/>
              <a:ext cx="23622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94A3B8"/>
                  </a:solidFill>
                  <a:latin typeface="Inter"/>
                  <a:ea typeface="Inter"/>
                  <a:cs typeface="Inter"/>
                  <a:sym typeface="Inter"/>
                </a:rPr>
                <a:t>THRESHOLD STATUS</a:t>
              </a:r>
              <a:endParaRPr b="1" sz="800">
                <a:solidFill>
                  <a:srgbClr val="94A3B8"/>
                </a:solidFill>
                <a:latin typeface="Inter"/>
                <a:ea typeface="Inter"/>
                <a:cs typeface="Inter"/>
                <a:sym typeface="Inter"/>
              </a:endParaRPr>
            </a:p>
            <a:p>
              <a:pPr indent="0" lvl="0" marL="0" rtl="0" algn="l">
                <a:spcBef>
                  <a:spcPts val="300"/>
                </a:spcBef>
                <a:spcAft>
                  <a:spcPts val="0"/>
                </a:spcAft>
                <a:buNone/>
              </a:pPr>
              <a:r>
                <a:rPr b="1" lang="en" sz="1300">
                  <a:solidFill>
                    <a:srgbClr val="34D399"/>
                  </a:solidFill>
                  <a:latin typeface="Inter"/>
                  <a:ea typeface="Inter"/>
                  <a:cs typeface="Inter"/>
                  <a:sym typeface="Inter"/>
                </a:rPr>
                <a:t>Below Threshold Limit</a:t>
              </a:r>
              <a:endParaRPr b="1" sz="1300">
                <a:solidFill>
                  <a:srgbClr val="34D399"/>
                </a:solidFill>
                <a:latin typeface="Inter"/>
                <a:ea typeface="Inter"/>
                <a:cs typeface="Inter"/>
                <a:sym typeface="Inte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87" name="Shape 587"/>
        <p:cNvGrpSpPr/>
        <p:nvPr/>
      </p:nvGrpSpPr>
      <p:grpSpPr>
        <a:xfrm>
          <a:off x="0" y="0"/>
          <a:ext cx="0" cy="0"/>
          <a:chOff x="0" y="0"/>
          <a:chExt cx="0" cy="0"/>
        </a:xfrm>
      </p:grpSpPr>
      <p:sp>
        <p:nvSpPr>
          <p:cNvPr id="588" name="Google Shape;588;p51"/>
          <p:cNvSpPr/>
          <p:nvPr/>
        </p:nvSpPr>
        <p:spPr>
          <a:xfrm>
            <a:off x="7503727" y="485775"/>
            <a:ext cx="1297500" cy="214500"/>
          </a:xfrm>
          <a:prstGeom prst="roundRect">
            <a:avLst>
              <a:gd fmla="val 50000" name="adj"/>
            </a:avLst>
          </a:prstGeom>
          <a:solidFill>
            <a:srgbClr val="EFF6FF"/>
          </a:solidFill>
          <a:ln cap="flat" cmpd="sng" w="7150">
            <a:solidFill>
              <a:srgbClr val="BFDBFE"/>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89" name="Google Shape;589;p51"/>
          <p:cNvSpPr/>
          <p:nvPr/>
        </p:nvSpPr>
        <p:spPr>
          <a:xfrm>
            <a:off x="342900" y="1990204"/>
            <a:ext cx="8458200" cy="971700"/>
          </a:xfrm>
          <a:prstGeom prst="roundRect">
            <a:avLst>
              <a:gd fmla="val 8823"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0" name="Google Shape;590;p51"/>
          <p:cNvSpPr/>
          <p:nvPr/>
        </p:nvSpPr>
        <p:spPr>
          <a:xfrm>
            <a:off x="342900" y="978694"/>
            <a:ext cx="1600200" cy="882900"/>
          </a:xfrm>
          <a:prstGeom prst="roundRect">
            <a:avLst>
              <a:gd fmla="val 9709" name="adj"/>
            </a:avLst>
          </a:prstGeom>
          <a:solidFill>
            <a:srgbClr val="F0F9FF"/>
          </a:solidFill>
          <a:ln cap="flat" cmpd="sng" w="7150">
            <a:solidFill>
              <a:srgbClr val="BAE6FD"/>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1" name="Google Shape;591;p51"/>
          <p:cNvSpPr/>
          <p:nvPr/>
        </p:nvSpPr>
        <p:spPr>
          <a:xfrm>
            <a:off x="2057400" y="978694"/>
            <a:ext cx="1600200" cy="882900"/>
          </a:xfrm>
          <a:prstGeom prst="roundRect">
            <a:avLst>
              <a:gd fmla="val 9709"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2" name="Google Shape;592;p51"/>
          <p:cNvSpPr/>
          <p:nvPr/>
        </p:nvSpPr>
        <p:spPr>
          <a:xfrm>
            <a:off x="3771900" y="978694"/>
            <a:ext cx="1600200" cy="882900"/>
          </a:xfrm>
          <a:prstGeom prst="roundRect">
            <a:avLst>
              <a:gd fmla="val 9709" name="adj"/>
            </a:avLst>
          </a:prstGeom>
          <a:solidFill>
            <a:srgbClr val="FEF2F2"/>
          </a:solidFill>
          <a:ln cap="flat" cmpd="sng" w="7150">
            <a:solidFill>
              <a:srgbClr val="FECAC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3" name="Google Shape;593;p51"/>
          <p:cNvSpPr/>
          <p:nvPr/>
        </p:nvSpPr>
        <p:spPr>
          <a:xfrm>
            <a:off x="5486400" y="978694"/>
            <a:ext cx="1600200" cy="882900"/>
          </a:xfrm>
          <a:prstGeom prst="roundRect">
            <a:avLst>
              <a:gd fmla="val 9709"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4" name="Google Shape;594;p51"/>
          <p:cNvSpPr/>
          <p:nvPr/>
        </p:nvSpPr>
        <p:spPr>
          <a:xfrm>
            <a:off x="7200900" y="978694"/>
            <a:ext cx="1600200" cy="882900"/>
          </a:xfrm>
          <a:prstGeom prst="roundRect">
            <a:avLst>
              <a:gd fmla="val 9709"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5" name="Google Shape;595;p51"/>
          <p:cNvSpPr/>
          <p:nvPr/>
        </p:nvSpPr>
        <p:spPr>
          <a:xfrm>
            <a:off x="521494"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6" name="Google Shape;596;p51"/>
          <p:cNvSpPr/>
          <p:nvPr/>
        </p:nvSpPr>
        <p:spPr>
          <a:xfrm>
            <a:off x="1200150"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1" sz="1000">
              <a:solidFill>
                <a:schemeClr val="dk1"/>
              </a:solidFill>
              <a:latin typeface="Inter"/>
              <a:ea typeface="Inter"/>
              <a:cs typeface="Inter"/>
              <a:sym typeface="Inter"/>
            </a:endParaRPr>
          </a:p>
          <a:p>
            <a:pPr indent="0" lvl="0" marL="0" marR="0" rtl="0" algn="ctr">
              <a:spcBef>
                <a:spcPts val="0"/>
              </a:spcBef>
              <a:spcAft>
                <a:spcPts val="0"/>
              </a:spcAft>
              <a:buNone/>
            </a:pPr>
            <a:r>
              <a:t/>
            </a:r>
            <a:endParaRPr b="1" sz="1000">
              <a:solidFill>
                <a:schemeClr val="dk1"/>
              </a:solidFill>
              <a:latin typeface="Inter"/>
              <a:ea typeface="Inter"/>
              <a:cs typeface="Inter"/>
              <a:sym typeface="Inter"/>
            </a:endParaRPr>
          </a:p>
        </p:txBody>
      </p:sp>
      <p:sp>
        <p:nvSpPr>
          <p:cNvPr id="597" name="Google Shape;597;p51"/>
          <p:cNvSpPr/>
          <p:nvPr/>
        </p:nvSpPr>
        <p:spPr>
          <a:xfrm>
            <a:off x="1878806" y="2375966"/>
            <a:ext cx="6360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8" name="Google Shape;598;p51"/>
          <p:cNvSpPr/>
          <p:nvPr/>
        </p:nvSpPr>
        <p:spPr>
          <a:xfrm>
            <a:off x="2586038"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9" name="Google Shape;599;p51"/>
          <p:cNvSpPr/>
          <p:nvPr/>
        </p:nvSpPr>
        <p:spPr>
          <a:xfrm>
            <a:off x="3264694"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00" name="Google Shape;600;p51"/>
          <p:cNvSpPr/>
          <p:nvPr/>
        </p:nvSpPr>
        <p:spPr>
          <a:xfrm>
            <a:off x="3943350"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01" name="Google Shape;601;p51"/>
          <p:cNvSpPr/>
          <p:nvPr/>
        </p:nvSpPr>
        <p:spPr>
          <a:xfrm>
            <a:off x="4622006"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02" name="Google Shape;602;p51"/>
          <p:cNvSpPr/>
          <p:nvPr/>
        </p:nvSpPr>
        <p:spPr>
          <a:xfrm>
            <a:off x="5300663"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03" name="Google Shape;603;p51"/>
          <p:cNvSpPr/>
          <p:nvPr/>
        </p:nvSpPr>
        <p:spPr>
          <a:xfrm>
            <a:off x="5979319"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04" name="Google Shape;604;p51"/>
          <p:cNvSpPr/>
          <p:nvPr/>
        </p:nvSpPr>
        <p:spPr>
          <a:xfrm>
            <a:off x="6657975"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05" name="Google Shape;605;p51"/>
          <p:cNvSpPr/>
          <p:nvPr/>
        </p:nvSpPr>
        <p:spPr>
          <a:xfrm>
            <a:off x="7336631"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06" name="Google Shape;606;p51"/>
          <p:cNvSpPr/>
          <p:nvPr/>
        </p:nvSpPr>
        <p:spPr>
          <a:xfrm>
            <a:off x="8015288" y="2375966"/>
            <a:ext cx="607200" cy="435900"/>
          </a:xfrm>
          <a:prstGeom prst="roundRect">
            <a:avLst>
              <a:gd fmla="val 13114" name="adj"/>
            </a:avLst>
          </a:prstGeom>
          <a:solidFill>
            <a:srgbClr val="2563EB"/>
          </a:solidFill>
          <a:ln cap="flat" cmpd="sng" w="7150">
            <a:solidFill>
              <a:srgbClr val="1D4ED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07" name="Google Shape;607;p51"/>
          <p:cNvSpPr/>
          <p:nvPr/>
        </p:nvSpPr>
        <p:spPr>
          <a:xfrm>
            <a:off x="342900" y="3090339"/>
            <a:ext cx="4543500" cy="1664700"/>
          </a:xfrm>
          <a:prstGeom prst="roundRect">
            <a:avLst>
              <a:gd fmla="val 5149"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8" name="Google Shape;608;p51"/>
          <p:cNvSpPr/>
          <p:nvPr/>
        </p:nvSpPr>
        <p:spPr>
          <a:xfrm>
            <a:off x="5014913" y="3090341"/>
            <a:ext cx="3786300" cy="1664700"/>
          </a:xfrm>
          <a:prstGeom prst="roundRect">
            <a:avLst>
              <a:gd fmla="val 5150"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09" name="Google Shape;609;p51"/>
          <p:cNvSpPr/>
          <p:nvPr/>
        </p:nvSpPr>
        <p:spPr>
          <a:xfrm>
            <a:off x="5164931" y="3629694"/>
            <a:ext cx="18018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10" name="Google Shape;610;p51"/>
          <p:cNvSpPr/>
          <p:nvPr/>
        </p:nvSpPr>
        <p:spPr>
          <a:xfrm>
            <a:off x="6966830" y="3629694"/>
            <a:ext cx="16845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11" name="Google Shape;611;p51"/>
          <p:cNvSpPr/>
          <p:nvPr/>
        </p:nvSpPr>
        <p:spPr>
          <a:xfrm>
            <a:off x="5164931" y="3879725"/>
            <a:ext cx="1801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12" name="Google Shape;612;p51"/>
          <p:cNvSpPr/>
          <p:nvPr/>
        </p:nvSpPr>
        <p:spPr>
          <a:xfrm>
            <a:off x="6966830" y="3879725"/>
            <a:ext cx="168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13" name="Google Shape;613;p51"/>
          <p:cNvSpPr/>
          <p:nvPr/>
        </p:nvSpPr>
        <p:spPr>
          <a:xfrm>
            <a:off x="5164931" y="4129757"/>
            <a:ext cx="1801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14" name="Google Shape;614;p51"/>
          <p:cNvSpPr/>
          <p:nvPr/>
        </p:nvSpPr>
        <p:spPr>
          <a:xfrm>
            <a:off x="6966830" y="4129757"/>
            <a:ext cx="168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15" name="Google Shape;615;p51"/>
          <p:cNvSpPr/>
          <p:nvPr/>
        </p:nvSpPr>
        <p:spPr>
          <a:xfrm>
            <a:off x="5164931" y="4379788"/>
            <a:ext cx="1801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16" name="Google Shape;616;p51"/>
          <p:cNvSpPr/>
          <p:nvPr/>
        </p:nvSpPr>
        <p:spPr>
          <a:xfrm>
            <a:off x="6966830" y="4379788"/>
            <a:ext cx="168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descr="image.png" id="617" name="Google Shape;617;p51"/>
          <p:cNvPicPr preferRelativeResize="0"/>
          <p:nvPr/>
        </p:nvPicPr>
        <p:blipFill rotWithShape="1">
          <a:blip r:embed="rId3">
            <a:alphaModFix/>
          </a:blip>
          <a:srcRect b="0" l="0" r="0" t="0"/>
          <a:stretch/>
        </p:blipFill>
        <p:spPr>
          <a:xfrm>
            <a:off x="521494" y="2154510"/>
            <a:ext cx="135731" cy="107156"/>
          </a:xfrm>
          <a:prstGeom prst="rect">
            <a:avLst/>
          </a:prstGeom>
          <a:noFill/>
          <a:ln>
            <a:noFill/>
          </a:ln>
        </p:spPr>
      </p:pic>
      <p:pic>
        <p:nvPicPr>
          <p:cNvPr descr="image.png" id="618" name="Google Shape;618;p51"/>
          <p:cNvPicPr preferRelativeResize="0"/>
          <p:nvPr/>
        </p:nvPicPr>
        <p:blipFill rotWithShape="1">
          <a:blip r:embed="rId4">
            <a:alphaModFix/>
          </a:blip>
          <a:srcRect b="0" l="0" r="0" t="0"/>
          <a:stretch/>
        </p:blipFill>
        <p:spPr>
          <a:xfrm>
            <a:off x="5164931" y="3226072"/>
            <a:ext cx="135731" cy="107156"/>
          </a:xfrm>
          <a:prstGeom prst="rect">
            <a:avLst/>
          </a:prstGeom>
          <a:noFill/>
          <a:ln>
            <a:noFill/>
          </a:ln>
        </p:spPr>
      </p:pic>
      <p:graphicFrame>
        <p:nvGraphicFramePr>
          <p:cNvPr id="619" name="Google Shape;619;p51"/>
          <p:cNvGraphicFramePr/>
          <p:nvPr/>
        </p:nvGraphicFramePr>
        <p:xfrm>
          <a:off x="5164931" y="3418954"/>
          <a:ext cx="3000000" cy="3000000"/>
        </p:xfrm>
        <a:graphic>
          <a:graphicData uri="http://schemas.openxmlformats.org/drawingml/2006/table">
            <a:tbl>
              <a:tblPr>
                <a:noFill/>
                <a:tableStyleId>{5C564A07-C9E8-4B74-8387-D50FA61C5E47}</a:tableStyleId>
              </a:tblPr>
              <a:tblGrid>
                <a:gridCol w="1801900"/>
                <a:gridCol w="1684250"/>
              </a:tblGrid>
              <a:tr h="242900">
                <a:tc>
                  <a:txBody>
                    <a:bodyPr/>
                    <a:lstStyle/>
                    <a:p>
                      <a:pPr indent="0" lvl="0" marL="0" marR="0" rtl="0" algn="l">
                        <a:spcBef>
                          <a:spcPts val="0"/>
                        </a:spcBef>
                        <a:spcAft>
                          <a:spcPts val="0"/>
                        </a:spcAft>
                        <a:buNone/>
                      </a:pPr>
                      <a:r>
                        <a:rPr b="1" i="0" lang="en" sz="600" u="none" cap="none" strike="noStrike">
                          <a:solidFill>
                            <a:srgbClr val="475569"/>
                          </a:solidFill>
                          <a:latin typeface="Inter"/>
                          <a:ea typeface="Inter"/>
                          <a:cs typeface="Inter"/>
                          <a:sym typeface="Inter"/>
                        </a:rPr>
                        <a:t>Property Metric</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 sz="600" u="none" cap="none" strike="noStrike">
                          <a:solidFill>
                            <a:srgbClr val="475569"/>
                          </a:solidFill>
                          <a:latin typeface="Inter"/>
                          <a:ea typeface="Inter"/>
                          <a:cs typeface="Inter"/>
                          <a:sym typeface="Inter"/>
                        </a:rPr>
                        <a:t>Specification</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1F5F9"/>
                    </a:solidFill>
                  </a:tcPr>
                </a:tc>
              </a:tr>
              <a:tr h="242900">
                <a:tc>
                  <a:txBody>
                    <a:bodyPr/>
                    <a:lstStyle/>
                    <a:p>
                      <a:pPr indent="0" lvl="0" marL="0" marR="0" rtl="0" algn="l">
                        <a:spcBef>
                          <a:spcPts val="0"/>
                        </a:spcBef>
                        <a:spcAft>
                          <a:spcPts val="0"/>
                        </a:spcAft>
                        <a:buNone/>
                      </a:pPr>
                      <a:r>
                        <a:rPr b="1" i="0" lang="en" sz="700" u="none" cap="none" strike="noStrike">
                          <a:solidFill>
                            <a:srgbClr val="1E293B"/>
                          </a:solidFill>
                          <a:latin typeface="Inter"/>
                          <a:ea typeface="Inter"/>
                          <a:cs typeface="Inter"/>
                          <a:sym typeface="Inter"/>
                        </a:rPr>
                        <a:t>Wastewater Permitting </a:t>
                      </a:r>
                      <a:r>
                        <a:rPr b="1" lang="en" sz="700">
                          <a:solidFill>
                            <a:srgbClr val="1E293B"/>
                          </a:solidFill>
                          <a:latin typeface="Inter"/>
                          <a:ea typeface="Inter"/>
                          <a:cs typeface="Inter"/>
                          <a:sym typeface="Inter"/>
                        </a:rPr>
                        <a:t>Capacity</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250</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r h="242900">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Heat/Solar</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Propane/No solar</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r h="242900">
                <a:tc>
                  <a:txBody>
                    <a:bodyPr/>
                    <a:lstStyle/>
                    <a:p>
                      <a:pPr indent="0" lvl="0" marL="0" marR="0" rtl="0" algn="l">
                        <a:spcBef>
                          <a:spcPts val="0"/>
                        </a:spcBef>
                        <a:spcAft>
                          <a:spcPts val="0"/>
                        </a:spcAft>
                        <a:buNone/>
                      </a:pPr>
                      <a:r>
                        <a:rPr b="1" i="0" lang="en" sz="700" u="none" cap="none" strike="noStrike">
                          <a:solidFill>
                            <a:srgbClr val="1E293B"/>
                          </a:solidFill>
                          <a:latin typeface="Inter"/>
                          <a:ea typeface="Inter"/>
                          <a:cs typeface="Inter"/>
                          <a:sym typeface="Inter"/>
                        </a:rPr>
                        <a:t>Land </a:t>
                      </a:r>
                      <a:r>
                        <a:rPr b="1" lang="en" sz="700">
                          <a:solidFill>
                            <a:srgbClr val="1E293B"/>
                          </a:solidFill>
                          <a:latin typeface="Inter"/>
                          <a:ea typeface="Inter"/>
                          <a:cs typeface="Inter"/>
                          <a:sym typeface="Inter"/>
                        </a:rPr>
                        <a:t>Ownership</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highlight>
                            <a:schemeClr val="lt1"/>
                          </a:highlight>
                          <a:latin typeface="Inter"/>
                          <a:ea typeface="Inter"/>
                          <a:cs typeface="Inter"/>
                          <a:sym typeface="Inter"/>
                        </a:rPr>
                        <a:t>7.0</a:t>
                      </a:r>
                      <a:r>
                        <a:rPr b="1" i="0" lang="en" sz="700" u="none" cap="none" strike="noStrike">
                          <a:solidFill>
                            <a:srgbClr val="1E293B"/>
                          </a:solidFill>
                          <a:highlight>
                            <a:schemeClr val="lt1"/>
                          </a:highlight>
                          <a:latin typeface="Inter"/>
                          <a:ea typeface="Inter"/>
                          <a:cs typeface="Inter"/>
                          <a:sym typeface="Inter"/>
                        </a:rPr>
                        <a:t> </a:t>
                      </a:r>
                      <a:r>
                        <a:rPr b="1" i="0" lang="en" sz="700" u="none" cap="none" strike="noStrike">
                          <a:solidFill>
                            <a:srgbClr val="1E293B"/>
                          </a:solidFill>
                          <a:latin typeface="Inter"/>
                          <a:ea typeface="Inter"/>
                          <a:cs typeface="Inter"/>
                          <a:sym typeface="Inter"/>
                        </a:rPr>
                        <a:t>Acres with two </a:t>
                      </a:r>
                      <a:r>
                        <a:rPr b="1" lang="en" sz="700">
                          <a:solidFill>
                            <a:srgbClr val="1E293B"/>
                          </a:solidFill>
                          <a:latin typeface="Inter"/>
                          <a:ea typeface="Inter"/>
                          <a:cs typeface="Inter"/>
                          <a:sym typeface="Inter"/>
                        </a:rPr>
                        <a:t>easements</a:t>
                      </a:r>
                      <a:r>
                        <a:rPr b="1" i="0" lang="en" sz="700" u="none" cap="none" strike="noStrike">
                          <a:solidFill>
                            <a:srgbClr val="1E293B"/>
                          </a:solidFill>
                          <a:latin typeface="Inter"/>
                          <a:ea typeface="Inter"/>
                          <a:cs typeface="Inter"/>
                          <a:sym typeface="Inter"/>
                        </a:rPr>
                        <a:t> through property </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r h="242900">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Number of Classrooms </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highlight>
                            <a:schemeClr val="lt1"/>
                          </a:highlight>
                          <a:latin typeface="Inter"/>
                          <a:ea typeface="Inter"/>
                          <a:cs typeface="Inter"/>
                          <a:sym typeface="Inter"/>
                        </a:rPr>
                        <a:t>9</a:t>
                      </a:r>
                      <a:endParaRPr sz="1100">
                        <a:highlight>
                          <a:schemeClr val="lt1"/>
                        </a:highlight>
                      </a:endParaRPr>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bl>
          </a:graphicData>
        </a:graphic>
      </p:graphicFrame>
      <p:sp>
        <p:nvSpPr>
          <p:cNvPr id="620" name="Google Shape;620;p51"/>
          <p:cNvSpPr txBox="1"/>
          <p:nvPr/>
        </p:nvSpPr>
        <p:spPr>
          <a:xfrm>
            <a:off x="7603740" y="528638"/>
            <a:ext cx="11688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1D4ED8"/>
                </a:solidFill>
                <a:latin typeface="Inter"/>
                <a:ea typeface="Inter"/>
                <a:cs typeface="Inter"/>
                <a:sym typeface="Inter"/>
              </a:rPr>
              <a:t>HUUSD Facility Profile</a:t>
            </a:r>
            <a:endParaRPr sz="1100"/>
          </a:p>
        </p:txBody>
      </p:sp>
      <p:sp>
        <p:nvSpPr>
          <p:cNvPr id="621" name="Google Shape;621;p51"/>
          <p:cNvSpPr txBox="1"/>
          <p:nvPr/>
        </p:nvSpPr>
        <p:spPr>
          <a:xfrm>
            <a:off x="342900" y="257175"/>
            <a:ext cx="4744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800" u="none" cap="none" strike="noStrike">
                <a:solidFill>
                  <a:srgbClr val="0F172A"/>
                </a:solidFill>
                <a:latin typeface="Inter"/>
                <a:ea typeface="Inter"/>
                <a:cs typeface="Inter"/>
                <a:sym typeface="Inter"/>
              </a:rPr>
              <a:t>FY27 </a:t>
            </a:r>
            <a:r>
              <a:rPr b="1" lang="en" sz="1800">
                <a:solidFill>
                  <a:srgbClr val="0F172A"/>
                </a:solidFill>
                <a:latin typeface="Inter"/>
                <a:ea typeface="Inter"/>
                <a:cs typeface="Inter"/>
                <a:sym typeface="Inter"/>
              </a:rPr>
              <a:t>Fayston</a:t>
            </a:r>
            <a:r>
              <a:rPr b="1" i="0" lang="en" sz="1800" u="none" cap="none" strike="noStrike">
                <a:solidFill>
                  <a:srgbClr val="0F172A"/>
                </a:solidFill>
                <a:latin typeface="Inter"/>
                <a:ea typeface="Inter"/>
                <a:cs typeface="Inter"/>
                <a:sym typeface="Inter"/>
              </a:rPr>
              <a:t> Elementary School Profile</a:t>
            </a:r>
            <a:endParaRPr sz="1100"/>
          </a:p>
        </p:txBody>
      </p:sp>
      <p:sp>
        <p:nvSpPr>
          <p:cNvPr id="622" name="Google Shape;622;p51"/>
          <p:cNvSpPr txBox="1"/>
          <p:nvPr/>
        </p:nvSpPr>
        <p:spPr>
          <a:xfrm>
            <a:off x="342900" y="564356"/>
            <a:ext cx="45183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800" u="none" cap="none" strike="noStrike">
                <a:solidFill>
                  <a:srgbClr val="64748B"/>
                </a:solidFill>
                <a:latin typeface="Inter"/>
                <a:ea typeface="Inter"/>
                <a:cs typeface="Inter"/>
                <a:sym typeface="Inter"/>
              </a:rPr>
              <a:t>Facility profile, student enrollment, and capital investment priorities</a:t>
            </a:r>
            <a:endParaRPr sz="1100"/>
          </a:p>
        </p:txBody>
      </p:sp>
      <p:sp>
        <p:nvSpPr>
          <p:cNvPr id="623" name="Google Shape;623;p51"/>
          <p:cNvSpPr txBox="1"/>
          <p:nvPr/>
        </p:nvSpPr>
        <p:spPr>
          <a:xfrm>
            <a:off x="492919" y="1114425"/>
            <a:ext cx="1371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TOTAL STUDENT ENROLLMENT</a:t>
            </a:r>
            <a:endParaRPr sz="1100"/>
          </a:p>
        </p:txBody>
      </p:sp>
      <p:sp>
        <p:nvSpPr>
          <p:cNvPr id="624" name="Google Shape;624;p51"/>
          <p:cNvSpPr txBox="1"/>
          <p:nvPr/>
        </p:nvSpPr>
        <p:spPr>
          <a:xfrm>
            <a:off x="492919" y="1371600"/>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 sz="1500">
                <a:latin typeface="Inter"/>
                <a:ea typeface="Inter"/>
                <a:cs typeface="Inter"/>
                <a:sym typeface="Inter"/>
              </a:rPr>
              <a:t>84</a:t>
            </a:r>
            <a:endParaRPr b="1" sz="1500">
              <a:latin typeface="Inter"/>
              <a:ea typeface="Inter"/>
              <a:cs typeface="Inter"/>
              <a:sym typeface="Inter"/>
            </a:endParaRPr>
          </a:p>
        </p:txBody>
      </p:sp>
      <p:sp>
        <p:nvSpPr>
          <p:cNvPr id="625" name="Google Shape;625;p51"/>
          <p:cNvSpPr txBox="1"/>
          <p:nvPr/>
        </p:nvSpPr>
        <p:spPr>
          <a:xfrm>
            <a:off x="492919" y="1618729"/>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Grades K – 6</a:t>
            </a:r>
            <a:endParaRPr sz="1100"/>
          </a:p>
        </p:txBody>
      </p:sp>
      <p:sp>
        <p:nvSpPr>
          <p:cNvPr id="626" name="Google Shape;626;p51"/>
          <p:cNvSpPr txBox="1"/>
          <p:nvPr/>
        </p:nvSpPr>
        <p:spPr>
          <a:xfrm>
            <a:off x="2207419" y="1114425"/>
            <a:ext cx="1371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DEFERRED MAINTENANCE (P1-3)</a:t>
            </a:r>
            <a:endParaRPr sz="1100"/>
          </a:p>
        </p:txBody>
      </p:sp>
      <p:sp>
        <p:nvSpPr>
          <p:cNvPr id="627" name="Google Shape;627;p51"/>
          <p:cNvSpPr txBox="1"/>
          <p:nvPr/>
        </p:nvSpPr>
        <p:spPr>
          <a:xfrm>
            <a:off x="2207419" y="1371600"/>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0F172A"/>
                </a:solidFill>
                <a:latin typeface="Inter"/>
                <a:ea typeface="Inter"/>
                <a:cs typeface="Inter"/>
                <a:sym typeface="Inter"/>
              </a:rPr>
              <a:t>$</a:t>
            </a:r>
            <a:r>
              <a:rPr b="1" lang="en" sz="1500">
                <a:solidFill>
                  <a:srgbClr val="0F172A"/>
                </a:solidFill>
                <a:latin typeface="Inter"/>
                <a:ea typeface="Inter"/>
                <a:cs typeface="Inter"/>
                <a:sym typeface="Inter"/>
              </a:rPr>
              <a:t>7,352,902</a:t>
            </a:r>
            <a:endParaRPr sz="1100"/>
          </a:p>
        </p:txBody>
      </p:sp>
      <p:sp>
        <p:nvSpPr>
          <p:cNvPr id="628" name="Google Shape;628;p51"/>
          <p:cNvSpPr txBox="1"/>
          <p:nvPr/>
        </p:nvSpPr>
        <p:spPr>
          <a:xfrm>
            <a:off x="2207419" y="1618729"/>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Priority 1: $</a:t>
            </a:r>
            <a:r>
              <a:rPr lang="en" sz="700">
                <a:solidFill>
                  <a:srgbClr val="64748B"/>
                </a:solidFill>
                <a:latin typeface="Inter"/>
                <a:ea typeface="Inter"/>
                <a:cs typeface="Inter"/>
                <a:sym typeface="Inter"/>
              </a:rPr>
              <a:t>985,516</a:t>
            </a:r>
            <a:endParaRPr sz="1100"/>
          </a:p>
        </p:txBody>
      </p:sp>
      <p:sp>
        <p:nvSpPr>
          <p:cNvPr id="629" name="Google Shape;629;p51"/>
          <p:cNvSpPr txBox="1"/>
          <p:nvPr/>
        </p:nvSpPr>
        <p:spPr>
          <a:xfrm>
            <a:off x="3921919" y="1114425"/>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DC2626"/>
                </a:solidFill>
                <a:latin typeface="Inter"/>
                <a:ea typeface="Inter"/>
                <a:cs typeface="Inter"/>
                <a:sym typeface="Inter"/>
              </a:rPr>
              <a:t>IMPENDING INVESTMENT</a:t>
            </a:r>
            <a:endParaRPr sz="1100"/>
          </a:p>
        </p:txBody>
      </p:sp>
      <p:sp>
        <p:nvSpPr>
          <p:cNvPr id="630" name="Google Shape;630;p51"/>
          <p:cNvSpPr txBox="1"/>
          <p:nvPr/>
        </p:nvSpPr>
        <p:spPr>
          <a:xfrm>
            <a:off x="3921919" y="1318022"/>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B91C1C"/>
                </a:solidFill>
                <a:latin typeface="Inter"/>
                <a:ea typeface="Inter"/>
                <a:cs typeface="Inter"/>
                <a:sym typeface="Inter"/>
              </a:rPr>
              <a:t>$</a:t>
            </a:r>
            <a:r>
              <a:rPr b="1" lang="en" sz="1500">
                <a:solidFill>
                  <a:srgbClr val="B91C1C"/>
                </a:solidFill>
                <a:latin typeface="Inter"/>
                <a:ea typeface="Inter"/>
                <a:cs typeface="Inter"/>
                <a:sym typeface="Inter"/>
              </a:rPr>
              <a:t>756,375</a:t>
            </a:r>
            <a:endParaRPr sz="1100"/>
          </a:p>
        </p:txBody>
      </p:sp>
      <p:sp>
        <p:nvSpPr>
          <p:cNvPr id="631" name="Google Shape;631;p51"/>
          <p:cNvSpPr txBox="1"/>
          <p:nvPr/>
        </p:nvSpPr>
        <p:spPr>
          <a:xfrm>
            <a:off x="3921919" y="1618729"/>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Near-term critical repairs</a:t>
            </a:r>
            <a:endParaRPr sz="1100"/>
          </a:p>
        </p:txBody>
      </p:sp>
      <p:sp>
        <p:nvSpPr>
          <p:cNvPr id="632" name="Google Shape;632;p51"/>
          <p:cNvSpPr txBox="1"/>
          <p:nvPr/>
        </p:nvSpPr>
        <p:spPr>
          <a:xfrm>
            <a:off x="5636419" y="1114425"/>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BUILDING FOOTPRINT</a:t>
            </a:r>
            <a:endParaRPr sz="1100"/>
          </a:p>
        </p:txBody>
      </p:sp>
      <p:sp>
        <p:nvSpPr>
          <p:cNvPr id="633" name="Google Shape;633;p51"/>
          <p:cNvSpPr txBox="1"/>
          <p:nvPr/>
        </p:nvSpPr>
        <p:spPr>
          <a:xfrm>
            <a:off x="5636419" y="1318022"/>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0F172A"/>
                </a:solidFill>
                <a:latin typeface="Inter"/>
                <a:ea typeface="Inter"/>
                <a:cs typeface="Inter"/>
                <a:sym typeface="Inter"/>
              </a:rPr>
              <a:t>2</a:t>
            </a:r>
            <a:r>
              <a:rPr b="1" lang="en" sz="1500">
                <a:solidFill>
                  <a:srgbClr val="0F172A"/>
                </a:solidFill>
                <a:latin typeface="Inter"/>
                <a:ea typeface="Inter"/>
                <a:cs typeface="Inter"/>
                <a:sym typeface="Inter"/>
              </a:rPr>
              <a:t>0,528</a:t>
            </a:r>
            <a:r>
              <a:rPr b="1" i="0" lang="en" sz="1500" u="none" cap="none" strike="noStrike">
                <a:solidFill>
                  <a:srgbClr val="0F172A"/>
                </a:solidFill>
                <a:latin typeface="Inter"/>
                <a:ea typeface="Inter"/>
                <a:cs typeface="Inter"/>
                <a:sym typeface="Inter"/>
              </a:rPr>
              <a:t> sq ft</a:t>
            </a:r>
            <a:endParaRPr sz="1100"/>
          </a:p>
        </p:txBody>
      </p:sp>
      <p:sp>
        <p:nvSpPr>
          <p:cNvPr id="634" name="Google Shape;634;p51"/>
          <p:cNvSpPr txBox="1"/>
          <p:nvPr/>
        </p:nvSpPr>
        <p:spPr>
          <a:xfrm>
            <a:off x="5636419" y="1618729"/>
            <a:ext cx="1625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700">
                <a:solidFill>
                  <a:srgbClr val="64748B"/>
                </a:solidFill>
                <a:latin typeface="Inter"/>
                <a:ea typeface="Inter"/>
                <a:cs typeface="Inter"/>
                <a:sym typeface="Inter"/>
              </a:rPr>
              <a:t>9 </a:t>
            </a:r>
            <a:r>
              <a:rPr b="0" i="0" lang="en" sz="700" u="none" cap="none" strike="noStrike">
                <a:solidFill>
                  <a:srgbClr val="64748B"/>
                </a:solidFill>
                <a:latin typeface="Inter"/>
                <a:ea typeface="Inter"/>
                <a:cs typeface="Inter"/>
                <a:sym typeface="Inter"/>
              </a:rPr>
              <a:t>Classrooms •</a:t>
            </a:r>
            <a:r>
              <a:rPr lang="en" sz="700">
                <a:solidFill>
                  <a:srgbClr val="64748B"/>
                </a:solidFill>
                <a:latin typeface="Inter"/>
                <a:ea typeface="Inter"/>
                <a:cs typeface="Inter"/>
                <a:sym typeface="Inter"/>
              </a:rPr>
              <a:t>Playgrounds and </a:t>
            </a:r>
            <a:endParaRPr sz="700">
              <a:solidFill>
                <a:srgbClr val="64748B"/>
              </a:solidFill>
              <a:latin typeface="Inter"/>
              <a:ea typeface="Inter"/>
              <a:cs typeface="Inter"/>
              <a:sym typeface="Inter"/>
            </a:endParaRPr>
          </a:p>
          <a:p>
            <a:pPr indent="0" lvl="0" marL="0" marR="0" rtl="0" algn="l">
              <a:spcBef>
                <a:spcPts val="0"/>
              </a:spcBef>
              <a:spcAft>
                <a:spcPts val="0"/>
              </a:spcAft>
              <a:buNone/>
            </a:pPr>
            <a:r>
              <a:rPr lang="en" sz="700">
                <a:solidFill>
                  <a:srgbClr val="64748B"/>
                </a:solidFill>
                <a:latin typeface="Inter"/>
                <a:ea typeface="Inter"/>
                <a:cs typeface="Inter"/>
                <a:sym typeface="Inter"/>
              </a:rPr>
              <a:t>Trails but no fields </a:t>
            </a:r>
            <a:endParaRPr sz="700">
              <a:solidFill>
                <a:srgbClr val="64748B"/>
              </a:solidFill>
              <a:latin typeface="Inter"/>
              <a:ea typeface="Inter"/>
              <a:cs typeface="Inter"/>
              <a:sym typeface="Inter"/>
            </a:endParaRPr>
          </a:p>
        </p:txBody>
      </p:sp>
      <p:sp>
        <p:nvSpPr>
          <p:cNvPr id="635" name="Google Shape;635;p51"/>
          <p:cNvSpPr txBox="1"/>
          <p:nvPr/>
        </p:nvSpPr>
        <p:spPr>
          <a:xfrm>
            <a:off x="7350919" y="1114425"/>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STAFFING &amp; HEADCOUNT</a:t>
            </a:r>
            <a:endParaRPr sz="1100"/>
          </a:p>
        </p:txBody>
      </p:sp>
      <p:sp>
        <p:nvSpPr>
          <p:cNvPr id="636" name="Google Shape;636;p51"/>
          <p:cNvSpPr txBox="1"/>
          <p:nvPr/>
        </p:nvSpPr>
        <p:spPr>
          <a:xfrm>
            <a:off x="7350919" y="1318022"/>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0F172A"/>
                </a:solidFill>
                <a:latin typeface="Inter"/>
                <a:ea typeface="Inter"/>
                <a:cs typeface="Inter"/>
                <a:sym typeface="Inter"/>
              </a:rPr>
              <a:t> 2</a:t>
            </a:r>
            <a:r>
              <a:rPr b="1" lang="en" sz="1500">
                <a:solidFill>
                  <a:srgbClr val="0F172A"/>
                </a:solidFill>
                <a:latin typeface="Inter"/>
                <a:ea typeface="Inter"/>
                <a:cs typeface="Inter"/>
                <a:sym typeface="Inter"/>
              </a:rPr>
              <a:t>5.63</a:t>
            </a:r>
            <a:r>
              <a:rPr b="1" i="0" lang="en" sz="1500" u="none" cap="none" strike="noStrike">
                <a:solidFill>
                  <a:srgbClr val="0F172A"/>
                </a:solidFill>
                <a:latin typeface="Inter"/>
                <a:ea typeface="Inter"/>
                <a:cs typeface="Inter"/>
                <a:sym typeface="Inter"/>
              </a:rPr>
              <a:t> FTE</a:t>
            </a:r>
            <a:endParaRPr sz="1100"/>
          </a:p>
        </p:txBody>
      </p:sp>
      <p:sp>
        <p:nvSpPr>
          <p:cNvPr id="637" name="Google Shape;637;p51"/>
          <p:cNvSpPr txBox="1"/>
          <p:nvPr/>
        </p:nvSpPr>
        <p:spPr>
          <a:xfrm>
            <a:off x="7350919" y="1618729"/>
            <a:ext cx="16251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100"/>
          </a:p>
        </p:txBody>
      </p:sp>
      <p:sp>
        <p:nvSpPr>
          <p:cNvPr id="638" name="Google Shape;638;p51"/>
          <p:cNvSpPr txBox="1"/>
          <p:nvPr/>
        </p:nvSpPr>
        <p:spPr>
          <a:xfrm>
            <a:off x="714375" y="2140223"/>
            <a:ext cx="25845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 sz="800" u="none" cap="none" strike="noStrike">
                <a:solidFill>
                  <a:srgbClr val="1E293B"/>
                </a:solidFill>
                <a:latin typeface="Inter"/>
                <a:ea typeface="Inter"/>
                <a:cs typeface="Inter"/>
                <a:sym typeface="Inter"/>
              </a:rPr>
              <a:t>Student Enrollment Distribution (FY27)</a:t>
            </a:r>
            <a:endParaRPr sz="1100"/>
          </a:p>
        </p:txBody>
      </p:sp>
      <p:sp>
        <p:nvSpPr>
          <p:cNvPr id="639" name="Google Shape;639;p51"/>
          <p:cNvSpPr txBox="1"/>
          <p:nvPr/>
        </p:nvSpPr>
        <p:spPr>
          <a:xfrm>
            <a:off x="478631"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PK3</a:t>
            </a:r>
            <a:endParaRPr sz="1100"/>
          </a:p>
        </p:txBody>
      </p:sp>
      <p:sp>
        <p:nvSpPr>
          <p:cNvPr id="640" name="Google Shape;640;p51"/>
          <p:cNvSpPr txBox="1"/>
          <p:nvPr/>
        </p:nvSpPr>
        <p:spPr>
          <a:xfrm>
            <a:off x="478631" y="2583135"/>
            <a:ext cx="6930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100"/>
          </a:p>
        </p:txBody>
      </p:sp>
      <p:sp>
        <p:nvSpPr>
          <p:cNvPr id="641" name="Google Shape;641;p51"/>
          <p:cNvSpPr txBox="1"/>
          <p:nvPr/>
        </p:nvSpPr>
        <p:spPr>
          <a:xfrm>
            <a:off x="1157288"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PK4</a:t>
            </a:r>
            <a:endParaRPr sz="1100"/>
          </a:p>
        </p:txBody>
      </p:sp>
      <p:sp>
        <p:nvSpPr>
          <p:cNvPr id="642" name="Google Shape;642;p51"/>
          <p:cNvSpPr txBox="1"/>
          <p:nvPr/>
        </p:nvSpPr>
        <p:spPr>
          <a:xfrm>
            <a:off x="1835944" y="2454548"/>
            <a:ext cx="7215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Kindergarten</a:t>
            </a:r>
            <a:endParaRPr sz="1100"/>
          </a:p>
        </p:txBody>
      </p:sp>
      <p:sp>
        <p:nvSpPr>
          <p:cNvPr id="643" name="Google Shape;643;p51"/>
          <p:cNvSpPr txBox="1"/>
          <p:nvPr/>
        </p:nvSpPr>
        <p:spPr>
          <a:xfrm>
            <a:off x="1835944" y="2583135"/>
            <a:ext cx="7215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12</a:t>
            </a:r>
            <a:endParaRPr sz="1100"/>
          </a:p>
        </p:txBody>
      </p:sp>
      <p:sp>
        <p:nvSpPr>
          <p:cNvPr id="644" name="Google Shape;644;p51"/>
          <p:cNvSpPr txBox="1"/>
          <p:nvPr/>
        </p:nvSpPr>
        <p:spPr>
          <a:xfrm>
            <a:off x="2543175"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1</a:t>
            </a:r>
            <a:endParaRPr sz="1100"/>
          </a:p>
        </p:txBody>
      </p:sp>
      <p:sp>
        <p:nvSpPr>
          <p:cNvPr id="645" name="Google Shape;645;p51"/>
          <p:cNvSpPr txBox="1"/>
          <p:nvPr/>
        </p:nvSpPr>
        <p:spPr>
          <a:xfrm>
            <a:off x="2543175"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13</a:t>
            </a:r>
            <a:endParaRPr sz="1100"/>
          </a:p>
        </p:txBody>
      </p:sp>
      <p:sp>
        <p:nvSpPr>
          <p:cNvPr id="646" name="Google Shape;646;p51"/>
          <p:cNvSpPr txBox="1"/>
          <p:nvPr/>
        </p:nvSpPr>
        <p:spPr>
          <a:xfrm>
            <a:off x="3221831"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2</a:t>
            </a:r>
            <a:endParaRPr sz="1100"/>
          </a:p>
        </p:txBody>
      </p:sp>
      <p:sp>
        <p:nvSpPr>
          <p:cNvPr id="647" name="Google Shape;647;p51"/>
          <p:cNvSpPr txBox="1"/>
          <p:nvPr/>
        </p:nvSpPr>
        <p:spPr>
          <a:xfrm>
            <a:off x="3221831"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11</a:t>
            </a:r>
            <a:endParaRPr sz="1100"/>
          </a:p>
        </p:txBody>
      </p:sp>
      <p:sp>
        <p:nvSpPr>
          <p:cNvPr id="648" name="Google Shape;648;p51"/>
          <p:cNvSpPr txBox="1"/>
          <p:nvPr/>
        </p:nvSpPr>
        <p:spPr>
          <a:xfrm>
            <a:off x="3900488"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3</a:t>
            </a:r>
            <a:endParaRPr sz="1100"/>
          </a:p>
        </p:txBody>
      </p:sp>
      <p:sp>
        <p:nvSpPr>
          <p:cNvPr id="649" name="Google Shape;649;p51"/>
          <p:cNvSpPr txBox="1"/>
          <p:nvPr/>
        </p:nvSpPr>
        <p:spPr>
          <a:xfrm>
            <a:off x="3900488"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11</a:t>
            </a:r>
            <a:endParaRPr sz="1100"/>
          </a:p>
        </p:txBody>
      </p:sp>
      <p:sp>
        <p:nvSpPr>
          <p:cNvPr id="650" name="Google Shape;650;p51"/>
          <p:cNvSpPr txBox="1"/>
          <p:nvPr/>
        </p:nvSpPr>
        <p:spPr>
          <a:xfrm>
            <a:off x="4579144"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4</a:t>
            </a:r>
            <a:endParaRPr sz="1100"/>
          </a:p>
        </p:txBody>
      </p:sp>
      <p:sp>
        <p:nvSpPr>
          <p:cNvPr id="651" name="Google Shape;651;p51"/>
          <p:cNvSpPr txBox="1"/>
          <p:nvPr/>
        </p:nvSpPr>
        <p:spPr>
          <a:xfrm>
            <a:off x="4579144"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18</a:t>
            </a:r>
            <a:endParaRPr sz="1100"/>
          </a:p>
        </p:txBody>
      </p:sp>
      <p:sp>
        <p:nvSpPr>
          <p:cNvPr id="652" name="Google Shape;652;p51"/>
          <p:cNvSpPr txBox="1"/>
          <p:nvPr/>
        </p:nvSpPr>
        <p:spPr>
          <a:xfrm>
            <a:off x="5257800"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5</a:t>
            </a:r>
            <a:endParaRPr sz="1100"/>
          </a:p>
        </p:txBody>
      </p:sp>
      <p:sp>
        <p:nvSpPr>
          <p:cNvPr id="653" name="Google Shape;653;p51"/>
          <p:cNvSpPr txBox="1"/>
          <p:nvPr/>
        </p:nvSpPr>
        <p:spPr>
          <a:xfrm>
            <a:off x="5257800"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9</a:t>
            </a:r>
            <a:endParaRPr sz="1100"/>
          </a:p>
        </p:txBody>
      </p:sp>
      <p:sp>
        <p:nvSpPr>
          <p:cNvPr id="654" name="Google Shape;654;p51"/>
          <p:cNvSpPr txBox="1"/>
          <p:nvPr/>
        </p:nvSpPr>
        <p:spPr>
          <a:xfrm>
            <a:off x="5936456"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6</a:t>
            </a:r>
            <a:endParaRPr sz="1100"/>
          </a:p>
        </p:txBody>
      </p:sp>
      <p:sp>
        <p:nvSpPr>
          <p:cNvPr id="655" name="Google Shape;655;p51"/>
          <p:cNvSpPr txBox="1"/>
          <p:nvPr/>
        </p:nvSpPr>
        <p:spPr>
          <a:xfrm>
            <a:off x="5936456"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13</a:t>
            </a:r>
            <a:endParaRPr sz="1100"/>
          </a:p>
        </p:txBody>
      </p:sp>
      <p:sp>
        <p:nvSpPr>
          <p:cNvPr id="656" name="Google Shape;656;p51"/>
          <p:cNvSpPr txBox="1"/>
          <p:nvPr/>
        </p:nvSpPr>
        <p:spPr>
          <a:xfrm>
            <a:off x="6615113"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7</a:t>
            </a:r>
            <a:endParaRPr sz="1100"/>
          </a:p>
        </p:txBody>
      </p:sp>
      <p:sp>
        <p:nvSpPr>
          <p:cNvPr id="657" name="Google Shape;657;p51"/>
          <p:cNvSpPr txBox="1"/>
          <p:nvPr/>
        </p:nvSpPr>
        <p:spPr>
          <a:xfrm>
            <a:off x="6615113"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000" u="none" cap="none" strike="noStrike">
                <a:solidFill>
                  <a:srgbClr val="0F172A"/>
                </a:solidFill>
                <a:latin typeface="Inter"/>
                <a:ea typeface="Inter"/>
                <a:cs typeface="Inter"/>
                <a:sym typeface="Inter"/>
              </a:rPr>
              <a:t>-</a:t>
            </a:r>
            <a:endParaRPr sz="1100"/>
          </a:p>
        </p:txBody>
      </p:sp>
      <p:sp>
        <p:nvSpPr>
          <p:cNvPr id="658" name="Google Shape;658;p51"/>
          <p:cNvSpPr txBox="1"/>
          <p:nvPr/>
        </p:nvSpPr>
        <p:spPr>
          <a:xfrm>
            <a:off x="7293769"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8</a:t>
            </a:r>
            <a:endParaRPr sz="1100"/>
          </a:p>
        </p:txBody>
      </p:sp>
      <p:sp>
        <p:nvSpPr>
          <p:cNvPr id="659" name="Google Shape;659;p51"/>
          <p:cNvSpPr txBox="1"/>
          <p:nvPr/>
        </p:nvSpPr>
        <p:spPr>
          <a:xfrm>
            <a:off x="7293769"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000" u="none" cap="none" strike="noStrike">
                <a:solidFill>
                  <a:srgbClr val="0F172A"/>
                </a:solidFill>
                <a:latin typeface="Inter"/>
                <a:ea typeface="Inter"/>
                <a:cs typeface="Inter"/>
                <a:sym typeface="Inter"/>
              </a:rPr>
              <a:t>-</a:t>
            </a:r>
            <a:endParaRPr sz="1100"/>
          </a:p>
        </p:txBody>
      </p:sp>
      <p:sp>
        <p:nvSpPr>
          <p:cNvPr id="660" name="Google Shape;660;p51"/>
          <p:cNvSpPr txBox="1"/>
          <p:nvPr/>
        </p:nvSpPr>
        <p:spPr>
          <a:xfrm>
            <a:off x="7972425"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BFDBFE"/>
                </a:solidFill>
                <a:latin typeface="Inter"/>
                <a:ea typeface="Inter"/>
                <a:cs typeface="Inter"/>
                <a:sym typeface="Inter"/>
              </a:rPr>
              <a:t>TOTAL</a:t>
            </a:r>
            <a:endParaRPr sz="1100"/>
          </a:p>
        </p:txBody>
      </p:sp>
      <p:sp>
        <p:nvSpPr>
          <p:cNvPr id="661" name="Google Shape;661;p51"/>
          <p:cNvSpPr txBox="1"/>
          <p:nvPr/>
        </p:nvSpPr>
        <p:spPr>
          <a:xfrm>
            <a:off x="7972425"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FFFFFF"/>
                </a:solidFill>
                <a:latin typeface="Inter"/>
                <a:ea typeface="Inter"/>
                <a:cs typeface="Inter"/>
                <a:sym typeface="Inter"/>
              </a:rPr>
              <a:t>84</a:t>
            </a:r>
            <a:endParaRPr sz="1100"/>
          </a:p>
        </p:txBody>
      </p:sp>
      <p:sp>
        <p:nvSpPr>
          <p:cNvPr id="662" name="Google Shape;662;p51"/>
          <p:cNvSpPr txBox="1"/>
          <p:nvPr/>
        </p:nvSpPr>
        <p:spPr>
          <a:xfrm>
            <a:off x="5357813" y="3211785"/>
            <a:ext cx="37863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 sz="800" u="none" cap="none" strike="noStrike">
                <a:solidFill>
                  <a:srgbClr val="1E293B"/>
                </a:solidFill>
                <a:latin typeface="Inter"/>
                <a:ea typeface="Inter"/>
                <a:cs typeface="Inter"/>
                <a:sym typeface="Inter"/>
              </a:rPr>
              <a:t>Facility &amp; Environmental Specs</a:t>
            </a:r>
            <a:endParaRPr sz="1100"/>
          </a:p>
        </p:txBody>
      </p:sp>
      <p:sp>
        <p:nvSpPr>
          <p:cNvPr id="663" name="Google Shape;663;p51"/>
          <p:cNvSpPr txBox="1"/>
          <p:nvPr/>
        </p:nvSpPr>
        <p:spPr>
          <a:xfrm>
            <a:off x="495300" y="3200400"/>
            <a:ext cx="42387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991B1B"/>
                </a:solidFill>
                <a:latin typeface="Inter"/>
                <a:ea typeface="Inter"/>
                <a:cs typeface="Inter"/>
                <a:sym typeface="Inter"/>
              </a:rPr>
              <a:t>Impending Capital Investment &amp; Facilities</a:t>
            </a:r>
            <a:endParaRPr b="1" sz="1100">
              <a:solidFill>
                <a:srgbClr val="991B1B"/>
              </a:solidFill>
              <a:latin typeface="Inter"/>
              <a:ea typeface="Inter"/>
              <a:cs typeface="Inter"/>
              <a:sym typeface="Inter"/>
            </a:endParaRPr>
          </a:p>
        </p:txBody>
      </p:sp>
      <p:sp>
        <p:nvSpPr>
          <p:cNvPr id="664" name="Google Shape;664;p51"/>
          <p:cNvSpPr txBox="1"/>
          <p:nvPr/>
        </p:nvSpPr>
        <p:spPr>
          <a:xfrm>
            <a:off x="495300" y="3505200"/>
            <a:ext cx="1905000" cy="815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 sz="900">
                <a:solidFill>
                  <a:srgbClr val="7F1D1D"/>
                </a:solidFill>
                <a:latin typeface="Inter"/>
                <a:ea typeface="Inter"/>
                <a:cs typeface="Inter"/>
                <a:sym typeface="Inter"/>
              </a:rPr>
              <a:t>Priority Maintenance</a:t>
            </a:r>
            <a:endParaRPr b="1" sz="900">
              <a:solidFill>
                <a:srgbClr val="7F1D1D"/>
              </a:solidFill>
              <a:latin typeface="Inter"/>
              <a:ea typeface="Inter"/>
              <a:cs typeface="Inter"/>
              <a:sym typeface="Inter"/>
            </a:endParaRPr>
          </a:p>
          <a:p>
            <a:pPr indent="-282575" lvl="0" marL="457200" rtl="0" algn="l">
              <a:spcBef>
                <a:spcPts val="450"/>
              </a:spcBef>
              <a:spcAft>
                <a:spcPts val="0"/>
              </a:spcAft>
              <a:buClr>
                <a:srgbClr val="DC2626"/>
              </a:buClr>
              <a:buSzPts val="850"/>
              <a:buFont typeface="Inter"/>
              <a:buChar char="●"/>
            </a:pPr>
            <a:r>
              <a:rPr lang="en" sz="850">
                <a:solidFill>
                  <a:srgbClr val="DC2626"/>
                </a:solidFill>
                <a:latin typeface="Inter SemiBold"/>
                <a:ea typeface="Inter SemiBold"/>
                <a:cs typeface="Inter SemiBold"/>
                <a:sym typeface="Inter SemiBold"/>
              </a:rPr>
              <a:t>Roof Replacement </a:t>
            </a:r>
            <a:endParaRPr b="0" sz="850">
              <a:solidFill>
                <a:srgbClr val="DC2626"/>
              </a:solidFill>
              <a:latin typeface="Inter SemiBold"/>
              <a:ea typeface="Inter SemiBold"/>
              <a:cs typeface="Inter SemiBold"/>
              <a:sym typeface="Inter SemiBold"/>
            </a:endParaRPr>
          </a:p>
          <a:p>
            <a:pPr indent="-282575" lvl="0" marL="457200" rtl="0" algn="l">
              <a:spcBef>
                <a:spcPts val="375"/>
              </a:spcBef>
              <a:spcAft>
                <a:spcPts val="0"/>
              </a:spcAft>
              <a:buClr>
                <a:srgbClr val="DC2626"/>
              </a:buClr>
              <a:buSzPts val="850"/>
              <a:buFont typeface="Inter"/>
              <a:buChar char="●"/>
            </a:pPr>
            <a:r>
              <a:rPr lang="en" sz="850">
                <a:solidFill>
                  <a:srgbClr val="DC2626"/>
                </a:solidFill>
                <a:latin typeface="Inter SemiBold"/>
                <a:ea typeface="Inter SemiBold"/>
                <a:cs typeface="Inter SemiBold"/>
                <a:sym typeface="Inter SemiBold"/>
              </a:rPr>
              <a:t>Fire Panel Replacement</a:t>
            </a:r>
            <a:endParaRPr b="0" sz="850">
              <a:solidFill>
                <a:srgbClr val="DC2626"/>
              </a:solidFill>
              <a:latin typeface="Inter SemiBold"/>
              <a:ea typeface="Inter SemiBold"/>
              <a:cs typeface="Inter SemiBold"/>
              <a:sym typeface="Inter SemiBold"/>
            </a:endParaRPr>
          </a:p>
          <a:p>
            <a:pPr indent="-282575" lvl="0" marL="457200" rtl="0" algn="l">
              <a:spcBef>
                <a:spcPts val="375"/>
              </a:spcBef>
              <a:spcAft>
                <a:spcPts val="375"/>
              </a:spcAft>
              <a:buClr>
                <a:srgbClr val="DC2626"/>
              </a:buClr>
              <a:buSzPts val="850"/>
              <a:buFont typeface="Inter"/>
              <a:buChar char="●"/>
            </a:pPr>
            <a:r>
              <a:rPr lang="en" sz="850">
                <a:solidFill>
                  <a:srgbClr val="DC2626"/>
                </a:solidFill>
                <a:latin typeface="Inter SemiBold"/>
                <a:ea typeface="Inter SemiBold"/>
                <a:cs typeface="Inter SemiBold"/>
                <a:sym typeface="Inter SemiBold"/>
              </a:rPr>
              <a:t>Water System Controls Replacement</a:t>
            </a:r>
            <a:endParaRPr b="0" sz="850">
              <a:solidFill>
                <a:srgbClr val="DC2626"/>
              </a:solidFill>
              <a:latin typeface="Inter SemiBold"/>
              <a:ea typeface="Inter SemiBold"/>
              <a:cs typeface="Inter SemiBold"/>
              <a:sym typeface="Inter SemiBold"/>
            </a:endParaRPr>
          </a:p>
        </p:txBody>
      </p:sp>
      <p:sp>
        <p:nvSpPr>
          <p:cNvPr id="665" name="Google Shape;665;p51"/>
          <p:cNvSpPr txBox="1"/>
          <p:nvPr/>
        </p:nvSpPr>
        <p:spPr>
          <a:xfrm>
            <a:off x="2476500" y="3505200"/>
            <a:ext cx="2286000" cy="1124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1D4ED8"/>
                </a:solidFill>
                <a:latin typeface="Inter"/>
                <a:ea typeface="Inter"/>
                <a:cs typeface="Inter"/>
                <a:sym typeface="Inter"/>
              </a:rPr>
              <a:t>Kitchen &amp; Meal Production</a:t>
            </a:r>
            <a:endParaRPr b="1" sz="850">
              <a:solidFill>
                <a:srgbClr val="1D4ED8"/>
              </a:solidFill>
              <a:latin typeface="Inter"/>
              <a:ea typeface="Inter"/>
              <a:cs typeface="Inter"/>
              <a:sym typeface="Inter"/>
            </a:endParaRPr>
          </a:p>
          <a:p>
            <a:pPr indent="0" lvl="0" marL="0" rtl="0" algn="l">
              <a:spcBef>
                <a:spcPts val="150"/>
              </a:spcBef>
              <a:spcAft>
                <a:spcPts val="0"/>
              </a:spcAft>
              <a:buNone/>
            </a:pPr>
            <a:r>
              <a:rPr lang="en" sz="800">
                <a:solidFill>
                  <a:srgbClr val="475569"/>
                </a:solidFill>
                <a:latin typeface="Inter"/>
                <a:ea typeface="Inter"/>
                <a:cs typeface="Inter"/>
                <a:sym typeface="Inter"/>
              </a:rPr>
              <a:t>Fully operational </a:t>
            </a:r>
            <a:r>
              <a:rPr lang="en" sz="800">
                <a:solidFill>
                  <a:srgbClr val="475569"/>
                </a:solidFill>
                <a:latin typeface="Inter"/>
                <a:ea typeface="Inter"/>
                <a:cs typeface="Inter"/>
                <a:sym typeface="Inter"/>
              </a:rPr>
              <a:t>Kitchen</a:t>
            </a:r>
            <a:endParaRPr sz="800">
              <a:solidFill>
                <a:srgbClr val="475569"/>
              </a:solidFill>
              <a:latin typeface="Inter"/>
              <a:ea typeface="Inter"/>
              <a:cs typeface="Inter"/>
              <a:sym typeface="Inter"/>
            </a:endParaRPr>
          </a:p>
          <a:p>
            <a:pPr indent="0" lvl="0" marL="0" rtl="0" algn="l">
              <a:spcBef>
                <a:spcPts val="600"/>
              </a:spcBef>
              <a:spcAft>
                <a:spcPts val="0"/>
              </a:spcAft>
              <a:buNone/>
            </a:pPr>
            <a:r>
              <a:rPr lang="en" sz="800">
                <a:solidFill>
                  <a:srgbClr val="475569"/>
                </a:solidFill>
                <a:latin typeface="Inter"/>
                <a:ea typeface="Inter"/>
                <a:cs typeface="Inter"/>
                <a:sym typeface="Inter"/>
              </a:rPr>
              <a:t> </a:t>
            </a:r>
            <a:r>
              <a:rPr b="1" lang="en" sz="850">
                <a:solidFill>
                  <a:srgbClr val="1D4ED8"/>
                </a:solidFill>
                <a:latin typeface="Inter"/>
                <a:ea typeface="Inter"/>
                <a:cs typeface="Inter"/>
                <a:sym typeface="Inter"/>
              </a:rPr>
              <a:t>Cafeteria Seating</a:t>
            </a:r>
            <a:endParaRPr b="1" sz="850">
              <a:solidFill>
                <a:srgbClr val="1D4ED8"/>
              </a:solidFill>
              <a:latin typeface="Inter"/>
              <a:ea typeface="Inter"/>
              <a:cs typeface="Inter"/>
              <a:sym typeface="Inter"/>
            </a:endParaRPr>
          </a:p>
          <a:p>
            <a:pPr indent="0" lvl="0" marL="0" rtl="0" algn="l">
              <a:spcBef>
                <a:spcPts val="600"/>
              </a:spcBef>
              <a:spcAft>
                <a:spcPts val="0"/>
              </a:spcAft>
              <a:buNone/>
            </a:pPr>
            <a:r>
              <a:rPr b="0" lang="en" sz="800">
                <a:solidFill>
                  <a:srgbClr val="475569"/>
                </a:solidFill>
                <a:latin typeface="Inter"/>
                <a:ea typeface="Inter"/>
                <a:cs typeface="Inter"/>
                <a:sym typeface="Inter"/>
              </a:rPr>
              <a:t>Gym is used </a:t>
            </a:r>
            <a:r>
              <a:rPr lang="en" sz="800">
                <a:solidFill>
                  <a:srgbClr val="475569"/>
                </a:solidFill>
                <a:latin typeface="Inter"/>
                <a:ea typeface="Inter"/>
                <a:cs typeface="Inter"/>
                <a:sym typeface="Inter"/>
              </a:rPr>
              <a:t>as cafeteria</a:t>
            </a:r>
            <a:r>
              <a:rPr lang="en" sz="800">
                <a:solidFill>
                  <a:srgbClr val="475569"/>
                </a:solidFill>
                <a:latin typeface="Inter"/>
                <a:ea typeface="Inter"/>
                <a:cs typeface="Inter"/>
                <a:sym typeface="Inter"/>
              </a:rPr>
              <a:t> </a:t>
            </a:r>
            <a:endParaRPr b="0" sz="800">
              <a:solidFill>
                <a:srgbClr val="475569"/>
              </a:solidFill>
              <a:latin typeface="Inter"/>
              <a:ea typeface="Inter"/>
              <a:cs typeface="Inter"/>
              <a:sym typeface="Inter"/>
            </a:endParaRPr>
          </a:p>
        </p:txBody>
      </p:sp>
      <p:sp>
        <p:nvSpPr>
          <p:cNvPr id="666" name="Google Shape;666;p51"/>
          <p:cNvSpPr txBox="1"/>
          <p:nvPr/>
        </p:nvSpPr>
        <p:spPr>
          <a:xfrm>
            <a:off x="378625" y="4264750"/>
            <a:ext cx="3543300" cy="4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7F1D1D"/>
                </a:solidFill>
                <a:latin typeface="Inter"/>
                <a:ea typeface="Inter"/>
                <a:cs typeface="Inter"/>
                <a:sym typeface="Inter"/>
              </a:rPr>
              <a:t>Annual Operating Costs</a:t>
            </a:r>
            <a:endParaRPr b="1" sz="900">
              <a:solidFill>
                <a:srgbClr val="7F1D1D"/>
              </a:solidFill>
              <a:latin typeface="Inter"/>
              <a:ea typeface="Inter"/>
              <a:cs typeface="Inter"/>
              <a:sym typeface="Inter"/>
            </a:endParaRPr>
          </a:p>
          <a:p>
            <a:pPr indent="0" lvl="0" marL="0" rtl="0" algn="l">
              <a:spcBef>
                <a:spcPts val="0"/>
              </a:spcBef>
              <a:spcAft>
                <a:spcPts val="0"/>
              </a:spcAft>
              <a:buNone/>
            </a:pPr>
            <a:r>
              <a:rPr lang="en" sz="900">
                <a:solidFill>
                  <a:srgbClr val="7F1D1D"/>
                </a:solidFill>
                <a:latin typeface="Inter"/>
                <a:ea typeface="Inter"/>
                <a:cs typeface="Inter"/>
                <a:sym typeface="Inter"/>
              </a:rPr>
              <a:t>$174,783 not including custodial salary and benefits</a:t>
            </a:r>
            <a:endParaRPr b="1" sz="900">
              <a:solidFill>
                <a:srgbClr val="7F1D1D"/>
              </a:solidFill>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70" name="Shape 670"/>
        <p:cNvGrpSpPr/>
        <p:nvPr/>
      </p:nvGrpSpPr>
      <p:grpSpPr>
        <a:xfrm>
          <a:off x="0" y="0"/>
          <a:ext cx="0" cy="0"/>
          <a:chOff x="0" y="0"/>
          <a:chExt cx="0" cy="0"/>
        </a:xfrm>
      </p:grpSpPr>
      <p:sp>
        <p:nvSpPr>
          <p:cNvPr id="671" name="Google Shape;671;p52"/>
          <p:cNvSpPr/>
          <p:nvPr/>
        </p:nvSpPr>
        <p:spPr>
          <a:xfrm>
            <a:off x="7503727" y="485775"/>
            <a:ext cx="1297500" cy="214500"/>
          </a:xfrm>
          <a:prstGeom prst="roundRect">
            <a:avLst>
              <a:gd fmla="val 50000" name="adj"/>
            </a:avLst>
          </a:prstGeom>
          <a:solidFill>
            <a:srgbClr val="EFF6FF"/>
          </a:solidFill>
          <a:ln cap="flat" cmpd="sng" w="7150">
            <a:solidFill>
              <a:srgbClr val="BFDBFE"/>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2" name="Google Shape;672;p52"/>
          <p:cNvSpPr/>
          <p:nvPr/>
        </p:nvSpPr>
        <p:spPr>
          <a:xfrm>
            <a:off x="342900" y="1990204"/>
            <a:ext cx="8458200" cy="971700"/>
          </a:xfrm>
          <a:prstGeom prst="roundRect">
            <a:avLst>
              <a:gd fmla="val 8823"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3" name="Google Shape;673;p52"/>
          <p:cNvSpPr/>
          <p:nvPr/>
        </p:nvSpPr>
        <p:spPr>
          <a:xfrm>
            <a:off x="342900" y="978694"/>
            <a:ext cx="1600200" cy="882900"/>
          </a:xfrm>
          <a:prstGeom prst="roundRect">
            <a:avLst>
              <a:gd fmla="val 9709" name="adj"/>
            </a:avLst>
          </a:prstGeom>
          <a:solidFill>
            <a:srgbClr val="F0F9FF"/>
          </a:solidFill>
          <a:ln cap="flat" cmpd="sng" w="7150">
            <a:solidFill>
              <a:srgbClr val="BAE6FD"/>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4" name="Google Shape;674;p52"/>
          <p:cNvSpPr/>
          <p:nvPr/>
        </p:nvSpPr>
        <p:spPr>
          <a:xfrm>
            <a:off x="2057400" y="978694"/>
            <a:ext cx="1600200" cy="882900"/>
          </a:xfrm>
          <a:prstGeom prst="roundRect">
            <a:avLst>
              <a:gd fmla="val 9709"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5" name="Google Shape;675;p52"/>
          <p:cNvSpPr/>
          <p:nvPr/>
        </p:nvSpPr>
        <p:spPr>
          <a:xfrm>
            <a:off x="3771900" y="978694"/>
            <a:ext cx="1600200" cy="882900"/>
          </a:xfrm>
          <a:prstGeom prst="roundRect">
            <a:avLst>
              <a:gd fmla="val 9709" name="adj"/>
            </a:avLst>
          </a:prstGeom>
          <a:solidFill>
            <a:srgbClr val="FEF2F2"/>
          </a:solidFill>
          <a:ln cap="flat" cmpd="sng" w="7150">
            <a:solidFill>
              <a:srgbClr val="FECAC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6" name="Google Shape;676;p52"/>
          <p:cNvSpPr/>
          <p:nvPr/>
        </p:nvSpPr>
        <p:spPr>
          <a:xfrm>
            <a:off x="5486400" y="978694"/>
            <a:ext cx="1600200" cy="882900"/>
          </a:xfrm>
          <a:prstGeom prst="roundRect">
            <a:avLst>
              <a:gd fmla="val 9709"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7" name="Google Shape;677;p52"/>
          <p:cNvSpPr/>
          <p:nvPr/>
        </p:nvSpPr>
        <p:spPr>
          <a:xfrm>
            <a:off x="7200900" y="978694"/>
            <a:ext cx="1600200" cy="882900"/>
          </a:xfrm>
          <a:prstGeom prst="roundRect">
            <a:avLst>
              <a:gd fmla="val 9709"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8" name="Google Shape;678;p52"/>
          <p:cNvSpPr/>
          <p:nvPr/>
        </p:nvSpPr>
        <p:spPr>
          <a:xfrm>
            <a:off x="521494"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9" name="Google Shape;679;p52"/>
          <p:cNvSpPr/>
          <p:nvPr/>
        </p:nvSpPr>
        <p:spPr>
          <a:xfrm>
            <a:off x="1200150"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1" sz="1000">
              <a:solidFill>
                <a:schemeClr val="dk1"/>
              </a:solidFill>
              <a:latin typeface="Inter"/>
              <a:ea typeface="Inter"/>
              <a:cs typeface="Inter"/>
              <a:sym typeface="Inter"/>
            </a:endParaRPr>
          </a:p>
          <a:p>
            <a:pPr indent="0" lvl="0" marL="0" marR="0" rtl="0" algn="ctr">
              <a:spcBef>
                <a:spcPts val="0"/>
              </a:spcBef>
              <a:spcAft>
                <a:spcPts val="0"/>
              </a:spcAft>
              <a:buNone/>
            </a:pPr>
            <a:r>
              <a:rPr b="1" lang="en" sz="1000">
                <a:solidFill>
                  <a:schemeClr val="dk1"/>
                </a:solidFill>
                <a:latin typeface="Inter"/>
                <a:ea typeface="Inter"/>
                <a:cs typeface="Inter"/>
                <a:sym typeface="Inter"/>
              </a:rPr>
              <a:t>18</a:t>
            </a:r>
            <a:endParaRPr b="1" sz="1000">
              <a:solidFill>
                <a:schemeClr val="dk1"/>
              </a:solidFill>
              <a:latin typeface="Inter"/>
              <a:ea typeface="Inter"/>
              <a:cs typeface="Inter"/>
              <a:sym typeface="Inter"/>
            </a:endParaRPr>
          </a:p>
        </p:txBody>
      </p:sp>
      <p:sp>
        <p:nvSpPr>
          <p:cNvPr id="680" name="Google Shape;680;p52"/>
          <p:cNvSpPr/>
          <p:nvPr/>
        </p:nvSpPr>
        <p:spPr>
          <a:xfrm>
            <a:off x="1878806" y="2375966"/>
            <a:ext cx="6360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81" name="Google Shape;681;p52"/>
          <p:cNvSpPr/>
          <p:nvPr/>
        </p:nvSpPr>
        <p:spPr>
          <a:xfrm>
            <a:off x="2586038"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82" name="Google Shape;682;p52"/>
          <p:cNvSpPr/>
          <p:nvPr/>
        </p:nvSpPr>
        <p:spPr>
          <a:xfrm>
            <a:off x="3264694"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83" name="Google Shape;683;p52"/>
          <p:cNvSpPr/>
          <p:nvPr/>
        </p:nvSpPr>
        <p:spPr>
          <a:xfrm>
            <a:off x="3943350"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84" name="Google Shape;684;p52"/>
          <p:cNvSpPr/>
          <p:nvPr/>
        </p:nvSpPr>
        <p:spPr>
          <a:xfrm>
            <a:off x="4622006"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85" name="Google Shape;685;p52"/>
          <p:cNvSpPr/>
          <p:nvPr/>
        </p:nvSpPr>
        <p:spPr>
          <a:xfrm>
            <a:off x="5300663"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86" name="Google Shape;686;p52"/>
          <p:cNvSpPr/>
          <p:nvPr/>
        </p:nvSpPr>
        <p:spPr>
          <a:xfrm>
            <a:off x="5979319"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87" name="Google Shape;687;p52"/>
          <p:cNvSpPr/>
          <p:nvPr/>
        </p:nvSpPr>
        <p:spPr>
          <a:xfrm>
            <a:off x="6657975"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88" name="Google Shape;688;p52"/>
          <p:cNvSpPr/>
          <p:nvPr/>
        </p:nvSpPr>
        <p:spPr>
          <a:xfrm>
            <a:off x="7336631"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89" name="Google Shape;689;p52"/>
          <p:cNvSpPr/>
          <p:nvPr/>
        </p:nvSpPr>
        <p:spPr>
          <a:xfrm>
            <a:off x="8015288" y="2375966"/>
            <a:ext cx="607200" cy="435900"/>
          </a:xfrm>
          <a:prstGeom prst="roundRect">
            <a:avLst>
              <a:gd fmla="val 13114" name="adj"/>
            </a:avLst>
          </a:prstGeom>
          <a:solidFill>
            <a:srgbClr val="2563EB"/>
          </a:solidFill>
          <a:ln cap="flat" cmpd="sng" w="7150">
            <a:solidFill>
              <a:srgbClr val="1D4ED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90" name="Google Shape;690;p52"/>
          <p:cNvSpPr/>
          <p:nvPr/>
        </p:nvSpPr>
        <p:spPr>
          <a:xfrm>
            <a:off x="342900" y="3090339"/>
            <a:ext cx="4543500" cy="1664700"/>
          </a:xfrm>
          <a:prstGeom prst="roundRect">
            <a:avLst>
              <a:gd fmla="val 5149"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1" name="Google Shape;691;p52"/>
          <p:cNvSpPr/>
          <p:nvPr/>
        </p:nvSpPr>
        <p:spPr>
          <a:xfrm>
            <a:off x="5014913" y="3090341"/>
            <a:ext cx="3786300" cy="1664700"/>
          </a:xfrm>
          <a:prstGeom prst="roundRect">
            <a:avLst>
              <a:gd fmla="val 5150"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92" name="Google Shape;692;p52"/>
          <p:cNvSpPr/>
          <p:nvPr/>
        </p:nvSpPr>
        <p:spPr>
          <a:xfrm>
            <a:off x="5164931" y="3629694"/>
            <a:ext cx="18018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93" name="Google Shape;693;p52"/>
          <p:cNvSpPr/>
          <p:nvPr/>
        </p:nvSpPr>
        <p:spPr>
          <a:xfrm>
            <a:off x="6966830" y="3629694"/>
            <a:ext cx="16845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94" name="Google Shape;694;p52"/>
          <p:cNvSpPr/>
          <p:nvPr/>
        </p:nvSpPr>
        <p:spPr>
          <a:xfrm>
            <a:off x="5164931" y="3879725"/>
            <a:ext cx="1801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95" name="Google Shape;695;p52"/>
          <p:cNvSpPr/>
          <p:nvPr/>
        </p:nvSpPr>
        <p:spPr>
          <a:xfrm>
            <a:off x="6966830" y="3879725"/>
            <a:ext cx="168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96" name="Google Shape;696;p52"/>
          <p:cNvSpPr/>
          <p:nvPr/>
        </p:nvSpPr>
        <p:spPr>
          <a:xfrm>
            <a:off x="5164931" y="4129757"/>
            <a:ext cx="1801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97" name="Google Shape;697;p52"/>
          <p:cNvSpPr/>
          <p:nvPr/>
        </p:nvSpPr>
        <p:spPr>
          <a:xfrm>
            <a:off x="6966830" y="4129757"/>
            <a:ext cx="168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98" name="Google Shape;698;p52"/>
          <p:cNvSpPr/>
          <p:nvPr/>
        </p:nvSpPr>
        <p:spPr>
          <a:xfrm>
            <a:off x="5164931" y="4379788"/>
            <a:ext cx="1801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99" name="Google Shape;699;p52"/>
          <p:cNvSpPr/>
          <p:nvPr/>
        </p:nvSpPr>
        <p:spPr>
          <a:xfrm>
            <a:off x="6966830" y="4379788"/>
            <a:ext cx="168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descr="image.png" id="700" name="Google Shape;700;p52"/>
          <p:cNvPicPr preferRelativeResize="0"/>
          <p:nvPr/>
        </p:nvPicPr>
        <p:blipFill rotWithShape="1">
          <a:blip r:embed="rId3">
            <a:alphaModFix/>
          </a:blip>
          <a:srcRect b="0" l="0" r="0" t="0"/>
          <a:stretch/>
        </p:blipFill>
        <p:spPr>
          <a:xfrm>
            <a:off x="521494" y="2154510"/>
            <a:ext cx="135731" cy="107156"/>
          </a:xfrm>
          <a:prstGeom prst="rect">
            <a:avLst/>
          </a:prstGeom>
          <a:noFill/>
          <a:ln>
            <a:noFill/>
          </a:ln>
        </p:spPr>
      </p:pic>
      <p:pic>
        <p:nvPicPr>
          <p:cNvPr descr="image.png" id="701" name="Google Shape;701;p52"/>
          <p:cNvPicPr preferRelativeResize="0"/>
          <p:nvPr/>
        </p:nvPicPr>
        <p:blipFill rotWithShape="1">
          <a:blip r:embed="rId4">
            <a:alphaModFix/>
          </a:blip>
          <a:srcRect b="0" l="0" r="0" t="0"/>
          <a:stretch/>
        </p:blipFill>
        <p:spPr>
          <a:xfrm>
            <a:off x="5164931" y="3226072"/>
            <a:ext cx="135731" cy="107156"/>
          </a:xfrm>
          <a:prstGeom prst="rect">
            <a:avLst/>
          </a:prstGeom>
          <a:noFill/>
          <a:ln>
            <a:noFill/>
          </a:ln>
        </p:spPr>
      </p:pic>
      <p:graphicFrame>
        <p:nvGraphicFramePr>
          <p:cNvPr id="702" name="Google Shape;702;p52"/>
          <p:cNvGraphicFramePr/>
          <p:nvPr/>
        </p:nvGraphicFramePr>
        <p:xfrm>
          <a:off x="5164931" y="3418954"/>
          <a:ext cx="3000000" cy="3000000"/>
        </p:xfrm>
        <a:graphic>
          <a:graphicData uri="http://schemas.openxmlformats.org/drawingml/2006/table">
            <a:tbl>
              <a:tblPr>
                <a:noFill/>
                <a:tableStyleId>{5C564A07-C9E8-4B74-8387-D50FA61C5E47}</a:tableStyleId>
              </a:tblPr>
              <a:tblGrid>
                <a:gridCol w="1801900"/>
                <a:gridCol w="1684250"/>
              </a:tblGrid>
              <a:tr h="242900">
                <a:tc>
                  <a:txBody>
                    <a:bodyPr/>
                    <a:lstStyle/>
                    <a:p>
                      <a:pPr indent="0" lvl="0" marL="0" marR="0" rtl="0" algn="l">
                        <a:spcBef>
                          <a:spcPts val="0"/>
                        </a:spcBef>
                        <a:spcAft>
                          <a:spcPts val="0"/>
                        </a:spcAft>
                        <a:buNone/>
                      </a:pPr>
                      <a:r>
                        <a:rPr b="1" i="0" lang="en" sz="600" u="none" cap="none" strike="noStrike">
                          <a:solidFill>
                            <a:srgbClr val="475569"/>
                          </a:solidFill>
                          <a:latin typeface="Inter"/>
                          <a:ea typeface="Inter"/>
                          <a:cs typeface="Inter"/>
                          <a:sym typeface="Inter"/>
                        </a:rPr>
                        <a:t>Property Metric</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 sz="600" u="none" cap="none" strike="noStrike">
                          <a:solidFill>
                            <a:srgbClr val="475569"/>
                          </a:solidFill>
                          <a:latin typeface="Inter"/>
                          <a:ea typeface="Inter"/>
                          <a:cs typeface="Inter"/>
                          <a:sym typeface="Inter"/>
                        </a:rPr>
                        <a:t>Specification</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1F5F9"/>
                    </a:solidFill>
                  </a:tcPr>
                </a:tc>
              </a:tr>
              <a:tr h="242900">
                <a:tc>
                  <a:txBody>
                    <a:bodyPr/>
                    <a:lstStyle/>
                    <a:p>
                      <a:pPr indent="0" lvl="0" marL="0" marR="0" rtl="0" algn="l">
                        <a:spcBef>
                          <a:spcPts val="0"/>
                        </a:spcBef>
                        <a:spcAft>
                          <a:spcPts val="0"/>
                        </a:spcAft>
                        <a:buNone/>
                      </a:pPr>
                      <a:r>
                        <a:rPr b="1" i="0" lang="en" sz="700" u="none" cap="none" strike="noStrike">
                          <a:solidFill>
                            <a:srgbClr val="1E293B"/>
                          </a:solidFill>
                          <a:latin typeface="Inter"/>
                          <a:ea typeface="Inter"/>
                          <a:cs typeface="Inter"/>
                          <a:sym typeface="Inter"/>
                        </a:rPr>
                        <a:t>Wastewater Permitting #</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235</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r h="242900">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Heat/Solar</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Propane/No Solar</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r h="242900">
                <a:tc>
                  <a:txBody>
                    <a:bodyPr/>
                    <a:lstStyle/>
                    <a:p>
                      <a:pPr indent="0" lvl="0" marL="0" marR="0" rtl="0" algn="l">
                        <a:spcBef>
                          <a:spcPts val="0"/>
                        </a:spcBef>
                        <a:spcAft>
                          <a:spcPts val="0"/>
                        </a:spcAft>
                        <a:buNone/>
                      </a:pPr>
                      <a:r>
                        <a:rPr b="1" i="0" lang="en" sz="700" u="none" cap="none" strike="noStrike">
                          <a:solidFill>
                            <a:srgbClr val="1E293B"/>
                          </a:solidFill>
                          <a:latin typeface="Inter"/>
                          <a:ea typeface="Inter"/>
                          <a:cs typeface="Inter"/>
                          <a:sym typeface="Inter"/>
                        </a:rPr>
                        <a:t>Land </a:t>
                      </a:r>
                      <a:r>
                        <a:rPr b="1" lang="en" sz="700">
                          <a:solidFill>
                            <a:srgbClr val="1E293B"/>
                          </a:solidFill>
                          <a:latin typeface="Inter"/>
                          <a:ea typeface="Inter"/>
                          <a:cs typeface="Inter"/>
                          <a:sym typeface="Inter"/>
                        </a:rPr>
                        <a:t>Ownership</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highlight>
                            <a:schemeClr val="lt1"/>
                          </a:highlight>
                          <a:latin typeface="Inter"/>
                          <a:ea typeface="Inter"/>
                          <a:cs typeface="Inter"/>
                          <a:sym typeface="Inter"/>
                        </a:rPr>
                        <a:t>~2.0</a:t>
                      </a:r>
                      <a:r>
                        <a:rPr b="1" i="0" lang="en" sz="700" u="none" cap="none" strike="noStrike">
                          <a:solidFill>
                            <a:srgbClr val="1E293B"/>
                          </a:solidFill>
                          <a:latin typeface="Inter"/>
                          <a:ea typeface="Inter"/>
                          <a:cs typeface="Inter"/>
                          <a:sym typeface="Inter"/>
                        </a:rPr>
                        <a:t> Acres</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r h="242900">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Number of classrooms</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highlight>
                            <a:schemeClr val="lt1"/>
                          </a:highlight>
                          <a:latin typeface="Inter"/>
                          <a:ea typeface="Inter"/>
                          <a:cs typeface="Inter"/>
                          <a:sym typeface="Inter"/>
                        </a:rPr>
                        <a:t>11</a:t>
                      </a:r>
                      <a:endParaRPr sz="1100">
                        <a:highlight>
                          <a:schemeClr val="lt1"/>
                        </a:highlight>
                      </a:endParaRPr>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bl>
          </a:graphicData>
        </a:graphic>
      </p:graphicFrame>
      <p:sp>
        <p:nvSpPr>
          <p:cNvPr id="703" name="Google Shape;703;p52"/>
          <p:cNvSpPr txBox="1"/>
          <p:nvPr/>
        </p:nvSpPr>
        <p:spPr>
          <a:xfrm>
            <a:off x="7603740" y="528638"/>
            <a:ext cx="11688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1D4ED8"/>
                </a:solidFill>
                <a:latin typeface="Inter"/>
                <a:ea typeface="Inter"/>
                <a:cs typeface="Inter"/>
                <a:sym typeface="Inter"/>
              </a:rPr>
              <a:t>HUUSD Facility Profile</a:t>
            </a:r>
            <a:endParaRPr sz="1100"/>
          </a:p>
        </p:txBody>
      </p:sp>
      <p:sp>
        <p:nvSpPr>
          <p:cNvPr id="704" name="Google Shape;704;p52"/>
          <p:cNvSpPr txBox="1"/>
          <p:nvPr/>
        </p:nvSpPr>
        <p:spPr>
          <a:xfrm>
            <a:off x="342900" y="257175"/>
            <a:ext cx="4744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800" u="none" cap="none" strike="noStrike">
                <a:solidFill>
                  <a:srgbClr val="0F172A"/>
                </a:solidFill>
                <a:latin typeface="Inter"/>
                <a:ea typeface="Inter"/>
                <a:cs typeface="Inter"/>
                <a:sym typeface="Inter"/>
              </a:rPr>
              <a:t>FY27 </a:t>
            </a:r>
            <a:r>
              <a:rPr b="1" lang="en" sz="1800">
                <a:solidFill>
                  <a:srgbClr val="0F172A"/>
                </a:solidFill>
                <a:latin typeface="Inter"/>
                <a:ea typeface="Inter"/>
                <a:cs typeface="Inter"/>
                <a:sym typeface="Inter"/>
              </a:rPr>
              <a:t>Moretown</a:t>
            </a:r>
            <a:r>
              <a:rPr b="1" i="0" lang="en" sz="1800" u="none" cap="none" strike="noStrike">
                <a:solidFill>
                  <a:srgbClr val="0F172A"/>
                </a:solidFill>
                <a:latin typeface="Inter"/>
                <a:ea typeface="Inter"/>
                <a:cs typeface="Inter"/>
                <a:sym typeface="Inter"/>
              </a:rPr>
              <a:t> Elementary School Profile</a:t>
            </a:r>
            <a:endParaRPr sz="1100"/>
          </a:p>
        </p:txBody>
      </p:sp>
      <p:sp>
        <p:nvSpPr>
          <p:cNvPr id="705" name="Google Shape;705;p52"/>
          <p:cNvSpPr txBox="1"/>
          <p:nvPr/>
        </p:nvSpPr>
        <p:spPr>
          <a:xfrm>
            <a:off x="342900" y="564356"/>
            <a:ext cx="45183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800" u="none" cap="none" strike="noStrike">
                <a:solidFill>
                  <a:srgbClr val="64748B"/>
                </a:solidFill>
                <a:latin typeface="Inter"/>
                <a:ea typeface="Inter"/>
                <a:cs typeface="Inter"/>
                <a:sym typeface="Inter"/>
              </a:rPr>
              <a:t>Facility profile, student enrollment, and capital investment priorities</a:t>
            </a:r>
            <a:endParaRPr sz="1100"/>
          </a:p>
        </p:txBody>
      </p:sp>
      <p:sp>
        <p:nvSpPr>
          <p:cNvPr id="706" name="Google Shape;706;p52"/>
          <p:cNvSpPr txBox="1"/>
          <p:nvPr/>
        </p:nvSpPr>
        <p:spPr>
          <a:xfrm>
            <a:off x="492919" y="1114425"/>
            <a:ext cx="1371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TOTAL STUDENT ENROLLMENT</a:t>
            </a:r>
            <a:endParaRPr sz="1100"/>
          </a:p>
        </p:txBody>
      </p:sp>
      <p:sp>
        <p:nvSpPr>
          <p:cNvPr id="707" name="Google Shape;707;p52"/>
          <p:cNvSpPr txBox="1"/>
          <p:nvPr/>
        </p:nvSpPr>
        <p:spPr>
          <a:xfrm>
            <a:off x="492919" y="1371600"/>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 sz="1500">
                <a:latin typeface="Inter"/>
                <a:ea typeface="Inter"/>
                <a:cs typeface="Inter"/>
                <a:sym typeface="Inter"/>
              </a:rPr>
              <a:t>137</a:t>
            </a:r>
            <a:endParaRPr b="1" sz="1500">
              <a:latin typeface="Inter"/>
              <a:ea typeface="Inter"/>
              <a:cs typeface="Inter"/>
              <a:sym typeface="Inter"/>
            </a:endParaRPr>
          </a:p>
        </p:txBody>
      </p:sp>
      <p:sp>
        <p:nvSpPr>
          <p:cNvPr id="708" name="Google Shape;708;p52"/>
          <p:cNvSpPr txBox="1"/>
          <p:nvPr/>
        </p:nvSpPr>
        <p:spPr>
          <a:xfrm>
            <a:off x="492919" y="1618729"/>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Grades K – 6</a:t>
            </a:r>
            <a:endParaRPr sz="1100"/>
          </a:p>
        </p:txBody>
      </p:sp>
      <p:sp>
        <p:nvSpPr>
          <p:cNvPr id="709" name="Google Shape;709;p52"/>
          <p:cNvSpPr txBox="1"/>
          <p:nvPr/>
        </p:nvSpPr>
        <p:spPr>
          <a:xfrm>
            <a:off x="2207419" y="1114425"/>
            <a:ext cx="1371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DEFERRED MAINTENANCE (P1-3)</a:t>
            </a:r>
            <a:endParaRPr sz="1100"/>
          </a:p>
        </p:txBody>
      </p:sp>
      <p:sp>
        <p:nvSpPr>
          <p:cNvPr id="710" name="Google Shape;710;p52"/>
          <p:cNvSpPr txBox="1"/>
          <p:nvPr/>
        </p:nvSpPr>
        <p:spPr>
          <a:xfrm>
            <a:off x="2207419" y="1371600"/>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0F172A"/>
                </a:solidFill>
                <a:latin typeface="Inter"/>
                <a:ea typeface="Inter"/>
                <a:cs typeface="Inter"/>
                <a:sym typeface="Inter"/>
              </a:rPr>
              <a:t>$</a:t>
            </a:r>
            <a:r>
              <a:rPr b="1" lang="en" sz="1500">
                <a:solidFill>
                  <a:srgbClr val="0F172A"/>
                </a:solidFill>
                <a:latin typeface="Inter"/>
                <a:ea typeface="Inter"/>
                <a:cs typeface="Inter"/>
                <a:sym typeface="Inter"/>
              </a:rPr>
              <a:t>4,875,697</a:t>
            </a:r>
            <a:endParaRPr sz="1100"/>
          </a:p>
        </p:txBody>
      </p:sp>
      <p:sp>
        <p:nvSpPr>
          <p:cNvPr id="711" name="Google Shape;711;p52"/>
          <p:cNvSpPr txBox="1"/>
          <p:nvPr/>
        </p:nvSpPr>
        <p:spPr>
          <a:xfrm>
            <a:off x="2207419" y="1618729"/>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Priority 1: $</a:t>
            </a:r>
            <a:r>
              <a:rPr lang="en" sz="700">
                <a:solidFill>
                  <a:srgbClr val="64748B"/>
                </a:solidFill>
                <a:latin typeface="Inter"/>
                <a:ea typeface="Inter"/>
                <a:cs typeface="Inter"/>
                <a:sym typeface="Inter"/>
              </a:rPr>
              <a:t>366,584</a:t>
            </a:r>
            <a:endParaRPr sz="1100"/>
          </a:p>
        </p:txBody>
      </p:sp>
      <p:sp>
        <p:nvSpPr>
          <p:cNvPr id="712" name="Google Shape;712;p52"/>
          <p:cNvSpPr txBox="1"/>
          <p:nvPr/>
        </p:nvSpPr>
        <p:spPr>
          <a:xfrm>
            <a:off x="3921919" y="1114425"/>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DC2626"/>
                </a:solidFill>
                <a:latin typeface="Inter"/>
                <a:ea typeface="Inter"/>
                <a:cs typeface="Inter"/>
                <a:sym typeface="Inter"/>
              </a:rPr>
              <a:t>IMPENDING INVESTMENT</a:t>
            </a:r>
            <a:endParaRPr sz="1100"/>
          </a:p>
        </p:txBody>
      </p:sp>
      <p:sp>
        <p:nvSpPr>
          <p:cNvPr id="713" name="Google Shape;713;p52"/>
          <p:cNvSpPr txBox="1"/>
          <p:nvPr/>
        </p:nvSpPr>
        <p:spPr>
          <a:xfrm>
            <a:off x="3921919" y="1304922"/>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B91C1C"/>
                </a:solidFill>
                <a:latin typeface="Inter"/>
                <a:ea typeface="Inter"/>
                <a:cs typeface="Inter"/>
                <a:sym typeface="Inter"/>
              </a:rPr>
              <a:t>$</a:t>
            </a:r>
            <a:r>
              <a:rPr b="1" lang="en" sz="1500">
                <a:solidFill>
                  <a:srgbClr val="B91C1C"/>
                </a:solidFill>
                <a:latin typeface="Inter"/>
                <a:ea typeface="Inter"/>
                <a:cs typeface="Inter"/>
                <a:sym typeface="Inter"/>
              </a:rPr>
              <a:t>20</a:t>
            </a:r>
            <a:r>
              <a:rPr b="1" i="0" lang="en" sz="1500" u="none" cap="none" strike="noStrike">
                <a:solidFill>
                  <a:srgbClr val="B91C1C"/>
                </a:solidFill>
                <a:latin typeface="Inter"/>
                <a:ea typeface="Inter"/>
                <a:cs typeface="Inter"/>
                <a:sym typeface="Inter"/>
              </a:rPr>
              <a:t>0,000 ****</a:t>
            </a:r>
            <a:endParaRPr sz="1100"/>
          </a:p>
        </p:txBody>
      </p:sp>
      <p:sp>
        <p:nvSpPr>
          <p:cNvPr id="714" name="Google Shape;714;p52"/>
          <p:cNvSpPr txBox="1"/>
          <p:nvPr/>
        </p:nvSpPr>
        <p:spPr>
          <a:xfrm>
            <a:off x="3921919" y="1618729"/>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Near-term critical repairs</a:t>
            </a:r>
            <a:endParaRPr sz="1100"/>
          </a:p>
        </p:txBody>
      </p:sp>
      <p:sp>
        <p:nvSpPr>
          <p:cNvPr id="715" name="Google Shape;715;p52"/>
          <p:cNvSpPr txBox="1"/>
          <p:nvPr/>
        </p:nvSpPr>
        <p:spPr>
          <a:xfrm>
            <a:off x="5636419" y="1114425"/>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BUILDING FOOTPRINT</a:t>
            </a:r>
            <a:endParaRPr sz="1100"/>
          </a:p>
        </p:txBody>
      </p:sp>
      <p:sp>
        <p:nvSpPr>
          <p:cNvPr id="716" name="Google Shape;716;p52"/>
          <p:cNvSpPr txBox="1"/>
          <p:nvPr/>
        </p:nvSpPr>
        <p:spPr>
          <a:xfrm>
            <a:off x="5636419" y="1318022"/>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0F172A"/>
                </a:solidFill>
                <a:latin typeface="Inter"/>
                <a:ea typeface="Inter"/>
                <a:cs typeface="Inter"/>
                <a:sym typeface="Inter"/>
              </a:rPr>
              <a:t>2</a:t>
            </a:r>
            <a:r>
              <a:rPr b="1" lang="en" sz="1500">
                <a:solidFill>
                  <a:srgbClr val="0F172A"/>
                </a:solidFill>
                <a:latin typeface="Inter"/>
                <a:ea typeface="Inter"/>
                <a:cs typeface="Inter"/>
                <a:sym typeface="Inter"/>
              </a:rPr>
              <a:t>2,100</a:t>
            </a:r>
            <a:r>
              <a:rPr b="1" i="0" lang="en" sz="1500" u="none" cap="none" strike="noStrike">
                <a:solidFill>
                  <a:srgbClr val="0F172A"/>
                </a:solidFill>
                <a:latin typeface="Inter"/>
                <a:ea typeface="Inter"/>
                <a:cs typeface="Inter"/>
                <a:sym typeface="Inter"/>
              </a:rPr>
              <a:t> sq ft</a:t>
            </a:r>
            <a:endParaRPr sz="1100"/>
          </a:p>
        </p:txBody>
      </p:sp>
      <p:sp>
        <p:nvSpPr>
          <p:cNvPr id="717" name="Google Shape;717;p52"/>
          <p:cNvSpPr txBox="1"/>
          <p:nvPr/>
        </p:nvSpPr>
        <p:spPr>
          <a:xfrm>
            <a:off x="5636419" y="1618729"/>
            <a:ext cx="1625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700">
                <a:solidFill>
                  <a:srgbClr val="64748B"/>
                </a:solidFill>
                <a:latin typeface="Inter"/>
                <a:ea typeface="Inter"/>
                <a:cs typeface="Inter"/>
                <a:sym typeface="Inter"/>
              </a:rPr>
              <a:t>11 </a:t>
            </a:r>
            <a:r>
              <a:rPr b="0" i="0" lang="en" sz="700" u="none" cap="none" strike="noStrike">
                <a:solidFill>
                  <a:srgbClr val="64748B"/>
                </a:solidFill>
                <a:latin typeface="Inter"/>
                <a:ea typeface="Inter"/>
                <a:cs typeface="Inter"/>
                <a:sym typeface="Inter"/>
              </a:rPr>
              <a:t>Classrooms •</a:t>
            </a:r>
            <a:r>
              <a:rPr b="0" i="0" lang="en" sz="700" u="none" cap="none" strike="noStrike">
                <a:solidFill>
                  <a:srgbClr val="64748B"/>
                </a:solidFill>
                <a:highlight>
                  <a:schemeClr val="lt1"/>
                </a:highlight>
                <a:latin typeface="Inter"/>
                <a:ea typeface="Inter"/>
                <a:cs typeface="Inter"/>
                <a:sym typeface="Inter"/>
              </a:rPr>
              <a:t> </a:t>
            </a:r>
            <a:r>
              <a:rPr lang="en" sz="700">
                <a:solidFill>
                  <a:srgbClr val="64748B"/>
                </a:solidFill>
                <a:highlight>
                  <a:schemeClr val="lt1"/>
                </a:highlight>
                <a:latin typeface="Inter"/>
                <a:ea typeface="Inter"/>
                <a:cs typeface="Inter"/>
                <a:sym typeface="Inter"/>
              </a:rPr>
              <a:t>Playgrounds, </a:t>
            </a:r>
            <a:endParaRPr sz="700">
              <a:solidFill>
                <a:srgbClr val="64748B"/>
              </a:solidFill>
              <a:highlight>
                <a:schemeClr val="lt1"/>
              </a:highlight>
              <a:latin typeface="Inter"/>
              <a:ea typeface="Inter"/>
              <a:cs typeface="Inter"/>
              <a:sym typeface="Inter"/>
            </a:endParaRPr>
          </a:p>
          <a:p>
            <a:pPr indent="0" lvl="0" marL="0" marR="0" rtl="0" algn="l">
              <a:spcBef>
                <a:spcPts val="0"/>
              </a:spcBef>
              <a:spcAft>
                <a:spcPts val="0"/>
              </a:spcAft>
              <a:buNone/>
            </a:pPr>
            <a:r>
              <a:rPr lang="en" sz="700">
                <a:solidFill>
                  <a:srgbClr val="64748B"/>
                </a:solidFill>
                <a:highlight>
                  <a:schemeClr val="lt1"/>
                </a:highlight>
                <a:latin typeface="Inter"/>
                <a:ea typeface="Inter"/>
                <a:cs typeface="Inter"/>
                <a:sym typeface="Inter"/>
              </a:rPr>
              <a:t>access to town fields and trails</a:t>
            </a:r>
            <a:endParaRPr sz="1100"/>
          </a:p>
        </p:txBody>
      </p:sp>
      <p:sp>
        <p:nvSpPr>
          <p:cNvPr id="718" name="Google Shape;718;p52"/>
          <p:cNvSpPr txBox="1"/>
          <p:nvPr/>
        </p:nvSpPr>
        <p:spPr>
          <a:xfrm>
            <a:off x="7350919" y="1114425"/>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STAFFING &amp; HEADCOUNT</a:t>
            </a:r>
            <a:endParaRPr sz="1100"/>
          </a:p>
        </p:txBody>
      </p:sp>
      <p:sp>
        <p:nvSpPr>
          <p:cNvPr id="719" name="Google Shape;719;p52"/>
          <p:cNvSpPr txBox="1"/>
          <p:nvPr/>
        </p:nvSpPr>
        <p:spPr>
          <a:xfrm>
            <a:off x="7350919" y="1318022"/>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0F172A"/>
                </a:solidFill>
                <a:latin typeface="Inter"/>
                <a:ea typeface="Inter"/>
                <a:cs typeface="Inter"/>
                <a:sym typeface="Inter"/>
              </a:rPr>
              <a:t> 2</a:t>
            </a:r>
            <a:r>
              <a:rPr b="1" lang="en" sz="1500">
                <a:solidFill>
                  <a:srgbClr val="0F172A"/>
                </a:solidFill>
                <a:latin typeface="Inter"/>
                <a:ea typeface="Inter"/>
                <a:cs typeface="Inter"/>
                <a:sym typeface="Inter"/>
              </a:rPr>
              <a:t>8</a:t>
            </a:r>
            <a:r>
              <a:rPr b="1" i="0" lang="en" sz="1500" u="none" cap="none" strike="noStrike">
                <a:solidFill>
                  <a:srgbClr val="0F172A"/>
                </a:solidFill>
                <a:latin typeface="Inter"/>
                <a:ea typeface="Inter"/>
                <a:cs typeface="Inter"/>
                <a:sym typeface="Inter"/>
              </a:rPr>
              <a:t>.</a:t>
            </a:r>
            <a:r>
              <a:rPr b="1" lang="en" sz="1500">
                <a:solidFill>
                  <a:srgbClr val="0F172A"/>
                </a:solidFill>
                <a:latin typeface="Inter"/>
                <a:ea typeface="Inter"/>
                <a:cs typeface="Inter"/>
                <a:sym typeface="Inter"/>
              </a:rPr>
              <a:t>05</a:t>
            </a:r>
            <a:r>
              <a:rPr b="1" i="0" lang="en" sz="1500" u="none" cap="none" strike="noStrike">
                <a:solidFill>
                  <a:srgbClr val="0F172A"/>
                </a:solidFill>
                <a:latin typeface="Inter"/>
                <a:ea typeface="Inter"/>
                <a:cs typeface="Inter"/>
                <a:sym typeface="Inter"/>
              </a:rPr>
              <a:t> FTE</a:t>
            </a:r>
            <a:endParaRPr sz="1100"/>
          </a:p>
        </p:txBody>
      </p:sp>
      <p:sp>
        <p:nvSpPr>
          <p:cNvPr id="720" name="Google Shape;720;p52"/>
          <p:cNvSpPr txBox="1"/>
          <p:nvPr/>
        </p:nvSpPr>
        <p:spPr>
          <a:xfrm>
            <a:off x="7350919" y="1618729"/>
            <a:ext cx="16251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100"/>
          </a:p>
        </p:txBody>
      </p:sp>
      <p:sp>
        <p:nvSpPr>
          <p:cNvPr id="721" name="Google Shape;721;p52"/>
          <p:cNvSpPr txBox="1"/>
          <p:nvPr/>
        </p:nvSpPr>
        <p:spPr>
          <a:xfrm>
            <a:off x="714375" y="2140223"/>
            <a:ext cx="25845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 sz="800" u="none" cap="none" strike="noStrike">
                <a:solidFill>
                  <a:srgbClr val="1E293B"/>
                </a:solidFill>
                <a:latin typeface="Inter"/>
                <a:ea typeface="Inter"/>
                <a:cs typeface="Inter"/>
                <a:sym typeface="Inter"/>
              </a:rPr>
              <a:t>Student Enrollment Distribution (FY27)</a:t>
            </a:r>
            <a:endParaRPr sz="1100"/>
          </a:p>
        </p:txBody>
      </p:sp>
      <p:sp>
        <p:nvSpPr>
          <p:cNvPr id="722" name="Google Shape;722;p52"/>
          <p:cNvSpPr txBox="1"/>
          <p:nvPr/>
        </p:nvSpPr>
        <p:spPr>
          <a:xfrm>
            <a:off x="478631"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PK3</a:t>
            </a:r>
            <a:endParaRPr sz="1100"/>
          </a:p>
        </p:txBody>
      </p:sp>
      <p:sp>
        <p:nvSpPr>
          <p:cNvPr id="723" name="Google Shape;723;p52"/>
          <p:cNvSpPr txBox="1"/>
          <p:nvPr/>
        </p:nvSpPr>
        <p:spPr>
          <a:xfrm>
            <a:off x="478631"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14</a:t>
            </a:r>
            <a:endParaRPr sz="1100"/>
          </a:p>
        </p:txBody>
      </p:sp>
      <p:sp>
        <p:nvSpPr>
          <p:cNvPr id="724" name="Google Shape;724;p52"/>
          <p:cNvSpPr txBox="1"/>
          <p:nvPr/>
        </p:nvSpPr>
        <p:spPr>
          <a:xfrm>
            <a:off x="1157288"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PK4</a:t>
            </a:r>
            <a:endParaRPr sz="1100"/>
          </a:p>
        </p:txBody>
      </p:sp>
      <p:sp>
        <p:nvSpPr>
          <p:cNvPr id="725" name="Google Shape;725;p52"/>
          <p:cNvSpPr txBox="1"/>
          <p:nvPr/>
        </p:nvSpPr>
        <p:spPr>
          <a:xfrm>
            <a:off x="1835944" y="2454548"/>
            <a:ext cx="7215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Kindergarten</a:t>
            </a:r>
            <a:endParaRPr sz="1100"/>
          </a:p>
        </p:txBody>
      </p:sp>
      <p:sp>
        <p:nvSpPr>
          <p:cNvPr id="726" name="Google Shape;726;p52"/>
          <p:cNvSpPr txBox="1"/>
          <p:nvPr/>
        </p:nvSpPr>
        <p:spPr>
          <a:xfrm>
            <a:off x="1835944" y="2583135"/>
            <a:ext cx="7215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16</a:t>
            </a:r>
            <a:endParaRPr sz="1100"/>
          </a:p>
        </p:txBody>
      </p:sp>
      <p:sp>
        <p:nvSpPr>
          <p:cNvPr id="727" name="Google Shape;727;p52"/>
          <p:cNvSpPr txBox="1"/>
          <p:nvPr/>
        </p:nvSpPr>
        <p:spPr>
          <a:xfrm>
            <a:off x="2543175"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1</a:t>
            </a:r>
            <a:endParaRPr sz="1100"/>
          </a:p>
        </p:txBody>
      </p:sp>
      <p:sp>
        <p:nvSpPr>
          <p:cNvPr id="728" name="Google Shape;728;p52"/>
          <p:cNvSpPr txBox="1"/>
          <p:nvPr/>
        </p:nvSpPr>
        <p:spPr>
          <a:xfrm>
            <a:off x="2543175"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25</a:t>
            </a:r>
            <a:endParaRPr sz="1100"/>
          </a:p>
        </p:txBody>
      </p:sp>
      <p:sp>
        <p:nvSpPr>
          <p:cNvPr id="729" name="Google Shape;729;p52"/>
          <p:cNvSpPr txBox="1"/>
          <p:nvPr/>
        </p:nvSpPr>
        <p:spPr>
          <a:xfrm>
            <a:off x="3221831"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2</a:t>
            </a:r>
            <a:endParaRPr sz="1100"/>
          </a:p>
        </p:txBody>
      </p:sp>
      <p:sp>
        <p:nvSpPr>
          <p:cNvPr id="730" name="Google Shape;730;p52"/>
          <p:cNvSpPr txBox="1"/>
          <p:nvPr/>
        </p:nvSpPr>
        <p:spPr>
          <a:xfrm>
            <a:off x="3221831"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19</a:t>
            </a:r>
            <a:endParaRPr sz="1100"/>
          </a:p>
        </p:txBody>
      </p:sp>
      <p:sp>
        <p:nvSpPr>
          <p:cNvPr id="731" name="Google Shape;731;p52"/>
          <p:cNvSpPr txBox="1"/>
          <p:nvPr/>
        </p:nvSpPr>
        <p:spPr>
          <a:xfrm>
            <a:off x="3900488"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3</a:t>
            </a:r>
            <a:endParaRPr sz="1100"/>
          </a:p>
        </p:txBody>
      </p:sp>
      <p:sp>
        <p:nvSpPr>
          <p:cNvPr id="732" name="Google Shape;732;p52"/>
          <p:cNvSpPr txBox="1"/>
          <p:nvPr/>
        </p:nvSpPr>
        <p:spPr>
          <a:xfrm>
            <a:off x="3900488"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20</a:t>
            </a:r>
            <a:endParaRPr sz="1100"/>
          </a:p>
        </p:txBody>
      </p:sp>
      <p:sp>
        <p:nvSpPr>
          <p:cNvPr id="733" name="Google Shape;733;p52"/>
          <p:cNvSpPr txBox="1"/>
          <p:nvPr/>
        </p:nvSpPr>
        <p:spPr>
          <a:xfrm>
            <a:off x="4579144"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4</a:t>
            </a:r>
            <a:endParaRPr sz="1100"/>
          </a:p>
        </p:txBody>
      </p:sp>
      <p:sp>
        <p:nvSpPr>
          <p:cNvPr id="734" name="Google Shape;734;p52"/>
          <p:cNvSpPr txBox="1"/>
          <p:nvPr/>
        </p:nvSpPr>
        <p:spPr>
          <a:xfrm>
            <a:off x="4579144"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14</a:t>
            </a:r>
            <a:endParaRPr sz="1100"/>
          </a:p>
        </p:txBody>
      </p:sp>
      <p:sp>
        <p:nvSpPr>
          <p:cNvPr id="735" name="Google Shape;735;p52"/>
          <p:cNvSpPr txBox="1"/>
          <p:nvPr/>
        </p:nvSpPr>
        <p:spPr>
          <a:xfrm>
            <a:off x="5257800"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5</a:t>
            </a:r>
            <a:endParaRPr sz="1100"/>
          </a:p>
        </p:txBody>
      </p:sp>
      <p:sp>
        <p:nvSpPr>
          <p:cNvPr id="736" name="Google Shape;736;p52"/>
          <p:cNvSpPr txBox="1"/>
          <p:nvPr/>
        </p:nvSpPr>
        <p:spPr>
          <a:xfrm>
            <a:off x="5257800"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23</a:t>
            </a:r>
            <a:endParaRPr sz="1100"/>
          </a:p>
        </p:txBody>
      </p:sp>
      <p:sp>
        <p:nvSpPr>
          <p:cNvPr id="737" name="Google Shape;737;p52"/>
          <p:cNvSpPr txBox="1"/>
          <p:nvPr/>
        </p:nvSpPr>
        <p:spPr>
          <a:xfrm>
            <a:off x="5936456"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6</a:t>
            </a:r>
            <a:endParaRPr sz="1100"/>
          </a:p>
        </p:txBody>
      </p:sp>
      <p:sp>
        <p:nvSpPr>
          <p:cNvPr id="738" name="Google Shape;738;p52"/>
          <p:cNvSpPr txBox="1"/>
          <p:nvPr/>
        </p:nvSpPr>
        <p:spPr>
          <a:xfrm>
            <a:off x="5936456"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20</a:t>
            </a:r>
            <a:endParaRPr sz="1100"/>
          </a:p>
        </p:txBody>
      </p:sp>
      <p:sp>
        <p:nvSpPr>
          <p:cNvPr id="739" name="Google Shape;739;p52"/>
          <p:cNvSpPr txBox="1"/>
          <p:nvPr/>
        </p:nvSpPr>
        <p:spPr>
          <a:xfrm>
            <a:off x="6615113"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7</a:t>
            </a:r>
            <a:endParaRPr sz="1100"/>
          </a:p>
        </p:txBody>
      </p:sp>
      <p:sp>
        <p:nvSpPr>
          <p:cNvPr id="740" name="Google Shape;740;p52"/>
          <p:cNvSpPr txBox="1"/>
          <p:nvPr/>
        </p:nvSpPr>
        <p:spPr>
          <a:xfrm>
            <a:off x="6615113"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000" u="none" cap="none" strike="noStrike">
                <a:solidFill>
                  <a:srgbClr val="0F172A"/>
                </a:solidFill>
                <a:latin typeface="Inter"/>
                <a:ea typeface="Inter"/>
                <a:cs typeface="Inter"/>
                <a:sym typeface="Inter"/>
              </a:rPr>
              <a:t>-</a:t>
            </a:r>
            <a:endParaRPr sz="1100"/>
          </a:p>
        </p:txBody>
      </p:sp>
      <p:sp>
        <p:nvSpPr>
          <p:cNvPr id="741" name="Google Shape;741;p52"/>
          <p:cNvSpPr txBox="1"/>
          <p:nvPr/>
        </p:nvSpPr>
        <p:spPr>
          <a:xfrm>
            <a:off x="7293769"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8</a:t>
            </a:r>
            <a:endParaRPr sz="1100"/>
          </a:p>
        </p:txBody>
      </p:sp>
      <p:sp>
        <p:nvSpPr>
          <p:cNvPr id="742" name="Google Shape;742;p52"/>
          <p:cNvSpPr txBox="1"/>
          <p:nvPr/>
        </p:nvSpPr>
        <p:spPr>
          <a:xfrm>
            <a:off x="7293769"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000" u="none" cap="none" strike="noStrike">
                <a:solidFill>
                  <a:srgbClr val="0F172A"/>
                </a:solidFill>
                <a:latin typeface="Inter"/>
                <a:ea typeface="Inter"/>
                <a:cs typeface="Inter"/>
                <a:sym typeface="Inter"/>
              </a:rPr>
              <a:t>-</a:t>
            </a:r>
            <a:endParaRPr sz="1100"/>
          </a:p>
        </p:txBody>
      </p:sp>
      <p:sp>
        <p:nvSpPr>
          <p:cNvPr id="743" name="Google Shape;743;p52"/>
          <p:cNvSpPr txBox="1"/>
          <p:nvPr/>
        </p:nvSpPr>
        <p:spPr>
          <a:xfrm>
            <a:off x="7972425"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BFDBFE"/>
                </a:solidFill>
                <a:latin typeface="Inter"/>
                <a:ea typeface="Inter"/>
                <a:cs typeface="Inter"/>
                <a:sym typeface="Inter"/>
              </a:rPr>
              <a:t>TOTAL</a:t>
            </a:r>
            <a:endParaRPr sz="1100"/>
          </a:p>
        </p:txBody>
      </p:sp>
      <p:sp>
        <p:nvSpPr>
          <p:cNvPr id="744" name="Google Shape;744;p52"/>
          <p:cNvSpPr txBox="1"/>
          <p:nvPr/>
        </p:nvSpPr>
        <p:spPr>
          <a:xfrm>
            <a:off x="7972425"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FFFFFF"/>
                </a:solidFill>
                <a:latin typeface="Inter"/>
                <a:ea typeface="Inter"/>
                <a:cs typeface="Inter"/>
                <a:sym typeface="Inter"/>
              </a:rPr>
              <a:t>169</a:t>
            </a:r>
            <a:endParaRPr sz="1100"/>
          </a:p>
        </p:txBody>
      </p:sp>
      <p:sp>
        <p:nvSpPr>
          <p:cNvPr id="745" name="Google Shape;745;p52"/>
          <p:cNvSpPr txBox="1"/>
          <p:nvPr/>
        </p:nvSpPr>
        <p:spPr>
          <a:xfrm>
            <a:off x="5357813" y="3211785"/>
            <a:ext cx="37863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 sz="800" u="none" cap="none" strike="noStrike">
                <a:solidFill>
                  <a:srgbClr val="1E293B"/>
                </a:solidFill>
                <a:latin typeface="Inter"/>
                <a:ea typeface="Inter"/>
                <a:cs typeface="Inter"/>
                <a:sym typeface="Inter"/>
              </a:rPr>
              <a:t>Facility &amp; Environmental Specs</a:t>
            </a:r>
            <a:endParaRPr sz="1100"/>
          </a:p>
        </p:txBody>
      </p:sp>
      <p:sp>
        <p:nvSpPr>
          <p:cNvPr id="746" name="Google Shape;746;p52"/>
          <p:cNvSpPr txBox="1"/>
          <p:nvPr/>
        </p:nvSpPr>
        <p:spPr>
          <a:xfrm>
            <a:off x="495300" y="3200400"/>
            <a:ext cx="42387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991B1B"/>
                </a:solidFill>
                <a:latin typeface="Inter"/>
                <a:ea typeface="Inter"/>
                <a:cs typeface="Inter"/>
                <a:sym typeface="Inter"/>
              </a:rPr>
              <a:t>Impending Capital Investment &amp; Facilities</a:t>
            </a:r>
            <a:endParaRPr b="1" sz="1100">
              <a:solidFill>
                <a:srgbClr val="991B1B"/>
              </a:solidFill>
              <a:latin typeface="Inter"/>
              <a:ea typeface="Inter"/>
              <a:cs typeface="Inter"/>
              <a:sym typeface="Inter"/>
            </a:endParaRPr>
          </a:p>
        </p:txBody>
      </p:sp>
      <p:sp>
        <p:nvSpPr>
          <p:cNvPr id="747" name="Google Shape;747;p52"/>
          <p:cNvSpPr txBox="1"/>
          <p:nvPr/>
        </p:nvSpPr>
        <p:spPr>
          <a:xfrm>
            <a:off x="495300" y="3505200"/>
            <a:ext cx="1905000" cy="1362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 sz="900">
                <a:solidFill>
                  <a:srgbClr val="7F1D1D"/>
                </a:solidFill>
                <a:latin typeface="Inter"/>
                <a:ea typeface="Inter"/>
                <a:cs typeface="Inter"/>
                <a:sym typeface="Inter"/>
              </a:rPr>
              <a:t>Priority Maintenance</a:t>
            </a:r>
            <a:endParaRPr b="1" sz="900">
              <a:solidFill>
                <a:srgbClr val="7F1D1D"/>
              </a:solidFill>
              <a:latin typeface="Inter"/>
              <a:ea typeface="Inter"/>
              <a:cs typeface="Inter"/>
              <a:sym typeface="Inter"/>
            </a:endParaRPr>
          </a:p>
          <a:p>
            <a:pPr indent="-282575" lvl="0" marL="457200" rtl="0" algn="l">
              <a:spcBef>
                <a:spcPts val="450"/>
              </a:spcBef>
              <a:spcAft>
                <a:spcPts val="0"/>
              </a:spcAft>
              <a:buClr>
                <a:srgbClr val="DC2626"/>
              </a:buClr>
              <a:buSzPts val="850"/>
              <a:buFont typeface="Inter"/>
              <a:buChar char="●"/>
            </a:pPr>
            <a:r>
              <a:rPr lang="en" sz="850">
                <a:solidFill>
                  <a:srgbClr val="DC2626"/>
                </a:solidFill>
                <a:latin typeface="Inter SemiBold"/>
                <a:ea typeface="Inter SemiBold"/>
                <a:cs typeface="Inter SemiBold"/>
                <a:sym typeface="Inter SemiBold"/>
              </a:rPr>
              <a:t>Exterior siding repairs needed</a:t>
            </a:r>
            <a:endParaRPr b="0" sz="850">
              <a:solidFill>
                <a:srgbClr val="DC2626"/>
              </a:solidFill>
              <a:latin typeface="Inter SemiBold"/>
              <a:ea typeface="Inter SemiBold"/>
              <a:cs typeface="Inter SemiBold"/>
              <a:sym typeface="Inter SemiBold"/>
            </a:endParaRPr>
          </a:p>
          <a:p>
            <a:pPr indent="-282575" lvl="0" marL="457200" rtl="0" algn="l">
              <a:spcBef>
                <a:spcPts val="375"/>
              </a:spcBef>
              <a:spcAft>
                <a:spcPts val="0"/>
              </a:spcAft>
              <a:buClr>
                <a:srgbClr val="DC2626"/>
              </a:buClr>
              <a:buSzPts val="850"/>
              <a:buFont typeface="Inter"/>
              <a:buChar char="●"/>
            </a:pPr>
            <a:r>
              <a:rPr lang="en" sz="850">
                <a:solidFill>
                  <a:srgbClr val="DC2626"/>
                </a:solidFill>
                <a:latin typeface="Inter SemiBold"/>
                <a:ea typeface="Inter SemiBold"/>
                <a:cs typeface="Inter SemiBold"/>
                <a:sym typeface="Inter SemiBold"/>
              </a:rPr>
              <a:t>Heat Controls need</a:t>
            </a:r>
            <a:r>
              <a:rPr b="0" lang="en" sz="850">
                <a:solidFill>
                  <a:srgbClr val="DC2626"/>
                </a:solidFill>
                <a:latin typeface="Inter SemiBold"/>
                <a:ea typeface="Inter SemiBold"/>
                <a:cs typeface="Inter SemiBold"/>
                <a:sym typeface="Inter SemiBold"/>
              </a:rPr>
              <a:t> replacement</a:t>
            </a:r>
            <a:endParaRPr sz="850">
              <a:solidFill>
                <a:srgbClr val="DC2626"/>
              </a:solidFill>
              <a:latin typeface="Inter SemiBold"/>
              <a:ea typeface="Inter SemiBold"/>
              <a:cs typeface="Inter SemiBold"/>
              <a:sym typeface="Inter SemiBold"/>
            </a:endParaRPr>
          </a:p>
          <a:p>
            <a:pPr indent="0" lvl="0" marL="0" rtl="0" algn="l">
              <a:spcBef>
                <a:spcPts val="375"/>
              </a:spcBef>
              <a:spcAft>
                <a:spcPts val="0"/>
              </a:spcAft>
              <a:buNone/>
            </a:pPr>
            <a:r>
              <a:rPr b="1" lang="en" sz="900">
                <a:solidFill>
                  <a:srgbClr val="7F1D1D"/>
                </a:solidFill>
                <a:latin typeface="Inter"/>
                <a:ea typeface="Inter"/>
                <a:cs typeface="Inter"/>
                <a:sym typeface="Inter"/>
              </a:rPr>
              <a:t>Annual Operating Costs</a:t>
            </a:r>
            <a:endParaRPr b="1" sz="900">
              <a:solidFill>
                <a:srgbClr val="7F1D1D"/>
              </a:solidFill>
              <a:latin typeface="Inter"/>
              <a:ea typeface="Inter"/>
              <a:cs typeface="Inter"/>
              <a:sym typeface="Inter"/>
            </a:endParaRPr>
          </a:p>
          <a:p>
            <a:pPr indent="0" lvl="0" marL="0" rtl="0" algn="l">
              <a:spcBef>
                <a:spcPts val="0"/>
              </a:spcBef>
              <a:spcAft>
                <a:spcPts val="0"/>
              </a:spcAft>
              <a:buNone/>
            </a:pPr>
            <a:r>
              <a:rPr lang="en" sz="900">
                <a:solidFill>
                  <a:srgbClr val="7F1D1D"/>
                </a:solidFill>
                <a:latin typeface="Inter"/>
                <a:ea typeface="Inter"/>
                <a:cs typeface="Inter"/>
                <a:sym typeface="Inter"/>
              </a:rPr>
              <a:t>$185,868 not including custodial salary and benefits</a:t>
            </a:r>
            <a:endParaRPr sz="900">
              <a:solidFill>
                <a:srgbClr val="7F1D1D"/>
              </a:solidFill>
              <a:latin typeface="Inter"/>
              <a:ea typeface="Inter"/>
              <a:cs typeface="Inter"/>
              <a:sym typeface="Inter"/>
            </a:endParaRPr>
          </a:p>
          <a:p>
            <a:pPr indent="0" lvl="0" marL="0" rtl="0" algn="l">
              <a:spcBef>
                <a:spcPts val="0"/>
              </a:spcBef>
              <a:spcAft>
                <a:spcPts val="375"/>
              </a:spcAft>
              <a:buNone/>
            </a:pPr>
            <a:r>
              <a:t/>
            </a:r>
            <a:endParaRPr sz="850">
              <a:solidFill>
                <a:srgbClr val="DC2626"/>
              </a:solidFill>
              <a:latin typeface="Inter SemiBold"/>
              <a:ea typeface="Inter SemiBold"/>
              <a:cs typeface="Inter SemiBold"/>
              <a:sym typeface="Inter SemiBold"/>
            </a:endParaRPr>
          </a:p>
        </p:txBody>
      </p:sp>
      <p:sp>
        <p:nvSpPr>
          <p:cNvPr id="748" name="Google Shape;748;p52"/>
          <p:cNvSpPr txBox="1"/>
          <p:nvPr/>
        </p:nvSpPr>
        <p:spPr>
          <a:xfrm>
            <a:off x="2476500" y="3505200"/>
            <a:ext cx="2286000" cy="1124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1D4ED8"/>
                </a:solidFill>
                <a:latin typeface="Inter"/>
                <a:ea typeface="Inter"/>
                <a:cs typeface="Inter"/>
                <a:sym typeface="Inter"/>
              </a:rPr>
              <a:t>Kitchen needs &amp; Meal Production</a:t>
            </a:r>
            <a:endParaRPr b="1" sz="850">
              <a:solidFill>
                <a:srgbClr val="1D4ED8"/>
              </a:solidFill>
              <a:latin typeface="Inter"/>
              <a:ea typeface="Inter"/>
              <a:cs typeface="Inter"/>
              <a:sym typeface="Inter"/>
            </a:endParaRPr>
          </a:p>
          <a:p>
            <a:pPr indent="0" lvl="0" marL="0" rtl="0" algn="l">
              <a:spcBef>
                <a:spcPts val="150"/>
              </a:spcBef>
              <a:spcAft>
                <a:spcPts val="0"/>
              </a:spcAft>
              <a:buNone/>
            </a:pPr>
            <a:r>
              <a:rPr lang="en" sz="700">
                <a:solidFill>
                  <a:srgbClr val="475569"/>
                </a:solidFill>
                <a:latin typeface="Inter"/>
                <a:ea typeface="Inter"/>
                <a:cs typeface="Inter"/>
                <a:sym typeface="Inter"/>
              </a:rPr>
              <a:t>Prep kitchen only, food has to be transported from Harwood to serve.  Dishwasher is problematic and needs to be replaced to meet the demands. Estimated replacement cost of $92K included. Additional refrigeration will also be required </a:t>
            </a:r>
            <a:r>
              <a:rPr lang="en" sz="1000">
                <a:solidFill>
                  <a:srgbClr val="DC2626"/>
                </a:solidFill>
                <a:latin typeface="Inter"/>
                <a:ea typeface="Inter"/>
                <a:cs typeface="Inter"/>
                <a:sym typeface="Inter"/>
              </a:rPr>
              <a:t>****</a:t>
            </a:r>
            <a:endParaRPr sz="1000">
              <a:solidFill>
                <a:srgbClr val="DC2626"/>
              </a:solidFill>
              <a:latin typeface="Inter"/>
              <a:ea typeface="Inter"/>
              <a:cs typeface="Inter"/>
              <a:sym typeface="Inter"/>
            </a:endParaRPr>
          </a:p>
          <a:p>
            <a:pPr indent="0" lvl="0" marL="0" rtl="0" algn="l">
              <a:spcBef>
                <a:spcPts val="600"/>
              </a:spcBef>
              <a:spcAft>
                <a:spcPts val="0"/>
              </a:spcAft>
              <a:buNone/>
            </a:pPr>
            <a:r>
              <a:rPr lang="en" sz="800">
                <a:solidFill>
                  <a:srgbClr val="475569"/>
                </a:solidFill>
                <a:latin typeface="Inter"/>
                <a:ea typeface="Inter"/>
                <a:cs typeface="Inter"/>
                <a:sym typeface="Inter"/>
              </a:rPr>
              <a:t> </a:t>
            </a:r>
            <a:r>
              <a:rPr b="1" lang="en" sz="850">
                <a:solidFill>
                  <a:srgbClr val="1D4ED8"/>
                </a:solidFill>
                <a:latin typeface="Inter"/>
                <a:ea typeface="Inter"/>
                <a:cs typeface="Inter"/>
                <a:sym typeface="Inter"/>
              </a:rPr>
              <a:t>Cafeteria Seating</a:t>
            </a:r>
            <a:endParaRPr b="1" sz="850">
              <a:solidFill>
                <a:srgbClr val="1D4ED8"/>
              </a:solidFill>
              <a:latin typeface="Inter"/>
              <a:ea typeface="Inter"/>
              <a:cs typeface="Inter"/>
              <a:sym typeface="Inter"/>
            </a:endParaRPr>
          </a:p>
          <a:p>
            <a:pPr indent="0" lvl="0" marL="0" rtl="0" algn="l">
              <a:spcBef>
                <a:spcPts val="0"/>
              </a:spcBef>
              <a:spcAft>
                <a:spcPts val="0"/>
              </a:spcAft>
              <a:buNone/>
            </a:pPr>
            <a:r>
              <a:rPr lang="en" sz="800">
                <a:solidFill>
                  <a:srgbClr val="475569"/>
                </a:solidFill>
                <a:latin typeface="Inter"/>
                <a:ea typeface="Inter"/>
                <a:cs typeface="Inter"/>
                <a:sym typeface="Inter"/>
              </a:rPr>
              <a:t>Limited</a:t>
            </a:r>
            <a:endParaRPr b="0" sz="800">
              <a:solidFill>
                <a:srgbClr val="475569"/>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52" name="Shape 752"/>
        <p:cNvGrpSpPr/>
        <p:nvPr/>
      </p:nvGrpSpPr>
      <p:grpSpPr>
        <a:xfrm>
          <a:off x="0" y="0"/>
          <a:ext cx="0" cy="0"/>
          <a:chOff x="0" y="0"/>
          <a:chExt cx="0" cy="0"/>
        </a:xfrm>
      </p:grpSpPr>
      <p:sp>
        <p:nvSpPr>
          <p:cNvPr id="753" name="Google Shape;753;p53"/>
          <p:cNvSpPr/>
          <p:nvPr/>
        </p:nvSpPr>
        <p:spPr>
          <a:xfrm>
            <a:off x="7503727" y="485775"/>
            <a:ext cx="1297500" cy="214500"/>
          </a:xfrm>
          <a:prstGeom prst="roundRect">
            <a:avLst>
              <a:gd fmla="val 50000" name="adj"/>
            </a:avLst>
          </a:prstGeom>
          <a:solidFill>
            <a:srgbClr val="EFF6FF"/>
          </a:solidFill>
          <a:ln cap="flat" cmpd="sng" w="7150">
            <a:solidFill>
              <a:srgbClr val="BFDBFE"/>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54" name="Google Shape;754;p53"/>
          <p:cNvSpPr/>
          <p:nvPr/>
        </p:nvSpPr>
        <p:spPr>
          <a:xfrm>
            <a:off x="342900" y="1990204"/>
            <a:ext cx="8458200" cy="971700"/>
          </a:xfrm>
          <a:prstGeom prst="roundRect">
            <a:avLst>
              <a:gd fmla="val 8823"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55" name="Google Shape;755;p53"/>
          <p:cNvSpPr/>
          <p:nvPr/>
        </p:nvSpPr>
        <p:spPr>
          <a:xfrm>
            <a:off x="342900" y="978694"/>
            <a:ext cx="1600200" cy="882900"/>
          </a:xfrm>
          <a:prstGeom prst="roundRect">
            <a:avLst>
              <a:gd fmla="val 9709" name="adj"/>
            </a:avLst>
          </a:prstGeom>
          <a:solidFill>
            <a:srgbClr val="F0F9FF"/>
          </a:solidFill>
          <a:ln cap="flat" cmpd="sng" w="7150">
            <a:solidFill>
              <a:srgbClr val="BAE6FD"/>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56" name="Google Shape;756;p53"/>
          <p:cNvSpPr/>
          <p:nvPr/>
        </p:nvSpPr>
        <p:spPr>
          <a:xfrm>
            <a:off x="2057400" y="978694"/>
            <a:ext cx="1600200" cy="882900"/>
          </a:xfrm>
          <a:prstGeom prst="roundRect">
            <a:avLst>
              <a:gd fmla="val 9709"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57" name="Google Shape;757;p53"/>
          <p:cNvSpPr/>
          <p:nvPr/>
        </p:nvSpPr>
        <p:spPr>
          <a:xfrm>
            <a:off x="3771900" y="978694"/>
            <a:ext cx="1600200" cy="882900"/>
          </a:xfrm>
          <a:prstGeom prst="roundRect">
            <a:avLst>
              <a:gd fmla="val 9709" name="adj"/>
            </a:avLst>
          </a:prstGeom>
          <a:solidFill>
            <a:srgbClr val="FEF2F2"/>
          </a:solidFill>
          <a:ln cap="flat" cmpd="sng" w="7150">
            <a:solidFill>
              <a:srgbClr val="FECAC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58" name="Google Shape;758;p53"/>
          <p:cNvSpPr/>
          <p:nvPr/>
        </p:nvSpPr>
        <p:spPr>
          <a:xfrm>
            <a:off x="5486400" y="978694"/>
            <a:ext cx="1600200" cy="882900"/>
          </a:xfrm>
          <a:prstGeom prst="roundRect">
            <a:avLst>
              <a:gd fmla="val 9709"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59" name="Google Shape;759;p53"/>
          <p:cNvSpPr/>
          <p:nvPr/>
        </p:nvSpPr>
        <p:spPr>
          <a:xfrm>
            <a:off x="7200900" y="978694"/>
            <a:ext cx="1600200" cy="882900"/>
          </a:xfrm>
          <a:prstGeom prst="roundRect">
            <a:avLst>
              <a:gd fmla="val 9709"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60" name="Google Shape;760;p53"/>
          <p:cNvSpPr/>
          <p:nvPr/>
        </p:nvSpPr>
        <p:spPr>
          <a:xfrm>
            <a:off x="521494"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61" name="Google Shape;761;p53"/>
          <p:cNvSpPr/>
          <p:nvPr/>
        </p:nvSpPr>
        <p:spPr>
          <a:xfrm>
            <a:off x="1200150"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62" name="Google Shape;762;p53"/>
          <p:cNvSpPr/>
          <p:nvPr/>
        </p:nvSpPr>
        <p:spPr>
          <a:xfrm>
            <a:off x="1878806" y="2375966"/>
            <a:ext cx="6360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63" name="Google Shape;763;p53"/>
          <p:cNvSpPr/>
          <p:nvPr/>
        </p:nvSpPr>
        <p:spPr>
          <a:xfrm>
            <a:off x="2586038"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64" name="Google Shape;764;p53"/>
          <p:cNvSpPr/>
          <p:nvPr/>
        </p:nvSpPr>
        <p:spPr>
          <a:xfrm>
            <a:off x="3264694"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65" name="Google Shape;765;p53"/>
          <p:cNvSpPr/>
          <p:nvPr/>
        </p:nvSpPr>
        <p:spPr>
          <a:xfrm>
            <a:off x="3943350"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66" name="Google Shape;766;p53"/>
          <p:cNvSpPr/>
          <p:nvPr/>
        </p:nvSpPr>
        <p:spPr>
          <a:xfrm>
            <a:off x="4622006"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67" name="Google Shape;767;p53"/>
          <p:cNvSpPr/>
          <p:nvPr/>
        </p:nvSpPr>
        <p:spPr>
          <a:xfrm>
            <a:off x="5300663"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68" name="Google Shape;768;p53"/>
          <p:cNvSpPr/>
          <p:nvPr/>
        </p:nvSpPr>
        <p:spPr>
          <a:xfrm>
            <a:off x="5979319"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69" name="Google Shape;769;p53"/>
          <p:cNvSpPr/>
          <p:nvPr/>
        </p:nvSpPr>
        <p:spPr>
          <a:xfrm>
            <a:off x="6657975"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70" name="Google Shape;770;p53"/>
          <p:cNvSpPr/>
          <p:nvPr/>
        </p:nvSpPr>
        <p:spPr>
          <a:xfrm>
            <a:off x="7336631"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71" name="Google Shape;771;p53"/>
          <p:cNvSpPr/>
          <p:nvPr/>
        </p:nvSpPr>
        <p:spPr>
          <a:xfrm>
            <a:off x="8015288" y="2375966"/>
            <a:ext cx="607200" cy="435900"/>
          </a:xfrm>
          <a:prstGeom prst="roundRect">
            <a:avLst>
              <a:gd fmla="val 13114" name="adj"/>
            </a:avLst>
          </a:prstGeom>
          <a:solidFill>
            <a:srgbClr val="2563EB"/>
          </a:solidFill>
          <a:ln cap="flat" cmpd="sng" w="7150">
            <a:solidFill>
              <a:srgbClr val="1D4ED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72" name="Google Shape;772;p53"/>
          <p:cNvSpPr/>
          <p:nvPr/>
        </p:nvSpPr>
        <p:spPr>
          <a:xfrm>
            <a:off x="401725" y="3090489"/>
            <a:ext cx="4543500" cy="1664700"/>
          </a:xfrm>
          <a:prstGeom prst="roundRect">
            <a:avLst>
              <a:gd fmla="val 5149"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3" name="Google Shape;773;p53"/>
          <p:cNvSpPr/>
          <p:nvPr/>
        </p:nvSpPr>
        <p:spPr>
          <a:xfrm>
            <a:off x="5014913" y="3090341"/>
            <a:ext cx="3786300" cy="1664700"/>
          </a:xfrm>
          <a:prstGeom prst="roundRect">
            <a:avLst>
              <a:gd fmla="val 5150"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74" name="Google Shape;774;p53"/>
          <p:cNvSpPr/>
          <p:nvPr/>
        </p:nvSpPr>
        <p:spPr>
          <a:xfrm>
            <a:off x="5164931" y="3629694"/>
            <a:ext cx="18018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75" name="Google Shape;775;p53"/>
          <p:cNvSpPr/>
          <p:nvPr/>
        </p:nvSpPr>
        <p:spPr>
          <a:xfrm>
            <a:off x="6966830" y="3629694"/>
            <a:ext cx="16845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76" name="Google Shape;776;p53"/>
          <p:cNvSpPr/>
          <p:nvPr/>
        </p:nvSpPr>
        <p:spPr>
          <a:xfrm>
            <a:off x="5164931" y="3879725"/>
            <a:ext cx="1801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77" name="Google Shape;777;p53"/>
          <p:cNvSpPr/>
          <p:nvPr/>
        </p:nvSpPr>
        <p:spPr>
          <a:xfrm>
            <a:off x="6966830" y="3879725"/>
            <a:ext cx="168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78" name="Google Shape;778;p53"/>
          <p:cNvSpPr/>
          <p:nvPr/>
        </p:nvSpPr>
        <p:spPr>
          <a:xfrm>
            <a:off x="5164931" y="4129757"/>
            <a:ext cx="1801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79" name="Google Shape;779;p53"/>
          <p:cNvSpPr/>
          <p:nvPr/>
        </p:nvSpPr>
        <p:spPr>
          <a:xfrm>
            <a:off x="6966830" y="4129757"/>
            <a:ext cx="168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80" name="Google Shape;780;p53"/>
          <p:cNvSpPr/>
          <p:nvPr/>
        </p:nvSpPr>
        <p:spPr>
          <a:xfrm>
            <a:off x="5164931" y="4379788"/>
            <a:ext cx="1801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81" name="Google Shape;781;p53"/>
          <p:cNvSpPr/>
          <p:nvPr/>
        </p:nvSpPr>
        <p:spPr>
          <a:xfrm>
            <a:off x="6966830" y="4379788"/>
            <a:ext cx="168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descr="image.png" id="782" name="Google Shape;782;p53"/>
          <p:cNvPicPr preferRelativeResize="0"/>
          <p:nvPr/>
        </p:nvPicPr>
        <p:blipFill rotWithShape="1">
          <a:blip r:embed="rId3">
            <a:alphaModFix/>
          </a:blip>
          <a:srcRect b="0" l="0" r="0" t="0"/>
          <a:stretch/>
        </p:blipFill>
        <p:spPr>
          <a:xfrm>
            <a:off x="521494" y="2154510"/>
            <a:ext cx="135731" cy="107156"/>
          </a:xfrm>
          <a:prstGeom prst="rect">
            <a:avLst/>
          </a:prstGeom>
          <a:noFill/>
          <a:ln>
            <a:noFill/>
          </a:ln>
        </p:spPr>
      </p:pic>
      <p:pic>
        <p:nvPicPr>
          <p:cNvPr descr="image.png" id="783" name="Google Shape;783;p53"/>
          <p:cNvPicPr preferRelativeResize="0"/>
          <p:nvPr/>
        </p:nvPicPr>
        <p:blipFill rotWithShape="1">
          <a:blip r:embed="rId4">
            <a:alphaModFix/>
          </a:blip>
          <a:srcRect b="0" l="0" r="0" t="0"/>
          <a:stretch/>
        </p:blipFill>
        <p:spPr>
          <a:xfrm>
            <a:off x="5164931" y="3226072"/>
            <a:ext cx="135731" cy="107156"/>
          </a:xfrm>
          <a:prstGeom prst="rect">
            <a:avLst/>
          </a:prstGeom>
          <a:noFill/>
          <a:ln>
            <a:noFill/>
          </a:ln>
        </p:spPr>
      </p:pic>
      <p:graphicFrame>
        <p:nvGraphicFramePr>
          <p:cNvPr id="784" name="Google Shape;784;p53"/>
          <p:cNvGraphicFramePr/>
          <p:nvPr/>
        </p:nvGraphicFramePr>
        <p:xfrm>
          <a:off x="5164931" y="3418954"/>
          <a:ext cx="3000000" cy="3000000"/>
        </p:xfrm>
        <a:graphic>
          <a:graphicData uri="http://schemas.openxmlformats.org/drawingml/2006/table">
            <a:tbl>
              <a:tblPr>
                <a:noFill/>
                <a:tableStyleId>{5C564A07-C9E8-4B74-8387-D50FA61C5E47}</a:tableStyleId>
              </a:tblPr>
              <a:tblGrid>
                <a:gridCol w="1801900"/>
                <a:gridCol w="1684250"/>
              </a:tblGrid>
              <a:tr h="242900">
                <a:tc>
                  <a:txBody>
                    <a:bodyPr/>
                    <a:lstStyle/>
                    <a:p>
                      <a:pPr indent="0" lvl="0" marL="0" marR="0" rtl="0" algn="l">
                        <a:spcBef>
                          <a:spcPts val="0"/>
                        </a:spcBef>
                        <a:spcAft>
                          <a:spcPts val="0"/>
                        </a:spcAft>
                        <a:buNone/>
                      </a:pPr>
                      <a:r>
                        <a:rPr b="1" i="0" lang="en" sz="600" u="none" cap="none" strike="noStrike">
                          <a:solidFill>
                            <a:srgbClr val="475569"/>
                          </a:solidFill>
                          <a:latin typeface="Inter"/>
                          <a:ea typeface="Inter"/>
                          <a:cs typeface="Inter"/>
                          <a:sym typeface="Inter"/>
                        </a:rPr>
                        <a:t>Property Metric</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 sz="600" u="none" cap="none" strike="noStrike">
                          <a:solidFill>
                            <a:srgbClr val="475569"/>
                          </a:solidFill>
                          <a:latin typeface="Inter"/>
                          <a:ea typeface="Inter"/>
                          <a:cs typeface="Inter"/>
                          <a:sym typeface="Inter"/>
                        </a:rPr>
                        <a:t>Specification</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1F5F9"/>
                    </a:solidFill>
                  </a:tcPr>
                </a:tc>
              </a:tr>
              <a:tr h="242900">
                <a:tc>
                  <a:txBody>
                    <a:bodyPr/>
                    <a:lstStyle/>
                    <a:p>
                      <a:pPr indent="0" lvl="0" marL="0" marR="0" rtl="0" algn="l">
                        <a:spcBef>
                          <a:spcPts val="0"/>
                        </a:spcBef>
                        <a:spcAft>
                          <a:spcPts val="0"/>
                        </a:spcAft>
                        <a:buNone/>
                      </a:pPr>
                      <a:r>
                        <a:rPr b="1" i="0" lang="en" sz="700" u="none" cap="none" strike="noStrike">
                          <a:solidFill>
                            <a:srgbClr val="1E293B"/>
                          </a:solidFill>
                          <a:latin typeface="Inter"/>
                          <a:ea typeface="Inter"/>
                          <a:cs typeface="Inter"/>
                          <a:sym typeface="Inter"/>
                        </a:rPr>
                        <a:t>Wastewater Permitting </a:t>
                      </a:r>
                      <a:r>
                        <a:rPr b="1" lang="en" sz="700">
                          <a:solidFill>
                            <a:srgbClr val="1E293B"/>
                          </a:solidFill>
                          <a:latin typeface="Inter"/>
                          <a:ea typeface="Inter"/>
                          <a:cs typeface="Inter"/>
                          <a:sym typeface="Inter"/>
                        </a:rPr>
                        <a:t>capacity</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230* (admenable to 300)</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r h="242900">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Heat/Solar</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Oil/Yes, net metering agreement </a:t>
                      </a:r>
                      <a:r>
                        <a:rPr b="1" lang="en" sz="700">
                          <a:solidFill>
                            <a:srgbClr val="1E293B"/>
                          </a:solidFill>
                          <a:latin typeface="Inter"/>
                          <a:ea typeface="Inter"/>
                          <a:cs typeface="Inter"/>
                          <a:sym typeface="Inter"/>
                        </a:rPr>
                        <a:t>with</a:t>
                      </a:r>
                      <a:r>
                        <a:rPr b="1" lang="en" sz="700">
                          <a:solidFill>
                            <a:srgbClr val="1E293B"/>
                          </a:solidFill>
                          <a:latin typeface="Inter"/>
                          <a:ea typeface="Inter"/>
                          <a:cs typeface="Inter"/>
                          <a:sym typeface="Inter"/>
                        </a:rPr>
                        <a:t> Town of Waitsfield</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r h="242900">
                <a:tc>
                  <a:txBody>
                    <a:bodyPr/>
                    <a:lstStyle/>
                    <a:p>
                      <a:pPr indent="0" lvl="0" marL="0" marR="0" rtl="0" algn="l">
                        <a:spcBef>
                          <a:spcPts val="0"/>
                        </a:spcBef>
                        <a:spcAft>
                          <a:spcPts val="0"/>
                        </a:spcAft>
                        <a:buNone/>
                      </a:pPr>
                      <a:r>
                        <a:rPr b="1" i="0" lang="en" sz="700" u="none" cap="none" strike="noStrike">
                          <a:solidFill>
                            <a:srgbClr val="1E293B"/>
                          </a:solidFill>
                          <a:latin typeface="Inter"/>
                          <a:ea typeface="Inter"/>
                          <a:cs typeface="Inter"/>
                          <a:sym typeface="Inter"/>
                        </a:rPr>
                        <a:t>Land </a:t>
                      </a:r>
                      <a:r>
                        <a:rPr b="1" lang="en" sz="700">
                          <a:solidFill>
                            <a:srgbClr val="1E293B"/>
                          </a:solidFill>
                          <a:latin typeface="Inter"/>
                          <a:ea typeface="Inter"/>
                          <a:cs typeface="Inter"/>
                          <a:sym typeface="Inter"/>
                        </a:rPr>
                        <a:t>Ownership</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7.7</a:t>
                      </a:r>
                      <a:r>
                        <a:rPr b="1" i="0" lang="en" sz="700" u="none" cap="none" strike="noStrike">
                          <a:solidFill>
                            <a:srgbClr val="1E293B"/>
                          </a:solidFill>
                          <a:latin typeface="Inter"/>
                          <a:ea typeface="Inter"/>
                          <a:cs typeface="Inter"/>
                          <a:sym typeface="Inter"/>
                        </a:rPr>
                        <a:t> Acres</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r h="242900">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Number of Classrooms</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1" lang="en" sz="700">
                          <a:solidFill>
                            <a:schemeClr val="dk1"/>
                          </a:solidFill>
                          <a:highlight>
                            <a:schemeClr val="lt1"/>
                          </a:highlight>
                          <a:latin typeface="Inter"/>
                          <a:ea typeface="Inter"/>
                          <a:cs typeface="Inter"/>
                          <a:sym typeface="Inter"/>
                        </a:rPr>
                        <a:t>11</a:t>
                      </a:r>
                      <a:endParaRPr sz="1100">
                        <a:solidFill>
                          <a:schemeClr val="dk1"/>
                        </a:solidFill>
                        <a:highlight>
                          <a:schemeClr val="lt1"/>
                        </a:highlight>
                      </a:endParaRPr>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bl>
          </a:graphicData>
        </a:graphic>
      </p:graphicFrame>
      <p:sp>
        <p:nvSpPr>
          <p:cNvPr id="785" name="Google Shape;785;p53"/>
          <p:cNvSpPr txBox="1"/>
          <p:nvPr/>
        </p:nvSpPr>
        <p:spPr>
          <a:xfrm>
            <a:off x="7603740" y="528638"/>
            <a:ext cx="11688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1D4ED8"/>
                </a:solidFill>
                <a:latin typeface="Inter"/>
                <a:ea typeface="Inter"/>
                <a:cs typeface="Inter"/>
                <a:sym typeface="Inter"/>
              </a:rPr>
              <a:t>HUUSD Facility Profile</a:t>
            </a:r>
            <a:endParaRPr sz="1100"/>
          </a:p>
        </p:txBody>
      </p:sp>
      <p:sp>
        <p:nvSpPr>
          <p:cNvPr id="786" name="Google Shape;786;p53"/>
          <p:cNvSpPr txBox="1"/>
          <p:nvPr/>
        </p:nvSpPr>
        <p:spPr>
          <a:xfrm>
            <a:off x="342900" y="257175"/>
            <a:ext cx="4744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800" u="none" cap="none" strike="noStrike">
                <a:solidFill>
                  <a:srgbClr val="0F172A"/>
                </a:solidFill>
                <a:latin typeface="Inter"/>
                <a:ea typeface="Inter"/>
                <a:cs typeface="Inter"/>
                <a:sym typeface="Inter"/>
              </a:rPr>
              <a:t>FY27 </a:t>
            </a:r>
            <a:r>
              <a:rPr b="1" lang="en" sz="1800">
                <a:solidFill>
                  <a:srgbClr val="0F172A"/>
                </a:solidFill>
                <a:latin typeface="Inter"/>
                <a:ea typeface="Inter"/>
                <a:cs typeface="Inter"/>
                <a:sym typeface="Inter"/>
              </a:rPr>
              <a:t>Waitsfield</a:t>
            </a:r>
            <a:r>
              <a:rPr b="1" i="0" lang="en" sz="1800" u="none" cap="none" strike="noStrike">
                <a:solidFill>
                  <a:srgbClr val="0F172A"/>
                </a:solidFill>
                <a:latin typeface="Inter"/>
                <a:ea typeface="Inter"/>
                <a:cs typeface="Inter"/>
                <a:sym typeface="Inter"/>
              </a:rPr>
              <a:t> Elementary School Profile</a:t>
            </a:r>
            <a:endParaRPr sz="1100"/>
          </a:p>
        </p:txBody>
      </p:sp>
      <p:sp>
        <p:nvSpPr>
          <p:cNvPr id="787" name="Google Shape;787;p53"/>
          <p:cNvSpPr txBox="1"/>
          <p:nvPr/>
        </p:nvSpPr>
        <p:spPr>
          <a:xfrm>
            <a:off x="342900" y="564356"/>
            <a:ext cx="45183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800" u="none" cap="none" strike="noStrike">
                <a:solidFill>
                  <a:srgbClr val="64748B"/>
                </a:solidFill>
                <a:latin typeface="Inter"/>
                <a:ea typeface="Inter"/>
                <a:cs typeface="Inter"/>
                <a:sym typeface="Inter"/>
              </a:rPr>
              <a:t>Facility profile, student enrollment, and capital investment priorities</a:t>
            </a:r>
            <a:endParaRPr sz="1100"/>
          </a:p>
        </p:txBody>
      </p:sp>
      <p:sp>
        <p:nvSpPr>
          <p:cNvPr id="788" name="Google Shape;788;p53"/>
          <p:cNvSpPr txBox="1"/>
          <p:nvPr/>
        </p:nvSpPr>
        <p:spPr>
          <a:xfrm>
            <a:off x="492919" y="1114425"/>
            <a:ext cx="1371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TOTAL STUDENT ENROLLMENT</a:t>
            </a:r>
            <a:endParaRPr sz="1100"/>
          </a:p>
        </p:txBody>
      </p:sp>
      <p:sp>
        <p:nvSpPr>
          <p:cNvPr id="789" name="Google Shape;789;p53"/>
          <p:cNvSpPr txBox="1"/>
          <p:nvPr/>
        </p:nvSpPr>
        <p:spPr>
          <a:xfrm>
            <a:off x="492919" y="1371600"/>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 sz="1500">
                <a:latin typeface="Inter"/>
                <a:ea typeface="Inter"/>
                <a:cs typeface="Inter"/>
                <a:sym typeface="Inter"/>
              </a:rPr>
              <a:t>103</a:t>
            </a:r>
            <a:endParaRPr b="1" sz="1500">
              <a:latin typeface="Inter"/>
              <a:ea typeface="Inter"/>
              <a:cs typeface="Inter"/>
              <a:sym typeface="Inter"/>
            </a:endParaRPr>
          </a:p>
        </p:txBody>
      </p:sp>
      <p:sp>
        <p:nvSpPr>
          <p:cNvPr id="790" name="Google Shape;790;p53"/>
          <p:cNvSpPr txBox="1"/>
          <p:nvPr/>
        </p:nvSpPr>
        <p:spPr>
          <a:xfrm>
            <a:off x="492919" y="1618729"/>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Grades K – 6</a:t>
            </a:r>
            <a:endParaRPr sz="1100"/>
          </a:p>
        </p:txBody>
      </p:sp>
      <p:sp>
        <p:nvSpPr>
          <p:cNvPr id="791" name="Google Shape;791;p53"/>
          <p:cNvSpPr txBox="1"/>
          <p:nvPr/>
        </p:nvSpPr>
        <p:spPr>
          <a:xfrm>
            <a:off x="2207419" y="1114425"/>
            <a:ext cx="1371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DEFERRED MAINTENANCE (P1-3)</a:t>
            </a:r>
            <a:endParaRPr sz="1100"/>
          </a:p>
        </p:txBody>
      </p:sp>
      <p:sp>
        <p:nvSpPr>
          <p:cNvPr id="792" name="Google Shape;792;p53"/>
          <p:cNvSpPr txBox="1"/>
          <p:nvPr/>
        </p:nvSpPr>
        <p:spPr>
          <a:xfrm>
            <a:off x="2207419" y="1371600"/>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0F172A"/>
                </a:solidFill>
                <a:latin typeface="Inter"/>
                <a:ea typeface="Inter"/>
                <a:cs typeface="Inter"/>
                <a:sym typeface="Inter"/>
              </a:rPr>
              <a:t>$</a:t>
            </a:r>
            <a:r>
              <a:rPr b="1" lang="en" sz="1500">
                <a:solidFill>
                  <a:srgbClr val="0F172A"/>
                </a:solidFill>
                <a:latin typeface="Inter"/>
                <a:ea typeface="Inter"/>
                <a:cs typeface="Inter"/>
                <a:sym typeface="Inter"/>
              </a:rPr>
              <a:t>4,840,026</a:t>
            </a:r>
            <a:endParaRPr sz="1100"/>
          </a:p>
        </p:txBody>
      </p:sp>
      <p:sp>
        <p:nvSpPr>
          <p:cNvPr id="793" name="Google Shape;793;p53"/>
          <p:cNvSpPr txBox="1"/>
          <p:nvPr/>
        </p:nvSpPr>
        <p:spPr>
          <a:xfrm>
            <a:off x="2207419" y="1618729"/>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Priority 1: $</a:t>
            </a:r>
            <a:r>
              <a:rPr lang="en" sz="700">
                <a:solidFill>
                  <a:srgbClr val="64748B"/>
                </a:solidFill>
                <a:latin typeface="Inter"/>
                <a:ea typeface="Inter"/>
                <a:cs typeface="Inter"/>
                <a:sym typeface="Inter"/>
              </a:rPr>
              <a:t>622,673</a:t>
            </a:r>
            <a:endParaRPr sz="1100"/>
          </a:p>
        </p:txBody>
      </p:sp>
      <p:sp>
        <p:nvSpPr>
          <p:cNvPr id="794" name="Google Shape;794;p53"/>
          <p:cNvSpPr txBox="1"/>
          <p:nvPr/>
        </p:nvSpPr>
        <p:spPr>
          <a:xfrm>
            <a:off x="3921919" y="1114425"/>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DC2626"/>
                </a:solidFill>
                <a:latin typeface="Inter"/>
                <a:ea typeface="Inter"/>
                <a:cs typeface="Inter"/>
                <a:sym typeface="Inter"/>
              </a:rPr>
              <a:t>IMPENDING INVESTMENT</a:t>
            </a:r>
            <a:endParaRPr sz="1100"/>
          </a:p>
        </p:txBody>
      </p:sp>
      <p:sp>
        <p:nvSpPr>
          <p:cNvPr id="795" name="Google Shape;795;p53"/>
          <p:cNvSpPr txBox="1"/>
          <p:nvPr/>
        </p:nvSpPr>
        <p:spPr>
          <a:xfrm>
            <a:off x="3921919" y="1318022"/>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B91C1C"/>
                </a:solidFill>
                <a:latin typeface="Inter"/>
                <a:ea typeface="Inter"/>
                <a:cs typeface="Inter"/>
                <a:sym typeface="Inter"/>
              </a:rPr>
              <a:t>$150,000</a:t>
            </a:r>
            <a:endParaRPr sz="1100"/>
          </a:p>
        </p:txBody>
      </p:sp>
      <p:sp>
        <p:nvSpPr>
          <p:cNvPr id="796" name="Google Shape;796;p53"/>
          <p:cNvSpPr txBox="1"/>
          <p:nvPr/>
        </p:nvSpPr>
        <p:spPr>
          <a:xfrm>
            <a:off x="3921919" y="1618729"/>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Near-term critical repairs</a:t>
            </a:r>
            <a:endParaRPr sz="1100"/>
          </a:p>
        </p:txBody>
      </p:sp>
      <p:sp>
        <p:nvSpPr>
          <p:cNvPr id="797" name="Google Shape;797;p53"/>
          <p:cNvSpPr txBox="1"/>
          <p:nvPr/>
        </p:nvSpPr>
        <p:spPr>
          <a:xfrm>
            <a:off x="5636419" y="1114425"/>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BUILDING FOOTPRINT</a:t>
            </a:r>
            <a:endParaRPr sz="1100"/>
          </a:p>
        </p:txBody>
      </p:sp>
      <p:sp>
        <p:nvSpPr>
          <p:cNvPr id="798" name="Google Shape;798;p53"/>
          <p:cNvSpPr txBox="1"/>
          <p:nvPr/>
        </p:nvSpPr>
        <p:spPr>
          <a:xfrm>
            <a:off x="5636419" y="1318022"/>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0F172A"/>
                </a:solidFill>
                <a:latin typeface="Inter"/>
                <a:ea typeface="Inter"/>
                <a:cs typeface="Inter"/>
                <a:sym typeface="Inter"/>
              </a:rPr>
              <a:t>23,680 sq ft</a:t>
            </a:r>
            <a:endParaRPr sz="1100"/>
          </a:p>
        </p:txBody>
      </p:sp>
      <p:sp>
        <p:nvSpPr>
          <p:cNvPr id="799" name="Google Shape;799;p53"/>
          <p:cNvSpPr txBox="1"/>
          <p:nvPr/>
        </p:nvSpPr>
        <p:spPr>
          <a:xfrm>
            <a:off x="5548956" y="1538654"/>
            <a:ext cx="16251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700">
                <a:solidFill>
                  <a:srgbClr val="64748B"/>
                </a:solidFill>
                <a:latin typeface="Inter"/>
                <a:ea typeface="Inter"/>
                <a:cs typeface="Inter"/>
                <a:sym typeface="Inter"/>
              </a:rPr>
              <a:t>11</a:t>
            </a:r>
            <a:r>
              <a:rPr b="0" i="0" lang="en" sz="700" u="none" cap="none" strike="noStrike">
                <a:solidFill>
                  <a:srgbClr val="64748B"/>
                </a:solidFill>
                <a:latin typeface="Inter"/>
                <a:ea typeface="Inter"/>
                <a:cs typeface="Inter"/>
                <a:sym typeface="Inter"/>
              </a:rPr>
              <a:t> Classrooms • </a:t>
            </a:r>
            <a:r>
              <a:rPr lang="en" sz="700">
                <a:solidFill>
                  <a:srgbClr val="64748B"/>
                </a:solidFill>
                <a:latin typeface="Inter"/>
                <a:ea typeface="Inter"/>
                <a:cs typeface="Inter"/>
                <a:sym typeface="Inter"/>
              </a:rPr>
              <a:t>Playgrounds, </a:t>
            </a:r>
            <a:endParaRPr sz="700">
              <a:solidFill>
                <a:srgbClr val="64748B"/>
              </a:solidFill>
              <a:latin typeface="Inter"/>
              <a:ea typeface="Inter"/>
              <a:cs typeface="Inter"/>
              <a:sym typeface="Inter"/>
            </a:endParaRPr>
          </a:p>
          <a:p>
            <a:pPr indent="0" lvl="0" marL="0" marR="0" rtl="0" algn="l">
              <a:spcBef>
                <a:spcPts val="0"/>
              </a:spcBef>
              <a:spcAft>
                <a:spcPts val="0"/>
              </a:spcAft>
              <a:buNone/>
            </a:pPr>
            <a:r>
              <a:rPr lang="en" sz="700">
                <a:solidFill>
                  <a:srgbClr val="64748B"/>
                </a:solidFill>
                <a:latin typeface="Inter"/>
                <a:ea typeface="Inter"/>
                <a:cs typeface="Inter"/>
                <a:sym typeface="Inter"/>
              </a:rPr>
              <a:t>fields and access to Mad River Path Trail </a:t>
            </a:r>
            <a:endParaRPr sz="1100"/>
          </a:p>
        </p:txBody>
      </p:sp>
      <p:sp>
        <p:nvSpPr>
          <p:cNvPr id="800" name="Google Shape;800;p53"/>
          <p:cNvSpPr txBox="1"/>
          <p:nvPr/>
        </p:nvSpPr>
        <p:spPr>
          <a:xfrm>
            <a:off x="7350919" y="1114425"/>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STAFFING &amp; HEADCOUNT</a:t>
            </a:r>
            <a:endParaRPr sz="1100"/>
          </a:p>
        </p:txBody>
      </p:sp>
      <p:sp>
        <p:nvSpPr>
          <p:cNvPr id="801" name="Google Shape;801;p53"/>
          <p:cNvSpPr txBox="1"/>
          <p:nvPr/>
        </p:nvSpPr>
        <p:spPr>
          <a:xfrm>
            <a:off x="7350919" y="1318022"/>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0F172A"/>
                </a:solidFill>
                <a:latin typeface="Inter"/>
                <a:ea typeface="Inter"/>
                <a:cs typeface="Inter"/>
                <a:sym typeface="Inter"/>
              </a:rPr>
              <a:t> 23.25 FTE</a:t>
            </a:r>
            <a:endParaRPr sz="1100"/>
          </a:p>
        </p:txBody>
      </p:sp>
      <p:sp>
        <p:nvSpPr>
          <p:cNvPr id="802" name="Google Shape;802;p53"/>
          <p:cNvSpPr txBox="1"/>
          <p:nvPr/>
        </p:nvSpPr>
        <p:spPr>
          <a:xfrm>
            <a:off x="7350919" y="1618729"/>
            <a:ext cx="16251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100"/>
          </a:p>
        </p:txBody>
      </p:sp>
      <p:sp>
        <p:nvSpPr>
          <p:cNvPr id="803" name="Google Shape;803;p53"/>
          <p:cNvSpPr txBox="1"/>
          <p:nvPr/>
        </p:nvSpPr>
        <p:spPr>
          <a:xfrm>
            <a:off x="714375" y="2140223"/>
            <a:ext cx="25845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 sz="800" u="none" cap="none" strike="noStrike">
                <a:solidFill>
                  <a:srgbClr val="1E293B"/>
                </a:solidFill>
                <a:latin typeface="Inter"/>
                <a:ea typeface="Inter"/>
                <a:cs typeface="Inter"/>
                <a:sym typeface="Inter"/>
              </a:rPr>
              <a:t>Student Enrollment Distribution (FY27)</a:t>
            </a:r>
            <a:endParaRPr sz="1100"/>
          </a:p>
        </p:txBody>
      </p:sp>
      <p:sp>
        <p:nvSpPr>
          <p:cNvPr id="804" name="Google Shape;804;p53"/>
          <p:cNvSpPr txBox="1"/>
          <p:nvPr/>
        </p:nvSpPr>
        <p:spPr>
          <a:xfrm>
            <a:off x="478631"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PK3</a:t>
            </a:r>
            <a:endParaRPr sz="1100"/>
          </a:p>
        </p:txBody>
      </p:sp>
      <p:sp>
        <p:nvSpPr>
          <p:cNvPr id="805" name="Google Shape;805;p53"/>
          <p:cNvSpPr txBox="1"/>
          <p:nvPr/>
        </p:nvSpPr>
        <p:spPr>
          <a:xfrm>
            <a:off x="478631"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	</a:t>
            </a:r>
            <a:endParaRPr sz="1100"/>
          </a:p>
        </p:txBody>
      </p:sp>
      <p:sp>
        <p:nvSpPr>
          <p:cNvPr id="806" name="Google Shape;806;p53"/>
          <p:cNvSpPr txBox="1"/>
          <p:nvPr/>
        </p:nvSpPr>
        <p:spPr>
          <a:xfrm>
            <a:off x="1157288"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PK4</a:t>
            </a:r>
            <a:endParaRPr sz="1100"/>
          </a:p>
        </p:txBody>
      </p:sp>
      <p:sp>
        <p:nvSpPr>
          <p:cNvPr id="807" name="Google Shape;807;p53"/>
          <p:cNvSpPr txBox="1"/>
          <p:nvPr/>
        </p:nvSpPr>
        <p:spPr>
          <a:xfrm>
            <a:off x="1835944" y="2454548"/>
            <a:ext cx="7215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Kindergarten</a:t>
            </a:r>
            <a:endParaRPr sz="1100"/>
          </a:p>
        </p:txBody>
      </p:sp>
      <p:sp>
        <p:nvSpPr>
          <p:cNvPr id="808" name="Google Shape;808;p53"/>
          <p:cNvSpPr txBox="1"/>
          <p:nvPr/>
        </p:nvSpPr>
        <p:spPr>
          <a:xfrm>
            <a:off x="1835944" y="2583135"/>
            <a:ext cx="7215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11</a:t>
            </a:r>
            <a:endParaRPr sz="1100"/>
          </a:p>
        </p:txBody>
      </p:sp>
      <p:sp>
        <p:nvSpPr>
          <p:cNvPr id="809" name="Google Shape;809;p53"/>
          <p:cNvSpPr txBox="1"/>
          <p:nvPr/>
        </p:nvSpPr>
        <p:spPr>
          <a:xfrm>
            <a:off x="2543175"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1</a:t>
            </a:r>
            <a:endParaRPr sz="1100"/>
          </a:p>
        </p:txBody>
      </p:sp>
      <p:sp>
        <p:nvSpPr>
          <p:cNvPr id="810" name="Google Shape;810;p53"/>
          <p:cNvSpPr txBox="1"/>
          <p:nvPr/>
        </p:nvSpPr>
        <p:spPr>
          <a:xfrm>
            <a:off x="2543175"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12</a:t>
            </a:r>
            <a:endParaRPr sz="1100"/>
          </a:p>
        </p:txBody>
      </p:sp>
      <p:sp>
        <p:nvSpPr>
          <p:cNvPr id="811" name="Google Shape;811;p53"/>
          <p:cNvSpPr txBox="1"/>
          <p:nvPr/>
        </p:nvSpPr>
        <p:spPr>
          <a:xfrm>
            <a:off x="3221831"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2</a:t>
            </a:r>
            <a:endParaRPr sz="1100"/>
          </a:p>
        </p:txBody>
      </p:sp>
      <p:sp>
        <p:nvSpPr>
          <p:cNvPr id="812" name="Google Shape;812;p53"/>
          <p:cNvSpPr txBox="1"/>
          <p:nvPr/>
        </p:nvSpPr>
        <p:spPr>
          <a:xfrm>
            <a:off x="3221831"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14</a:t>
            </a:r>
            <a:endParaRPr sz="1100"/>
          </a:p>
        </p:txBody>
      </p:sp>
      <p:sp>
        <p:nvSpPr>
          <p:cNvPr id="813" name="Google Shape;813;p53"/>
          <p:cNvSpPr txBox="1"/>
          <p:nvPr/>
        </p:nvSpPr>
        <p:spPr>
          <a:xfrm>
            <a:off x="3900488"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3</a:t>
            </a:r>
            <a:endParaRPr sz="1100"/>
          </a:p>
        </p:txBody>
      </p:sp>
      <p:sp>
        <p:nvSpPr>
          <p:cNvPr id="814" name="Google Shape;814;p53"/>
          <p:cNvSpPr txBox="1"/>
          <p:nvPr/>
        </p:nvSpPr>
        <p:spPr>
          <a:xfrm>
            <a:off x="3900488"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15</a:t>
            </a:r>
            <a:endParaRPr sz="1100"/>
          </a:p>
        </p:txBody>
      </p:sp>
      <p:sp>
        <p:nvSpPr>
          <p:cNvPr id="815" name="Google Shape;815;p53"/>
          <p:cNvSpPr txBox="1"/>
          <p:nvPr/>
        </p:nvSpPr>
        <p:spPr>
          <a:xfrm>
            <a:off x="4579144"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4</a:t>
            </a:r>
            <a:endParaRPr sz="1100"/>
          </a:p>
        </p:txBody>
      </p:sp>
      <p:sp>
        <p:nvSpPr>
          <p:cNvPr id="816" name="Google Shape;816;p53"/>
          <p:cNvSpPr txBox="1"/>
          <p:nvPr/>
        </p:nvSpPr>
        <p:spPr>
          <a:xfrm>
            <a:off x="4579144"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17</a:t>
            </a:r>
            <a:endParaRPr sz="1100"/>
          </a:p>
        </p:txBody>
      </p:sp>
      <p:sp>
        <p:nvSpPr>
          <p:cNvPr id="817" name="Google Shape;817;p53"/>
          <p:cNvSpPr txBox="1"/>
          <p:nvPr/>
        </p:nvSpPr>
        <p:spPr>
          <a:xfrm>
            <a:off x="5257800"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5</a:t>
            </a:r>
            <a:endParaRPr sz="1100"/>
          </a:p>
        </p:txBody>
      </p:sp>
      <p:sp>
        <p:nvSpPr>
          <p:cNvPr id="818" name="Google Shape;818;p53"/>
          <p:cNvSpPr txBox="1"/>
          <p:nvPr/>
        </p:nvSpPr>
        <p:spPr>
          <a:xfrm>
            <a:off x="5257800"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14</a:t>
            </a:r>
            <a:endParaRPr sz="1100"/>
          </a:p>
        </p:txBody>
      </p:sp>
      <p:sp>
        <p:nvSpPr>
          <p:cNvPr id="819" name="Google Shape;819;p53"/>
          <p:cNvSpPr txBox="1"/>
          <p:nvPr/>
        </p:nvSpPr>
        <p:spPr>
          <a:xfrm>
            <a:off x="5936456"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6</a:t>
            </a:r>
            <a:endParaRPr sz="1100"/>
          </a:p>
        </p:txBody>
      </p:sp>
      <p:sp>
        <p:nvSpPr>
          <p:cNvPr id="820" name="Google Shape;820;p53"/>
          <p:cNvSpPr txBox="1"/>
          <p:nvPr/>
        </p:nvSpPr>
        <p:spPr>
          <a:xfrm>
            <a:off x="5936456"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20</a:t>
            </a:r>
            <a:endParaRPr sz="1100"/>
          </a:p>
        </p:txBody>
      </p:sp>
      <p:sp>
        <p:nvSpPr>
          <p:cNvPr id="821" name="Google Shape;821;p53"/>
          <p:cNvSpPr txBox="1"/>
          <p:nvPr/>
        </p:nvSpPr>
        <p:spPr>
          <a:xfrm>
            <a:off x="6615113"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7</a:t>
            </a:r>
            <a:endParaRPr sz="1100"/>
          </a:p>
        </p:txBody>
      </p:sp>
      <p:sp>
        <p:nvSpPr>
          <p:cNvPr id="822" name="Google Shape;822;p53"/>
          <p:cNvSpPr txBox="1"/>
          <p:nvPr/>
        </p:nvSpPr>
        <p:spPr>
          <a:xfrm>
            <a:off x="6615113"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000" u="none" cap="none" strike="noStrike">
                <a:solidFill>
                  <a:srgbClr val="0F172A"/>
                </a:solidFill>
                <a:latin typeface="Inter"/>
                <a:ea typeface="Inter"/>
                <a:cs typeface="Inter"/>
                <a:sym typeface="Inter"/>
              </a:rPr>
              <a:t>-</a:t>
            </a:r>
            <a:endParaRPr sz="1100"/>
          </a:p>
        </p:txBody>
      </p:sp>
      <p:sp>
        <p:nvSpPr>
          <p:cNvPr id="823" name="Google Shape;823;p53"/>
          <p:cNvSpPr txBox="1"/>
          <p:nvPr/>
        </p:nvSpPr>
        <p:spPr>
          <a:xfrm>
            <a:off x="7293769"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8</a:t>
            </a:r>
            <a:endParaRPr sz="1100"/>
          </a:p>
        </p:txBody>
      </p:sp>
      <p:sp>
        <p:nvSpPr>
          <p:cNvPr id="824" name="Google Shape;824;p53"/>
          <p:cNvSpPr txBox="1"/>
          <p:nvPr/>
        </p:nvSpPr>
        <p:spPr>
          <a:xfrm>
            <a:off x="7293769"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000" u="none" cap="none" strike="noStrike">
                <a:solidFill>
                  <a:srgbClr val="0F172A"/>
                </a:solidFill>
                <a:latin typeface="Inter"/>
                <a:ea typeface="Inter"/>
                <a:cs typeface="Inter"/>
                <a:sym typeface="Inter"/>
              </a:rPr>
              <a:t>-</a:t>
            </a:r>
            <a:endParaRPr sz="1100"/>
          </a:p>
        </p:txBody>
      </p:sp>
      <p:sp>
        <p:nvSpPr>
          <p:cNvPr id="825" name="Google Shape;825;p53"/>
          <p:cNvSpPr txBox="1"/>
          <p:nvPr/>
        </p:nvSpPr>
        <p:spPr>
          <a:xfrm>
            <a:off x="7972425"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BFDBFE"/>
                </a:solidFill>
                <a:latin typeface="Inter"/>
                <a:ea typeface="Inter"/>
                <a:cs typeface="Inter"/>
                <a:sym typeface="Inter"/>
              </a:rPr>
              <a:t>TOTAL</a:t>
            </a:r>
            <a:endParaRPr sz="1100"/>
          </a:p>
        </p:txBody>
      </p:sp>
      <p:sp>
        <p:nvSpPr>
          <p:cNvPr id="826" name="Google Shape;826;p53"/>
          <p:cNvSpPr txBox="1"/>
          <p:nvPr/>
        </p:nvSpPr>
        <p:spPr>
          <a:xfrm>
            <a:off x="7972425"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FFFFFF"/>
                </a:solidFill>
                <a:latin typeface="Inter"/>
                <a:ea typeface="Inter"/>
                <a:cs typeface="Inter"/>
                <a:sym typeface="Inter"/>
              </a:rPr>
              <a:t>103</a:t>
            </a:r>
            <a:endParaRPr sz="1100"/>
          </a:p>
        </p:txBody>
      </p:sp>
      <p:sp>
        <p:nvSpPr>
          <p:cNvPr id="827" name="Google Shape;827;p53"/>
          <p:cNvSpPr txBox="1"/>
          <p:nvPr/>
        </p:nvSpPr>
        <p:spPr>
          <a:xfrm>
            <a:off x="5357813" y="3211785"/>
            <a:ext cx="37863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 sz="800" u="none" cap="none" strike="noStrike">
                <a:solidFill>
                  <a:srgbClr val="1E293B"/>
                </a:solidFill>
                <a:latin typeface="Inter"/>
                <a:ea typeface="Inter"/>
                <a:cs typeface="Inter"/>
                <a:sym typeface="Inter"/>
              </a:rPr>
              <a:t>Facility &amp; Environmental Specs</a:t>
            </a:r>
            <a:endParaRPr sz="1100"/>
          </a:p>
        </p:txBody>
      </p:sp>
      <p:sp>
        <p:nvSpPr>
          <p:cNvPr id="828" name="Google Shape;828;p53"/>
          <p:cNvSpPr txBox="1"/>
          <p:nvPr/>
        </p:nvSpPr>
        <p:spPr>
          <a:xfrm>
            <a:off x="495300" y="3200400"/>
            <a:ext cx="42387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991B1B"/>
                </a:solidFill>
                <a:latin typeface="Inter"/>
                <a:ea typeface="Inter"/>
                <a:cs typeface="Inter"/>
                <a:sym typeface="Inter"/>
              </a:rPr>
              <a:t>Impending Capital Investment &amp; Facilities</a:t>
            </a:r>
            <a:endParaRPr b="1" sz="1100">
              <a:solidFill>
                <a:srgbClr val="991B1B"/>
              </a:solidFill>
              <a:latin typeface="Inter"/>
              <a:ea typeface="Inter"/>
              <a:cs typeface="Inter"/>
              <a:sym typeface="Inter"/>
            </a:endParaRPr>
          </a:p>
        </p:txBody>
      </p:sp>
      <p:sp>
        <p:nvSpPr>
          <p:cNvPr id="829" name="Google Shape;829;p53"/>
          <p:cNvSpPr txBox="1"/>
          <p:nvPr/>
        </p:nvSpPr>
        <p:spPr>
          <a:xfrm>
            <a:off x="495300" y="3505200"/>
            <a:ext cx="1905000" cy="506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 sz="900">
                <a:solidFill>
                  <a:srgbClr val="7F1D1D"/>
                </a:solidFill>
                <a:latin typeface="Inter"/>
                <a:ea typeface="Inter"/>
                <a:cs typeface="Inter"/>
                <a:sym typeface="Inter"/>
              </a:rPr>
              <a:t>Priority Maintenance</a:t>
            </a:r>
            <a:endParaRPr b="0" sz="850">
              <a:solidFill>
                <a:srgbClr val="DC2626"/>
              </a:solidFill>
              <a:latin typeface="Inter SemiBold"/>
              <a:ea typeface="Inter SemiBold"/>
              <a:cs typeface="Inter SemiBold"/>
              <a:sym typeface="Inter SemiBold"/>
            </a:endParaRPr>
          </a:p>
          <a:p>
            <a:pPr indent="-282575" lvl="0" marL="457200" rtl="0" algn="l">
              <a:spcBef>
                <a:spcPts val="450"/>
              </a:spcBef>
              <a:spcAft>
                <a:spcPts val="0"/>
              </a:spcAft>
              <a:buClr>
                <a:srgbClr val="DC2626"/>
              </a:buClr>
              <a:buSzPts val="850"/>
              <a:buFont typeface="Inter"/>
              <a:buChar char="●"/>
            </a:pPr>
            <a:r>
              <a:rPr b="0" lang="en" sz="850">
                <a:solidFill>
                  <a:srgbClr val="DC2626"/>
                </a:solidFill>
                <a:latin typeface="Inter SemiBold"/>
                <a:ea typeface="Inter SemiBold"/>
                <a:cs typeface="Inter SemiBold"/>
                <a:sym typeface="Inter SemiBold"/>
              </a:rPr>
              <a:t>Boiler replacement</a:t>
            </a:r>
            <a:endParaRPr b="0" sz="850">
              <a:solidFill>
                <a:srgbClr val="DC2626"/>
              </a:solidFill>
              <a:latin typeface="Inter SemiBold"/>
              <a:ea typeface="Inter SemiBold"/>
              <a:cs typeface="Inter SemiBold"/>
              <a:sym typeface="Inter SemiBold"/>
            </a:endParaRPr>
          </a:p>
          <a:p>
            <a:pPr indent="-282575" lvl="0" marL="457200" rtl="0" algn="l">
              <a:spcBef>
                <a:spcPts val="375"/>
              </a:spcBef>
              <a:spcAft>
                <a:spcPts val="375"/>
              </a:spcAft>
              <a:buClr>
                <a:srgbClr val="DC2626"/>
              </a:buClr>
              <a:buSzPts val="850"/>
              <a:buFont typeface="Inter"/>
              <a:buChar char="●"/>
            </a:pPr>
            <a:r>
              <a:rPr b="0" lang="en" sz="850">
                <a:solidFill>
                  <a:srgbClr val="DC2626"/>
                </a:solidFill>
                <a:latin typeface="Inter SemiBold"/>
                <a:ea typeface="Inter SemiBold"/>
                <a:cs typeface="Inter SemiBold"/>
                <a:sym typeface="Inter SemiBold"/>
              </a:rPr>
              <a:t>Partial roof replacement</a:t>
            </a:r>
            <a:endParaRPr b="0" sz="850">
              <a:solidFill>
                <a:srgbClr val="DC2626"/>
              </a:solidFill>
              <a:latin typeface="Inter SemiBold"/>
              <a:ea typeface="Inter SemiBold"/>
              <a:cs typeface="Inter SemiBold"/>
              <a:sym typeface="Inter SemiBold"/>
            </a:endParaRPr>
          </a:p>
        </p:txBody>
      </p:sp>
      <p:sp>
        <p:nvSpPr>
          <p:cNvPr id="830" name="Google Shape;830;p53"/>
          <p:cNvSpPr txBox="1"/>
          <p:nvPr/>
        </p:nvSpPr>
        <p:spPr>
          <a:xfrm>
            <a:off x="2476500" y="3505200"/>
            <a:ext cx="2286000" cy="1124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1D4ED8"/>
                </a:solidFill>
                <a:latin typeface="Inter"/>
                <a:ea typeface="Inter"/>
                <a:cs typeface="Inter"/>
                <a:sym typeface="Inter"/>
              </a:rPr>
              <a:t>Kitchen &amp; Meal Production</a:t>
            </a:r>
            <a:endParaRPr b="1" sz="850">
              <a:solidFill>
                <a:srgbClr val="1D4ED8"/>
              </a:solidFill>
              <a:latin typeface="Inter"/>
              <a:ea typeface="Inter"/>
              <a:cs typeface="Inter"/>
              <a:sym typeface="Inter"/>
            </a:endParaRPr>
          </a:p>
          <a:p>
            <a:pPr indent="0" lvl="0" marL="0" rtl="0" algn="l">
              <a:spcBef>
                <a:spcPts val="150"/>
              </a:spcBef>
              <a:spcAft>
                <a:spcPts val="0"/>
              </a:spcAft>
              <a:buNone/>
            </a:pPr>
            <a:r>
              <a:rPr b="0" lang="en" sz="800">
                <a:solidFill>
                  <a:srgbClr val="475569"/>
                </a:solidFill>
                <a:latin typeface="Inter"/>
                <a:ea typeface="Inter"/>
                <a:cs typeface="Inter"/>
                <a:sym typeface="Inter"/>
              </a:rPr>
              <a:t>Fully operational Kitchen. No incoming meal transport; outgoing to Fayston.</a:t>
            </a:r>
            <a:endParaRPr b="0" sz="800">
              <a:solidFill>
                <a:srgbClr val="475569"/>
              </a:solidFill>
              <a:latin typeface="Inter"/>
              <a:ea typeface="Inter"/>
              <a:cs typeface="Inter"/>
              <a:sym typeface="Inter"/>
            </a:endParaRPr>
          </a:p>
          <a:p>
            <a:pPr indent="0" lvl="0" marL="0" rtl="0" algn="l">
              <a:spcBef>
                <a:spcPts val="600"/>
              </a:spcBef>
              <a:spcAft>
                <a:spcPts val="0"/>
              </a:spcAft>
              <a:buNone/>
            </a:pPr>
            <a:r>
              <a:rPr b="1" lang="en" sz="850">
                <a:solidFill>
                  <a:srgbClr val="1D4ED8"/>
                </a:solidFill>
                <a:latin typeface="Inter"/>
                <a:ea typeface="Inter"/>
                <a:cs typeface="Inter"/>
                <a:sym typeface="Inter"/>
              </a:rPr>
              <a:t>Cafeteria Seating</a:t>
            </a:r>
            <a:endParaRPr b="1" sz="850">
              <a:solidFill>
                <a:srgbClr val="1D4ED8"/>
              </a:solidFill>
              <a:latin typeface="Inter"/>
              <a:ea typeface="Inter"/>
              <a:cs typeface="Inter"/>
              <a:sym typeface="Inter"/>
            </a:endParaRPr>
          </a:p>
          <a:p>
            <a:pPr indent="0" lvl="0" marL="0" rtl="0" algn="l">
              <a:spcBef>
                <a:spcPts val="150"/>
              </a:spcBef>
              <a:spcAft>
                <a:spcPts val="0"/>
              </a:spcAft>
              <a:buNone/>
            </a:pPr>
            <a:r>
              <a:rPr b="0" lang="en" sz="800">
                <a:solidFill>
                  <a:srgbClr val="475569"/>
                </a:solidFill>
                <a:latin typeface="Inter"/>
                <a:ea typeface="Inter"/>
                <a:cs typeface="Inter"/>
                <a:sym typeface="Inter"/>
              </a:rPr>
              <a:t>Gym is used </a:t>
            </a:r>
            <a:r>
              <a:rPr lang="en" sz="800">
                <a:solidFill>
                  <a:srgbClr val="475569"/>
                </a:solidFill>
                <a:latin typeface="Inter"/>
                <a:ea typeface="Inter"/>
                <a:cs typeface="Inter"/>
                <a:sym typeface="Inter"/>
              </a:rPr>
              <a:t>as the cafeteria </a:t>
            </a:r>
            <a:endParaRPr b="0" sz="800">
              <a:solidFill>
                <a:srgbClr val="475569"/>
              </a:solidFill>
              <a:latin typeface="Inter"/>
              <a:ea typeface="Inter"/>
              <a:cs typeface="Inter"/>
              <a:sym typeface="Inter"/>
            </a:endParaRPr>
          </a:p>
        </p:txBody>
      </p:sp>
      <p:sp>
        <p:nvSpPr>
          <p:cNvPr id="831" name="Google Shape;831;p53"/>
          <p:cNvSpPr txBox="1"/>
          <p:nvPr/>
        </p:nvSpPr>
        <p:spPr>
          <a:xfrm>
            <a:off x="378625" y="4206100"/>
            <a:ext cx="3305400" cy="4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7F1D1D"/>
                </a:solidFill>
                <a:latin typeface="Inter"/>
                <a:ea typeface="Inter"/>
                <a:cs typeface="Inter"/>
                <a:sym typeface="Inter"/>
              </a:rPr>
              <a:t>Annual Operating Costs</a:t>
            </a:r>
            <a:endParaRPr b="1" sz="900">
              <a:solidFill>
                <a:srgbClr val="7F1D1D"/>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900">
                <a:solidFill>
                  <a:srgbClr val="7F1D1D"/>
                </a:solidFill>
                <a:latin typeface="Inter"/>
                <a:ea typeface="Inter"/>
                <a:cs typeface="Inter"/>
                <a:sym typeface="Inter"/>
              </a:rPr>
              <a:t>$196,038 not including custodial salary and benefits </a:t>
            </a:r>
            <a:endParaRPr sz="900">
              <a:solidFill>
                <a:srgbClr val="7F1D1D"/>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35" name="Shape 835"/>
        <p:cNvGrpSpPr/>
        <p:nvPr/>
      </p:nvGrpSpPr>
      <p:grpSpPr>
        <a:xfrm>
          <a:off x="0" y="0"/>
          <a:ext cx="0" cy="0"/>
          <a:chOff x="0" y="0"/>
          <a:chExt cx="0" cy="0"/>
        </a:xfrm>
      </p:grpSpPr>
      <p:sp>
        <p:nvSpPr>
          <p:cNvPr id="836" name="Google Shape;836;p54"/>
          <p:cNvSpPr/>
          <p:nvPr/>
        </p:nvSpPr>
        <p:spPr>
          <a:xfrm>
            <a:off x="7503727" y="485775"/>
            <a:ext cx="1297500" cy="214500"/>
          </a:xfrm>
          <a:prstGeom prst="roundRect">
            <a:avLst>
              <a:gd fmla="val 50000" name="adj"/>
            </a:avLst>
          </a:prstGeom>
          <a:solidFill>
            <a:srgbClr val="EFF6FF"/>
          </a:solidFill>
          <a:ln cap="flat" cmpd="sng" w="7150">
            <a:solidFill>
              <a:srgbClr val="BFDBFE"/>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37" name="Google Shape;837;p54"/>
          <p:cNvSpPr/>
          <p:nvPr/>
        </p:nvSpPr>
        <p:spPr>
          <a:xfrm>
            <a:off x="342900" y="1990204"/>
            <a:ext cx="8458200" cy="971700"/>
          </a:xfrm>
          <a:prstGeom prst="roundRect">
            <a:avLst>
              <a:gd fmla="val 8823"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38" name="Google Shape;838;p54"/>
          <p:cNvSpPr/>
          <p:nvPr/>
        </p:nvSpPr>
        <p:spPr>
          <a:xfrm>
            <a:off x="342900" y="978694"/>
            <a:ext cx="1600200" cy="882900"/>
          </a:xfrm>
          <a:prstGeom prst="roundRect">
            <a:avLst>
              <a:gd fmla="val 9709" name="adj"/>
            </a:avLst>
          </a:prstGeom>
          <a:solidFill>
            <a:srgbClr val="F0F9FF"/>
          </a:solidFill>
          <a:ln cap="flat" cmpd="sng" w="7150">
            <a:solidFill>
              <a:srgbClr val="BAE6FD"/>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39" name="Google Shape;839;p54"/>
          <p:cNvSpPr/>
          <p:nvPr/>
        </p:nvSpPr>
        <p:spPr>
          <a:xfrm>
            <a:off x="2057400" y="978694"/>
            <a:ext cx="1600200" cy="882900"/>
          </a:xfrm>
          <a:prstGeom prst="roundRect">
            <a:avLst>
              <a:gd fmla="val 9709"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40" name="Google Shape;840;p54"/>
          <p:cNvSpPr/>
          <p:nvPr/>
        </p:nvSpPr>
        <p:spPr>
          <a:xfrm>
            <a:off x="3771900" y="978694"/>
            <a:ext cx="1600200" cy="882900"/>
          </a:xfrm>
          <a:prstGeom prst="roundRect">
            <a:avLst>
              <a:gd fmla="val 9709" name="adj"/>
            </a:avLst>
          </a:prstGeom>
          <a:solidFill>
            <a:srgbClr val="FEF2F2"/>
          </a:solidFill>
          <a:ln cap="flat" cmpd="sng" w="7150">
            <a:solidFill>
              <a:srgbClr val="FECAC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41" name="Google Shape;841;p54"/>
          <p:cNvSpPr/>
          <p:nvPr/>
        </p:nvSpPr>
        <p:spPr>
          <a:xfrm>
            <a:off x="5486400" y="978694"/>
            <a:ext cx="1600200" cy="882900"/>
          </a:xfrm>
          <a:prstGeom prst="roundRect">
            <a:avLst>
              <a:gd fmla="val 9709"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42" name="Google Shape;842;p54"/>
          <p:cNvSpPr/>
          <p:nvPr/>
        </p:nvSpPr>
        <p:spPr>
          <a:xfrm>
            <a:off x="7200900" y="978694"/>
            <a:ext cx="1600200" cy="882900"/>
          </a:xfrm>
          <a:prstGeom prst="roundRect">
            <a:avLst>
              <a:gd fmla="val 9709"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43" name="Google Shape;843;p54"/>
          <p:cNvSpPr/>
          <p:nvPr/>
        </p:nvSpPr>
        <p:spPr>
          <a:xfrm>
            <a:off x="521494"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44" name="Google Shape;844;p54"/>
          <p:cNvSpPr/>
          <p:nvPr/>
        </p:nvSpPr>
        <p:spPr>
          <a:xfrm>
            <a:off x="1200150"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1" sz="1000">
              <a:solidFill>
                <a:schemeClr val="dk1"/>
              </a:solidFill>
              <a:latin typeface="Inter"/>
              <a:ea typeface="Inter"/>
              <a:cs typeface="Inter"/>
              <a:sym typeface="Inter"/>
            </a:endParaRPr>
          </a:p>
          <a:p>
            <a:pPr indent="0" lvl="0" marL="0" marR="0" rtl="0" algn="ctr">
              <a:spcBef>
                <a:spcPts val="0"/>
              </a:spcBef>
              <a:spcAft>
                <a:spcPts val="0"/>
              </a:spcAft>
              <a:buNone/>
            </a:pPr>
            <a:r>
              <a:rPr b="1" lang="en" sz="1000">
                <a:solidFill>
                  <a:schemeClr val="dk1"/>
                </a:solidFill>
                <a:latin typeface="Inter"/>
                <a:ea typeface="Inter"/>
                <a:cs typeface="Inter"/>
                <a:sym typeface="Inter"/>
              </a:rPr>
              <a:t>13</a:t>
            </a:r>
            <a:endParaRPr b="1" sz="1000">
              <a:solidFill>
                <a:schemeClr val="dk1"/>
              </a:solidFill>
              <a:latin typeface="Inter"/>
              <a:ea typeface="Inter"/>
              <a:cs typeface="Inter"/>
              <a:sym typeface="Inter"/>
            </a:endParaRPr>
          </a:p>
        </p:txBody>
      </p:sp>
      <p:sp>
        <p:nvSpPr>
          <p:cNvPr id="845" name="Google Shape;845;p54"/>
          <p:cNvSpPr/>
          <p:nvPr/>
        </p:nvSpPr>
        <p:spPr>
          <a:xfrm>
            <a:off x="1878806" y="2375966"/>
            <a:ext cx="6360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46" name="Google Shape;846;p54"/>
          <p:cNvSpPr/>
          <p:nvPr/>
        </p:nvSpPr>
        <p:spPr>
          <a:xfrm>
            <a:off x="2586038"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47" name="Google Shape;847;p54"/>
          <p:cNvSpPr/>
          <p:nvPr/>
        </p:nvSpPr>
        <p:spPr>
          <a:xfrm>
            <a:off x="3264694"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48" name="Google Shape;848;p54"/>
          <p:cNvSpPr/>
          <p:nvPr/>
        </p:nvSpPr>
        <p:spPr>
          <a:xfrm>
            <a:off x="3943350"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49" name="Google Shape;849;p54"/>
          <p:cNvSpPr/>
          <p:nvPr/>
        </p:nvSpPr>
        <p:spPr>
          <a:xfrm>
            <a:off x="4622006"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50" name="Google Shape;850;p54"/>
          <p:cNvSpPr/>
          <p:nvPr/>
        </p:nvSpPr>
        <p:spPr>
          <a:xfrm>
            <a:off x="5300663"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51" name="Google Shape;851;p54"/>
          <p:cNvSpPr/>
          <p:nvPr/>
        </p:nvSpPr>
        <p:spPr>
          <a:xfrm>
            <a:off x="5979319"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52" name="Google Shape;852;p54"/>
          <p:cNvSpPr/>
          <p:nvPr/>
        </p:nvSpPr>
        <p:spPr>
          <a:xfrm>
            <a:off x="6657975"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53" name="Google Shape;853;p54"/>
          <p:cNvSpPr/>
          <p:nvPr/>
        </p:nvSpPr>
        <p:spPr>
          <a:xfrm>
            <a:off x="7336631"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54" name="Google Shape;854;p54"/>
          <p:cNvSpPr/>
          <p:nvPr/>
        </p:nvSpPr>
        <p:spPr>
          <a:xfrm>
            <a:off x="8015288" y="2375966"/>
            <a:ext cx="607200" cy="435900"/>
          </a:xfrm>
          <a:prstGeom prst="roundRect">
            <a:avLst>
              <a:gd fmla="val 13114" name="adj"/>
            </a:avLst>
          </a:prstGeom>
          <a:solidFill>
            <a:srgbClr val="2563EB"/>
          </a:solidFill>
          <a:ln cap="flat" cmpd="sng" w="7150">
            <a:solidFill>
              <a:srgbClr val="1D4ED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55" name="Google Shape;855;p54"/>
          <p:cNvSpPr/>
          <p:nvPr/>
        </p:nvSpPr>
        <p:spPr>
          <a:xfrm>
            <a:off x="342900" y="3090339"/>
            <a:ext cx="4543500" cy="1664700"/>
          </a:xfrm>
          <a:prstGeom prst="roundRect">
            <a:avLst>
              <a:gd fmla="val 5149"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900">
                <a:solidFill>
                  <a:srgbClr val="7F1D1D"/>
                </a:solidFill>
                <a:latin typeface="Inter"/>
                <a:ea typeface="Inter"/>
                <a:cs typeface="Inter"/>
                <a:sym typeface="Inter"/>
              </a:rPr>
              <a:t>    </a:t>
            </a:r>
            <a:r>
              <a:rPr b="1" lang="en" sz="900">
                <a:solidFill>
                  <a:srgbClr val="7F1D1D"/>
                </a:solidFill>
                <a:latin typeface="Inter"/>
                <a:ea typeface="Inter"/>
                <a:cs typeface="Inter"/>
                <a:sym typeface="Inter"/>
              </a:rPr>
              <a:t>Annual Operating Costs</a:t>
            </a:r>
            <a:endParaRPr b="1" sz="900">
              <a:solidFill>
                <a:srgbClr val="7F1D1D"/>
              </a:solidFill>
              <a:latin typeface="Inter"/>
              <a:ea typeface="Inter"/>
              <a:cs typeface="Inter"/>
              <a:sym typeface="Inter"/>
            </a:endParaRPr>
          </a:p>
          <a:p>
            <a:pPr indent="0" lvl="0" marL="0" rtl="0" algn="l">
              <a:spcBef>
                <a:spcPts val="0"/>
              </a:spcBef>
              <a:spcAft>
                <a:spcPts val="0"/>
              </a:spcAft>
              <a:buNone/>
            </a:pPr>
            <a:r>
              <a:rPr b="1" lang="en" sz="900">
                <a:solidFill>
                  <a:srgbClr val="7F1D1D"/>
                </a:solidFill>
                <a:latin typeface="Inter"/>
                <a:ea typeface="Inter"/>
                <a:cs typeface="Inter"/>
                <a:sym typeface="Inter"/>
              </a:rPr>
              <a:t>    </a:t>
            </a:r>
            <a:r>
              <a:rPr lang="en" sz="900">
                <a:solidFill>
                  <a:srgbClr val="7F1D1D"/>
                </a:solidFill>
                <a:latin typeface="Inter"/>
                <a:ea typeface="Inter"/>
                <a:cs typeface="Inter"/>
                <a:sym typeface="Inter"/>
              </a:rPr>
              <a:t>$183,521 not including custodial salary and benefits</a:t>
            </a:r>
            <a:endParaRPr sz="900">
              <a:solidFill>
                <a:srgbClr val="7F1D1D"/>
              </a:solidFill>
              <a:latin typeface="Inter"/>
              <a:ea typeface="Inter"/>
              <a:cs typeface="Inter"/>
              <a:sym typeface="Inter"/>
            </a:endParaRPr>
          </a:p>
        </p:txBody>
      </p:sp>
      <p:sp>
        <p:nvSpPr>
          <p:cNvPr id="856" name="Google Shape;856;p54"/>
          <p:cNvSpPr/>
          <p:nvPr/>
        </p:nvSpPr>
        <p:spPr>
          <a:xfrm>
            <a:off x="5014913" y="3090341"/>
            <a:ext cx="3786300" cy="1664700"/>
          </a:xfrm>
          <a:prstGeom prst="roundRect">
            <a:avLst>
              <a:gd fmla="val 5150"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57" name="Google Shape;857;p54"/>
          <p:cNvSpPr/>
          <p:nvPr/>
        </p:nvSpPr>
        <p:spPr>
          <a:xfrm>
            <a:off x="5164931" y="3629694"/>
            <a:ext cx="18018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58" name="Google Shape;858;p54"/>
          <p:cNvSpPr/>
          <p:nvPr/>
        </p:nvSpPr>
        <p:spPr>
          <a:xfrm>
            <a:off x="6966830" y="3629694"/>
            <a:ext cx="16845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59" name="Google Shape;859;p54"/>
          <p:cNvSpPr/>
          <p:nvPr/>
        </p:nvSpPr>
        <p:spPr>
          <a:xfrm>
            <a:off x="5164931" y="3879725"/>
            <a:ext cx="1801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60" name="Google Shape;860;p54"/>
          <p:cNvSpPr/>
          <p:nvPr/>
        </p:nvSpPr>
        <p:spPr>
          <a:xfrm>
            <a:off x="6966830" y="3879725"/>
            <a:ext cx="168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61" name="Google Shape;861;p54"/>
          <p:cNvSpPr/>
          <p:nvPr/>
        </p:nvSpPr>
        <p:spPr>
          <a:xfrm>
            <a:off x="5164931" y="4129757"/>
            <a:ext cx="1801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62" name="Google Shape;862;p54"/>
          <p:cNvSpPr/>
          <p:nvPr/>
        </p:nvSpPr>
        <p:spPr>
          <a:xfrm>
            <a:off x="6966830" y="4129757"/>
            <a:ext cx="168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63" name="Google Shape;863;p54"/>
          <p:cNvSpPr/>
          <p:nvPr/>
        </p:nvSpPr>
        <p:spPr>
          <a:xfrm>
            <a:off x="5164931" y="4379788"/>
            <a:ext cx="1801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64" name="Google Shape;864;p54"/>
          <p:cNvSpPr/>
          <p:nvPr/>
        </p:nvSpPr>
        <p:spPr>
          <a:xfrm>
            <a:off x="6966830" y="4379788"/>
            <a:ext cx="168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descr="image.png" id="865" name="Google Shape;865;p54"/>
          <p:cNvPicPr preferRelativeResize="0"/>
          <p:nvPr/>
        </p:nvPicPr>
        <p:blipFill rotWithShape="1">
          <a:blip r:embed="rId3">
            <a:alphaModFix/>
          </a:blip>
          <a:srcRect b="0" l="0" r="0" t="0"/>
          <a:stretch/>
        </p:blipFill>
        <p:spPr>
          <a:xfrm>
            <a:off x="521494" y="2154510"/>
            <a:ext cx="135731" cy="107156"/>
          </a:xfrm>
          <a:prstGeom prst="rect">
            <a:avLst/>
          </a:prstGeom>
          <a:noFill/>
          <a:ln>
            <a:noFill/>
          </a:ln>
        </p:spPr>
      </p:pic>
      <p:pic>
        <p:nvPicPr>
          <p:cNvPr descr="image.png" id="866" name="Google Shape;866;p54"/>
          <p:cNvPicPr preferRelativeResize="0"/>
          <p:nvPr/>
        </p:nvPicPr>
        <p:blipFill rotWithShape="1">
          <a:blip r:embed="rId4">
            <a:alphaModFix/>
          </a:blip>
          <a:srcRect b="0" l="0" r="0" t="0"/>
          <a:stretch/>
        </p:blipFill>
        <p:spPr>
          <a:xfrm>
            <a:off x="5164931" y="3226072"/>
            <a:ext cx="135731" cy="107156"/>
          </a:xfrm>
          <a:prstGeom prst="rect">
            <a:avLst/>
          </a:prstGeom>
          <a:noFill/>
          <a:ln>
            <a:noFill/>
          </a:ln>
        </p:spPr>
      </p:pic>
      <p:graphicFrame>
        <p:nvGraphicFramePr>
          <p:cNvPr id="867" name="Google Shape;867;p54"/>
          <p:cNvGraphicFramePr/>
          <p:nvPr/>
        </p:nvGraphicFramePr>
        <p:xfrm>
          <a:off x="5164931" y="3418954"/>
          <a:ext cx="3000000" cy="3000000"/>
        </p:xfrm>
        <a:graphic>
          <a:graphicData uri="http://schemas.openxmlformats.org/drawingml/2006/table">
            <a:tbl>
              <a:tblPr>
                <a:noFill/>
                <a:tableStyleId>{5C564A07-C9E8-4B74-8387-D50FA61C5E47}</a:tableStyleId>
              </a:tblPr>
              <a:tblGrid>
                <a:gridCol w="1826400"/>
                <a:gridCol w="1659750"/>
              </a:tblGrid>
              <a:tr h="242900">
                <a:tc>
                  <a:txBody>
                    <a:bodyPr/>
                    <a:lstStyle/>
                    <a:p>
                      <a:pPr indent="0" lvl="0" marL="0" marR="0" rtl="0" algn="l">
                        <a:spcBef>
                          <a:spcPts val="0"/>
                        </a:spcBef>
                        <a:spcAft>
                          <a:spcPts val="0"/>
                        </a:spcAft>
                        <a:buNone/>
                      </a:pPr>
                      <a:r>
                        <a:rPr b="1" i="0" lang="en" sz="600" u="none" cap="none" strike="noStrike">
                          <a:solidFill>
                            <a:srgbClr val="475569"/>
                          </a:solidFill>
                          <a:latin typeface="Inter"/>
                          <a:ea typeface="Inter"/>
                          <a:cs typeface="Inter"/>
                          <a:sym typeface="Inter"/>
                        </a:rPr>
                        <a:t>Property Metric</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 sz="600" u="none" cap="none" strike="noStrike">
                          <a:solidFill>
                            <a:srgbClr val="475569"/>
                          </a:solidFill>
                          <a:latin typeface="Inter"/>
                          <a:ea typeface="Inter"/>
                          <a:cs typeface="Inter"/>
                          <a:sym typeface="Inter"/>
                        </a:rPr>
                        <a:t>Specification</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1F5F9"/>
                    </a:solidFill>
                  </a:tcPr>
                </a:tc>
              </a:tr>
              <a:tr h="242900">
                <a:tc>
                  <a:txBody>
                    <a:bodyPr/>
                    <a:lstStyle/>
                    <a:p>
                      <a:pPr indent="0" lvl="0" marL="0" marR="0" rtl="0" algn="l">
                        <a:spcBef>
                          <a:spcPts val="0"/>
                        </a:spcBef>
                        <a:spcAft>
                          <a:spcPts val="0"/>
                        </a:spcAft>
                        <a:buNone/>
                      </a:pPr>
                      <a:r>
                        <a:rPr b="1" i="0" lang="en" sz="700" u="none" cap="none" strike="noStrike">
                          <a:solidFill>
                            <a:srgbClr val="1E293B"/>
                          </a:solidFill>
                          <a:latin typeface="Inter"/>
                          <a:ea typeface="Inter"/>
                          <a:cs typeface="Inter"/>
                          <a:sym typeface="Inter"/>
                        </a:rPr>
                        <a:t>Wastewater Permitting </a:t>
                      </a:r>
                      <a:r>
                        <a:rPr b="1" lang="en" sz="700">
                          <a:solidFill>
                            <a:srgbClr val="1E293B"/>
                          </a:solidFill>
                          <a:latin typeface="Inter"/>
                          <a:ea typeface="Inter"/>
                          <a:cs typeface="Inter"/>
                          <a:sym typeface="Inter"/>
                        </a:rPr>
                        <a:t>Capacity</a:t>
                      </a:r>
                      <a:r>
                        <a:rPr b="1" lang="en" sz="700">
                          <a:solidFill>
                            <a:srgbClr val="1E293B"/>
                          </a:solidFill>
                          <a:latin typeface="Inter"/>
                          <a:ea typeface="Inter"/>
                          <a:cs typeface="Inter"/>
                          <a:sym typeface="Inter"/>
                        </a:rPr>
                        <a:t> </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237</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r h="242900">
                <a:tc>
                  <a:txBody>
                    <a:bodyPr/>
                    <a:lstStyle/>
                    <a:p>
                      <a:pPr indent="0" lvl="0" marL="0" marR="0" rtl="0" algn="l">
                        <a:spcBef>
                          <a:spcPts val="0"/>
                        </a:spcBef>
                        <a:spcAft>
                          <a:spcPts val="0"/>
                        </a:spcAft>
                        <a:buNone/>
                      </a:pPr>
                      <a:r>
                        <a:rPr b="1" lang="en" sz="700">
                          <a:latin typeface="Inter"/>
                          <a:ea typeface="Inter"/>
                          <a:cs typeface="Inter"/>
                          <a:sym typeface="Inter"/>
                        </a:rPr>
                        <a:t>Heat/Solar</a:t>
                      </a:r>
                      <a:endParaRPr b="1" sz="700">
                        <a:latin typeface="Inter"/>
                        <a:ea typeface="Inter"/>
                        <a:cs typeface="Inter"/>
                        <a:sym typeface="Inter"/>
                      </a:endParaRPr>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latin typeface="Inter"/>
                          <a:ea typeface="Inter"/>
                          <a:cs typeface="Inter"/>
                          <a:sym typeface="Inter"/>
                        </a:rPr>
                        <a:t>Oil/Yes, </a:t>
                      </a:r>
                      <a:r>
                        <a:rPr b="1" lang="en" sz="600">
                          <a:latin typeface="Inter"/>
                          <a:ea typeface="Inter"/>
                          <a:cs typeface="Inter"/>
                          <a:sym typeface="Inter"/>
                        </a:rPr>
                        <a:t>net metering agreement with Town of Warren</a:t>
                      </a:r>
                      <a:endParaRPr b="1" sz="600">
                        <a:latin typeface="Inter"/>
                        <a:ea typeface="Inter"/>
                        <a:cs typeface="Inter"/>
                        <a:sym typeface="Inter"/>
                      </a:endParaRPr>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r h="242900">
                <a:tc>
                  <a:txBody>
                    <a:bodyPr/>
                    <a:lstStyle/>
                    <a:p>
                      <a:pPr indent="0" lvl="0" marL="0" marR="0" rtl="0" algn="l">
                        <a:spcBef>
                          <a:spcPts val="0"/>
                        </a:spcBef>
                        <a:spcAft>
                          <a:spcPts val="0"/>
                        </a:spcAft>
                        <a:buNone/>
                      </a:pPr>
                      <a:r>
                        <a:rPr b="1" i="0" lang="en" sz="700" u="none" cap="none" strike="noStrike">
                          <a:solidFill>
                            <a:srgbClr val="1E293B"/>
                          </a:solidFill>
                          <a:latin typeface="Inter"/>
                          <a:ea typeface="Inter"/>
                          <a:cs typeface="Inter"/>
                          <a:sym typeface="Inter"/>
                        </a:rPr>
                        <a:t>Land </a:t>
                      </a:r>
                      <a:r>
                        <a:rPr b="1" lang="en" sz="700">
                          <a:solidFill>
                            <a:srgbClr val="1E293B"/>
                          </a:solidFill>
                          <a:latin typeface="Inter"/>
                          <a:ea typeface="Inter"/>
                          <a:cs typeface="Inter"/>
                          <a:sym typeface="Inter"/>
                        </a:rPr>
                        <a:t>Ownership</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0</a:t>
                      </a:r>
                      <a:r>
                        <a:rPr b="1" i="0" lang="en" sz="700" u="none" cap="none" strike="noStrike">
                          <a:solidFill>
                            <a:srgbClr val="1E293B"/>
                          </a:solidFill>
                          <a:latin typeface="Inter"/>
                          <a:ea typeface="Inter"/>
                          <a:cs typeface="Inter"/>
                          <a:sym typeface="Inter"/>
                        </a:rPr>
                        <a:t> Acres Sch</a:t>
                      </a:r>
                      <a:r>
                        <a:rPr b="1" lang="en" sz="700">
                          <a:solidFill>
                            <a:srgbClr val="1E293B"/>
                          </a:solidFill>
                          <a:latin typeface="Inter"/>
                          <a:ea typeface="Inter"/>
                          <a:cs typeface="Inter"/>
                          <a:sym typeface="Inter"/>
                        </a:rPr>
                        <a:t>ool has easement for school building on Town Land</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r h="242900">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Number of Classrooms</a:t>
                      </a:r>
                      <a:r>
                        <a:rPr b="1" lang="en" sz="700">
                          <a:solidFill>
                            <a:srgbClr val="1E293B"/>
                          </a:solidFill>
                          <a:latin typeface="Inter"/>
                          <a:ea typeface="Inter"/>
                          <a:cs typeface="Inter"/>
                          <a:sym typeface="Inter"/>
                        </a:rPr>
                        <a:t> </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highlight>
                            <a:schemeClr val="lt1"/>
                          </a:highlight>
                          <a:latin typeface="Inter"/>
                          <a:ea typeface="Inter"/>
                          <a:cs typeface="Inter"/>
                          <a:sym typeface="Inter"/>
                        </a:rPr>
                        <a:t>14</a:t>
                      </a:r>
                      <a:endParaRPr sz="1100">
                        <a:highlight>
                          <a:schemeClr val="lt1"/>
                        </a:highlight>
                      </a:endParaRPr>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bl>
          </a:graphicData>
        </a:graphic>
      </p:graphicFrame>
      <p:sp>
        <p:nvSpPr>
          <p:cNvPr id="868" name="Google Shape;868;p54"/>
          <p:cNvSpPr txBox="1"/>
          <p:nvPr/>
        </p:nvSpPr>
        <p:spPr>
          <a:xfrm>
            <a:off x="7603740" y="528638"/>
            <a:ext cx="11688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1D4ED8"/>
                </a:solidFill>
                <a:latin typeface="Inter"/>
                <a:ea typeface="Inter"/>
                <a:cs typeface="Inter"/>
                <a:sym typeface="Inter"/>
              </a:rPr>
              <a:t>HUUSD Facility Profile</a:t>
            </a:r>
            <a:endParaRPr sz="1100"/>
          </a:p>
        </p:txBody>
      </p:sp>
      <p:sp>
        <p:nvSpPr>
          <p:cNvPr id="869" name="Google Shape;869;p54"/>
          <p:cNvSpPr txBox="1"/>
          <p:nvPr/>
        </p:nvSpPr>
        <p:spPr>
          <a:xfrm>
            <a:off x="342900" y="257175"/>
            <a:ext cx="4744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800" u="none" cap="none" strike="noStrike">
                <a:solidFill>
                  <a:srgbClr val="0F172A"/>
                </a:solidFill>
                <a:latin typeface="Inter"/>
                <a:ea typeface="Inter"/>
                <a:cs typeface="Inter"/>
                <a:sym typeface="Inter"/>
              </a:rPr>
              <a:t>FY27 </a:t>
            </a:r>
            <a:r>
              <a:rPr b="1" lang="en" sz="1800">
                <a:solidFill>
                  <a:srgbClr val="0F172A"/>
                </a:solidFill>
                <a:latin typeface="Inter"/>
                <a:ea typeface="Inter"/>
                <a:cs typeface="Inter"/>
                <a:sym typeface="Inter"/>
              </a:rPr>
              <a:t>Warren </a:t>
            </a:r>
            <a:r>
              <a:rPr b="1" i="0" lang="en" sz="1800" u="none" cap="none" strike="noStrike">
                <a:solidFill>
                  <a:srgbClr val="0F172A"/>
                </a:solidFill>
                <a:latin typeface="Inter"/>
                <a:ea typeface="Inter"/>
                <a:cs typeface="Inter"/>
                <a:sym typeface="Inter"/>
              </a:rPr>
              <a:t>Elementary School Profile </a:t>
            </a:r>
            <a:endParaRPr sz="1100"/>
          </a:p>
        </p:txBody>
      </p:sp>
      <p:sp>
        <p:nvSpPr>
          <p:cNvPr id="870" name="Google Shape;870;p54"/>
          <p:cNvSpPr txBox="1"/>
          <p:nvPr/>
        </p:nvSpPr>
        <p:spPr>
          <a:xfrm>
            <a:off x="342900" y="564356"/>
            <a:ext cx="45183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800" u="none" cap="none" strike="noStrike">
                <a:solidFill>
                  <a:srgbClr val="64748B"/>
                </a:solidFill>
                <a:latin typeface="Inter"/>
                <a:ea typeface="Inter"/>
                <a:cs typeface="Inter"/>
                <a:sym typeface="Inter"/>
              </a:rPr>
              <a:t>Facility profile, student enrollment, and capital investment priorities</a:t>
            </a:r>
            <a:endParaRPr sz="1100"/>
          </a:p>
        </p:txBody>
      </p:sp>
      <p:sp>
        <p:nvSpPr>
          <p:cNvPr id="871" name="Google Shape;871;p54"/>
          <p:cNvSpPr txBox="1"/>
          <p:nvPr/>
        </p:nvSpPr>
        <p:spPr>
          <a:xfrm>
            <a:off x="492919" y="1114425"/>
            <a:ext cx="1371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TOTAL STUDENT ENROLLMENT</a:t>
            </a:r>
            <a:endParaRPr sz="1100"/>
          </a:p>
        </p:txBody>
      </p:sp>
      <p:sp>
        <p:nvSpPr>
          <p:cNvPr id="872" name="Google Shape;872;p54"/>
          <p:cNvSpPr txBox="1"/>
          <p:nvPr/>
        </p:nvSpPr>
        <p:spPr>
          <a:xfrm>
            <a:off x="492919" y="1371600"/>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 sz="1500">
                <a:latin typeface="Inter"/>
                <a:ea typeface="Inter"/>
                <a:cs typeface="Inter"/>
                <a:sym typeface="Inter"/>
              </a:rPr>
              <a:t>87</a:t>
            </a:r>
            <a:endParaRPr b="1" sz="1500">
              <a:latin typeface="Inter"/>
              <a:ea typeface="Inter"/>
              <a:cs typeface="Inter"/>
              <a:sym typeface="Inter"/>
            </a:endParaRPr>
          </a:p>
        </p:txBody>
      </p:sp>
      <p:sp>
        <p:nvSpPr>
          <p:cNvPr id="873" name="Google Shape;873;p54"/>
          <p:cNvSpPr txBox="1"/>
          <p:nvPr/>
        </p:nvSpPr>
        <p:spPr>
          <a:xfrm>
            <a:off x="492919" y="1618729"/>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Grades K – 6</a:t>
            </a:r>
            <a:endParaRPr sz="1100"/>
          </a:p>
        </p:txBody>
      </p:sp>
      <p:sp>
        <p:nvSpPr>
          <p:cNvPr id="874" name="Google Shape;874;p54"/>
          <p:cNvSpPr txBox="1"/>
          <p:nvPr/>
        </p:nvSpPr>
        <p:spPr>
          <a:xfrm>
            <a:off x="2207419" y="1114425"/>
            <a:ext cx="1371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DEFERRED MAINTENANCE (P1-3)</a:t>
            </a:r>
            <a:endParaRPr sz="1100"/>
          </a:p>
        </p:txBody>
      </p:sp>
      <p:sp>
        <p:nvSpPr>
          <p:cNvPr id="875" name="Google Shape;875;p54"/>
          <p:cNvSpPr txBox="1"/>
          <p:nvPr/>
        </p:nvSpPr>
        <p:spPr>
          <a:xfrm>
            <a:off x="2207419" y="1371600"/>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0F172A"/>
                </a:solidFill>
                <a:latin typeface="Inter"/>
                <a:ea typeface="Inter"/>
                <a:cs typeface="Inter"/>
                <a:sym typeface="Inter"/>
              </a:rPr>
              <a:t>$</a:t>
            </a:r>
            <a:r>
              <a:rPr b="1" lang="en" sz="1500">
                <a:solidFill>
                  <a:srgbClr val="0F172A"/>
                </a:solidFill>
                <a:latin typeface="Inter"/>
                <a:ea typeface="Inter"/>
                <a:cs typeface="Inter"/>
                <a:sym typeface="Inter"/>
              </a:rPr>
              <a:t>4,055,711</a:t>
            </a:r>
            <a:endParaRPr sz="1100"/>
          </a:p>
        </p:txBody>
      </p:sp>
      <p:sp>
        <p:nvSpPr>
          <p:cNvPr id="876" name="Google Shape;876;p54"/>
          <p:cNvSpPr txBox="1"/>
          <p:nvPr/>
        </p:nvSpPr>
        <p:spPr>
          <a:xfrm>
            <a:off x="2207419" y="1618729"/>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Priority 1: $</a:t>
            </a:r>
            <a:r>
              <a:rPr lang="en" sz="700">
                <a:solidFill>
                  <a:srgbClr val="64748B"/>
                </a:solidFill>
                <a:latin typeface="Inter"/>
                <a:ea typeface="Inter"/>
                <a:cs typeface="Inter"/>
                <a:sym typeface="Inter"/>
              </a:rPr>
              <a:t>1,451,300</a:t>
            </a:r>
            <a:endParaRPr sz="1100"/>
          </a:p>
        </p:txBody>
      </p:sp>
      <p:sp>
        <p:nvSpPr>
          <p:cNvPr id="877" name="Google Shape;877;p54"/>
          <p:cNvSpPr txBox="1"/>
          <p:nvPr/>
        </p:nvSpPr>
        <p:spPr>
          <a:xfrm>
            <a:off x="3921919" y="1114425"/>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DC2626"/>
                </a:solidFill>
                <a:latin typeface="Inter"/>
                <a:ea typeface="Inter"/>
                <a:cs typeface="Inter"/>
                <a:sym typeface="Inter"/>
              </a:rPr>
              <a:t>IMPENDING INVESTMENT</a:t>
            </a:r>
            <a:endParaRPr sz="1100"/>
          </a:p>
        </p:txBody>
      </p:sp>
      <p:sp>
        <p:nvSpPr>
          <p:cNvPr id="878" name="Google Shape;878;p54"/>
          <p:cNvSpPr txBox="1"/>
          <p:nvPr/>
        </p:nvSpPr>
        <p:spPr>
          <a:xfrm>
            <a:off x="3921919" y="1318022"/>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B91C1C"/>
                </a:solidFill>
                <a:latin typeface="Inter"/>
                <a:ea typeface="Inter"/>
                <a:cs typeface="Inter"/>
                <a:sym typeface="Inter"/>
              </a:rPr>
              <a:t>$</a:t>
            </a:r>
            <a:r>
              <a:rPr b="1" lang="en" sz="1500">
                <a:solidFill>
                  <a:srgbClr val="B91C1C"/>
                </a:solidFill>
                <a:latin typeface="Inter"/>
                <a:ea typeface="Inter"/>
                <a:cs typeface="Inter"/>
                <a:sym typeface="Inter"/>
              </a:rPr>
              <a:t>0</a:t>
            </a:r>
            <a:endParaRPr sz="1100"/>
          </a:p>
        </p:txBody>
      </p:sp>
      <p:sp>
        <p:nvSpPr>
          <p:cNvPr id="879" name="Google Shape;879;p54"/>
          <p:cNvSpPr txBox="1"/>
          <p:nvPr/>
        </p:nvSpPr>
        <p:spPr>
          <a:xfrm>
            <a:off x="3921919" y="1618729"/>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Near-term critical repairs</a:t>
            </a:r>
            <a:endParaRPr sz="1100"/>
          </a:p>
        </p:txBody>
      </p:sp>
      <p:sp>
        <p:nvSpPr>
          <p:cNvPr id="880" name="Google Shape;880;p54"/>
          <p:cNvSpPr txBox="1"/>
          <p:nvPr/>
        </p:nvSpPr>
        <p:spPr>
          <a:xfrm>
            <a:off x="5636419" y="1114425"/>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BUILDING FOOTPRINT</a:t>
            </a:r>
            <a:endParaRPr sz="1100"/>
          </a:p>
        </p:txBody>
      </p:sp>
      <p:sp>
        <p:nvSpPr>
          <p:cNvPr id="881" name="Google Shape;881;p54"/>
          <p:cNvSpPr txBox="1"/>
          <p:nvPr/>
        </p:nvSpPr>
        <p:spPr>
          <a:xfrm>
            <a:off x="5636419" y="1318022"/>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0F172A"/>
                </a:solidFill>
                <a:latin typeface="Inter"/>
                <a:ea typeface="Inter"/>
                <a:cs typeface="Inter"/>
                <a:sym typeface="Inter"/>
              </a:rPr>
              <a:t>2</a:t>
            </a:r>
            <a:r>
              <a:rPr b="1" lang="en" sz="1500">
                <a:solidFill>
                  <a:srgbClr val="0F172A"/>
                </a:solidFill>
                <a:latin typeface="Inter"/>
                <a:ea typeface="Inter"/>
                <a:cs typeface="Inter"/>
                <a:sym typeface="Inter"/>
              </a:rPr>
              <a:t>9,738</a:t>
            </a:r>
            <a:r>
              <a:rPr b="1" i="0" lang="en" sz="1500" u="none" cap="none" strike="noStrike">
                <a:solidFill>
                  <a:srgbClr val="0F172A"/>
                </a:solidFill>
                <a:latin typeface="Inter"/>
                <a:ea typeface="Inter"/>
                <a:cs typeface="Inter"/>
                <a:sym typeface="Inter"/>
              </a:rPr>
              <a:t> sq ft</a:t>
            </a:r>
            <a:endParaRPr sz="1100"/>
          </a:p>
        </p:txBody>
      </p:sp>
      <p:sp>
        <p:nvSpPr>
          <p:cNvPr id="882" name="Google Shape;882;p54"/>
          <p:cNvSpPr txBox="1"/>
          <p:nvPr/>
        </p:nvSpPr>
        <p:spPr>
          <a:xfrm>
            <a:off x="5636419" y="1644929"/>
            <a:ext cx="1625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700">
                <a:solidFill>
                  <a:srgbClr val="64748B"/>
                </a:solidFill>
                <a:latin typeface="Inter"/>
                <a:ea typeface="Inter"/>
                <a:cs typeface="Inter"/>
                <a:sym typeface="Inter"/>
              </a:rPr>
              <a:t>14</a:t>
            </a:r>
            <a:r>
              <a:rPr b="0" i="0" lang="en" sz="700" u="none" cap="none" strike="noStrike">
                <a:solidFill>
                  <a:srgbClr val="64748B"/>
                </a:solidFill>
                <a:latin typeface="Inter"/>
                <a:ea typeface="Inter"/>
                <a:cs typeface="Inter"/>
                <a:sym typeface="Inter"/>
              </a:rPr>
              <a:t> Classrooms • Access to</a:t>
            </a:r>
            <a:endParaRPr b="0" i="0" sz="700" u="none" cap="none" strike="noStrike">
              <a:solidFill>
                <a:srgbClr val="64748B"/>
              </a:solidFill>
              <a:latin typeface="Inter"/>
              <a:ea typeface="Inter"/>
              <a:cs typeface="Inter"/>
              <a:sym typeface="Inter"/>
            </a:endParaRPr>
          </a:p>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 p</a:t>
            </a:r>
            <a:r>
              <a:rPr lang="en" sz="700">
                <a:solidFill>
                  <a:srgbClr val="64748B"/>
                </a:solidFill>
                <a:latin typeface="Inter"/>
                <a:ea typeface="Inter"/>
                <a:cs typeface="Inter"/>
                <a:sym typeface="Inter"/>
              </a:rPr>
              <a:t>layground, fields and trails </a:t>
            </a:r>
            <a:r>
              <a:rPr b="0" i="0" lang="en" sz="700" u="none" cap="none" strike="noStrike">
                <a:solidFill>
                  <a:srgbClr val="64748B"/>
                </a:solidFill>
                <a:latin typeface="Inter"/>
                <a:ea typeface="Inter"/>
                <a:cs typeface="Inter"/>
                <a:sym typeface="Inter"/>
              </a:rPr>
              <a:t> </a:t>
            </a:r>
            <a:endParaRPr sz="900"/>
          </a:p>
        </p:txBody>
      </p:sp>
      <p:sp>
        <p:nvSpPr>
          <p:cNvPr id="883" name="Google Shape;883;p54"/>
          <p:cNvSpPr txBox="1"/>
          <p:nvPr/>
        </p:nvSpPr>
        <p:spPr>
          <a:xfrm>
            <a:off x="7350919" y="1114425"/>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STAFFING &amp; HEADCOUNT</a:t>
            </a:r>
            <a:endParaRPr sz="1100"/>
          </a:p>
        </p:txBody>
      </p:sp>
      <p:sp>
        <p:nvSpPr>
          <p:cNvPr id="884" name="Google Shape;884;p54"/>
          <p:cNvSpPr txBox="1"/>
          <p:nvPr/>
        </p:nvSpPr>
        <p:spPr>
          <a:xfrm>
            <a:off x="7350919" y="1318022"/>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0F172A"/>
                </a:solidFill>
                <a:latin typeface="Inter"/>
                <a:ea typeface="Inter"/>
                <a:cs typeface="Inter"/>
                <a:sym typeface="Inter"/>
              </a:rPr>
              <a:t> 2</a:t>
            </a:r>
            <a:r>
              <a:rPr b="1" lang="en" sz="1500">
                <a:solidFill>
                  <a:srgbClr val="0F172A"/>
                </a:solidFill>
                <a:latin typeface="Inter"/>
                <a:ea typeface="Inter"/>
                <a:cs typeface="Inter"/>
                <a:sym typeface="Inter"/>
              </a:rPr>
              <a:t>5.63</a:t>
            </a:r>
            <a:r>
              <a:rPr b="1" i="0" lang="en" sz="1500" u="none" cap="none" strike="noStrike">
                <a:solidFill>
                  <a:srgbClr val="0F172A"/>
                </a:solidFill>
                <a:latin typeface="Inter"/>
                <a:ea typeface="Inter"/>
                <a:cs typeface="Inter"/>
                <a:sym typeface="Inter"/>
              </a:rPr>
              <a:t> FTE</a:t>
            </a:r>
            <a:endParaRPr sz="1100"/>
          </a:p>
        </p:txBody>
      </p:sp>
      <p:sp>
        <p:nvSpPr>
          <p:cNvPr id="885" name="Google Shape;885;p54"/>
          <p:cNvSpPr txBox="1"/>
          <p:nvPr/>
        </p:nvSpPr>
        <p:spPr>
          <a:xfrm>
            <a:off x="7350919" y="1618729"/>
            <a:ext cx="16251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100"/>
          </a:p>
        </p:txBody>
      </p:sp>
      <p:sp>
        <p:nvSpPr>
          <p:cNvPr id="886" name="Google Shape;886;p54"/>
          <p:cNvSpPr txBox="1"/>
          <p:nvPr/>
        </p:nvSpPr>
        <p:spPr>
          <a:xfrm>
            <a:off x="714375" y="2140223"/>
            <a:ext cx="25845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 sz="800" u="none" cap="none" strike="noStrike">
                <a:solidFill>
                  <a:srgbClr val="1E293B"/>
                </a:solidFill>
                <a:latin typeface="Inter"/>
                <a:ea typeface="Inter"/>
                <a:cs typeface="Inter"/>
                <a:sym typeface="Inter"/>
              </a:rPr>
              <a:t>Student Enrollment Distribution (FY27)</a:t>
            </a:r>
            <a:endParaRPr sz="1100"/>
          </a:p>
        </p:txBody>
      </p:sp>
      <p:sp>
        <p:nvSpPr>
          <p:cNvPr id="887" name="Google Shape;887;p54"/>
          <p:cNvSpPr txBox="1"/>
          <p:nvPr/>
        </p:nvSpPr>
        <p:spPr>
          <a:xfrm>
            <a:off x="478631"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PK3</a:t>
            </a:r>
            <a:endParaRPr sz="1100"/>
          </a:p>
        </p:txBody>
      </p:sp>
      <p:sp>
        <p:nvSpPr>
          <p:cNvPr id="888" name="Google Shape;888;p54"/>
          <p:cNvSpPr txBox="1"/>
          <p:nvPr/>
        </p:nvSpPr>
        <p:spPr>
          <a:xfrm>
            <a:off x="478631"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     19</a:t>
            </a:r>
            <a:r>
              <a:rPr b="1" lang="en" sz="1000">
                <a:solidFill>
                  <a:srgbClr val="0F172A"/>
                </a:solidFill>
                <a:latin typeface="Inter"/>
                <a:ea typeface="Inter"/>
                <a:cs typeface="Inter"/>
                <a:sym typeface="Inter"/>
              </a:rPr>
              <a:t>	</a:t>
            </a:r>
            <a:endParaRPr sz="1100"/>
          </a:p>
        </p:txBody>
      </p:sp>
      <p:sp>
        <p:nvSpPr>
          <p:cNvPr id="889" name="Google Shape;889;p54"/>
          <p:cNvSpPr txBox="1"/>
          <p:nvPr/>
        </p:nvSpPr>
        <p:spPr>
          <a:xfrm>
            <a:off x="1157288"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PK4</a:t>
            </a:r>
            <a:endParaRPr b="1" sz="600">
              <a:solidFill>
                <a:srgbClr val="64748B"/>
              </a:solidFill>
              <a:latin typeface="Inter"/>
              <a:ea typeface="Inter"/>
              <a:cs typeface="Inter"/>
              <a:sym typeface="Inter"/>
            </a:endParaRPr>
          </a:p>
        </p:txBody>
      </p:sp>
      <p:sp>
        <p:nvSpPr>
          <p:cNvPr id="890" name="Google Shape;890;p54"/>
          <p:cNvSpPr txBox="1"/>
          <p:nvPr/>
        </p:nvSpPr>
        <p:spPr>
          <a:xfrm>
            <a:off x="1835944" y="2454548"/>
            <a:ext cx="7215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Kindergarten</a:t>
            </a:r>
            <a:endParaRPr sz="1100"/>
          </a:p>
        </p:txBody>
      </p:sp>
      <p:sp>
        <p:nvSpPr>
          <p:cNvPr id="891" name="Google Shape;891;p54"/>
          <p:cNvSpPr txBox="1"/>
          <p:nvPr/>
        </p:nvSpPr>
        <p:spPr>
          <a:xfrm>
            <a:off x="1835944" y="2583135"/>
            <a:ext cx="7215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8</a:t>
            </a:r>
            <a:endParaRPr sz="1100"/>
          </a:p>
        </p:txBody>
      </p:sp>
      <p:sp>
        <p:nvSpPr>
          <p:cNvPr id="892" name="Google Shape;892;p54"/>
          <p:cNvSpPr txBox="1"/>
          <p:nvPr/>
        </p:nvSpPr>
        <p:spPr>
          <a:xfrm>
            <a:off x="2543175"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1</a:t>
            </a:r>
            <a:endParaRPr sz="1100"/>
          </a:p>
        </p:txBody>
      </p:sp>
      <p:sp>
        <p:nvSpPr>
          <p:cNvPr id="893" name="Google Shape;893;p54"/>
          <p:cNvSpPr txBox="1"/>
          <p:nvPr/>
        </p:nvSpPr>
        <p:spPr>
          <a:xfrm>
            <a:off x="2543175"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8</a:t>
            </a:r>
            <a:endParaRPr sz="1100"/>
          </a:p>
        </p:txBody>
      </p:sp>
      <p:sp>
        <p:nvSpPr>
          <p:cNvPr id="894" name="Google Shape;894;p54"/>
          <p:cNvSpPr txBox="1"/>
          <p:nvPr/>
        </p:nvSpPr>
        <p:spPr>
          <a:xfrm>
            <a:off x="3221831"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2</a:t>
            </a:r>
            <a:endParaRPr sz="1100"/>
          </a:p>
        </p:txBody>
      </p:sp>
      <p:sp>
        <p:nvSpPr>
          <p:cNvPr id="895" name="Google Shape;895;p54"/>
          <p:cNvSpPr txBox="1"/>
          <p:nvPr/>
        </p:nvSpPr>
        <p:spPr>
          <a:xfrm>
            <a:off x="3221831"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16</a:t>
            </a:r>
            <a:endParaRPr sz="1100"/>
          </a:p>
        </p:txBody>
      </p:sp>
      <p:sp>
        <p:nvSpPr>
          <p:cNvPr id="896" name="Google Shape;896;p54"/>
          <p:cNvSpPr txBox="1"/>
          <p:nvPr/>
        </p:nvSpPr>
        <p:spPr>
          <a:xfrm>
            <a:off x="3900488"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3</a:t>
            </a:r>
            <a:endParaRPr sz="1100"/>
          </a:p>
        </p:txBody>
      </p:sp>
      <p:sp>
        <p:nvSpPr>
          <p:cNvPr id="897" name="Google Shape;897;p54"/>
          <p:cNvSpPr txBox="1"/>
          <p:nvPr/>
        </p:nvSpPr>
        <p:spPr>
          <a:xfrm>
            <a:off x="3900488"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17</a:t>
            </a:r>
            <a:endParaRPr sz="1100"/>
          </a:p>
        </p:txBody>
      </p:sp>
      <p:sp>
        <p:nvSpPr>
          <p:cNvPr id="898" name="Google Shape;898;p54"/>
          <p:cNvSpPr txBox="1"/>
          <p:nvPr/>
        </p:nvSpPr>
        <p:spPr>
          <a:xfrm>
            <a:off x="4579144"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4</a:t>
            </a:r>
            <a:endParaRPr sz="1100"/>
          </a:p>
        </p:txBody>
      </p:sp>
      <p:sp>
        <p:nvSpPr>
          <p:cNvPr id="899" name="Google Shape;899;p54"/>
          <p:cNvSpPr txBox="1"/>
          <p:nvPr/>
        </p:nvSpPr>
        <p:spPr>
          <a:xfrm>
            <a:off x="4579144"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12</a:t>
            </a:r>
            <a:endParaRPr sz="1100"/>
          </a:p>
        </p:txBody>
      </p:sp>
      <p:sp>
        <p:nvSpPr>
          <p:cNvPr id="900" name="Google Shape;900;p54"/>
          <p:cNvSpPr txBox="1"/>
          <p:nvPr/>
        </p:nvSpPr>
        <p:spPr>
          <a:xfrm>
            <a:off x="5257800"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5</a:t>
            </a:r>
            <a:endParaRPr sz="1100"/>
          </a:p>
        </p:txBody>
      </p:sp>
      <p:sp>
        <p:nvSpPr>
          <p:cNvPr id="901" name="Google Shape;901;p54"/>
          <p:cNvSpPr txBox="1"/>
          <p:nvPr/>
        </p:nvSpPr>
        <p:spPr>
          <a:xfrm>
            <a:off x="5257800"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16</a:t>
            </a:r>
            <a:endParaRPr sz="1100"/>
          </a:p>
        </p:txBody>
      </p:sp>
      <p:sp>
        <p:nvSpPr>
          <p:cNvPr id="902" name="Google Shape;902;p54"/>
          <p:cNvSpPr txBox="1"/>
          <p:nvPr/>
        </p:nvSpPr>
        <p:spPr>
          <a:xfrm>
            <a:off x="5936456"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6</a:t>
            </a:r>
            <a:endParaRPr sz="1100"/>
          </a:p>
        </p:txBody>
      </p:sp>
      <p:sp>
        <p:nvSpPr>
          <p:cNvPr id="903" name="Google Shape;903;p54"/>
          <p:cNvSpPr txBox="1"/>
          <p:nvPr/>
        </p:nvSpPr>
        <p:spPr>
          <a:xfrm>
            <a:off x="5936456"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1</a:t>
            </a:r>
            <a:r>
              <a:rPr b="1" lang="en" sz="1000">
                <a:solidFill>
                  <a:srgbClr val="0F172A"/>
                </a:solidFill>
                <a:latin typeface="Inter"/>
                <a:ea typeface="Inter"/>
                <a:cs typeface="Inter"/>
                <a:sym typeface="Inter"/>
              </a:rPr>
              <a:t>0</a:t>
            </a:r>
            <a:endParaRPr sz="1100"/>
          </a:p>
        </p:txBody>
      </p:sp>
      <p:sp>
        <p:nvSpPr>
          <p:cNvPr id="904" name="Google Shape;904;p54"/>
          <p:cNvSpPr txBox="1"/>
          <p:nvPr/>
        </p:nvSpPr>
        <p:spPr>
          <a:xfrm>
            <a:off x="6615113"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7</a:t>
            </a:r>
            <a:endParaRPr sz="1100"/>
          </a:p>
        </p:txBody>
      </p:sp>
      <p:sp>
        <p:nvSpPr>
          <p:cNvPr id="905" name="Google Shape;905;p54"/>
          <p:cNvSpPr txBox="1"/>
          <p:nvPr/>
        </p:nvSpPr>
        <p:spPr>
          <a:xfrm>
            <a:off x="6615113"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000" u="none" cap="none" strike="noStrike">
                <a:solidFill>
                  <a:srgbClr val="0F172A"/>
                </a:solidFill>
                <a:latin typeface="Inter"/>
                <a:ea typeface="Inter"/>
                <a:cs typeface="Inter"/>
                <a:sym typeface="Inter"/>
              </a:rPr>
              <a:t>-</a:t>
            </a:r>
            <a:endParaRPr sz="1100"/>
          </a:p>
        </p:txBody>
      </p:sp>
      <p:sp>
        <p:nvSpPr>
          <p:cNvPr id="906" name="Google Shape;906;p54"/>
          <p:cNvSpPr txBox="1"/>
          <p:nvPr/>
        </p:nvSpPr>
        <p:spPr>
          <a:xfrm>
            <a:off x="7293769"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8</a:t>
            </a:r>
            <a:endParaRPr sz="1100"/>
          </a:p>
        </p:txBody>
      </p:sp>
      <p:sp>
        <p:nvSpPr>
          <p:cNvPr id="907" name="Google Shape;907;p54"/>
          <p:cNvSpPr txBox="1"/>
          <p:nvPr/>
        </p:nvSpPr>
        <p:spPr>
          <a:xfrm>
            <a:off x="7293769"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000" u="none" cap="none" strike="noStrike">
                <a:solidFill>
                  <a:srgbClr val="0F172A"/>
                </a:solidFill>
                <a:latin typeface="Inter"/>
                <a:ea typeface="Inter"/>
                <a:cs typeface="Inter"/>
                <a:sym typeface="Inter"/>
              </a:rPr>
              <a:t>-</a:t>
            </a:r>
            <a:endParaRPr sz="1100"/>
          </a:p>
        </p:txBody>
      </p:sp>
      <p:sp>
        <p:nvSpPr>
          <p:cNvPr id="908" name="Google Shape;908;p54"/>
          <p:cNvSpPr txBox="1"/>
          <p:nvPr/>
        </p:nvSpPr>
        <p:spPr>
          <a:xfrm>
            <a:off x="7972425"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BFDBFE"/>
                </a:solidFill>
                <a:latin typeface="Inter"/>
                <a:ea typeface="Inter"/>
                <a:cs typeface="Inter"/>
                <a:sym typeface="Inter"/>
              </a:rPr>
              <a:t>TOTAL</a:t>
            </a:r>
            <a:endParaRPr sz="1100"/>
          </a:p>
        </p:txBody>
      </p:sp>
      <p:sp>
        <p:nvSpPr>
          <p:cNvPr id="909" name="Google Shape;909;p54"/>
          <p:cNvSpPr txBox="1"/>
          <p:nvPr/>
        </p:nvSpPr>
        <p:spPr>
          <a:xfrm>
            <a:off x="7972425"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FFFFFF"/>
                </a:solidFill>
                <a:latin typeface="Inter"/>
                <a:ea typeface="Inter"/>
                <a:cs typeface="Inter"/>
                <a:sym typeface="Inter"/>
              </a:rPr>
              <a:t>119</a:t>
            </a:r>
            <a:endParaRPr sz="1100"/>
          </a:p>
        </p:txBody>
      </p:sp>
      <p:sp>
        <p:nvSpPr>
          <p:cNvPr id="910" name="Google Shape;910;p54"/>
          <p:cNvSpPr txBox="1"/>
          <p:nvPr/>
        </p:nvSpPr>
        <p:spPr>
          <a:xfrm>
            <a:off x="5357813" y="3211785"/>
            <a:ext cx="37863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 sz="800" u="none" cap="none" strike="noStrike">
                <a:solidFill>
                  <a:srgbClr val="1E293B"/>
                </a:solidFill>
                <a:latin typeface="Inter"/>
                <a:ea typeface="Inter"/>
                <a:cs typeface="Inter"/>
                <a:sym typeface="Inter"/>
              </a:rPr>
              <a:t>Facility &amp; Environmental Specs</a:t>
            </a:r>
            <a:endParaRPr sz="1100"/>
          </a:p>
        </p:txBody>
      </p:sp>
      <p:sp>
        <p:nvSpPr>
          <p:cNvPr id="911" name="Google Shape;911;p54"/>
          <p:cNvSpPr txBox="1"/>
          <p:nvPr/>
        </p:nvSpPr>
        <p:spPr>
          <a:xfrm>
            <a:off x="495300" y="3200400"/>
            <a:ext cx="42387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991B1B"/>
                </a:solidFill>
                <a:latin typeface="Inter"/>
                <a:ea typeface="Inter"/>
                <a:cs typeface="Inter"/>
                <a:sym typeface="Inter"/>
              </a:rPr>
              <a:t>Impending Capital Investment &amp; Facilities</a:t>
            </a:r>
            <a:endParaRPr b="1" sz="1100">
              <a:solidFill>
                <a:srgbClr val="991B1B"/>
              </a:solidFill>
              <a:latin typeface="Inter"/>
              <a:ea typeface="Inter"/>
              <a:cs typeface="Inter"/>
              <a:sym typeface="Inter"/>
            </a:endParaRPr>
          </a:p>
        </p:txBody>
      </p:sp>
      <p:sp>
        <p:nvSpPr>
          <p:cNvPr id="912" name="Google Shape;912;p54"/>
          <p:cNvSpPr txBox="1"/>
          <p:nvPr/>
        </p:nvSpPr>
        <p:spPr>
          <a:xfrm>
            <a:off x="495300" y="3505200"/>
            <a:ext cx="1905000" cy="327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 sz="900">
                <a:solidFill>
                  <a:srgbClr val="7F1D1D"/>
                </a:solidFill>
                <a:latin typeface="Inter"/>
                <a:ea typeface="Inter"/>
                <a:cs typeface="Inter"/>
                <a:sym typeface="Inter"/>
              </a:rPr>
              <a:t>Priority Maintenance</a:t>
            </a:r>
            <a:endParaRPr b="1" sz="900">
              <a:solidFill>
                <a:srgbClr val="7F1D1D"/>
              </a:solidFill>
              <a:latin typeface="Inter"/>
              <a:ea typeface="Inter"/>
              <a:cs typeface="Inter"/>
              <a:sym typeface="Inter"/>
            </a:endParaRPr>
          </a:p>
          <a:p>
            <a:pPr indent="0" lvl="0" marL="457200" rtl="0" algn="l">
              <a:spcBef>
                <a:spcPts val="450"/>
              </a:spcBef>
              <a:spcAft>
                <a:spcPts val="375"/>
              </a:spcAft>
              <a:buNone/>
            </a:pPr>
            <a:r>
              <a:t/>
            </a:r>
            <a:endParaRPr b="0" sz="850">
              <a:solidFill>
                <a:srgbClr val="DC2626"/>
              </a:solidFill>
              <a:latin typeface="Inter SemiBold"/>
              <a:ea typeface="Inter SemiBold"/>
              <a:cs typeface="Inter SemiBold"/>
              <a:sym typeface="Inter SemiBold"/>
            </a:endParaRPr>
          </a:p>
        </p:txBody>
      </p:sp>
      <p:sp>
        <p:nvSpPr>
          <p:cNvPr id="913" name="Google Shape;913;p54"/>
          <p:cNvSpPr txBox="1"/>
          <p:nvPr/>
        </p:nvSpPr>
        <p:spPr>
          <a:xfrm>
            <a:off x="2476500" y="3505200"/>
            <a:ext cx="2286000" cy="1124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1D4ED8"/>
                </a:solidFill>
                <a:latin typeface="Inter"/>
                <a:ea typeface="Inter"/>
                <a:cs typeface="Inter"/>
                <a:sym typeface="Inter"/>
              </a:rPr>
              <a:t>Kitchen &amp; Meal Production</a:t>
            </a:r>
            <a:endParaRPr b="1" sz="850">
              <a:solidFill>
                <a:srgbClr val="1D4ED8"/>
              </a:solidFill>
              <a:latin typeface="Inter"/>
              <a:ea typeface="Inter"/>
              <a:cs typeface="Inter"/>
              <a:sym typeface="Inter"/>
            </a:endParaRPr>
          </a:p>
          <a:p>
            <a:pPr indent="0" lvl="0" marL="0" rtl="0" algn="l">
              <a:spcBef>
                <a:spcPts val="150"/>
              </a:spcBef>
              <a:spcAft>
                <a:spcPts val="0"/>
              </a:spcAft>
              <a:buNone/>
            </a:pPr>
            <a:r>
              <a:rPr b="0" lang="en" sz="800">
                <a:solidFill>
                  <a:srgbClr val="475569"/>
                </a:solidFill>
                <a:latin typeface="Inter"/>
                <a:ea typeface="Inter"/>
                <a:cs typeface="Inter"/>
                <a:sym typeface="Inter"/>
              </a:rPr>
              <a:t>Fully operational Kitchen. No incoming meal transport.</a:t>
            </a:r>
            <a:endParaRPr b="0" sz="800">
              <a:solidFill>
                <a:srgbClr val="475569"/>
              </a:solidFill>
              <a:latin typeface="Inter"/>
              <a:ea typeface="Inter"/>
              <a:cs typeface="Inter"/>
              <a:sym typeface="Inter"/>
            </a:endParaRPr>
          </a:p>
          <a:p>
            <a:pPr indent="0" lvl="0" marL="0" rtl="0" algn="l">
              <a:spcBef>
                <a:spcPts val="600"/>
              </a:spcBef>
              <a:spcAft>
                <a:spcPts val="0"/>
              </a:spcAft>
              <a:buNone/>
            </a:pPr>
            <a:r>
              <a:rPr b="1" lang="en" sz="850">
                <a:solidFill>
                  <a:srgbClr val="1D4ED8"/>
                </a:solidFill>
                <a:latin typeface="Inter"/>
                <a:ea typeface="Inter"/>
                <a:cs typeface="Inter"/>
                <a:sym typeface="Inter"/>
              </a:rPr>
              <a:t>Cafeteria Seating</a:t>
            </a:r>
            <a:endParaRPr b="1" sz="850">
              <a:solidFill>
                <a:srgbClr val="1D4ED8"/>
              </a:solidFill>
              <a:latin typeface="Inter"/>
              <a:ea typeface="Inter"/>
              <a:cs typeface="Inter"/>
              <a:sym typeface="Inter"/>
            </a:endParaRPr>
          </a:p>
          <a:p>
            <a:pPr indent="0" lvl="0" marL="0" rtl="0" algn="l">
              <a:spcBef>
                <a:spcPts val="150"/>
              </a:spcBef>
              <a:spcAft>
                <a:spcPts val="150"/>
              </a:spcAft>
              <a:buNone/>
            </a:pPr>
            <a:r>
              <a:rPr lang="en" sz="850">
                <a:solidFill>
                  <a:schemeClr val="dk1"/>
                </a:solidFill>
                <a:latin typeface="Inter"/>
                <a:ea typeface="Inter"/>
                <a:cs typeface="Inter"/>
                <a:sym typeface="Inter"/>
              </a:rPr>
              <a:t>Limited </a:t>
            </a:r>
            <a:r>
              <a:rPr lang="en" sz="800">
                <a:solidFill>
                  <a:srgbClr val="475569"/>
                </a:solidFill>
                <a:latin typeface="Inter"/>
                <a:ea typeface="Inter"/>
                <a:cs typeface="Inter"/>
                <a:sym typeface="Inter"/>
              </a:rPr>
              <a:t> </a:t>
            </a:r>
            <a:endParaRPr b="0" sz="800">
              <a:solidFill>
                <a:srgbClr val="475569"/>
              </a:solidFill>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17" name="Shape 917"/>
        <p:cNvGrpSpPr/>
        <p:nvPr/>
      </p:nvGrpSpPr>
      <p:grpSpPr>
        <a:xfrm>
          <a:off x="0" y="0"/>
          <a:ext cx="0" cy="0"/>
          <a:chOff x="0" y="0"/>
          <a:chExt cx="0" cy="0"/>
        </a:xfrm>
      </p:grpSpPr>
      <p:sp>
        <p:nvSpPr>
          <p:cNvPr id="918" name="Google Shape;918;p55"/>
          <p:cNvSpPr/>
          <p:nvPr/>
        </p:nvSpPr>
        <p:spPr>
          <a:xfrm>
            <a:off x="7503727" y="485775"/>
            <a:ext cx="1297500" cy="214500"/>
          </a:xfrm>
          <a:prstGeom prst="roundRect">
            <a:avLst>
              <a:gd fmla="val 50000" name="adj"/>
            </a:avLst>
          </a:prstGeom>
          <a:solidFill>
            <a:srgbClr val="EFF6FF"/>
          </a:solidFill>
          <a:ln cap="flat" cmpd="sng" w="7150">
            <a:solidFill>
              <a:srgbClr val="BFDBFE"/>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19" name="Google Shape;919;p55"/>
          <p:cNvSpPr/>
          <p:nvPr/>
        </p:nvSpPr>
        <p:spPr>
          <a:xfrm>
            <a:off x="342900" y="1990204"/>
            <a:ext cx="8458200" cy="971700"/>
          </a:xfrm>
          <a:prstGeom prst="roundRect">
            <a:avLst>
              <a:gd fmla="val 8823"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20" name="Google Shape;920;p55"/>
          <p:cNvSpPr/>
          <p:nvPr/>
        </p:nvSpPr>
        <p:spPr>
          <a:xfrm>
            <a:off x="342900" y="978694"/>
            <a:ext cx="1600200" cy="882900"/>
          </a:xfrm>
          <a:prstGeom prst="roundRect">
            <a:avLst>
              <a:gd fmla="val 9709" name="adj"/>
            </a:avLst>
          </a:prstGeom>
          <a:solidFill>
            <a:srgbClr val="F0F9FF"/>
          </a:solidFill>
          <a:ln cap="flat" cmpd="sng" w="7150">
            <a:solidFill>
              <a:srgbClr val="BAE6FD"/>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21" name="Google Shape;921;p55"/>
          <p:cNvSpPr/>
          <p:nvPr/>
        </p:nvSpPr>
        <p:spPr>
          <a:xfrm>
            <a:off x="2057400" y="978694"/>
            <a:ext cx="1600200" cy="882900"/>
          </a:xfrm>
          <a:prstGeom prst="roundRect">
            <a:avLst>
              <a:gd fmla="val 9709"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22" name="Google Shape;922;p55"/>
          <p:cNvSpPr/>
          <p:nvPr/>
        </p:nvSpPr>
        <p:spPr>
          <a:xfrm>
            <a:off x="3771900" y="978694"/>
            <a:ext cx="1600200" cy="882900"/>
          </a:xfrm>
          <a:prstGeom prst="roundRect">
            <a:avLst>
              <a:gd fmla="val 9709" name="adj"/>
            </a:avLst>
          </a:prstGeom>
          <a:solidFill>
            <a:srgbClr val="FEF2F2"/>
          </a:solidFill>
          <a:ln cap="flat" cmpd="sng" w="7150">
            <a:solidFill>
              <a:srgbClr val="FECAC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23" name="Google Shape;923;p55"/>
          <p:cNvSpPr/>
          <p:nvPr/>
        </p:nvSpPr>
        <p:spPr>
          <a:xfrm>
            <a:off x="5486400" y="978694"/>
            <a:ext cx="1600200" cy="882900"/>
          </a:xfrm>
          <a:prstGeom prst="roundRect">
            <a:avLst>
              <a:gd fmla="val 9709"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24" name="Google Shape;924;p55"/>
          <p:cNvSpPr/>
          <p:nvPr/>
        </p:nvSpPr>
        <p:spPr>
          <a:xfrm>
            <a:off x="7200900" y="978694"/>
            <a:ext cx="1600200" cy="882900"/>
          </a:xfrm>
          <a:prstGeom prst="roundRect">
            <a:avLst>
              <a:gd fmla="val 9709"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25" name="Google Shape;925;p55"/>
          <p:cNvSpPr/>
          <p:nvPr/>
        </p:nvSpPr>
        <p:spPr>
          <a:xfrm>
            <a:off x="521494"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26" name="Google Shape;926;p55"/>
          <p:cNvSpPr/>
          <p:nvPr/>
        </p:nvSpPr>
        <p:spPr>
          <a:xfrm>
            <a:off x="1200150"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1" sz="1000">
              <a:solidFill>
                <a:schemeClr val="dk1"/>
              </a:solidFill>
              <a:latin typeface="Inter"/>
              <a:ea typeface="Inter"/>
              <a:cs typeface="Inter"/>
              <a:sym typeface="Inter"/>
            </a:endParaRPr>
          </a:p>
          <a:p>
            <a:pPr indent="0" lvl="0" marL="0" marR="0" rtl="0" algn="ctr">
              <a:spcBef>
                <a:spcPts val="0"/>
              </a:spcBef>
              <a:spcAft>
                <a:spcPts val="0"/>
              </a:spcAft>
              <a:buNone/>
            </a:pPr>
            <a:r>
              <a:rPr b="1" lang="en" sz="1000">
                <a:solidFill>
                  <a:schemeClr val="dk1"/>
                </a:solidFill>
                <a:latin typeface="Inter"/>
                <a:ea typeface="Inter"/>
                <a:cs typeface="Inter"/>
                <a:sym typeface="Inter"/>
              </a:rPr>
              <a:t>29</a:t>
            </a:r>
            <a:endParaRPr b="1" sz="1000">
              <a:solidFill>
                <a:schemeClr val="dk1"/>
              </a:solidFill>
              <a:latin typeface="Inter"/>
              <a:ea typeface="Inter"/>
              <a:cs typeface="Inter"/>
              <a:sym typeface="Inter"/>
            </a:endParaRPr>
          </a:p>
        </p:txBody>
      </p:sp>
      <p:sp>
        <p:nvSpPr>
          <p:cNvPr id="927" name="Google Shape;927;p55"/>
          <p:cNvSpPr/>
          <p:nvPr/>
        </p:nvSpPr>
        <p:spPr>
          <a:xfrm>
            <a:off x="1878806" y="2375966"/>
            <a:ext cx="6360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28" name="Google Shape;928;p55"/>
          <p:cNvSpPr/>
          <p:nvPr/>
        </p:nvSpPr>
        <p:spPr>
          <a:xfrm>
            <a:off x="2586038"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29" name="Google Shape;929;p55"/>
          <p:cNvSpPr/>
          <p:nvPr/>
        </p:nvSpPr>
        <p:spPr>
          <a:xfrm>
            <a:off x="3264694"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30" name="Google Shape;930;p55"/>
          <p:cNvSpPr/>
          <p:nvPr/>
        </p:nvSpPr>
        <p:spPr>
          <a:xfrm>
            <a:off x="3943350"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31" name="Google Shape;931;p55"/>
          <p:cNvSpPr/>
          <p:nvPr/>
        </p:nvSpPr>
        <p:spPr>
          <a:xfrm>
            <a:off x="4622006"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32" name="Google Shape;932;p55"/>
          <p:cNvSpPr/>
          <p:nvPr/>
        </p:nvSpPr>
        <p:spPr>
          <a:xfrm>
            <a:off x="5300663"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33" name="Google Shape;933;p55"/>
          <p:cNvSpPr/>
          <p:nvPr/>
        </p:nvSpPr>
        <p:spPr>
          <a:xfrm>
            <a:off x="5979319" y="2375966"/>
            <a:ext cx="607200" cy="435900"/>
          </a:xfrm>
          <a:prstGeom prst="roundRect">
            <a:avLst>
              <a:gd fmla="val 13114" name="adj"/>
            </a:avLst>
          </a:prstGeom>
          <a:solidFill>
            <a:srgbClr val="F8FAFC"/>
          </a:solidFill>
          <a:ln cap="flat" cmpd="sng" w="7150">
            <a:solidFill>
              <a:srgbClr val="CBD5E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34" name="Google Shape;934;p55"/>
          <p:cNvSpPr/>
          <p:nvPr/>
        </p:nvSpPr>
        <p:spPr>
          <a:xfrm>
            <a:off x="6657975"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35" name="Google Shape;935;p55"/>
          <p:cNvSpPr/>
          <p:nvPr/>
        </p:nvSpPr>
        <p:spPr>
          <a:xfrm>
            <a:off x="7336631" y="2375966"/>
            <a:ext cx="607200" cy="435900"/>
          </a:xfrm>
          <a:prstGeom prst="roundRect">
            <a:avLst>
              <a:gd fmla="val 13114" name="adj"/>
            </a:avLst>
          </a:prstGeom>
          <a:solidFill>
            <a:srgbClr val="FDFDFE"/>
          </a:solidFill>
          <a:ln cap="flat" cmpd="sng" w="7150">
            <a:solidFill>
              <a:srgbClr val="EAEEF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36" name="Google Shape;936;p55"/>
          <p:cNvSpPr/>
          <p:nvPr/>
        </p:nvSpPr>
        <p:spPr>
          <a:xfrm>
            <a:off x="8015288" y="2375966"/>
            <a:ext cx="607200" cy="435900"/>
          </a:xfrm>
          <a:prstGeom prst="roundRect">
            <a:avLst>
              <a:gd fmla="val 13114" name="adj"/>
            </a:avLst>
          </a:prstGeom>
          <a:solidFill>
            <a:srgbClr val="2563EB"/>
          </a:solidFill>
          <a:ln cap="flat" cmpd="sng" w="7150">
            <a:solidFill>
              <a:srgbClr val="1D4ED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37" name="Google Shape;937;p55"/>
          <p:cNvSpPr/>
          <p:nvPr/>
        </p:nvSpPr>
        <p:spPr>
          <a:xfrm>
            <a:off x="342900" y="3090339"/>
            <a:ext cx="4543500" cy="1664700"/>
          </a:xfrm>
          <a:prstGeom prst="roundRect">
            <a:avLst>
              <a:gd fmla="val 5149"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8" name="Google Shape;938;p55"/>
          <p:cNvSpPr/>
          <p:nvPr/>
        </p:nvSpPr>
        <p:spPr>
          <a:xfrm>
            <a:off x="5014925" y="2994250"/>
            <a:ext cx="3786300" cy="1946700"/>
          </a:xfrm>
          <a:prstGeom prst="roundRect">
            <a:avLst>
              <a:gd fmla="val 5150" name="adj"/>
            </a:avLst>
          </a:prstGeom>
          <a:solidFill>
            <a:srgbClr val="FFFFFF"/>
          </a:solidFill>
          <a:ln cap="flat" cmpd="sng" w="7150">
            <a:solidFill>
              <a:srgbClr val="E2E8F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39" name="Google Shape;939;p55"/>
          <p:cNvSpPr/>
          <p:nvPr/>
        </p:nvSpPr>
        <p:spPr>
          <a:xfrm>
            <a:off x="5164931" y="3629694"/>
            <a:ext cx="18018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40" name="Google Shape;940;p55"/>
          <p:cNvSpPr/>
          <p:nvPr/>
        </p:nvSpPr>
        <p:spPr>
          <a:xfrm>
            <a:off x="6966830" y="3629694"/>
            <a:ext cx="1684500" cy="7200"/>
          </a:xfrm>
          <a:prstGeom prst="rect">
            <a:avLst/>
          </a:prstGeom>
          <a:solidFill>
            <a:srgbClr val="E2E8F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41" name="Google Shape;941;p55"/>
          <p:cNvSpPr/>
          <p:nvPr/>
        </p:nvSpPr>
        <p:spPr>
          <a:xfrm>
            <a:off x="5164931" y="3879725"/>
            <a:ext cx="1801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42" name="Google Shape;942;p55"/>
          <p:cNvSpPr/>
          <p:nvPr/>
        </p:nvSpPr>
        <p:spPr>
          <a:xfrm>
            <a:off x="6966830" y="3879725"/>
            <a:ext cx="168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43" name="Google Shape;943;p55"/>
          <p:cNvSpPr/>
          <p:nvPr/>
        </p:nvSpPr>
        <p:spPr>
          <a:xfrm>
            <a:off x="5164931" y="4129757"/>
            <a:ext cx="1801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44" name="Google Shape;944;p55"/>
          <p:cNvSpPr/>
          <p:nvPr/>
        </p:nvSpPr>
        <p:spPr>
          <a:xfrm>
            <a:off x="6966830" y="4129757"/>
            <a:ext cx="168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45" name="Google Shape;945;p55"/>
          <p:cNvSpPr/>
          <p:nvPr/>
        </p:nvSpPr>
        <p:spPr>
          <a:xfrm>
            <a:off x="5164931" y="4379788"/>
            <a:ext cx="18018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46" name="Google Shape;946;p55"/>
          <p:cNvSpPr/>
          <p:nvPr/>
        </p:nvSpPr>
        <p:spPr>
          <a:xfrm>
            <a:off x="6966830" y="4379788"/>
            <a:ext cx="1684500" cy="7200"/>
          </a:xfrm>
          <a:prstGeom prst="rect">
            <a:avLst/>
          </a:prstGeom>
          <a:solidFill>
            <a:srgbClr val="F1F5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descr="image.png" id="947" name="Google Shape;947;p55"/>
          <p:cNvPicPr preferRelativeResize="0"/>
          <p:nvPr/>
        </p:nvPicPr>
        <p:blipFill rotWithShape="1">
          <a:blip r:embed="rId3">
            <a:alphaModFix/>
          </a:blip>
          <a:srcRect b="0" l="0" r="0" t="0"/>
          <a:stretch/>
        </p:blipFill>
        <p:spPr>
          <a:xfrm>
            <a:off x="521494" y="2154510"/>
            <a:ext cx="135731" cy="107156"/>
          </a:xfrm>
          <a:prstGeom prst="rect">
            <a:avLst/>
          </a:prstGeom>
          <a:noFill/>
          <a:ln>
            <a:noFill/>
          </a:ln>
        </p:spPr>
      </p:pic>
      <p:pic>
        <p:nvPicPr>
          <p:cNvPr descr="image.png" id="948" name="Google Shape;948;p55"/>
          <p:cNvPicPr preferRelativeResize="0"/>
          <p:nvPr/>
        </p:nvPicPr>
        <p:blipFill rotWithShape="1">
          <a:blip r:embed="rId4">
            <a:alphaModFix/>
          </a:blip>
          <a:srcRect b="0" l="0" r="0" t="0"/>
          <a:stretch/>
        </p:blipFill>
        <p:spPr>
          <a:xfrm>
            <a:off x="5164931" y="3226072"/>
            <a:ext cx="135731" cy="107156"/>
          </a:xfrm>
          <a:prstGeom prst="rect">
            <a:avLst/>
          </a:prstGeom>
          <a:noFill/>
          <a:ln>
            <a:noFill/>
          </a:ln>
        </p:spPr>
      </p:pic>
      <p:graphicFrame>
        <p:nvGraphicFramePr>
          <p:cNvPr id="949" name="Google Shape;949;p55"/>
          <p:cNvGraphicFramePr/>
          <p:nvPr/>
        </p:nvGraphicFramePr>
        <p:xfrm>
          <a:off x="5164931" y="3418954"/>
          <a:ext cx="3000000" cy="3000000"/>
        </p:xfrm>
        <a:graphic>
          <a:graphicData uri="http://schemas.openxmlformats.org/drawingml/2006/table">
            <a:tbl>
              <a:tblPr>
                <a:noFill/>
                <a:tableStyleId>{5C564A07-C9E8-4B74-8387-D50FA61C5E47}</a:tableStyleId>
              </a:tblPr>
              <a:tblGrid>
                <a:gridCol w="1801900"/>
                <a:gridCol w="1684250"/>
              </a:tblGrid>
              <a:tr h="265350">
                <a:tc>
                  <a:txBody>
                    <a:bodyPr/>
                    <a:lstStyle/>
                    <a:p>
                      <a:pPr indent="0" lvl="0" marL="0" marR="0" rtl="0" algn="l">
                        <a:spcBef>
                          <a:spcPts val="0"/>
                        </a:spcBef>
                        <a:spcAft>
                          <a:spcPts val="0"/>
                        </a:spcAft>
                        <a:buNone/>
                      </a:pPr>
                      <a:r>
                        <a:rPr b="1" i="0" lang="en" sz="600" u="none" cap="none" strike="noStrike">
                          <a:solidFill>
                            <a:srgbClr val="475569"/>
                          </a:solidFill>
                          <a:latin typeface="Inter"/>
                          <a:ea typeface="Inter"/>
                          <a:cs typeface="Inter"/>
                          <a:sym typeface="Inter"/>
                        </a:rPr>
                        <a:t>Property Metric</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 sz="600" u="none" cap="none" strike="noStrike">
                          <a:solidFill>
                            <a:srgbClr val="475569"/>
                          </a:solidFill>
                          <a:latin typeface="Inter"/>
                          <a:ea typeface="Inter"/>
                          <a:cs typeface="Inter"/>
                          <a:sym typeface="Inter"/>
                        </a:rPr>
                        <a:t>Specification</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1F5F9"/>
                    </a:solidFill>
                  </a:tcPr>
                </a:tc>
              </a:tr>
              <a:tr h="265350">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Occupancy</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480</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r h="265350">
                <a:tc>
                  <a:txBody>
                    <a:bodyPr/>
                    <a:lstStyle/>
                    <a:p>
                      <a:pPr indent="0" lvl="0" marL="0" marR="0" rtl="0" algn="l">
                        <a:spcBef>
                          <a:spcPts val="0"/>
                        </a:spcBef>
                        <a:spcAft>
                          <a:spcPts val="0"/>
                        </a:spcAft>
                        <a:buNone/>
                      </a:pPr>
                      <a:r>
                        <a:rPr b="1" lang="en" sz="700">
                          <a:latin typeface="Inter"/>
                          <a:ea typeface="Inter"/>
                          <a:cs typeface="Inter"/>
                          <a:sym typeface="Inter"/>
                        </a:rPr>
                        <a:t>Heat/Solar</a:t>
                      </a:r>
                      <a:endParaRPr b="1" sz="700">
                        <a:latin typeface="Inter"/>
                        <a:ea typeface="Inter"/>
                        <a:cs typeface="Inter"/>
                        <a:sym typeface="Inter"/>
                      </a:endParaRPr>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latin typeface="Inter"/>
                          <a:ea typeface="Inter"/>
                          <a:cs typeface="Inter"/>
                          <a:sym typeface="Inter"/>
                        </a:rPr>
                        <a:t>Oil /Yes</a:t>
                      </a:r>
                      <a:endParaRPr b="1" sz="700">
                        <a:latin typeface="Inter"/>
                        <a:ea typeface="Inter"/>
                        <a:cs typeface="Inter"/>
                        <a:sym typeface="Inter"/>
                      </a:endParaRPr>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r h="265350">
                <a:tc>
                  <a:txBody>
                    <a:bodyPr/>
                    <a:lstStyle/>
                    <a:p>
                      <a:pPr indent="0" lvl="0" marL="0" marR="0" rtl="0" algn="l">
                        <a:spcBef>
                          <a:spcPts val="0"/>
                        </a:spcBef>
                        <a:spcAft>
                          <a:spcPts val="0"/>
                        </a:spcAft>
                        <a:buNone/>
                      </a:pPr>
                      <a:r>
                        <a:rPr b="1" i="0" lang="en" sz="700" u="none" cap="none" strike="noStrike">
                          <a:solidFill>
                            <a:srgbClr val="1E293B"/>
                          </a:solidFill>
                          <a:latin typeface="Inter"/>
                          <a:ea typeface="Inter"/>
                          <a:cs typeface="Inter"/>
                          <a:sym typeface="Inter"/>
                        </a:rPr>
                        <a:t>Land </a:t>
                      </a:r>
                      <a:r>
                        <a:rPr b="1" lang="en" sz="700">
                          <a:solidFill>
                            <a:srgbClr val="1E293B"/>
                          </a:solidFill>
                          <a:latin typeface="Inter"/>
                          <a:ea typeface="Inter"/>
                          <a:cs typeface="Inter"/>
                          <a:sym typeface="Inter"/>
                        </a:rPr>
                        <a:t>Ownership</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10</a:t>
                      </a:r>
                      <a:r>
                        <a:rPr b="1" i="0" lang="en" sz="700" u="none" cap="none" strike="noStrike">
                          <a:solidFill>
                            <a:srgbClr val="1E293B"/>
                          </a:solidFill>
                          <a:latin typeface="Inter"/>
                          <a:ea typeface="Inter"/>
                          <a:cs typeface="Inter"/>
                          <a:sym typeface="Inter"/>
                        </a:rPr>
                        <a:t> Acres</a:t>
                      </a:r>
                      <a:endParaRPr sz="1100"/>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r h="274700">
                <a:tc>
                  <a:txBody>
                    <a:bodyPr/>
                    <a:lstStyle/>
                    <a:p>
                      <a:pPr indent="0" lvl="0" marL="0" marR="0" rtl="0" algn="l">
                        <a:spcBef>
                          <a:spcPts val="0"/>
                        </a:spcBef>
                        <a:spcAft>
                          <a:spcPts val="0"/>
                        </a:spcAft>
                        <a:buNone/>
                      </a:pPr>
                      <a:r>
                        <a:rPr b="1" lang="en" sz="700">
                          <a:solidFill>
                            <a:srgbClr val="1E293B"/>
                          </a:solidFill>
                          <a:latin typeface="Inter"/>
                          <a:ea typeface="Inter"/>
                          <a:cs typeface="Inter"/>
                          <a:sym typeface="Inter"/>
                        </a:rPr>
                        <a:t>Town sewer/town water </a:t>
                      </a:r>
                      <a:r>
                        <a:rPr b="1" lang="en" sz="700">
                          <a:solidFill>
                            <a:srgbClr val="1E293B"/>
                          </a:solidFill>
                          <a:latin typeface="Inter"/>
                          <a:ea typeface="Inter"/>
                          <a:cs typeface="Inter"/>
                          <a:sym typeface="Inter"/>
                        </a:rPr>
                        <a:t> </a:t>
                      </a:r>
                      <a:endParaRPr b="1" sz="700">
                        <a:solidFill>
                          <a:srgbClr val="1E293B"/>
                        </a:solidFill>
                        <a:latin typeface="Inter"/>
                        <a:ea typeface="Inter"/>
                        <a:cs typeface="Inter"/>
                        <a:sym typeface="Inter"/>
                      </a:endParaRPr>
                    </a:p>
                    <a:p>
                      <a:pPr indent="0" lvl="0" marL="0" marR="0" rtl="0" algn="l">
                        <a:spcBef>
                          <a:spcPts val="0"/>
                        </a:spcBef>
                        <a:spcAft>
                          <a:spcPts val="0"/>
                        </a:spcAft>
                        <a:buNone/>
                      </a:pPr>
                      <a:r>
                        <a:t/>
                      </a:r>
                      <a:endParaRPr b="1" sz="700">
                        <a:solidFill>
                          <a:srgbClr val="1E293B"/>
                        </a:solidFill>
                        <a:latin typeface="Inter"/>
                        <a:ea typeface="Inter"/>
                        <a:cs typeface="Inter"/>
                        <a:sym typeface="Inter"/>
                      </a:endParaRPr>
                    </a:p>
                    <a:p>
                      <a:pPr indent="0" lvl="0" marL="0" marR="0" rtl="0" algn="l">
                        <a:spcBef>
                          <a:spcPts val="0"/>
                        </a:spcBef>
                        <a:spcAft>
                          <a:spcPts val="0"/>
                        </a:spcAft>
                        <a:buNone/>
                      </a:pPr>
                      <a:r>
                        <a:rPr b="1" lang="en" sz="700">
                          <a:solidFill>
                            <a:srgbClr val="1E293B"/>
                          </a:solidFill>
                          <a:latin typeface="Inter"/>
                          <a:ea typeface="Inter"/>
                          <a:cs typeface="Inter"/>
                          <a:sym typeface="Inter"/>
                        </a:rPr>
                        <a:t>Number of classrooms</a:t>
                      </a:r>
                      <a:endParaRPr b="1" sz="700">
                        <a:solidFill>
                          <a:srgbClr val="1E293B"/>
                        </a:solidFill>
                        <a:latin typeface="Inter"/>
                        <a:ea typeface="Inter"/>
                        <a:cs typeface="Inter"/>
                        <a:sym typeface="Inter"/>
                      </a:endParaRPr>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en" sz="700">
                          <a:solidFill>
                            <a:schemeClr val="dk1"/>
                          </a:solidFill>
                          <a:highlight>
                            <a:schemeClr val="lt1"/>
                          </a:highlight>
                          <a:latin typeface="Inter"/>
                          <a:ea typeface="Inter"/>
                          <a:cs typeface="Inter"/>
                          <a:sym typeface="Inter"/>
                        </a:rPr>
                        <a:t>8,200 GPD </a:t>
                      </a:r>
                      <a:r>
                        <a:rPr b="1" lang="en" sz="700">
                          <a:solidFill>
                            <a:schemeClr val="dk1"/>
                          </a:solidFill>
                          <a:highlight>
                            <a:schemeClr val="lt1"/>
                          </a:highlight>
                          <a:latin typeface="Inter"/>
                          <a:ea typeface="Inter"/>
                          <a:cs typeface="Inter"/>
                          <a:sym typeface="Inter"/>
                        </a:rPr>
                        <a:t>allotted</a:t>
                      </a:r>
                      <a:r>
                        <a:rPr b="1" lang="en" sz="700">
                          <a:solidFill>
                            <a:schemeClr val="dk1"/>
                          </a:solidFill>
                          <a:highlight>
                            <a:schemeClr val="lt1"/>
                          </a:highlight>
                          <a:latin typeface="Inter"/>
                          <a:ea typeface="Inter"/>
                          <a:cs typeface="Inter"/>
                          <a:sym typeface="Inter"/>
                        </a:rPr>
                        <a:t> by town</a:t>
                      </a:r>
                      <a:endParaRPr b="1" sz="700">
                        <a:solidFill>
                          <a:schemeClr val="dk1"/>
                        </a:solidFill>
                        <a:highlight>
                          <a:schemeClr val="lt1"/>
                        </a:highlight>
                        <a:latin typeface="Inter"/>
                        <a:ea typeface="Inter"/>
                        <a:cs typeface="Inter"/>
                        <a:sym typeface="Inter"/>
                      </a:endParaRPr>
                    </a:p>
                    <a:p>
                      <a:pPr indent="0" lvl="0" marL="0" marR="0" rtl="0" algn="l">
                        <a:spcBef>
                          <a:spcPts val="0"/>
                        </a:spcBef>
                        <a:spcAft>
                          <a:spcPts val="0"/>
                        </a:spcAft>
                        <a:buNone/>
                      </a:pPr>
                      <a:r>
                        <a:t/>
                      </a:r>
                      <a:endParaRPr b="1" sz="700">
                        <a:solidFill>
                          <a:schemeClr val="dk1"/>
                        </a:solidFill>
                        <a:highlight>
                          <a:schemeClr val="lt1"/>
                        </a:highlight>
                        <a:latin typeface="Inter"/>
                        <a:ea typeface="Inter"/>
                        <a:cs typeface="Inter"/>
                        <a:sym typeface="Inter"/>
                      </a:endParaRPr>
                    </a:p>
                    <a:p>
                      <a:pPr indent="0" lvl="0" marL="0" marR="0" rtl="0" algn="l">
                        <a:spcBef>
                          <a:spcPts val="0"/>
                        </a:spcBef>
                        <a:spcAft>
                          <a:spcPts val="0"/>
                        </a:spcAft>
                        <a:buNone/>
                      </a:pPr>
                      <a:r>
                        <a:rPr b="1" lang="en" sz="700">
                          <a:solidFill>
                            <a:schemeClr val="dk1"/>
                          </a:solidFill>
                          <a:highlight>
                            <a:schemeClr val="lt1"/>
                          </a:highlight>
                          <a:latin typeface="Inter"/>
                          <a:ea typeface="Inter"/>
                          <a:cs typeface="Inter"/>
                          <a:sym typeface="Inter"/>
                        </a:rPr>
                        <a:t>24</a:t>
                      </a:r>
                      <a:endParaRPr b="1" sz="700">
                        <a:solidFill>
                          <a:schemeClr val="dk1"/>
                        </a:solidFill>
                        <a:highlight>
                          <a:schemeClr val="lt1"/>
                        </a:highlight>
                        <a:latin typeface="Inter"/>
                        <a:ea typeface="Inter"/>
                        <a:cs typeface="Inter"/>
                        <a:sym typeface="Inter"/>
                      </a:endParaRPr>
                    </a:p>
                  </a:txBody>
                  <a:tcPr marT="19050" marB="19050" marR="47625" marL="47625" anchor="ctr">
                    <a:lnL cap="flat" cmpd="sng" w="7150">
                      <a:solidFill>
                        <a:srgbClr val="000000">
                          <a:alpha val="0"/>
                        </a:srgbClr>
                      </a:solidFill>
                      <a:prstDash val="solid"/>
                      <a:round/>
                      <a:headEnd len="sm" w="sm" type="none"/>
                      <a:tailEnd len="sm" w="sm" type="none"/>
                    </a:lnL>
                    <a:lnR cap="flat" cmpd="sng" w="7150">
                      <a:solidFill>
                        <a:srgbClr val="000000">
                          <a:alpha val="0"/>
                        </a:srgbClr>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7150">
                      <a:solidFill>
                        <a:srgbClr val="000000">
                          <a:alpha val="0"/>
                        </a:srgbClr>
                      </a:solidFill>
                      <a:prstDash val="solid"/>
                      <a:round/>
                      <a:headEnd len="sm" w="sm" type="none"/>
                      <a:tailEnd len="sm" w="sm" type="none"/>
                    </a:lnB>
                    <a:solidFill>
                      <a:srgbClr val="FFFFFF"/>
                    </a:solidFill>
                  </a:tcPr>
                </a:tc>
              </a:tr>
            </a:tbl>
          </a:graphicData>
        </a:graphic>
      </p:graphicFrame>
      <p:sp>
        <p:nvSpPr>
          <p:cNvPr id="950" name="Google Shape;950;p55"/>
          <p:cNvSpPr txBox="1"/>
          <p:nvPr/>
        </p:nvSpPr>
        <p:spPr>
          <a:xfrm>
            <a:off x="7603740" y="528638"/>
            <a:ext cx="11688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1D4ED8"/>
                </a:solidFill>
                <a:latin typeface="Inter"/>
                <a:ea typeface="Inter"/>
                <a:cs typeface="Inter"/>
                <a:sym typeface="Inter"/>
              </a:rPr>
              <a:t>HUUSD Facility Profile</a:t>
            </a:r>
            <a:endParaRPr sz="1100"/>
          </a:p>
        </p:txBody>
      </p:sp>
      <p:sp>
        <p:nvSpPr>
          <p:cNvPr id="951" name="Google Shape;951;p55"/>
          <p:cNvSpPr txBox="1"/>
          <p:nvPr/>
        </p:nvSpPr>
        <p:spPr>
          <a:xfrm>
            <a:off x="342900" y="257175"/>
            <a:ext cx="4744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800" u="none" cap="none" strike="noStrike">
                <a:solidFill>
                  <a:srgbClr val="0F172A"/>
                </a:solidFill>
                <a:latin typeface="Inter"/>
                <a:ea typeface="Inter"/>
                <a:cs typeface="Inter"/>
                <a:sym typeface="Inter"/>
              </a:rPr>
              <a:t>FY27 </a:t>
            </a:r>
            <a:r>
              <a:rPr b="1" lang="en" sz="1800">
                <a:solidFill>
                  <a:srgbClr val="0F172A"/>
                </a:solidFill>
                <a:latin typeface="Inter"/>
                <a:ea typeface="Inter"/>
                <a:cs typeface="Inter"/>
                <a:sym typeface="Inter"/>
              </a:rPr>
              <a:t>Brookside Primary School</a:t>
            </a:r>
            <a:r>
              <a:rPr b="1" i="0" lang="en" sz="1800" u="none" cap="none" strike="noStrike">
                <a:solidFill>
                  <a:srgbClr val="0F172A"/>
                </a:solidFill>
                <a:latin typeface="Inter"/>
                <a:ea typeface="Inter"/>
                <a:cs typeface="Inter"/>
                <a:sym typeface="Inter"/>
              </a:rPr>
              <a:t> Profile </a:t>
            </a:r>
            <a:endParaRPr sz="1100"/>
          </a:p>
        </p:txBody>
      </p:sp>
      <p:sp>
        <p:nvSpPr>
          <p:cNvPr id="952" name="Google Shape;952;p55"/>
          <p:cNvSpPr txBox="1"/>
          <p:nvPr/>
        </p:nvSpPr>
        <p:spPr>
          <a:xfrm>
            <a:off x="342900" y="564356"/>
            <a:ext cx="45183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800" u="none" cap="none" strike="noStrike">
                <a:solidFill>
                  <a:srgbClr val="64748B"/>
                </a:solidFill>
                <a:latin typeface="Inter"/>
                <a:ea typeface="Inter"/>
                <a:cs typeface="Inter"/>
                <a:sym typeface="Inter"/>
              </a:rPr>
              <a:t>Facility profile, student enrollment, and capital investment priorities</a:t>
            </a:r>
            <a:endParaRPr sz="1100"/>
          </a:p>
        </p:txBody>
      </p:sp>
      <p:sp>
        <p:nvSpPr>
          <p:cNvPr id="953" name="Google Shape;953;p55"/>
          <p:cNvSpPr txBox="1"/>
          <p:nvPr/>
        </p:nvSpPr>
        <p:spPr>
          <a:xfrm>
            <a:off x="492919" y="1114425"/>
            <a:ext cx="1371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TOTAL STUDENT ENROLLMENT</a:t>
            </a:r>
            <a:endParaRPr sz="1100"/>
          </a:p>
        </p:txBody>
      </p:sp>
      <p:sp>
        <p:nvSpPr>
          <p:cNvPr id="954" name="Google Shape;954;p55"/>
          <p:cNvSpPr txBox="1"/>
          <p:nvPr/>
        </p:nvSpPr>
        <p:spPr>
          <a:xfrm>
            <a:off x="492919" y="1371600"/>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 sz="1500">
                <a:latin typeface="Inter"/>
                <a:ea typeface="Inter"/>
                <a:cs typeface="Inter"/>
                <a:sym typeface="Inter"/>
              </a:rPr>
              <a:t>284</a:t>
            </a:r>
            <a:endParaRPr b="1" sz="1500">
              <a:latin typeface="Inter"/>
              <a:ea typeface="Inter"/>
              <a:cs typeface="Inter"/>
              <a:sym typeface="Inter"/>
            </a:endParaRPr>
          </a:p>
        </p:txBody>
      </p:sp>
      <p:sp>
        <p:nvSpPr>
          <p:cNvPr id="955" name="Google Shape;955;p55"/>
          <p:cNvSpPr txBox="1"/>
          <p:nvPr/>
        </p:nvSpPr>
        <p:spPr>
          <a:xfrm>
            <a:off x="492919" y="1618729"/>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Grades K – 6</a:t>
            </a:r>
            <a:endParaRPr sz="1100"/>
          </a:p>
        </p:txBody>
      </p:sp>
      <p:sp>
        <p:nvSpPr>
          <p:cNvPr id="956" name="Google Shape;956;p55"/>
          <p:cNvSpPr txBox="1"/>
          <p:nvPr/>
        </p:nvSpPr>
        <p:spPr>
          <a:xfrm>
            <a:off x="2207419" y="1114425"/>
            <a:ext cx="1371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DEFERRED MAINTENANCE (P1-3)</a:t>
            </a:r>
            <a:endParaRPr sz="1100"/>
          </a:p>
        </p:txBody>
      </p:sp>
      <p:sp>
        <p:nvSpPr>
          <p:cNvPr id="957" name="Google Shape;957;p55"/>
          <p:cNvSpPr txBox="1"/>
          <p:nvPr/>
        </p:nvSpPr>
        <p:spPr>
          <a:xfrm>
            <a:off x="2207419" y="1371600"/>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0F172A"/>
                </a:solidFill>
                <a:latin typeface="Inter"/>
                <a:ea typeface="Inter"/>
                <a:cs typeface="Inter"/>
                <a:sym typeface="Inter"/>
              </a:rPr>
              <a:t>$</a:t>
            </a:r>
            <a:r>
              <a:rPr b="1" lang="en" sz="1500">
                <a:solidFill>
                  <a:srgbClr val="0F172A"/>
                </a:solidFill>
                <a:latin typeface="Inter"/>
                <a:ea typeface="Inter"/>
                <a:cs typeface="Inter"/>
                <a:sym typeface="Inter"/>
              </a:rPr>
              <a:t>16,735,501</a:t>
            </a:r>
            <a:endParaRPr sz="1100"/>
          </a:p>
        </p:txBody>
      </p:sp>
      <p:sp>
        <p:nvSpPr>
          <p:cNvPr id="958" name="Google Shape;958;p55"/>
          <p:cNvSpPr txBox="1"/>
          <p:nvPr/>
        </p:nvSpPr>
        <p:spPr>
          <a:xfrm>
            <a:off x="2207419" y="1618729"/>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Priority 1: $2,686,994</a:t>
            </a:r>
            <a:endParaRPr sz="1100"/>
          </a:p>
        </p:txBody>
      </p:sp>
      <p:sp>
        <p:nvSpPr>
          <p:cNvPr id="959" name="Google Shape;959;p55"/>
          <p:cNvSpPr txBox="1"/>
          <p:nvPr/>
        </p:nvSpPr>
        <p:spPr>
          <a:xfrm>
            <a:off x="3921919" y="1114425"/>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DC2626"/>
                </a:solidFill>
                <a:latin typeface="Inter"/>
                <a:ea typeface="Inter"/>
                <a:cs typeface="Inter"/>
                <a:sym typeface="Inter"/>
              </a:rPr>
              <a:t>IMPENDING INVESTMENT</a:t>
            </a:r>
            <a:endParaRPr sz="1100"/>
          </a:p>
        </p:txBody>
      </p:sp>
      <p:sp>
        <p:nvSpPr>
          <p:cNvPr id="960" name="Google Shape;960;p55"/>
          <p:cNvSpPr txBox="1"/>
          <p:nvPr/>
        </p:nvSpPr>
        <p:spPr>
          <a:xfrm>
            <a:off x="3921919" y="1318022"/>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B91C1C"/>
                </a:solidFill>
                <a:latin typeface="Inter"/>
                <a:ea typeface="Inter"/>
                <a:cs typeface="Inter"/>
                <a:sym typeface="Inter"/>
              </a:rPr>
              <a:t>$50,000</a:t>
            </a:r>
            <a:endParaRPr sz="1100"/>
          </a:p>
        </p:txBody>
      </p:sp>
      <p:sp>
        <p:nvSpPr>
          <p:cNvPr id="961" name="Google Shape;961;p55"/>
          <p:cNvSpPr txBox="1"/>
          <p:nvPr/>
        </p:nvSpPr>
        <p:spPr>
          <a:xfrm>
            <a:off x="3921919" y="1618729"/>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700" u="none" cap="none" strike="noStrike">
                <a:solidFill>
                  <a:srgbClr val="64748B"/>
                </a:solidFill>
                <a:latin typeface="Inter"/>
                <a:ea typeface="Inter"/>
                <a:cs typeface="Inter"/>
                <a:sym typeface="Inter"/>
              </a:rPr>
              <a:t>Near-term critical repairs</a:t>
            </a:r>
            <a:endParaRPr sz="1100"/>
          </a:p>
        </p:txBody>
      </p:sp>
      <p:sp>
        <p:nvSpPr>
          <p:cNvPr id="962" name="Google Shape;962;p55"/>
          <p:cNvSpPr txBox="1"/>
          <p:nvPr/>
        </p:nvSpPr>
        <p:spPr>
          <a:xfrm>
            <a:off x="5636419" y="1114425"/>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BUILDING FOOTPRINT</a:t>
            </a:r>
            <a:endParaRPr sz="1100"/>
          </a:p>
        </p:txBody>
      </p:sp>
      <p:sp>
        <p:nvSpPr>
          <p:cNvPr id="963" name="Google Shape;963;p55"/>
          <p:cNvSpPr txBox="1"/>
          <p:nvPr/>
        </p:nvSpPr>
        <p:spPr>
          <a:xfrm>
            <a:off x="5636419" y="1318022"/>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 sz="1500">
                <a:solidFill>
                  <a:srgbClr val="0F172A"/>
                </a:solidFill>
                <a:latin typeface="Inter"/>
                <a:ea typeface="Inter"/>
                <a:cs typeface="Inter"/>
                <a:sym typeface="Inter"/>
              </a:rPr>
              <a:t>60,000 sq ft</a:t>
            </a:r>
            <a:endParaRPr sz="1100"/>
          </a:p>
        </p:txBody>
      </p:sp>
      <p:sp>
        <p:nvSpPr>
          <p:cNvPr id="964" name="Google Shape;964;p55"/>
          <p:cNvSpPr txBox="1"/>
          <p:nvPr/>
        </p:nvSpPr>
        <p:spPr>
          <a:xfrm>
            <a:off x="5636425" y="1618721"/>
            <a:ext cx="1625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sz="700">
                <a:solidFill>
                  <a:srgbClr val="64748B"/>
                </a:solidFill>
                <a:highlight>
                  <a:schemeClr val="lt1"/>
                </a:highlight>
                <a:latin typeface="Inter"/>
                <a:ea typeface="Inter"/>
                <a:cs typeface="Inter"/>
                <a:sym typeface="Inter"/>
              </a:rPr>
              <a:t>24 </a:t>
            </a:r>
            <a:r>
              <a:rPr b="0" i="0" lang="en" sz="700" u="none" cap="none" strike="noStrike">
                <a:solidFill>
                  <a:srgbClr val="64748B"/>
                </a:solidFill>
                <a:latin typeface="Inter"/>
                <a:ea typeface="Inter"/>
                <a:cs typeface="Inter"/>
                <a:sym typeface="Inter"/>
              </a:rPr>
              <a:t>Classrooms •</a:t>
            </a:r>
            <a:r>
              <a:rPr lang="en" sz="700">
                <a:solidFill>
                  <a:srgbClr val="64748B"/>
                </a:solidFill>
                <a:latin typeface="Inter"/>
                <a:ea typeface="Inter"/>
                <a:cs typeface="Inter"/>
                <a:sym typeface="Inter"/>
              </a:rPr>
              <a:t> Playgrouds</a:t>
            </a:r>
            <a:endParaRPr sz="700">
              <a:solidFill>
                <a:srgbClr val="64748B"/>
              </a:solidFill>
              <a:latin typeface="Inter"/>
              <a:ea typeface="Inter"/>
              <a:cs typeface="Inter"/>
              <a:sym typeface="Inter"/>
            </a:endParaRPr>
          </a:p>
          <a:p>
            <a:pPr indent="0" lvl="0" marL="0" marR="0" rtl="0" algn="l">
              <a:spcBef>
                <a:spcPts val="0"/>
              </a:spcBef>
              <a:spcAft>
                <a:spcPts val="0"/>
              </a:spcAft>
              <a:buNone/>
            </a:pPr>
            <a:r>
              <a:rPr lang="en" sz="700">
                <a:solidFill>
                  <a:srgbClr val="64748B"/>
                </a:solidFill>
                <a:latin typeface="Inter"/>
                <a:ea typeface="Inter"/>
                <a:cs typeface="Inter"/>
                <a:sym typeface="Inter"/>
              </a:rPr>
              <a:t>Access to town fields &amp; trails </a:t>
            </a:r>
            <a:endParaRPr sz="700">
              <a:solidFill>
                <a:srgbClr val="64748B"/>
              </a:solidFill>
              <a:latin typeface="Inter"/>
              <a:ea typeface="Inter"/>
              <a:cs typeface="Inter"/>
              <a:sym typeface="Inter"/>
            </a:endParaRPr>
          </a:p>
        </p:txBody>
      </p:sp>
      <p:sp>
        <p:nvSpPr>
          <p:cNvPr id="965" name="Google Shape;965;p55"/>
          <p:cNvSpPr txBox="1"/>
          <p:nvPr/>
        </p:nvSpPr>
        <p:spPr>
          <a:xfrm>
            <a:off x="7350919" y="1114425"/>
            <a:ext cx="16251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700" u="none" cap="none" strike="noStrike">
                <a:solidFill>
                  <a:srgbClr val="64748B"/>
                </a:solidFill>
                <a:latin typeface="Inter"/>
                <a:ea typeface="Inter"/>
                <a:cs typeface="Inter"/>
                <a:sym typeface="Inter"/>
              </a:rPr>
              <a:t>STAFFING &amp; HEADCOUNT</a:t>
            </a:r>
            <a:endParaRPr sz="1100"/>
          </a:p>
        </p:txBody>
      </p:sp>
      <p:sp>
        <p:nvSpPr>
          <p:cNvPr id="966" name="Google Shape;966;p55"/>
          <p:cNvSpPr txBox="1"/>
          <p:nvPr/>
        </p:nvSpPr>
        <p:spPr>
          <a:xfrm>
            <a:off x="7350919" y="1318022"/>
            <a:ext cx="1625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500" u="none" cap="none" strike="noStrike">
                <a:solidFill>
                  <a:srgbClr val="0F172A"/>
                </a:solidFill>
                <a:latin typeface="Inter"/>
                <a:ea typeface="Inter"/>
                <a:cs typeface="Inter"/>
                <a:sym typeface="Inter"/>
              </a:rPr>
              <a:t> </a:t>
            </a:r>
            <a:r>
              <a:rPr b="1" lang="en" sz="1500">
                <a:solidFill>
                  <a:srgbClr val="0F172A"/>
                </a:solidFill>
                <a:latin typeface="Inter"/>
                <a:ea typeface="Inter"/>
                <a:cs typeface="Inter"/>
                <a:sym typeface="Inter"/>
              </a:rPr>
              <a:t>67.</a:t>
            </a:r>
            <a:r>
              <a:rPr b="1" lang="en" sz="1500">
                <a:solidFill>
                  <a:srgbClr val="0F172A"/>
                </a:solidFill>
                <a:latin typeface="Inter"/>
                <a:ea typeface="Inter"/>
                <a:cs typeface="Inter"/>
                <a:sym typeface="Inter"/>
              </a:rPr>
              <a:t>44</a:t>
            </a:r>
            <a:r>
              <a:rPr b="1" i="0" lang="en" sz="1500" u="none" cap="none" strike="noStrike">
                <a:solidFill>
                  <a:srgbClr val="0F172A"/>
                </a:solidFill>
                <a:latin typeface="Inter"/>
                <a:ea typeface="Inter"/>
                <a:cs typeface="Inter"/>
                <a:sym typeface="Inter"/>
              </a:rPr>
              <a:t> FTE</a:t>
            </a:r>
            <a:endParaRPr sz="1100"/>
          </a:p>
        </p:txBody>
      </p:sp>
      <p:sp>
        <p:nvSpPr>
          <p:cNvPr id="967" name="Google Shape;967;p55"/>
          <p:cNvSpPr txBox="1"/>
          <p:nvPr/>
        </p:nvSpPr>
        <p:spPr>
          <a:xfrm>
            <a:off x="7350919" y="1618729"/>
            <a:ext cx="16251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100"/>
          </a:p>
        </p:txBody>
      </p:sp>
      <p:sp>
        <p:nvSpPr>
          <p:cNvPr id="968" name="Google Shape;968;p55"/>
          <p:cNvSpPr txBox="1"/>
          <p:nvPr/>
        </p:nvSpPr>
        <p:spPr>
          <a:xfrm>
            <a:off x="714375" y="2140223"/>
            <a:ext cx="25845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 sz="800" u="none" cap="none" strike="noStrike">
                <a:solidFill>
                  <a:srgbClr val="1E293B"/>
                </a:solidFill>
                <a:latin typeface="Inter"/>
                <a:ea typeface="Inter"/>
                <a:cs typeface="Inter"/>
                <a:sym typeface="Inter"/>
              </a:rPr>
              <a:t>Student Enrollment Distribution (FY27)</a:t>
            </a:r>
            <a:endParaRPr sz="1100"/>
          </a:p>
        </p:txBody>
      </p:sp>
      <p:sp>
        <p:nvSpPr>
          <p:cNvPr id="969" name="Google Shape;969;p55"/>
          <p:cNvSpPr txBox="1"/>
          <p:nvPr/>
        </p:nvSpPr>
        <p:spPr>
          <a:xfrm>
            <a:off x="478631"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PK3</a:t>
            </a:r>
            <a:endParaRPr sz="1100"/>
          </a:p>
        </p:txBody>
      </p:sp>
      <p:sp>
        <p:nvSpPr>
          <p:cNvPr id="970" name="Google Shape;970;p55"/>
          <p:cNvSpPr txBox="1"/>
          <p:nvPr/>
        </p:nvSpPr>
        <p:spPr>
          <a:xfrm>
            <a:off x="478631"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     25	</a:t>
            </a:r>
            <a:endParaRPr sz="1100"/>
          </a:p>
        </p:txBody>
      </p:sp>
      <p:sp>
        <p:nvSpPr>
          <p:cNvPr id="971" name="Google Shape;971;p55"/>
          <p:cNvSpPr txBox="1"/>
          <p:nvPr/>
        </p:nvSpPr>
        <p:spPr>
          <a:xfrm>
            <a:off x="1157288"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PK4</a:t>
            </a:r>
            <a:endParaRPr b="1" sz="600">
              <a:solidFill>
                <a:srgbClr val="64748B"/>
              </a:solidFill>
              <a:latin typeface="Inter"/>
              <a:ea typeface="Inter"/>
              <a:cs typeface="Inter"/>
              <a:sym typeface="Inter"/>
            </a:endParaRPr>
          </a:p>
        </p:txBody>
      </p:sp>
      <p:sp>
        <p:nvSpPr>
          <p:cNvPr id="972" name="Google Shape;972;p55"/>
          <p:cNvSpPr txBox="1"/>
          <p:nvPr/>
        </p:nvSpPr>
        <p:spPr>
          <a:xfrm>
            <a:off x="1835944" y="2454548"/>
            <a:ext cx="7215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Kindergarten</a:t>
            </a:r>
            <a:endParaRPr sz="1100"/>
          </a:p>
        </p:txBody>
      </p:sp>
      <p:sp>
        <p:nvSpPr>
          <p:cNvPr id="973" name="Google Shape;973;p55"/>
          <p:cNvSpPr txBox="1"/>
          <p:nvPr/>
        </p:nvSpPr>
        <p:spPr>
          <a:xfrm>
            <a:off x="1835944" y="2583135"/>
            <a:ext cx="7215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51</a:t>
            </a:r>
            <a:endParaRPr sz="1100"/>
          </a:p>
        </p:txBody>
      </p:sp>
      <p:sp>
        <p:nvSpPr>
          <p:cNvPr id="974" name="Google Shape;974;p55"/>
          <p:cNvSpPr txBox="1"/>
          <p:nvPr/>
        </p:nvSpPr>
        <p:spPr>
          <a:xfrm>
            <a:off x="2543175"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1</a:t>
            </a:r>
            <a:endParaRPr sz="1100"/>
          </a:p>
        </p:txBody>
      </p:sp>
      <p:sp>
        <p:nvSpPr>
          <p:cNvPr id="975" name="Google Shape;975;p55"/>
          <p:cNvSpPr txBox="1"/>
          <p:nvPr/>
        </p:nvSpPr>
        <p:spPr>
          <a:xfrm>
            <a:off x="2543175"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53</a:t>
            </a:r>
            <a:endParaRPr sz="1100"/>
          </a:p>
        </p:txBody>
      </p:sp>
      <p:sp>
        <p:nvSpPr>
          <p:cNvPr id="976" name="Google Shape;976;p55"/>
          <p:cNvSpPr txBox="1"/>
          <p:nvPr/>
        </p:nvSpPr>
        <p:spPr>
          <a:xfrm>
            <a:off x="3221831"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2</a:t>
            </a:r>
            <a:endParaRPr sz="1100"/>
          </a:p>
        </p:txBody>
      </p:sp>
      <p:sp>
        <p:nvSpPr>
          <p:cNvPr id="977" name="Google Shape;977;p55"/>
          <p:cNvSpPr txBox="1"/>
          <p:nvPr/>
        </p:nvSpPr>
        <p:spPr>
          <a:xfrm>
            <a:off x="3221831"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59</a:t>
            </a:r>
            <a:endParaRPr sz="1100"/>
          </a:p>
        </p:txBody>
      </p:sp>
      <p:sp>
        <p:nvSpPr>
          <p:cNvPr id="978" name="Google Shape;978;p55"/>
          <p:cNvSpPr txBox="1"/>
          <p:nvPr/>
        </p:nvSpPr>
        <p:spPr>
          <a:xfrm>
            <a:off x="3900488"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3</a:t>
            </a:r>
            <a:endParaRPr sz="1100"/>
          </a:p>
        </p:txBody>
      </p:sp>
      <p:sp>
        <p:nvSpPr>
          <p:cNvPr id="979" name="Google Shape;979;p55"/>
          <p:cNvSpPr txBox="1"/>
          <p:nvPr/>
        </p:nvSpPr>
        <p:spPr>
          <a:xfrm>
            <a:off x="3900488"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49</a:t>
            </a:r>
            <a:endParaRPr sz="1100"/>
          </a:p>
        </p:txBody>
      </p:sp>
      <p:sp>
        <p:nvSpPr>
          <p:cNvPr id="980" name="Google Shape;980;p55"/>
          <p:cNvSpPr txBox="1"/>
          <p:nvPr/>
        </p:nvSpPr>
        <p:spPr>
          <a:xfrm>
            <a:off x="4579144"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4</a:t>
            </a:r>
            <a:endParaRPr sz="1100"/>
          </a:p>
        </p:txBody>
      </p:sp>
      <p:sp>
        <p:nvSpPr>
          <p:cNvPr id="981" name="Google Shape;981;p55"/>
          <p:cNvSpPr txBox="1"/>
          <p:nvPr/>
        </p:nvSpPr>
        <p:spPr>
          <a:xfrm>
            <a:off x="4579144"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0F172A"/>
                </a:solidFill>
                <a:latin typeface="Inter"/>
                <a:ea typeface="Inter"/>
                <a:cs typeface="Inter"/>
                <a:sym typeface="Inter"/>
              </a:rPr>
              <a:t>72</a:t>
            </a:r>
            <a:endParaRPr sz="1100"/>
          </a:p>
        </p:txBody>
      </p:sp>
      <p:sp>
        <p:nvSpPr>
          <p:cNvPr id="982" name="Google Shape;982;p55"/>
          <p:cNvSpPr txBox="1"/>
          <p:nvPr/>
        </p:nvSpPr>
        <p:spPr>
          <a:xfrm>
            <a:off x="5257800"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5</a:t>
            </a:r>
            <a:endParaRPr sz="1100"/>
          </a:p>
        </p:txBody>
      </p:sp>
      <p:sp>
        <p:nvSpPr>
          <p:cNvPr id="983" name="Google Shape;983;p55"/>
          <p:cNvSpPr txBox="1"/>
          <p:nvPr/>
        </p:nvSpPr>
        <p:spPr>
          <a:xfrm>
            <a:off x="5257800" y="2583135"/>
            <a:ext cx="6930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100"/>
          </a:p>
        </p:txBody>
      </p:sp>
      <p:sp>
        <p:nvSpPr>
          <p:cNvPr id="984" name="Google Shape;984;p55"/>
          <p:cNvSpPr txBox="1"/>
          <p:nvPr/>
        </p:nvSpPr>
        <p:spPr>
          <a:xfrm>
            <a:off x="5936456"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6</a:t>
            </a:r>
            <a:endParaRPr sz="1100"/>
          </a:p>
        </p:txBody>
      </p:sp>
      <p:sp>
        <p:nvSpPr>
          <p:cNvPr id="985" name="Google Shape;985;p55"/>
          <p:cNvSpPr txBox="1"/>
          <p:nvPr/>
        </p:nvSpPr>
        <p:spPr>
          <a:xfrm>
            <a:off x="5936456" y="2583135"/>
            <a:ext cx="6930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100"/>
          </a:p>
        </p:txBody>
      </p:sp>
      <p:sp>
        <p:nvSpPr>
          <p:cNvPr id="986" name="Google Shape;986;p55"/>
          <p:cNvSpPr txBox="1"/>
          <p:nvPr/>
        </p:nvSpPr>
        <p:spPr>
          <a:xfrm>
            <a:off x="6615113"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7</a:t>
            </a:r>
            <a:endParaRPr sz="1100"/>
          </a:p>
        </p:txBody>
      </p:sp>
      <p:sp>
        <p:nvSpPr>
          <p:cNvPr id="987" name="Google Shape;987;p55"/>
          <p:cNvSpPr txBox="1"/>
          <p:nvPr/>
        </p:nvSpPr>
        <p:spPr>
          <a:xfrm>
            <a:off x="6615113"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000" u="none" cap="none" strike="noStrike">
                <a:solidFill>
                  <a:srgbClr val="0F172A"/>
                </a:solidFill>
                <a:latin typeface="Inter"/>
                <a:ea typeface="Inter"/>
                <a:cs typeface="Inter"/>
                <a:sym typeface="Inter"/>
              </a:rPr>
              <a:t>-</a:t>
            </a:r>
            <a:endParaRPr sz="1100"/>
          </a:p>
        </p:txBody>
      </p:sp>
      <p:sp>
        <p:nvSpPr>
          <p:cNvPr id="988" name="Google Shape;988;p55"/>
          <p:cNvSpPr txBox="1"/>
          <p:nvPr/>
        </p:nvSpPr>
        <p:spPr>
          <a:xfrm>
            <a:off x="7293769"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64748B"/>
                </a:solidFill>
                <a:latin typeface="Inter"/>
                <a:ea typeface="Inter"/>
                <a:cs typeface="Inter"/>
                <a:sym typeface="Inter"/>
              </a:rPr>
              <a:t>Grade 8</a:t>
            </a:r>
            <a:endParaRPr sz="1100"/>
          </a:p>
        </p:txBody>
      </p:sp>
      <p:sp>
        <p:nvSpPr>
          <p:cNvPr id="989" name="Google Shape;989;p55"/>
          <p:cNvSpPr txBox="1"/>
          <p:nvPr/>
        </p:nvSpPr>
        <p:spPr>
          <a:xfrm>
            <a:off x="7293769"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000" u="none" cap="none" strike="noStrike">
                <a:solidFill>
                  <a:srgbClr val="0F172A"/>
                </a:solidFill>
                <a:latin typeface="Inter"/>
                <a:ea typeface="Inter"/>
                <a:cs typeface="Inter"/>
                <a:sym typeface="Inter"/>
              </a:rPr>
              <a:t>-</a:t>
            </a:r>
            <a:endParaRPr sz="1100"/>
          </a:p>
        </p:txBody>
      </p:sp>
      <p:sp>
        <p:nvSpPr>
          <p:cNvPr id="990" name="Google Shape;990;p55"/>
          <p:cNvSpPr txBox="1"/>
          <p:nvPr/>
        </p:nvSpPr>
        <p:spPr>
          <a:xfrm>
            <a:off x="7972425" y="2454548"/>
            <a:ext cx="6930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600" u="none" cap="none" strike="noStrike">
                <a:solidFill>
                  <a:srgbClr val="BFDBFE"/>
                </a:solidFill>
                <a:latin typeface="Inter"/>
                <a:ea typeface="Inter"/>
                <a:cs typeface="Inter"/>
                <a:sym typeface="Inter"/>
              </a:rPr>
              <a:t>TOTAL</a:t>
            </a:r>
            <a:endParaRPr sz="1100"/>
          </a:p>
        </p:txBody>
      </p:sp>
      <p:sp>
        <p:nvSpPr>
          <p:cNvPr id="991" name="Google Shape;991;p55"/>
          <p:cNvSpPr txBox="1"/>
          <p:nvPr/>
        </p:nvSpPr>
        <p:spPr>
          <a:xfrm>
            <a:off x="7972425" y="2583135"/>
            <a:ext cx="693000" cy="153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000">
                <a:solidFill>
                  <a:srgbClr val="FFFFFF"/>
                </a:solidFill>
                <a:latin typeface="Inter"/>
                <a:ea typeface="Inter"/>
                <a:cs typeface="Inter"/>
                <a:sym typeface="Inter"/>
              </a:rPr>
              <a:t>338</a:t>
            </a:r>
            <a:endParaRPr sz="1100"/>
          </a:p>
        </p:txBody>
      </p:sp>
      <p:sp>
        <p:nvSpPr>
          <p:cNvPr id="992" name="Google Shape;992;p55"/>
          <p:cNvSpPr txBox="1"/>
          <p:nvPr/>
        </p:nvSpPr>
        <p:spPr>
          <a:xfrm>
            <a:off x="5357813" y="3211785"/>
            <a:ext cx="3786300" cy="12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 sz="800" u="none" cap="none" strike="noStrike">
                <a:solidFill>
                  <a:srgbClr val="1E293B"/>
                </a:solidFill>
                <a:latin typeface="Inter"/>
                <a:ea typeface="Inter"/>
                <a:cs typeface="Inter"/>
                <a:sym typeface="Inter"/>
              </a:rPr>
              <a:t>Facility &amp; Environmental Specs</a:t>
            </a:r>
            <a:endParaRPr sz="1100"/>
          </a:p>
        </p:txBody>
      </p:sp>
      <p:sp>
        <p:nvSpPr>
          <p:cNvPr id="993" name="Google Shape;993;p55"/>
          <p:cNvSpPr txBox="1"/>
          <p:nvPr/>
        </p:nvSpPr>
        <p:spPr>
          <a:xfrm>
            <a:off x="495300" y="3200400"/>
            <a:ext cx="4238700" cy="169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1100">
                <a:solidFill>
                  <a:srgbClr val="991B1B"/>
                </a:solidFill>
                <a:latin typeface="Inter"/>
                <a:ea typeface="Inter"/>
                <a:cs typeface="Inter"/>
                <a:sym typeface="Inter"/>
              </a:rPr>
              <a:t>Impending Capital Investment &amp; Facilities</a:t>
            </a:r>
            <a:endParaRPr b="1" sz="1100">
              <a:solidFill>
                <a:srgbClr val="991B1B"/>
              </a:solidFill>
              <a:latin typeface="Inter"/>
              <a:ea typeface="Inter"/>
              <a:cs typeface="Inter"/>
              <a:sym typeface="Inter"/>
            </a:endParaRPr>
          </a:p>
        </p:txBody>
      </p:sp>
      <p:sp>
        <p:nvSpPr>
          <p:cNvPr id="994" name="Google Shape;994;p55"/>
          <p:cNvSpPr txBox="1"/>
          <p:nvPr/>
        </p:nvSpPr>
        <p:spPr>
          <a:xfrm>
            <a:off x="495300" y="3505200"/>
            <a:ext cx="1905000" cy="588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 sz="900">
                <a:solidFill>
                  <a:srgbClr val="7F1D1D"/>
                </a:solidFill>
                <a:latin typeface="Inter"/>
                <a:ea typeface="Inter"/>
                <a:cs typeface="Inter"/>
                <a:sym typeface="Inter"/>
              </a:rPr>
              <a:t>Priority Maintenance</a:t>
            </a:r>
            <a:endParaRPr b="1" sz="900">
              <a:solidFill>
                <a:srgbClr val="7F1D1D"/>
              </a:solidFill>
              <a:latin typeface="Inter"/>
              <a:ea typeface="Inter"/>
              <a:cs typeface="Inter"/>
              <a:sym typeface="Inter"/>
            </a:endParaRPr>
          </a:p>
          <a:p>
            <a:pPr indent="-282575" lvl="0" marL="457200" rtl="0" algn="l">
              <a:spcBef>
                <a:spcPts val="450"/>
              </a:spcBef>
              <a:spcAft>
                <a:spcPts val="0"/>
              </a:spcAft>
              <a:buClr>
                <a:srgbClr val="DC2626"/>
              </a:buClr>
              <a:buSzPts val="850"/>
              <a:buFont typeface="Inter SemiBold"/>
              <a:buChar char="●"/>
            </a:pPr>
            <a:r>
              <a:rPr lang="en" sz="850">
                <a:solidFill>
                  <a:srgbClr val="DC2626"/>
                </a:solidFill>
                <a:latin typeface="Inter SemiBold"/>
                <a:ea typeface="Inter SemiBold"/>
                <a:cs typeface="Inter SemiBold"/>
                <a:sym typeface="Inter SemiBold"/>
              </a:rPr>
              <a:t>Entry door replacement (safety concern)</a:t>
            </a:r>
            <a:endParaRPr sz="850">
              <a:solidFill>
                <a:srgbClr val="DC2626"/>
              </a:solidFill>
              <a:latin typeface="Inter SemiBold"/>
              <a:ea typeface="Inter SemiBold"/>
              <a:cs typeface="Inter SemiBold"/>
              <a:sym typeface="Inter SemiBold"/>
            </a:endParaRPr>
          </a:p>
          <a:p>
            <a:pPr indent="-282575" lvl="0" marL="457200" rtl="0" algn="l">
              <a:spcBef>
                <a:spcPts val="0"/>
              </a:spcBef>
              <a:spcAft>
                <a:spcPts val="0"/>
              </a:spcAft>
              <a:buClr>
                <a:srgbClr val="DC2626"/>
              </a:buClr>
              <a:buSzPts val="850"/>
              <a:buFont typeface="Inter SemiBold"/>
              <a:buChar char="●"/>
            </a:pPr>
            <a:r>
              <a:rPr lang="en" sz="850">
                <a:solidFill>
                  <a:srgbClr val="DC2626"/>
                </a:solidFill>
                <a:latin typeface="Inter SemiBold"/>
                <a:ea typeface="Inter SemiBold"/>
                <a:cs typeface="Inter SemiBold"/>
                <a:sym typeface="Inter SemiBold"/>
              </a:rPr>
              <a:t>Basement egress repair</a:t>
            </a:r>
            <a:endParaRPr sz="850">
              <a:solidFill>
                <a:srgbClr val="DC2626"/>
              </a:solidFill>
              <a:latin typeface="Inter SemiBold"/>
              <a:ea typeface="Inter SemiBold"/>
              <a:cs typeface="Inter SemiBold"/>
              <a:sym typeface="Inter SemiBold"/>
            </a:endParaRPr>
          </a:p>
        </p:txBody>
      </p:sp>
      <p:sp>
        <p:nvSpPr>
          <p:cNvPr id="995" name="Google Shape;995;p55"/>
          <p:cNvSpPr txBox="1"/>
          <p:nvPr/>
        </p:nvSpPr>
        <p:spPr>
          <a:xfrm>
            <a:off x="2476500" y="3505200"/>
            <a:ext cx="2286000" cy="1124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1D4ED8"/>
                </a:solidFill>
                <a:latin typeface="Inter"/>
                <a:ea typeface="Inter"/>
                <a:cs typeface="Inter"/>
                <a:sym typeface="Inter"/>
              </a:rPr>
              <a:t>Kitchen &amp; Meal Production</a:t>
            </a:r>
            <a:endParaRPr b="1" sz="850">
              <a:solidFill>
                <a:srgbClr val="1D4ED8"/>
              </a:solidFill>
              <a:latin typeface="Inter"/>
              <a:ea typeface="Inter"/>
              <a:cs typeface="Inter"/>
              <a:sym typeface="Inter"/>
            </a:endParaRPr>
          </a:p>
          <a:p>
            <a:pPr indent="0" lvl="0" marL="0" rtl="0" algn="l">
              <a:spcBef>
                <a:spcPts val="150"/>
              </a:spcBef>
              <a:spcAft>
                <a:spcPts val="0"/>
              </a:spcAft>
              <a:buNone/>
            </a:pPr>
            <a:r>
              <a:rPr lang="en" sz="850">
                <a:solidFill>
                  <a:schemeClr val="dk1"/>
                </a:solidFill>
                <a:latin typeface="Inter"/>
                <a:ea typeface="Inter"/>
                <a:cs typeface="Inter"/>
                <a:sym typeface="Inter"/>
              </a:rPr>
              <a:t>Full</a:t>
            </a:r>
            <a:r>
              <a:rPr lang="en" sz="800">
                <a:solidFill>
                  <a:schemeClr val="dk1"/>
                </a:solidFill>
                <a:latin typeface="Inter"/>
                <a:ea typeface="Inter"/>
                <a:cs typeface="Inter"/>
                <a:sym typeface="Inter"/>
              </a:rPr>
              <a:t>/partially operational kitchen</a:t>
            </a:r>
            <a:endParaRPr sz="800">
              <a:solidFill>
                <a:srgbClr val="475569"/>
              </a:solidFill>
              <a:latin typeface="Inter"/>
              <a:ea typeface="Inter"/>
              <a:cs typeface="Inter"/>
              <a:sym typeface="Inter"/>
            </a:endParaRPr>
          </a:p>
          <a:p>
            <a:pPr indent="0" lvl="0" marL="0" rtl="0" algn="l">
              <a:spcBef>
                <a:spcPts val="150"/>
              </a:spcBef>
              <a:spcAft>
                <a:spcPts val="0"/>
              </a:spcAft>
              <a:buNone/>
            </a:pPr>
            <a:r>
              <a:t/>
            </a:r>
            <a:endParaRPr sz="800">
              <a:solidFill>
                <a:srgbClr val="475569"/>
              </a:solidFill>
              <a:latin typeface="Inter"/>
              <a:ea typeface="Inter"/>
              <a:cs typeface="Inter"/>
              <a:sym typeface="Inter"/>
            </a:endParaRPr>
          </a:p>
          <a:p>
            <a:pPr indent="0" lvl="0" marL="0" rtl="0" algn="l">
              <a:spcBef>
                <a:spcPts val="150"/>
              </a:spcBef>
              <a:spcAft>
                <a:spcPts val="0"/>
              </a:spcAft>
              <a:buNone/>
            </a:pPr>
            <a:r>
              <a:rPr b="1" lang="en" sz="850">
                <a:solidFill>
                  <a:srgbClr val="1D4ED8"/>
                </a:solidFill>
                <a:latin typeface="Inter"/>
                <a:ea typeface="Inter"/>
                <a:cs typeface="Inter"/>
                <a:sym typeface="Inter"/>
              </a:rPr>
              <a:t>Cafeteria Seating</a:t>
            </a:r>
            <a:endParaRPr b="1" sz="850">
              <a:solidFill>
                <a:srgbClr val="1D4ED8"/>
              </a:solidFill>
              <a:latin typeface="Inter"/>
              <a:ea typeface="Inter"/>
              <a:cs typeface="Inter"/>
              <a:sym typeface="Inter"/>
            </a:endParaRPr>
          </a:p>
          <a:p>
            <a:pPr indent="0" lvl="0" marL="0" rtl="0" algn="l">
              <a:spcBef>
                <a:spcPts val="150"/>
              </a:spcBef>
              <a:spcAft>
                <a:spcPts val="0"/>
              </a:spcAft>
              <a:buNone/>
            </a:pPr>
            <a:r>
              <a:rPr lang="en" sz="850">
                <a:solidFill>
                  <a:schemeClr val="dk1"/>
                </a:solidFill>
                <a:latin typeface="Inter"/>
                <a:ea typeface="Inter"/>
                <a:cs typeface="Inter"/>
                <a:sym typeface="Inter"/>
              </a:rPr>
              <a:t>Limited </a:t>
            </a:r>
            <a:endParaRPr sz="850">
              <a:solidFill>
                <a:schemeClr val="dk1"/>
              </a:solidFill>
              <a:latin typeface="Inter"/>
              <a:ea typeface="Inter"/>
              <a:cs typeface="Inter"/>
              <a:sym typeface="Inter"/>
            </a:endParaRPr>
          </a:p>
          <a:p>
            <a:pPr indent="0" lvl="0" marL="0" rtl="0" algn="l">
              <a:spcBef>
                <a:spcPts val="150"/>
              </a:spcBef>
              <a:spcAft>
                <a:spcPts val="0"/>
              </a:spcAft>
              <a:buNone/>
            </a:pPr>
            <a:r>
              <a:t/>
            </a:r>
            <a:endParaRPr b="1" sz="850">
              <a:solidFill>
                <a:srgbClr val="1D4ED8"/>
              </a:solidFill>
              <a:latin typeface="Inter"/>
              <a:ea typeface="Inter"/>
              <a:cs typeface="Inter"/>
              <a:sym typeface="Inter"/>
            </a:endParaRPr>
          </a:p>
          <a:p>
            <a:pPr indent="0" lvl="0" marL="0" rtl="0" algn="l">
              <a:spcBef>
                <a:spcPts val="150"/>
              </a:spcBef>
              <a:spcAft>
                <a:spcPts val="0"/>
              </a:spcAft>
              <a:buNone/>
            </a:pPr>
            <a:r>
              <a:t/>
            </a:r>
            <a:endParaRPr b="1" sz="850">
              <a:solidFill>
                <a:srgbClr val="1D4ED8"/>
              </a:solidFill>
              <a:latin typeface="Inter"/>
              <a:ea typeface="Inter"/>
              <a:cs typeface="Inter"/>
              <a:sym typeface="Inter"/>
            </a:endParaRPr>
          </a:p>
          <a:p>
            <a:pPr indent="0" lvl="0" marL="0" rtl="0" algn="l">
              <a:spcBef>
                <a:spcPts val="150"/>
              </a:spcBef>
              <a:spcAft>
                <a:spcPts val="0"/>
              </a:spcAft>
              <a:buNone/>
            </a:pPr>
            <a:r>
              <a:t/>
            </a:r>
            <a:endParaRPr b="0" sz="800">
              <a:solidFill>
                <a:srgbClr val="475569"/>
              </a:solidFill>
              <a:latin typeface="Inter"/>
              <a:ea typeface="Inter"/>
              <a:cs typeface="Inter"/>
              <a:sym typeface="Inter"/>
            </a:endParaRPr>
          </a:p>
        </p:txBody>
      </p:sp>
      <p:sp>
        <p:nvSpPr>
          <p:cNvPr id="996" name="Google Shape;996;p55"/>
          <p:cNvSpPr txBox="1"/>
          <p:nvPr/>
        </p:nvSpPr>
        <p:spPr>
          <a:xfrm>
            <a:off x="342900" y="4044450"/>
            <a:ext cx="3164700" cy="4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7F1D1D"/>
                </a:solidFill>
                <a:latin typeface="Inter"/>
                <a:ea typeface="Inter"/>
                <a:cs typeface="Inter"/>
                <a:sym typeface="Inter"/>
              </a:rPr>
              <a:t>Annual Operating Costs</a:t>
            </a:r>
            <a:endParaRPr b="1" sz="900">
              <a:solidFill>
                <a:srgbClr val="7F1D1D"/>
              </a:solidFill>
              <a:latin typeface="Inter"/>
              <a:ea typeface="Inter"/>
              <a:cs typeface="Inter"/>
              <a:sym typeface="Inter"/>
            </a:endParaRPr>
          </a:p>
          <a:p>
            <a:pPr indent="0" lvl="0" marL="0" rtl="0" algn="l">
              <a:spcBef>
                <a:spcPts val="0"/>
              </a:spcBef>
              <a:spcAft>
                <a:spcPts val="0"/>
              </a:spcAft>
              <a:buNone/>
            </a:pPr>
            <a:r>
              <a:rPr lang="en" sz="900">
                <a:solidFill>
                  <a:srgbClr val="7F1D1D"/>
                </a:solidFill>
                <a:latin typeface="Inter"/>
                <a:ea typeface="Inter"/>
                <a:cs typeface="Inter"/>
                <a:sym typeface="Inter"/>
              </a:rPr>
              <a:t>$393,969 not including custodial salaries and benefits </a:t>
            </a:r>
            <a:endParaRPr sz="900">
              <a:solidFill>
                <a:srgbClr val="7F1D1D"/>
              </a:solidFill>
              <a:latin typeface="Inter"/>
              <a:ea typeface="Inter"/>
              <a:cs typeface="Inter"/>
              <a:sym typeface="Inte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0" name="Shape 1000"/>
        <p:cNvGrpSpPr/>
        <p:nvPr/>
      </p:nvGrpSpPr>
      <p:grpSpPr>
        <a:xfrm>
          <a:off x="0" y="0"/>
          <a:ext cx="0" cy="0"/>
          <a:chOff x="0" y="0"/>
          <a:chExt cx="0" cy="0"/>
        </a:xfrm>
      </p:grpSpPr>
      <p:sp>
        <p:nvSpPr>
          <p:cNvPr id="1001" name="Google Shape;1001;p56"/>
          <p:cNvSpPr txBox="1"/>
          <p:nvPr/>
        </p:nvSpPr>
        <p:spPr>
          <a:xfrm>
            <a:off x="381000" y="190500"/>
            <a:ext cx="8382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2563EB"/>
                </a:solidFill>
                <a:latin typeface="Inter"/>
                <a:ea typeface="Inter"/>
                <a:cs typeface="Inter"/>
                <a:sym typeface="Inter"/>
              </a:rPr>
              <a:t>FACILITY &amp; GRADE STRUCTURE ASSESSMENT</a:t>
            </a:r>
            <a:endParaRPr b="1" sz="800">
              <a:solidFill>
                <a:srgbClr val="2563EB"/>
              </a:solidFill>
              <a:latin typeface="Inter"/>
              <a:ea typeface="Inter"/>
              <a:cs typeface="Inter"/>
              <a:sym typeface="Inter"/>
            </a:endParaRPr>
          </a:p>
          <a:p>
            <a:pPr indent="0" lvl="0" marL="0" rtl="0" algn="l">
              <a:spcBef>
                <a:spcPts val="300"/>
              </a:spcBef>
              <a:spcAft>
                <a:spcPts val="0"/>
              </a:spcAft>
              <a:buNone/>
            </a:pPr>
            <a:r>
              <a:rPr b="0" lang="en" sz="2000">
                <a:solidFill>
                  <a:srgbClr val="0F172A"/>
                </a:solidFill>
                <a:latin typeface="Inter ExtraBold"/>
                <a:ea typeface="Inter ExtraBold"/>
                <a:cs typeface="Inter ExtraBold"/>
                <a:sym typeface="Inter ExtraBold"/>
              </a:rPr>
              <a:t>Temporary Classrooms vs. Grade Relocation</a:t>
            </a:r>
            <a:endParaRPr b="0" sz="2000">
              <a:solidFill>
                <a:srgbClr val="0F172A"/>
              </a:solidFill>
              <a:latin typeface="Inter ExtraBold"/>
              <a:ea typeface="Inter ExtraBold"/>
              <a:cs typeface="Inter ExtraBold"/>
              <a:sym typeface="Inter ExtraBold"/>
            </a:endParaRPr>
          </a:p>
          <a:p>
            <a:pPr indent="0" lvl="0" marL="0" rtl="0" algn="l">
              <a:spcBef>
                <a:spcPts val="300"/>
              </a:spcBef>
              <a:spcAft>
                <a:spcPts val="0"/>
              </a:spcAft>
              <a:buNone/>
            </a:pPr>
            <a:r>
              <a:rPr b="0" lang="en" sz="950">
                <a:solidFill>
                  <a:srgbClr val="64748B"/>
                </a:solidFill>
                <a:latin typeface="Inter Medium"/>
                <a:ea typeface="Inter Medium"/>
                <a:cs typeface="Inter Medium"/>
                <a:sym typeface="Inter Medium"/>
              </a:rPr>
              <a:t>Evaluating site feasibility, modular costs, and educational benefits for 5th &amp; 6th graders</a:t>
            </a:r>
            <a:endParaRPr b="0" sz="950">
              <a:solidFill>
                <a:srgbClr val="64748B"/>
              </a:solidFill>
              <a:latin typeface="Inter Medium"/>
              <a:ea typeface="Inter Medium"/>
              <a:cs typeface="Inter Medium"/>
              <a:sym typeface="Inter Medium"/>
            </a:endParaRPr>
          </a:p>
        </p:txBody>
      </p:sp>
      <p:grpSp>
        <p:nvGrpSpPr>
          <p:cNvPr id="1002" name="Google Shape;1002;p56"/>
          <p:cNvGrpSpPr/>
          <p:nvPr/>
        </p:nvGrpSpPr>
        <p:grpSpPr>
          <a:xfrm>
            <a:off x="381000" y="1047750"/>
            <a:ext cx="4048200" cy="3810000"/>
            <a:chOff x="0" y="0"/>
            <a:chExt cx="4048200" cy="3810000"/>
          </a:xfrm>
        </p:grpSpPr>
        <p:sp>
          <p:nvSpPr>
            <p:cNvPr id="1003" name="Google Shape;1003;p56"/>
            <p:cNvSpPr/>
            <p:nvPr/>
          </p:nvSpPr>
          <p:spPr>
            <a:xfrm>
              <a:off x="0" y="0"/>
              <a:ext cx="4048200" cy="3810000"/>
            </a:xfrm>
            <a:prstGeom prst="roundRect">
              <a:avLst>
                <a:gd fmla="val 3000" name="adj"/>
              </a:avLst>
            </a:prstGeom>
            <a:solidFill>
              <a:srgbClr val="FFFFFF"/>
            </a:solidFill>
            <a:ln cap="flat" cmpd="sng" w="14300">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4" name="Google Shape;1004;p56"/>
            <p:cNvSpPr/>
            <p:nvPr/>
          </p:nvSpPr>
          <p:spPr>
            <a:xfrm>
              <a:off x="0" y="0"/>
              <a:ext cx="4048200" cy="57300"/>
            </a:xfrm>
            <a:prstGeom prst="roundRect">
              <a:avLst>
                <a:gd fmla="val 50000" name="adj"/>
              </a:avLst>
            </a:prstGeom>
            <a:solidFill>
              <a:srgbClr val="DC26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5" name="Google Shape;1005;p56"/>
            <p:cNvSpPr txBox="1"/>
            <p:nvPr/>
          </p:nvSpPr>
          <p:spPr>
            <a:xfrm>
              <a:off x="190500" y="171450"/>
              <a:ext cx="36672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991B1B"/>
                  </a:solidFill>
                  <a:latin typeface="Inter ExtraBold"/>
                  <a:ea typeface="Inter ExtraBold"/>
                  <a:cs typeface="Inter ExtraBold"/>
                  <a:sym typeface="Inter ExtraBold"/>
                </a:rPr>
                <a:t>Temporary Classroom Feasibility</a:t>
              </a:r>
              <a:endParaRPr b="0" sz="1200">
                <a:solidFill>
                  <a:srgbClr val="991B1B"/>
                </a:solidFill>
                <a:latin typeface="Inter ExtraBold"/>
                <a:ea typeface="Inter ExtraBold"/>
                <a:cs typeface="Inter ExtraBold"/>
                <a:sym typeface="Inter ExtraBold"/>
              </a:endParaRPr>
            </a:p>
            <a:p>
              <a:pPr indent="0" lvl="0" marL="0" rtl="0" algn="l">
                <a:spcBef>
                  <a:spcPts val="225"/>
                </a:spcBef>
                <a:spcAft>
                  <a:spcPts val="0"/>
                </a:spcAft>
                <a:buNone/>
              </a:pPr>
              <a:r>
                <a:rPr b="0" lang="en" sz="800">
                  <a:solidFill>
                    <a:srgbClr val="64748B"/>
                  </a:solidFill>
                  <a:latin typeface="Inter Medium"/>
                  <a:ea typeface="Inter Medium"/>
                  <a:cs typeface="Inter Medium"/>
                  <a:sym typeface="Inter Medium"/>
                </a:rPr>
                <a:t>High financial cost and physical site limitations complicate modular options.</a:t>
              </a:r>
              <a:endParaRPr b="0" sz="800">
                <a:solidFill>
                  <a:srgbClr val="64748B"/>
                </a:solidFill>
                <a:latin typeface="Inter Medium"/>
                <a:ea typeface="Inter Medium"/>
                <a:cs typeface="Inter Medium"/>
                <a:sym typeface="Inter Medium"/>
              </a:endParaRPr>
            </a:p>
          </p:txBody>
        </p:sp>
        <p:sp>
          <p:nvSpPr>
            <p:cNvPr id="1006" name="Google Shape;1006;p56"/>
            <p:cNvSpPr/>
            <p:nvPr/>
          </p:nvSpPr>
          <p:spPr>
            <a:xfrm>
              <a:off x="171450" y="666750"/>
              <a:ext cx="3705300" cy="1066800"/>
            </a:xfrm>
            <a:prstGeom prst="roundRect">
              <a:avLst>
                <a:gd fmla="val 7142"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7" name="Google Shape;1007;p56"/>
            <p:cNvSpPr txBox="1"/>
            <p:nvPr/>
          </p:nvSpPr>
          <p:spPr>
            <a:xfrm>
              <a:off x="285750" y="762000"/>
              <a:ext cx="3476700" cy="8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991B1B"/>
                  </a:solidFill>
                  <a:latin typeface="Inter ExtraBold"/>
                  <a:ea typeface="Inter ExtraBold"/>
                  <a:cs typeface="Inter ExtraBold"/>
                  <a:sym typeface="Inter ExtraBold"/>
                </a:rPr>
                <a:t>LIMITED SITE CAPACITY</a:t>
              </a:r>
              <a:endParaRPr b="0" sz="750">
                <a:solidFill>
                  <a:srgbClr val="991B1B"/>
                </a:solidFill>
                <a:latin typeface="Inter ExtraBold"/>
                <a:ea typeface="Inter ExtraBold"/>
                <a:cs typeface="Inter ExtraBold"/>
                <a:sym typeface="Inter ExtraBold"/>
              </a:endParaRPr>
            </a:p>
            <a:p>
              <a:pPr indent="0" lvl="0" marL="0" rtl="0" algn="l">
                <a:spcBef>
                  <a:spcPts val="150"/>
                </a:spcBef>
                <a:spcAft>
                  <a:spcPts val="0"/>
                </a:spcAft>
                <a:buNone/>
              </a:pPr>
              <a:r>
                <a:rPr b="0" lang="en" sz="800">
                  <a:solidFill>
                    <a:srgbClr val="7F1D1D"/>
                  </a:solidFill>
                  <a:latin typeface="Inter"/>
                  <a:ea typeface="Inter"/>
                  <a:cs typeface="Inter"/>
                  <a:sym typeface="Inter"/>
                </a:rPr>
                <a:t>All four schools have limitations of physical infrastructure &amp; land space:</a:t>
              </a:r>
              <a:endParaRPr b="0" sz="800">
                <a:solidFill>
                  <a:srgbClr val="7F1D1D"/>
                </a:solidFill>
                <a:latin typeface="Inter"/>
                <a:ea typeface="Inter"/>
                <a:cs typeface="Inter"/>
                <a:sym typeface="Inter"/>
              </a:endParaRPr>
            </a:p>
            <a:p>
              <a:pPr indent="0" lvl="0" marL="0" rtl="0" algn="l">
                <a:spcBef>
                  <a:spcPts val="450"/>
                </a:spcBef>
                <a:spcAft>
                  <a:spcPts val="0"/>
                </a:spcAft>
                <a:buNone/>
              </a:pPr>
              <a:r>
                <a:rPr b="0" lang="en" sz="1600">
                  <a:solidFill>
                    <a:srgbClr val="B91C1C"/>
                  </a:solidFill>
                  <a:latin typeface="Inter ExtraBold"/>
                  <a:ea typeface="Inter ExtraBold"/>
                  <a:cs typeface="Inter ExtraBold"/>
                  <a:sym typeface="Inter ExtraBold"/>
                </a:rPr>
                <a:t>~$600K–$700K </a:t>
              </a:r>
              <a:r>
                <a:rPr b="1" lang="en" sz="850">
                  <a:solidFill>
                    <a:srgbClr val="7F1D1D"/>
                  </a:solidFill>
                  <a:latin typeface="Inter"/>
                  <a:ea typeface="Inter"/>
                  <a:cs typeface="Inter"/>
                  <a:sym typeface="Inter"/>
                </a:rPr>
                <a:t>for two units / two locations</a:t>
              </a:r>
              <a:endParaRPr b="0" sz="1600">
                <a:solidFill>
                  <a:srgbClr val="B91C1C"/>
                </a:solidFill>
                <a:latin typeface="Inter ExtraBold"/>
                <a:ea typeface="Inter ExtraBold"/>
                <a:cs typeface="Inter ExtraBold"/>
                <a:sym typeface="Inter ExtraBold"/>
              </a:endParaRPr>
            </a:p>
            <a:p>
              <a:pPr indent="0" lvl="0" marL="0" rtl="0" algn="l">
                <a:spcBef>
                  <a:spcPts val="75"/>
                </a:spcBef>
                <a:spcAft>
                  <a:spcPts val="0"/>
                </a:spcAft>
                <a:buNone/>
              </a:pPr>
              <a:r>
                <a:rPr b="0" lang="en" sz="800">
                  <a:solidFill>
                    <a:srgbClr val="7F1D1D"/>
                  </a:solidFill>
                  <a:latin typeface="Inter SemiBold"/>
                  <a:ea typeface="Inter SemiBold"/>
                  <a:cs typeface="Inter SemiBold"/>
                  <a:sym typeface="Inter SemiBold"/>
                </a:rPr>
                <a:t>(2 classrooms per unit)</a:t>
              </a:r>
              <a:endParaRPr b="0" sz="800">
                <a:solidFill>
                  <a:srgbClr val="7F1D1D"/>
                </a:solidFill>
                <a:latin typeface="Inter SemiBold"/>
                <a:ea typeface="Inter SemiBold"/>
                <a:cs typeface="Inter SemiBold"/>
                <a:sym typeface="Inter SemiBold"/>
              </a:endParaRPr>
            </a:p>
          </p:txBody>
        </p:sp>
        <p:sp>
          <p:nvSpPr>
            <p:cNvPr id="1008" name="Google Shape;1008;p56"/>
            <p:cNvSpPr txBox="1"/>
            <p:nvPr/>
          </p:nvSpPr>
          <p:spPr>
            <a:xfrm>
              <a:off x="190500" y="1847850"/>
              <a:ext cx="36672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0F172A"/>
                  </a:solidFill>
                  <a:latin typeface="Inter"/>
                  <a:ea typeface="Inter"/>
                  <a:cs typeface="Inter"/>
                  <a:sym typeface="Inter"/>
                </a:rPr>
                <a:t>Key Constraints &amp; Costs:</a:t>
              </a:r>
              <a:endParaRPr b="1" sz="950">
                <a:solidFill>
                  <a:srgbClr val="0F172A"/>
                </a:solidFill>
                <a:latin typeface="Inter"/>
                <a:ea typeface="Inter"/>
                <a:cs typeface="Inter"/>
                <a:sym typeface="Inter"/>
              </a:endParaRPr>
            </a:p>
          </p:txBody>
        </p:sp>
        <p:sp>
          <p:nvSpPr>
            <p:cNvPr id="1009" name="Google Shape;1009;p56"/>
            <p:cNvSpPr/>
            <p:nvPr/>
          </p:nvSpPr>
          <p:spPr>
            <a:xfrm>
              <a:off x="171450" y="2114550"/>
              <a:ext cx="3705300" cy="705000"/>
            </a:xfrm>
            <a:prstGeom prst="roundRect">
              <a:avLst>
                <a:gd fmla="val 1081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0" name="Google Shape;1010;p56"/>
            <p:cNvSpPr txBox="1"/>
            <p:nvPr/>
          </p:nvSpPr>
          <p:spPr>
            <a:xfrm>
              <a:off x="285750" y="2190750"/>
              <a:ext cx="3476700" cy="55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0F172A"/>
                  </a:solidFill>
                  <a:latin typeface="Inter"/>
                  <a:ea typeface="Inter"/>
                  <a:cs typeface="Inter"/>
                  <a:sym typeface="Inter"/>
                </a:rPr>
                <a:t>Capital Outlay: </a:t>
              </a:r>
              <a:r>
                <a:rPr b="0" lang="en" sz="900">
                  <a:solidFill>
                    <a:srgbClr val="334155"/>
                  </a:solidFill>
                  <a:latin typeface="Inter"/>
                  <a:ea typeface="Inter"/>
                  <a:cs typeface="Inter"/>
                  <a:sym typeface="Inter"/>
                </a:rPr>
                <a:t>Substantial unbudgeted capital outlay for short-term modular leasing.</a:t>
              </a:r>
              <a:endParaRPr b="1" sz="900">
                <a:solidFill>
                  <a:srgbClr val="0F172A"/>
                </a:solidFill>
                <a:latin typeface="Inter"/>
                <a:ea typeface="Inter"/>
                <a:cs typeface="Inter"/>
                <a:sym typeface="Inter"/>
              </a:endParaRPr>
            </a:p>
          </p:txBody>
        </p:sp>
        <p:sp>
          <p:nvSpPr>
            <p:cNvPr id="1011" name="Google Shape;1011;p56"/>
            <p:cNvSpPr/>
            <p:nvPr/>
          </p:nvSpPr>
          <p:spPr>
            <a:xfrm>
              <a:off x="171450" y="2914650"/>
              <a:ext cx="3705300" cy="705000"/>
            </a:xfrm>
            <a:prstGeom prst="roundRect">
              <a:avLst>
                <a:gd fmla="val 1081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2" name="Google Shape;1012;p56"/>
            <p:cNvSpPr txBox="1"/>
            <p:nvPr/>
          </p:nvSpPr>
          <p:spPr>
            <a:xfrm>
              <a:off x="285750" y="2990850"/>
              <a:ext cx="3476700" cy="55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0F172A"/>
                  </a:solidFill>
                  <a:latin typeface="Inter"/>
                  <a:ea typeface="Inter"/>
                  <a:cs typeface="Inter"/>
                  <a:sym typeface="Inter"/>
                </a:rPr>
                <a:t>Complex Permitting: </a:t>
              </a:r>
              <a:r>
                <a:rPr b="0" lang="en" sz="900">
                  <a:solidFill>
                    <a:srgbClr val="334155"/>
                  </a:solidFill>
                  <a:latin typeface="Inter"/>
                  <a:ea typeface="Inter"/>
                  <a:cs typeface="Inter"/>
                  <a:sym typeface="Inter"/>
                </a:rPr>
                <a:t>Site preparation, electrical, plumbing, and wastewater permitting.</a:t>
              </a:r>
              <a:endParaRPr b="1" sz="900">
                <a:solidFill>
                  <a:srgbClr val="0F172A"/>
                </a:solidFill>
                <a:latin typeface="Inter"/>
                <a:ea typeface="Inter"/>
                <a:cs typeface="Inter"/>
                <a:sym typeface="Inter"/>
              </a:endParaRPr>
            </a:p>
          </p:txBody>
        </p:sp>
      </p:grpSp>
      <p:grpSp>
        <p:nvGrpSpPr>
          <p:cNvPr id="1013" name="Google Shape;1013;p56"/>
          <p:cNvGrpSpPr/>
          <p:nvPr/>
        </p:nvGrpSpPr>
        <p:grpSpPr>
          <a:xfrm>
            <a:off x="4714875" y="1047750"/>
            <a:ext cx="4048200" cy="3810000"/>
            <a:chOff x="0" y="0"/>
            <a:chExt cx="4048200" cy="3810000"/>
          </a:xfrm>
        </p:grpSpPr>
        <p:sp>
          <p:nvSpPr>
            <p:cNvPr id="1014" name="Google Shape;1014;p56"/>
            <p:cNvSpPr/>
            <p:nvPr/>
          </p:nvSpPr>
          <p:spPr>
            <a:xfrm>
              <a:off x="0" y="0"/>
              <a:ext cx="4048200" cy="3810000"/>
            </a:xfrm>
            <a:prstGeom prst="roundRect">
              <a:avLst>
                <a:gd fmla="val 3000" name="adj"/>
              </a:avLst>
            </a:prstGeom>
            <a:solidFill>
              <a:srgbClr val="FFFFFF"/>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5" name="Google Shape;1015;p56"/>
            <p:cNvSpPr/>
            <p:nvPr/>
          </p:nvSpPr>
          <p:spPr>
            <a:xfrm>
              <a:off x="0" y="0"/>
              <a:ext cx="40482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6" name="Google Shape;1016;p56"/>
            <p:cNvSpPr txBox="1"/>
            <p:nvPr/>
          </p:nvSpPr>
          <p:spPr>
            <a:xfrm>
              <a:off x="190500" y="171450"/>
              <a:ext cx="36672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1E40AF"/>
                  </a:solidFill>
                  <a:latin typeface="Inter ExtraBold"/>
                  <a:ea typeface="Inter ExtraBold"/>
                  <a:cs typeface="Inter ExtraBold"/>
                  <a:sym typeface="Inter ExtraBold"/>
                </a:rPr>
                <a:t>Rationale for Moving 5th &amp; 6th Graders</a:t>
              </a:r>
              <a:endParaRPr b="0" sz="1200">
                <a:solidFill>
                  <a:srgbClr val="1E40AF"/>
                </a:solidFill>
                <a:latin typeface="Inter ExtraBold"/>
                <a:ea typeface="Inter ExtraBold"/>
                <a:cs typeface="Inter ExtraBold"/>
                <a:sym typeface="Inter ExtraBold"/>
              </a:endParaRPr>
            </a:p>
            <a:p>
              <a:pPr indent="0" lvl="0" marL="0" rtl="0" algn="l">
                <a:spcBef>
                  <a:spcPts val="225"/>
                </a:spcBef>
                <a:spcAft>
                  <a:spcPts val="0"/>
                </a:spcAft>
                <a:buNone/>
              </a:pPr>
              <a:r>
                <a:rPr b="0" lang="en" sz="800">
                  <a:solidFill>
                    <a:srgbClr val="64748B"/>
                  </a:solidFill>
                  <a:latin typeface="Inter Medium"/>
                  <a:ea typeface="Inter Medium"/>
                  <a:cs typeface="Inter Medium"/>
                  <a:sym typeface="Inter Medium"/>
                </a:rPr>
                <a:t>Reallocating grade levels provides immediate structural and financial advantages.</a:t>
              </a:r>
              <a:endParaRPr b="0" sz="800">
                <a:solidFill>
                  <a:srgbClr val="64748B"/>
                </a:solidFill>
                <a:latin typeface="Inter Medium"/>
                <a:ea typeface="Inter Medium"/>
                <a:cs typeface="Inter Medium"/>
                <a:sym typeface="Inter Medium"/>
              </a:endParaRPr>
            </a:p>
          </p:txBody>
        </p:sp>
        <p:sp>
          <p:nvSpPr>
            <p:cNvPr id="1017" name="Google Shape;1017;p56"/>
            <p:cNvSpPr/>
            <p:nvPr/>
          </p:nvSpPr>
          <p:spPr>
            <a:xfrm>
              <a:off x="171450" y="666750"/>
              <a:ext cx="3705300" cy="914400"/>
            </a:xfrm>
            <a:prstGeom prst="roundRect">
              <a:avLst>
                <a:gd fmla="val 8333"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8" name="Google Shape;1018;p56"/>
            <p:cNvSpPr txBox="1"/>
            <p:nvPr/>
          </p:nvSpPr>
          <p:spPr>
            <a:xfrm>
              <a:off x="285750" y="742950"/>
              <a:ext cx="34767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1E40AF"/>
                  </a:solidFill>
                  <a:latin typeface="Inter"/>
                  <a:ea typeface="Inter"/>
                  <a:cs typeface="Inter"/>
                  <a:sym typeface="Inter"/>
                </a:rPr>
                <a:t>1. Educational &amp; Social Quality</a:t>
              </a:r>
              <a:endParaRPr b="1" sz="950">
                <a:solidFill>
                  <a:srgbClr val="1E40AF"/>
                </a:solidFill>
                <a:latin typeface="Inter"/>
                <a:ea typeface="Inter"/>
                <a:cs typeface="Inter"/>
                <a:sym typeface="Inter"/>
              </a:endParaRPr>
            </a:p>
            <a:p>
              <a:pPr indent="0" lvl="0" marL="0" rtl="0" algn="l">
                <a:spcBef>
                  <a:spcPts val="300"/>
                </a:spcBef>
                <a:spcAft>
                  <a:spcPts val="0"/>
                </a:spcAft>
                <a:buNone/>
              </a:pPr>
              <a:r>
                <a:rPr b="0" lang="en" sz="850">
                  <a:solidFill>
                    <a:srgbClr val="1E3A8A"/>
                  </a:solidFill>
                  <a:latin typeface="Inter"/>
                  <a:ea typeface="Inter"/>
                  <a:cs typeface="Inter"/>
                  <a:sym typeface="Inter"/>
                </a:rPr>
                <a:t>Consolidates middle-grade peers into dedicated learning environments with better access to specialized instruction. Quality and alignment of grades.</a:t>
              </a:r>
              <a:endParaRPr b="0" sz="850">
                <a:solidFill>
                  <a:srgbClr val="1E3A8A"/>
                </a:solidFill>
                <a:latin typeface="Inter"/>
                <a:ea typeface="Inter"/>
                <a:cs typeface="Inter"/>
                <a:sym typeface="Inter"/>
              </a:endParaRPr>
            </a:p>
          </p:txBody>
        </p:sp>
        <p:sp>
          <p:nvSpPr>
            <p:cNvPr id="1019" name="Google Shape;1019;p56"/>
            <p:cNvSpPr/>
            <p:nvPr/>
          </p:nvSpPr>
          <p:spPr>
            <a:xfrm>
              <a:off x="171450" y="1676400"/>
              <a:ext cx="3705300" cy="914400"/>
            </a:xfrm>
            <a:prstGeom prst="roundRect">
              <a:avLst>
                <a:gd fmla="val 8333"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0" name="Google Shape;1020;p56"/>
            <p:cNvSpPr txBox="1"/>
            <p:nvPr/>
          </p:nvSpPr>
          <p:spPr>
            <a:xfrm>
              <a:off x="285750" y="1752600"/>
              <a:ext cx="34767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1E40AF"/>
                  </a:solidFill>
                  <a:latin typeface="Inter"/>
                  <a:ea typeface="Inter"/>
                  <a:cs typeface="Inter"/>
                  <a:sym typeface="Inter"/>
                </a:rPr>
                <a:t>2. Financial Stewardship</a:t>
              </a:r>
              <a:endParaRPr b="1" sz="950">
                <a:solidFill>
                  <a:srgbClr val="1E40AF"/>
                </a:solidFill>
                <a:latin typeface="Inter"/>
                <a:ea typeface="Inter"/>
                <a:cs typeface="Inter"/>
                <a:sym typeface="Inter"/>
              </a:endParaRPr>
            </a:p>
            <a:p>
              <a:pPr indent="0" lvl="0" marL="0" rtl="0" algn="l">
                <a:spcBef>
                  <a:spcPts val="300"/>
                </a:spcBef>
                <a:spcAft>
                  <a:spcPts val="0"/>
                </a:spcAft>
                <a:buNone/>
              </a:pPr>
              <a:r>
                <a:rPr b="0" lang="en" sz="850">
                  <a:solidFill>
                    <a:srgbClr val="1E3A8A"/>
                  </a:solidFill>
                  <a:latin typeface="Inter"/>
                  <a:ea typeface="Inter"/>
                  <a:cs typeface="Inter"/>
                  <a:sym typeface="Inter"/>
                </a:rPr>
                <a:t>Avoids significant temporary construction expenditures, preserving taxpayers' capital for long-term investments.</a:t>
              </a:r>
              <a:endParaRPr b="0" sz="850">
                <a:solidFill>
                  <a:srgbClr val="1E3A8A"/>
                </a:solidFill>
                <a:latin typeface="Inter"/>
                <a:ea typeface="Inter"/>
                <a:cs typeface="Inter"/>
                <a:sym typeface="Inter"/>
              </a:endParaRPr>
            </a:p>
          </p:txBody>
        </p:sp>
        <p:sp>
          <p:nvSpPr>
            <p:cNvPr id="1021" name="Google Shape;1021;p56"/>
            <p:cNvSpPr/>
            <p:nvPr/>
          </p:nvSpPr>
          <p:spPr>
            <a:xfrm>
              <a:off x="171450" y="2686050"/>
              <a:ext cx="3705300" cy="971700"/>
            </a:xfrm>
            <a:prstGeom prst="roundRect">
              <a:avLst>
                <a:gd fmla="val 7843"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2" name="Google Shape;1022;p56"/>
            <p:cNvSpPr txBox="1"/>
            <p:nvPr/>
          </p:nvSpPr>
          <p:spPr>
            <a:xfrm>
              <a:off x="285750" y="2743200"/>
              <a:ext cx="34767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1E40AF"/>
                  </a:solidFill>
                  <a:latin typeface="Inter"/>
                  <a:ea typeface="Inter"/>
                  <a:cs typeface="Inter"/>
                  <a:sym typeface="Inter"/>
                </a:rPr>
                <a:t>3. Operational Stability</a:t>
              </a:r>
              <a:endParaRPr b="1" sz="950">
                <a:solidFill>
                  <a:srgbClr val="1E40AF"/>
                </a:solidFill>
                <a:latin typeface="Inter"/>
                <a:ea typeface="Inter"/>
                <a:cs typeface="Inter"/>
                <a:sym typeface="Inter"/>
              </a:endParaRPr>
            </a:p>
            <a:p>
              <a:pPr indent="0" lvl="0" marL="0" rtl="0" algn="l">
                <a:spcBef>
                  <a:spcPts val="300"/>
                </a:spcBef>
                <a:spcAft>
                  <a:spcPts val="0"/>
                </a:spcAft>
                <a:buNone/>
              </a:pPr>
              <a:r>
                <a:rPr b="0" lang="en" sz="850">
                  <a:solidFill>
                    <a:srgbClr val="1E3A8A"/>
                  </a:solidFill>
                  <a:latin typeface="Inter"/>
                  <a:ea typeface="Inter"/>
                  <a:cs typeface="Inter"/>
                  <a:sym typeface="Inter"/>
                </a:rPr>
                <a:t>Solves district-wide capacity imbalances without multi-year construction disruptions, avoids capital outlay of a construction bond, or ongoing lease overhead for temporary classrooms.</a:t>
              </a:r>
              <a:endParaRPr b="0" sz="850">
                <a:solidFill>
                  <a:srgbClr val="1E3A8A"/>
                </a:solidFill>
                <a:latin typeface="Inter"/>
                <a:ea typeface="Inter"/>
                <a:cs typeface="Inter"/>
                <a:sym typeface="Inte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26" name="Shape 1026"/>
        <p:cNvGrpSpPr/>
        <p:nvPr/>
      </p:nvGrpSpPr>
      <p:grpSpPr>
        <a:xfrm>
          <a:off x="0" y="0"/>
          <a:ext cx="0" cy="0"/>
          <a:chOff x="0" y="0"/>
          <a:chExt cx="0" cy="0"/>
        </a:xfrm>
      </p:grpSpPr>
      <p:sp>
        <p:nvSpPr>
          <p:cNvPr id="1027" name="Google Shape;1027;p57"/>
          <p:cNvSpPr/>
          <p:nvPr/>
        </p:nvSpPr>
        <p:spPr>
          <a:xfrm>
            <a:off x="0" y="0"/>
            <a:ext cx="9144000" cy="781200"/>
          </a:xfrm>
          <a:prstGeom prst="rect">
            <a:avLst/>
          </a:prstGeom>
          <a:solidFill>
            <a:srgbClr val="1F3E5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8" name="Google Shape;1028;p57"/>
          <p:cNvSpPr txBox="1"/>
          <p:nvPr/>
        </p:nvSpPr>
        <p:spPr>
          <a:xfrm>
            <a:off x="381000" y="95250"/>
            <a:ext cx="8382000" cy="609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E0EEF5"/>
                </a:solidFill>
                <a:latin typeface="Arial"/>
                <a:ea typeface="Arial"/>
                <a:cs typeface="Arial"/>
                <a:sym typeface="Arial"/>
              </a:rPr>
              <a:t>FACILITY &amp; CAPACITY CONSTRAINTS</a:t>
            </a:r>
            <a:endParaRPr b="1" sz="800">
              <a:solidFill>
                <a:srgbClr val="E0EEF5"/>
              </a:solidFill>
              <a:latin typeface="Arial"/>
              <a:ea typeface="Arial"/>
              <a:cs typeface="Arial"/>
              <a:sym typeface="Arial"/>
            </a:endParaRPr>
          </a:p>
          <a:p>
            <a:pPr indent="0" lvl="0" marL="0" rtl="0" algn="l">
              <a:spcBef>
                <a:spcPts val="150"/>
              </a:spcBef>
              <a:spcAft>
                <a:spcPts val="0"/>
              </a:spcAft>
              <a:buNone/>
            </a:pPr>
            <a:r>
              <a:rPr b="1" lang="en" sz="1600">
                <a:solidFill>
                  <a:srgbClr val="FFFFFF"/>
                </a:solidFill>
                <a:latin typeface="Arial"/>
                <a:ea typeface="Arial"/>
                <a:cs typeface="Arial"/>
                <a:sym typeface="Arial"/>
              </a:rPr>
              <a:t>Impact of </a:t>
            </a:r>
            <a:r>
              <a:rPr b="1" lang="en" sz="1600" u="sng">
                <a:solidFill>
                  <a:srgbClr val="FFFFFF"/>
                </a:solidFill>
                <a:latin typeface="Arial"/>
                <a:ea typeface="Arial"/>
                <a:cs typeface="Arial"/>
                <a:sym typeface="Arial"/>
              </a:rPr>
              <a:t>n</a:t>
            </a:r>
            <a:r>
              <a:rPr b="1" lang="en" sz="1600" u="sng">
                <a:solidFill>
                  <a:srgbClr val="FFFFFF"/>
                </a:solidFill>
                <a:latin typeface="Arial"/>
                <a:ea typeface="Arial"/>
                <a:cs typeface="Arial"/>
                <a:sym typeface="Arial"/>
              </a:rPr>
              <a:t>ot moving</a:t>
            </a:r>
            <a:r>
              <a:rPr b="1" lang="en" sz="1600">
                <a:solidFill>
                  <a:srgbClr val="FFFFFF"/>
                </a:solidFill>
                <a:latin typeface="Arial"/>
                <a:ea typeface="Arial"/>
                <a:cs typeface="Arial"/>
                <a:sym typeface="Arial"/>
              </a:rPr>
              <a:t> valley 5th &amp; 6th graders </a:t>
            </a:r>
            <a:endParaRPr b="1" sz="1600">
              <a:solidFill>
                <a:srgbClr val="FFFFFF"/>
              </a:solidFill>
              <a:latin typeface="Arial"/>
              <a:ea typeface="Arial"/>
              <a:cs typeface="Arial"/>
              <a:sym typeface="Arial"/>
            </a:endParaRPr>
          </a:p>
        </p:txBody>
      </p:sp>
      <p:grpSp>
        <p:nvGrpSpPr>
          <p:cNvPr id="1029" name="Google Shape;1029;p57"/>
          <p:cNvGrpSpPr/>
          <p:nvPr/>
        </p:nvGrpSpPr>
        <p:grpSpPr>
          <a:xfrm>
            <a:off x="381000" y="876300"/>
            <a:ext cx="8382000" cy="324000"/>
            <a:chOff x="0" y="0"/>
            <a:chExt cx="8382000" cy="324000"/>
          </a:xfrm>
        </p:grpSpPr>
        <p:sp>
          <p:nvSpPr>
            <p:cNvPr id="1030" name="Google Shape;1030;p57"/>
            <p:cNvSpPr/>
            <p:nvPr/>
          </p:nvSpPr>
          <p:spPr>
            <a:xfrm>
              <a:off x="0" y="0"/>
              <a:ext cx="8382000" cy="324000"/>
            </a:xfrm>
            <a:prstGeom prst="roundRect">
              <a:avLst>
                <a:gd fmla="val 17647" name="adj"/>
              </a:avLst>
            </a:prstGeom>
            <a:solidFill>
              <a:srgbClr val="EDF5F8"/>
            </a:solidFill>
            <a:ln cap="flat" cmpd="sng" w="9525">
              <a:solidFill>
                <a:srgbClr val="CFE0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1" name="Google Shape;1031;p57"/>
            <p:cNvSpPr txBox="1"/>
            <p:nvPr/>
          </p:nvSpPr>
          <p:spPr>
            <a:xfrm>
              <a:off x="133350" y="0"/>
              <a:ext cx="8115300" cy="3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00">
                  <a:solidFill>
                    <a:srgbClr val="1F3E5B"/>
                  </a:solidFill>
                  <a:latin typeface="Arial"/>
                  <a:ea typeface="Arial"/>
                  <a:cs typeface="Arial"/>
                  <a:sym typeface="Arial"/>
                </a:rPr>
                <a:t>Comparative evaluation of student enrollment distributions and facility capacity limits across schools.</a:t>
              </a:r>
              <a:r>
                <a:rPr lang="en" sz="900">
                  <a:solidFill>
                    <a:srgbClr val="1F3E5B"/>
                  </a:solidFill>
                </a:rPr>
                <a:t> Based on home location to nearest school. </a:t>
              </a:r>
              <a:endParaRPr sz="900">
                <a:solidFill>
                  <a:srgbClr val="1F3E5B"/>
                </a:solidFill>
                <a:latin typeface="Arial"/>
                <a:ea typeface="Arial"/>
                <a:cs typeface="Arial"/>
                <a:sym typeface="Arial"/>
              </a:endParaRPr>
            </a:p>
          </p:txBody>
        </p:sp>
      </p:grpSp>
      <p:sp>
        <p:nvSpPr>
          <p:cNvPr id="1032" name="Google Shape;1032;p57"/>
          <p:cNvSpPr/>
          <p:nvPr/>
        </p:nvSpPr>
        <p:spPr>
          <a:xfrm>
            <a:off x="381000" y="1295400"/>
            <a:ext cx="4048200" cy="2971800"/>
          </a:xfrm>
          <a:prstGeom prst="roundRect">
            <a:avLst>
              <a:gd fmla="val 25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33" name="Google Shape;1033;p57"/>
          <p:cNvGrpSpPr/>
          <p:nvPr/>
        </p:nvGrpSpPr>
        <p:grpSpPr>
          <a:xfrm>
            <a:off x="381000" y="1295400"/>
            <a:ext cx="4048200" cy="304800"/>
            <a:chOff x="0" y="0"/>
            <a:chExt cx="4048200" cy="304800"/>
          </a:xfrm>
        </p:grpSpPr>
        <p:sp>
          <p:nvSpPr>
            <p:cNvPr id="1034" name="Google Shape;1034;p57"/>
            <p:cNvSpPr/>
            <p:nvPr/>
          </p:nvSpPr>
          <p:spPr>
            <a:xfrm>
              <a:off x="0" y="0"/>
              <a:ext cx="4048200" cy="304800"/>
            </a:xfrm>
            <a:prstGeom prst="roundRect">
              <a:avLst>
                <a:gd fmla="val 25000" name="adj"/>
              </a:avLst>
            </a:prstGeom>
            <a:solidFill>
              <a:srgbClr val="F1F7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5" name="Google Shape;1035;p57"/>
            <p:cNvSpPr txBox="1"/>
            <p:nvPr/>
          </p:nvSpPr>
          <p:spPr>
            <a:xfrm>
              <a:off x="152400" y="0"/>
              <a:ext cx="3743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1F3E5B"/>
                  </a:solidFill>
                  <a:latin typeface="Arial"/>
                  <a:ea typeface="Arial"/>
                  <a:cs typeface="Arial"/>
                  <a:sym typeface="Arial"/>
                </a:rPr>
                <a:t>WAITSFIELD WOULD EXCEED WASTEWATER </a:t>
              </a:r>
              <a:r>
                <a:rPr b="1" lang="en" sz="900">
                  <a:solidFill>
                    <a:srgbClr val="1F3E5B"/>
                  </a:solidFill>
                  <a:latin typeface="Arial"/>
                  <a:ea typeface="Arial"/>
                  <a:cs typeface="Arial"/>
                  <a:sym typeface="Arial"/>
                </a:rPr>
                <a:t>CAPACITY</a:t>
              </a:r>
              <a:r>
                <a:rPr b="1" lang="en" sz="900">
                  <a:solidFill>
                    <a:srgbClr val="1F3E5B"/>
                  </a:solidFill>
                  <a:latin typeface="Arial"/>
                  <a:ea typeface="Arial"/>
                  <a:cs typeface="Arial"/>
                  <a:sym typeface="Arial"/>
                </a:rPr>
                <a:t> </a:t>
              </a:r>
              <a:endParaRPr b="1" sz="900">
                <a:solidFill>
                  <a:srgbClr val="1F3E5B"/>
                </a:solidFill>
                <a:latin typeface="Arial"/>
                <a:ea typeface="Arial"/>
                <a:cs typeface="Arial"/>
                <a:sym typeface="Arial"/>
              </a:endParaRPr>
            </a:p>
          </p:txBody>
        </p:sp>
      </p:grpSp>
      <p:sp>
        <p:nvSpPr>
          <p:cNvPr id="1036" name="Google Shape;1036;p57"/>
          <p:cNvSpPr/>
          <p:nvPr/>
        </p:nvSpPr>
        <p:spPr>
          <a:xfrm>
            <a:off x="4714875" y="1326250"/>
            <a:ext cx="4048200" cy="2971800"/>
          </a:xfrm>
          <a:prstGeom prst="roundRect">
            <a:avLst>
              <a:gd fmla="val 25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37" name="Google Shape;1037;p57"/>
          <p:cNvGrpSpPr/>
          <p:nvPr/>
        </p:nvGrpSpPr>
        <p:grpSpPr>
          <a:xfrm>
            <a:off x="4714875" y="1295400"/>
            <a:ext cx="4048200" cy="304800"/>
            <a:chOff x="0" y="0"/>
            <a:chExt cx="4048200" cy="304800"/>
          </a:xfrm>
        </p:grpSpPr>
        <p:sp>
          <p:nvSpPr>
            <p:cNvPr id="1038" name="Google Shape;1038;p57"/>
            <p:cNvSpPr/>
            <p:nvPr/>
          </p:nvSpPr>
          <p:spPr>
            <a:xfrm>
              <a:off x="0" y="0"/>
              <a:ext cx="4048200" cy="304800"/>
            </a:xfrm>
            <a:prstGeom prst="roundRect">
              <a:avLst>
                <a:gd fmla="val 25000" name="adj"/>
              </a:avLst>
            </a:prstGeom>
            <a:solidFill>
              <a:srgbClr val="F1F7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9" name="Google Shape;1039;p57"/>
            <p:cNvSpPr txBox="1"/>
            <p:nvPr/>
          </p:nvSpPr>
          <p:spPr>
            <a:xfrm>
              <a:off x="152400" y="0"/>
              <a:ext cx="3743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1F3E5B"/>
                  </a:solidFill>
                  <a:latin typeface="Arial"/>
                  <a:ea typeface="Arial"/>
                  <a:cs typeface="Arial"/>
                  <a:sym typeface="Arial"/>
                </a:rPr>
                <a:t>WARREN WOULD </a:t>
              </a:r>
              <a:r>
                <a:rPr b="1" lang="en" sz="900">
                  <a:solidFill>
                    <a:srgbClr val="1F3E5B"/>
                  </a:solidFill>
                  <a:latin typeface="Arial"/>
                  <a:ea typeface="Arial"/>
                  <a:cs typeface="Arial"/>
                  <a:sym typeface="Arial"/>
                </a:rPr>
                <a:t>EXCEED</a:t>
              </a:r>
              <a:r>
                <a:rPr b="1" lang="en" sz="900">
                  <a:solidFill>
                    <a:srgbClr val="1F3E5B"/>
                  </a:solidFill>
                  <a:latin typeface="Arial"/>
                  <a:ea typeface="Arial"/>
                  <a:cs typeface="Arial"/>
                  <a:sym typeface="Arial"/>
                </a:rPr>
                <a:t> WASTEWATER </a:t>
              </a:r>
              <a:r>
                <a:rPr b="1" lang="en" sz="900">
                  <a:solidFill>
                    <a:srgbClr val="1F3E5B"/>
                  </a:solidFill>
                  <a:latin typeface="Arial"/>
                  <a:ea typeface="Arial"/>
                  <a:cs typeface="Arial"/>
                  <a:sym typeface="Arial"/>
                </a:rPr>
                <a:t>CAPACITY</a:t>
              </a:r>
              <a:endParaRPr b="1" sz="900">
                <a:solidFill>
                  <a:srgbClr val="1F3E5B"/>
                </a:solidFill>
                <a:latin typeface="Arial"/>
                <a:ea typeface="Arial"/>
                <a:cs typeface="Arial"/>
                <a:sym typeface="Arial"/>
              </a:endParaRPr>
            </a:p>
          </p:txBody>
        </p:sp>
      </p:grpSp>
      <p:grpSp>
        <p:nvGrpSpPr>
          <p:cNvPr id="1040" name="Google Shape;1040;p57"/>
          <p:cNvGrpSpPr/>
          <p:nvPr/>
        </p:nvGrpSpPr>
        <p:grpSpPr>
          <a:xfrm>
            <a:off x="381000" y="4381500"/>
            <a:ext cx="8382000" cy="476400"/>
            <a:chOff x="0" y="0"/>
            <a:chExt cx="8382000" cy="476400"/>
          </a:xfrm>
        </p:grpSpPr>
        <p:sp>
          <p:nvSpPr>
            <p:cNvPr id="1041" name="Google Shape;1041;p57"/>
            <p:cNvSpPr/>
            <p:nvPr/>
          </p:nvSpPr>
          <p:spPr>
            <a:xfrm>
              <a:off x="0" y="0"/>
              <a:ext cx="8382000" cy="476400"/>
            </a:xfrm>
            <a:prstGeom prst="roundRect">
              <a:avLst>
                <a:gd fmla="val 16000" name="adj"/>
              </a:avLst>
            </a:prstGeom>
            <a:solidFill>
              <a:srgbClr val="FFF8EC"/>
            </a:solidFill>
            <a:ln cap="flat" cmpd="sng" w="9525">
              <a:solidFill>
                <a:srgbClr val="F3BE7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2" name="Google Shape;1042;p57"/>
            <p:cNvSpPr/>
            <p:nvPr/>
          </p:nvSpPr>
          <p:spPr>
            <a:xfrm>
              <a:off x="0" y="0"/>
              <a:ext cx="57300" cy="476400"/>
            </a:xfrm>
            <a:prstGeom prst="roundRect">
              <a:avLst>
                <a:gd fmla="val 50000" name="adj"/>
              </a:avLst>
            </a:prstGeom>
            <a:solidFill>
              <a:srgbClr val="EF7E1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3" name="Google Shape;1043;p57"/>
            <p:cNvSpPr txBox="1"/>
            <p:nvPr/>
          </p:nvSpPr>
          <p:spPr>
            <a:xfrm>
              <a:off x="171450" y="0"/>
              <a:ext cx="8096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EF7E19"/>
                  </a:solidFill>
                  <a:latin typeface="Arial"/>
                  <a:ea typeface="Arial"/>
                  <a:cs typeface="Arial"/>
                  <a:sym typeface="Arial"/>
                </a:rPr>
                <a:t>CRITICAL INFRASTRUCTURE FINDING</a:t>
              </a:r>
              <a:endParaRPr b="1" sz="800">
                <a:solidFill>
                  <a:srgbClr val="EF7E19"/>
                </a:solidFill>
                <a:latin typeface="Arial"/>
                <a:ea typeface="Arial"/>
                <a:cs typeface="Arial"/>
                <a:sym typeface="Arial"/>
              </a:endParaRPr>
            </a:p>
            <a:p>
              <a:pPr indent="0" lvl="0" marL="0" rtl="0" algn="l">
                <a:spcBef>
                  <a:spcPts val="150"/>
                </a:spcBef>
                <a:spcAft>
                  <a:spcPts val="0"/>
                </a:spcAft>
                <a:buNone/>
              </a:pPr>
              <a:r>
                <a:rPr lang="en" sz="1000">
                  <a:solidFill>
                    <a:srgbClr val="232D37"/>
                  </a:solidFill>
                  <a:latin typeface="Arial"/>
                  <a:ea typeface="Arial"/>
                  <a:cs typeface="Arial"/>
                  <a:sym typeface="Arial"/>
                </a:rPr>
                <a:t>Wastewater capacity constraints mandate grade realignment to ensure sustainable facility operations across all sites.</a:t>
              </a:r>
              <a:endParaRPr sz="1000">
                <a:solidFill>
                  <a:srgbClr val="232D37"/>
                </a:solidFill>
                <a:latin typeface="Arial"/>
                <a:ea typeface="Arial"/>
                <a:cs typeface="Arial"/>
                <a:sym typeface="Arial"/>
              </a:endParaRPr>
            </a:p>
          </p:txBody>
        </p:sp>
      </p:grpSp>
      <p:pic>
        <p:nvPicPr>
          <p:cNvPr id="1044" name="Google Shape;1044;p57"/>
          <p:cNvPicPr preferRelativeResize="0"/>
          <p:nvPr/>
        </p:nvPicPr>
        <p:blipFill>
          <a:blip r:embed="rId4">
            <a:alphaModFix/>
          </a:blip>
          <a:stretch>
            <a:fillRect/>
          </a:stretch>
        </p:blipFill>
        <p:spPr>
          <a:xfrm>
            <a:off x="4836100" y="1794675"/>
            <a:ext cx="3879125" cy="2392350"/>
          </a:xfrm>
          <a:prstGeom prst="rect">
            <a:avLst/>
          </a:prstGeom>
          <a:solidFill>
            <a:srgbClr val="FFFFFF"/>
          </a:solidFill>
          <a:ln cap="flat" cmpd="sng" w="9525">
            <a:solidFill>
              <a:srgbClr val="CBD5E1"/>
            </a:solidFill>
            <a:prstDash val="solid"/>
            <a:round/>
            <a:headEnd len="sm" w="sm" type="none"/>
            <a:tailEnd len="sm" w="sm" type="none"/>
          </a:ln>
        </p:spPr>
      </p:pic>
      <p:sp>
        <p:nvSpPr>
          <p:cNvPr id="1045" name="Google Shape;1045;p57"/>
          <p:cNvSpPr/>
          <p:nvPr/>
        </p:nvSpPr>
        <p:spPr>
          <a:xfrm>
            <a:off x="5576125" y="1695300"/>
            <a:ext cx="1084800" cy="4062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6" name="Google Shape;1046;p57"/>
          <p:cNvSpPr/>
          <p:nvPr/>
        </p:nvSpPr>
        <p:spPr>
          <a:xfrm rot="5395441">
            <a:off x="5671885" y="3864975"/>
            <a:ext cx="226200" cy="4881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047" name="Google Shape;1047;p57"/>
          <p:cNvPicPr preferRelativeResize="0"/>
          <p:nvPr/>
        </p:nvPicPr>
        <p:blipFill>
          <a:blip r:embed="rId5">
            <a:alphaModFix/>
          </a:blip>
          <a:stretch>
            <a:fillRect/>
          </a:stretch>
        </p:blipFill>
        <p:spPr>
          <a:xfrm>
            <a:off x="491911" y="1737525"/>
            <a:ext cx="3880764" cy="2392350"/>
          </a:xfrm>
          <a:prstGeom prst="rect">
            <a:avLst/>
          </a:prstGeom>
          <a:solidFill>
            <a:srgbClr val="FFFFFF"/>
          </a:solidFill>
          <a:ln cap="flat" cmpd="sng" w="9525">
            <a:solidFill>
              <a:srgbClr val="CBD5E1"/>
            </a:solidFill>
            <a:prstDash val="solid"/>
            <a:round/>
            <a:headEnd len="sm" w="sm" type="none"/>
            <a:tailEnd len="sm" w="sm" type="none"/>
          </a:ln>
        </p:spPr>
      </p:pic>
      <p:sp>
        <p:nvSpPr>
          <p:cNvPr id="1048" name="Google Shape;1048;p57"/>
          <p:cNvSpPr/>
          <p:nvPr/>
        </p:nvSpPr>
        <p:spPr>
          <a:xfrm>
            <a:off x="1224650" y="3912025"/>
            <a:ext cx="524100" cy="2751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9" name="Google Shape;1049;p57"/>
          <p:cNvSpPr/>
          <p:nvPr/>
        </p:nvSpPr>
        <p:spPr>
          <a:xfrm>
            <a:off x="1261925" y="1647350"/>
            <a:ext cx="1108500" cy="3837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0" name="Google Shape;1050;p57"/>
          <p:cNvSpPr/>
          <p:nvPr/>
        </p:nvSpPr>
        <p:spPr>
          <a:xfrm>
            <a:off x="1913200" y="4129875"/>
            <a:ext cx="657600" cy="205500"/>
          </a:xfrm>
          <a:prstGeom prst="wedgeRectCallout">
            <a:avLst>
              <a:gd fmla="val -73774" name="adj1"/>
              <a:gd fmla="val -47612" name="adj2"/>
            </a:avLst>
          </a:prstGeom>
          <a:solidFill>
            <a:srgbClr val="FFFFFF"/>
          </a:solidFill>
          <a:ln cap="flat" cmpd="sng" w="9525">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Exceeds</a:t>
            </a:r>
            <a:endParaRPr b="1" sz="900"/>
          </a:p>
        </p:txBody>
      </p:sp>
      <p:sp>
        <p:nvSpPr>
          <p:cNvPr id="1051" name="Google Shape;1051;p57"/>
          <p:cNvSpPr/>
          <p:nvPr/>
        </p:nvSpPr>
        <p:spPr>
          <a:xfrm>
            <a:off x="6176275" y="4187125"/>
            <a:ext cx="657600" cy="205500"/>
          </a:xfrm>
          <a:prstGeom prst="wedgeRectCallout">
            <a:avLst>
              <a:gd fmla="val -73774" name="adj1"/>
              <a:gd fmla="val -47612" name="adj2"/>
            </a:avLst>
          </a:prstGeom>
          <a:solidFill>
            <a:srgbClr val="FFFFFF"/>
          </a:solidFill>
          <a:ln cap="flat" cmpd="sng" w="9525">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Exceeds</a:t>
            </a:r>
            <a:endParaRPr b="1" sz="9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55" name="Shape 1055"/>
        <p:cNvGrpSpPr/>
        <p:nvPr/>
      </p:nvGrpSpPr>
      <p:grpSpPr>
        <a:xfrm>
          <a:off x="0" y="0"/>
          <a:ext cx="0" cy="0"/>
          <a:chOff x="0" y="0"/>
          <a:chExt cx="0" cy="0"/>
        </a:xfrm>
      </p:grpSpPr>
      <p:sp>
        <p:nvSpPr>
          <p:cNvPr id="1056" name="Google Shape;1056;p58"/>
          <p:cNvSpPr/>
          <p:nvPr/>
        </p:nvSpPr>
        <p:spPr>
          <a:xfrm>
            <a:off x="0" y="0"/>
            <a:ext cx="9144000" cy="781200"/>
          </a:xfrm>
          <a:prstGeom prst="rect">
            <a:avLst/>
          </a:prstGeom>
          <a:solidFill>
            <a:srgbClr val="1F3E5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7" name="Google Shape;1057;p58"/>
          <p:cNvSpPr txBox="1"/>
          <p:nvPr/>
        </p:nvSpPr>
        <p:spPr>
          <a:xfrm>
            <a:off x="381000" y="95250"/>
            <a:ext cx="8382000" cy="609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E0EEF5"/>
                </a:solidFill>
                <a:latin typeface="Arial"/>
                <a:ea typeface="Arial"/>
                <a:cs typeface="Arial"/>
                <a:sym typeface="Arial"/>
              </a:rPr>
              <a:t>FACILITY &amp; CAPACITY CONSTRAINTS</a:t>
            </a:r>
            <a:endParaRPr b="1" sz="800">
              <a:solidFill>
                <a:srgbClr val="E0EEF5"/>
              </a:solidFill>
              <a:latin typeface="Arial"/>
              <a:ea typeface="Arial"/>
              <a:cs typeface="Arial"/>
              <a:sym typeface="Arial"/>
            </a:endParaRPr>
          </a:p>
          <a:p>
            <a:pPr indent="0" lvl="0" marL="0" rtl="0" algn="l">
              <a:spcBef>
                <a:spcPts val="150"/>
              </a:spcBef>
              <a:spcAft>
                <a:spcPts val="0"/>
              </a:spcAft>
              <a:buClr>
                <a:schemeClr val="dk1"/>
              </a:buClr>
              <a:buSzPts val="1100"/>
              <a:buFont typeface="Arial"/>
              <a:buNone/>
            </a:pPr>
            <a:r>
              <a:rPr b="1" lang="en" sz="1600">
                <a:solidFill>
                  <a:schemeClr val="lt1"/>
                </a:solidFill>
                <a:latin typeface="Arial"/>
                <a:ea typeface="Arial"/>
                <a:cs typeface="Arial"/>
                <a:sym typeface="Arial"/>
              </a:rPr>
              <a:t>Impact of </a:t>
            </a:r>
            <a:r>
              <a:rPr b="1" lang="en" sz="1600" u="sng">
                <a:solidFill>
                  <a:schemeClr val="lt1"/>
                </a:solidFill>
                <a:latin typeface="Arial"/>
                <a:ea typeface="Arial"/>
                <a:cs typeface="Arial"/>
                <a:sym typeface="Arial"/>
              </a:rPr>
              <a:t>not moving</a:t>
            </a:r>
            <a:r>
              <a:rPr b="1" lang="en" sz="1600">
                <a:solidFill>
                  <a:schemeClr val="lt1"/>
                </a:solidFill>
                <a:latin typeface="Arial"/>
                <a:ea typeface="Arial"/>
                <a:cs typeface="Arial"/>
                <a:sym typeface="Arial"/>
              </a:rPr>
              <a:t> valley 5th &amp; 6th graders</a:t>
            </a:r>
            <a:endParaRPr b="1" sz="1600">
              <a:solidFill>
                <a:srgbClr val="FFFFFF"/>
              </a:solidFill>
              <a:latin typeface="Arial"/>
              <a:ea typeface="Arial"/>
              <a:cs typeface="Arial"/>
              <a:sym typeface="Arial"/>
            </a:endParaRPr>
          </a:p>
        </p:txBody>
      </p:sp>
      <p:grpSp>
        <p:nvGrpSpPr>
          <p:cNvPr id="1058" name="Google Shape;1058;p58"/>
          <p:cNvGrpSpPr/>
          <p:nvPr/>
        </p:nvGrpSpPr>
        <p:grpSpPr>
          <a:xfrm>
            <a:off x="381000" y="876300"/>
            <a:ext cx="8382000" cy="324000"/>
            <a:chOff x="0" y="0"/>
            <a:chExt cx="8382000" cy="324000"/>
          </a:xfrm>
        </p:grpSpPr>
        <p:sp>
          <p:nvSpPr>
            <p:cNvPr id="1059" name="Google Shape;1059;p58"/>
            <p:cNvSpPr/>
            <p:nvPr/>
          </p:nvSpPr>
          <p:spPr>
            <a:xfrm>
              <a:off x="0" y="0"/>
              <a:ext cx="8382000" cy="324000"/>
            </a:xfrm>
            <a:prstGeom prst="roundRect">
              <a:avLst>
                <a:gd fmla="val 17647" name="adj"/>
              </a:avLst>
            </a:prstGeom>
            <a:solidFill>
              <a:srgbClr val="EDF5F8"/>
            </a:solidFill>
            <a:ln cap="flat" cmpd="sng" w="9525">
              <a:solidFill>
                <a:srgbClr val="CFE0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0" name="Google Shape;1060;p58"/>
            <p:cNvSpPr txBox="1"/>
            <p:nvPr/>
          </p:nvSpPr>
          <p:spPr>
            <a:xfrm>
              <a:off x="133350" y="0"/>
              <a:ext cx="8115300" cy="3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00">
                  <a:solidFill>
                    <a:srgbClr val="1F3E5B"/>
                  </a:solidFill>
                  <a:latin typeface="Arial"/>
                  <a:ea typeface="Arial"/>
                  <a:cs typeface="Arial"/>
                  <a:sym typeface="Arial"/>
                </a:rPr>
                <a:t>Comparative evaluation of student enrollment distributions and facility capacity limits across schools. </a:t>
              </a:r>
              <a:r>
                <a:rPr lang="en" sz="900">
                  <a:solidFill>
                    <a:srgbClr val="1F3E5B"/>
                  </a:solidFill>
                </a:rPr>
                <a:t>Based on home location to nearest school. </a:t>
              </a:r>
              <a:endParaRPr sz="900">
                <a:solidFill>
                  <a:srgbClr val="1F3E5B"/>
                </a:solidFill>
              </a:endParaRPr>
            </a:p>
            <a:p>
              <a:pPr indent="0" lvl="0" marL="0" rtl="0" algn="l">
                <a:spcBef>
                  <a:spcPts val="0"/>
                </a:spcBef>
                <a:spcAft>
                  <a:spcPts val="0"/>
                </a:spcAft>
                <a:buNone/>
              </a:pPr>
              <a:r>
                <a:t/>
              </a:r>
              <a:endParaRPr sz="900">
                <a:solidFill>
                  <a:srgbClr val="1F3E5B"/>
                </a:solidFill>
              </a:endParaRPr>
            </a:p>
          </p:txBody>
        </p:sp>
      </p:grpSp>
      <p:sp>
        <p:nvSpPr>
          <p:cNvPr id="1061" name="Google Shape;1061;p58"/>
          <p:cNvSpPr/>
          <p:nvPr/>
        </p:nvSpPr>
        <p:spPr>
          <a:xfrm>
            <a:off x="381000" y="1295400"/>
            <a:ext cx="4048200" cy="2971800"/>
          </a:xfrm>
          <a:prstGeom prst="roundRect">
            <a:avLst>
              <a:gd fmla="val 25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62" name="Google Shape;1062;p58"/>
          <p:cNvGrpSpPr/>
          <p:nvPr/>
        </p:nvGrpSpPr>
        <p:grpSpPr>
          <a:xfrm>
            <a:off x="381000" y="1295388"/>
            <a:ext cx="4048200" cy="304800"/>
            <a:chOff x="0" y="0"/>
            <a:chExt cx="4048200" cy="304800"/>
          </a:xfrm>
        </p:grpSpPr>
        <p:sp>
          <p:nvSpPr>
            <p:cNvPr id="1063" name="Google Shape;1063;p58"/>
            <p:cNvSpPr/>
            <p:nvPr/>
          </p:nvSpPr>
          <p:spPr>
            <a:xfrm>
              <a:off x="0" y="0"/>
              <a:ext cx="4048200" cy="304800"/>
            </a:xfrm>
            <a:prstGeom prst="roundRect">
              <a:avLst>
                <a:gd fmla="val 25000" name="adj"/>
              </a:avLst>
            </a:prstGeom>
            <a:solidFill>
              <a:srgbClr val="F1F7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4" name="Google Shape;1064;p58"/>
            <p:cNvSpPr txBox="1"/>
            <p:nvPr/>
          </p:nvSpPr>
          <p:spPr>
            <a:xfrm>
              <a:off x="152400" y="0"/>
              <a:ext cx="3743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1F3E5B"/>
                  </a:solidFill>
                  <a:latin typeface="Arial"/>
                  <a:ea typeface="Arial"/>
                  <a:cs typeface="Arial"/>
                  <a:sym typeface="Arial"/>
                </a:rPr>
                <a:t>WAITSFIELD WOULD EXCEED WASTEWATER CAPACITY </a:t>
              </a:r>
              <a:endParaRPr b="1" sz="900">
                <a:solidFill>
                  <a:srgbClr val="1F3E5B"/>
                </a:solidFill>
                <a:latin typeface="Arial"/>
                <a:ea typeface="Arial"/>
                <a:cs typeface="Arial"/>
                <a:sym typeface="Arial"/>
              </a:endParaRPr>
            </a:p>
          </p:txBody>
        </p:sp>
      </p:grpSp>
      <p:sp>
        <p:nvSpPr>
          <p:cNvPr id="1065" name="Google Shape;1065;p58"/>
          <p:cNvSpPr/>
          <p:nvPr/>
        </p:nvSpPr>
        <p:spPr>
          <a:xfrm>
            <a:off x="4714875" y="1295400"/>
            <a:ext cx="4048200" cy="2971800"/>
          </a:xfrm>
          <a:prstGeom prst="roundRect">
            <a:avLst>
              <a:gd fmla="val 25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66" name="Google Shape;1066;p58"/>
          <p:cNvGrpSpPr/>
          <p:nvPr/>
        </p:nvGrpSpPr>
        <p:grpSpPr>
          <a:xfrm>
            <a:off x="4740800" y="1291888"/>
            <a:ext cx="4048200" cy="304800"/>
            <a:chOff x="0" y="0"/>
            <a:chExt cx="4048200" cy="304800"/>
          </a:xfrm>
        </p:grpSpPr>
        <p:sp>
          <p:nvSpPr>
            <p:cNvPr id="1067" name="Google Shape;1067;p58"/>
            <p:cNvSpPr/>
            <p:nvPr/>
          </p:nvSpPr>
          <p:spPr>
            <a:xfrm>
              <a:off x="0" y="0"/>
              <a:ext cx="4048200" cy="304800"/>
            </a:xfrm>
            <a:prstGeom prst="roundRect">
              <a:avLst>
                <a:gd fmla="val 25000" name="adj"/>
              </a:avLst>
            </a:prstGeom>
            <a:solidFill>
              <a:srgbClr val="F1F7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8" name="Google Shape;1068;p58"/>
            <p:cNvSpPr txBox="1"/>
            <p:nvPr/>
          </p:nvSpPr>
          <p:spPr>
            <a:xfrm>
              <a:off x="152400" y="0"/>
              <a:ext cx="3743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1F3E5B"/>
                  </a:solidFill>
                  <a:latin typeface="Arial"/>
                  <a:ea typeface="Arial"/>
                  <a:cs typeface="Arial"/>
                  <a:sym typeface="Arial"/>
                </a:rPr>
                <a:t>WAITSFIELD EXCEEDS </a:t>
              </a:r>
              <a:r>
                <a:rPr b="1" lang="en" sz="900">
                  <a:solidFill>
                    <a:srgbClr val="1F3E5B"/>
                  </a:solidFill>
                  <a:latin typeface="Arial"/>
                  <a:ea typeface="Arial"/>
                  <a:cs typeface="Arial"/>
                  <a:sym typeface="Arial"/>
                </a:rPr>
                <a:t>WASTEWATER</a:t>
              </a:r>
              <a:r>
                <a:rPr b="1" lang="en" sz="900">
                  <a:solidFill>
                    <a:srgbClr val="1F3E5B"/>
                  </a:solidFill>
                  <a:latin typeface="Arial"/>
                  <a:ea typeface="Arial"/>
                  <a:cs typeface="Arial"/>
                  <a:sym typeface="Arial"/>
                </a:rPr>
                <a:t> CAPACITY</a:t>
              </a:r>
              <a:endParaRPr b="1" sz="900">
                <a:solidFill>
                  <a:srgbClr val="1F3E5B"/>
                </a:solidFill>
                <a:latin typeface="Arial"/>
                <a:ea typeface="Arial"/>
                <a:cs typeface="Arial"/>
                <a:sym typeface="Arial"/>
              </a:endParaRPr>
            </a:p>
          </p:txBody>
        </p:sp>
      </p:grpSp>
      <p:grpSp>
        <p:nvGrpSpPr>
          <p:cNvPr id="1069" name="Google Shape;1069;p58"/>
          <p:cNvGrpSpPr/>
          <p:nvPr/>
        </p:nvGrpSpPr>
        <p:grpSpPr>
          <a:xfrm>
            <a:off x="381000" y="4381500"/>
            <a:ext cx="8382000" cy="476400"/>
            <a:chOff x="0" y="0"/>
            <a:chExt cx="8382000" cy="476400"/>
          </a:xfrm>
        </p:grpSpPr>
        <p:sp>
          <p:nvSpPr>
            <p:cNvPr id="1070" name="Google Shape;1070;p58"/>
            <p:cNvSpPr/>
            <p:nvPr/>
          </p:nvSpPr>
          <p:spPr>
            <a:xfrm>
              <a:off x="0" y="0"/>
              <a:ext cx="8382000" cy="476400"/>
            </a:xfrm>
            <a:prstGeom prst="roundRect">
              <a:avLst>
                <a:gd fmla="val 16000" name="adj"/>
              </a:avLst>
            </a:prstGeom>
            <a:solidFill>
              <a:srgbClr val="FFF8EC"/>
            </a:solidFill>
            <a:ln cap="flat" cmpd="sng" w="9525">
              <a:solidFill>
                <a:srgbClr val="F3BE7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1" name="Google Shape;1071;p58"/>
            <p:cNvSpPr/>
            <p:nvPr/>
          </p:nvSpPr>
          <p:spPr>
            <a:xfrm>
              <a:off x="0" y="0"/>
              <a:ext cx="57300" cy="476400"/>
            </a:xfrm>
            <a:prstGeom prst="roundRect">
              <a:avLst>
                <a:gd fmla="val 50000" name="adj"/>
              </a:avLst>
            </a:prstGeom>
            <a:solidFill>
              <a:srgbClr val="EF7E1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2" name="Google Shape;1072;p58"/>
            <p:cNvSpPr txBox="1"/>
            <p:nvPr/>
          </p:nvSpPr>
          <p:spPr>
            <a:xfrm>
              <a:off x="171450" y="0"/>
              <a:ext cx="8096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EF7E19"/>
                  </a:solidFill>
                  <a:latin typeface="Arial"/>
                  <a:ea typeface="Arial"/>
                  <a:cs typeface="Arial"/>
                  <a:sym typeface="Arial"/>
                </a:rPr>
                <a:t>CRITICAL INFRASTRUCTURE FINDING</a:t>
              </a:r>
              <a:endParaRPr b="1" sz="800">
                <a:solidFill>
                  <a:srgbClr val="EF7E19"/>
                </a:solidFill>
                <a:latin typeface="Arial"/>
                <a:ea typeface="Arial"/>
                <a:cs typeface="Arial"/>
                <a:sym typeface="Arial"/>
              </a:endParaRPr>
            </a:p>
            <a:p>
              <a:pPr indent="0" lvl="0" marL="0" rtl="0" algn="l">
                <a:spcBef>
                  <a:spcPts val="150"/>
                </a:spcBef>
                <a:spcAft>
                  <a:spcPts val="0"/>
                </a:spcAft>
                <a:buNone/>
              </a:pPr>
              <a:r>
                <a:rPr lang="en" sz="1000">
                  <a:solidFill>
                    <a:srgbClr val="232D37"/>
                  </a:solidFill>
                  <a:latin typeface="Arial"/>
                  <a:ea typeface="Arial"/>
                  <a:cs typeface="Arial"/>
                  <a:sym typeface="Arial"/>
                </a:rPr>
                <a:t>Wastewater capacity constraints mandate grade realignment to ensure sustainable facility operations across all sites.</a:t>
              </a:r>
              <a:endParaRPr sz="1000">
                <a:solidFill>
                  <a:srgbClr val="232D37"/>
                </a:solidFill>
                <a:latin typeface="Arial"/>
                <a:ea typeface="Arial"/>
                <a:cs typeface="Arial"/>
                <a:sym typeface="Arial"/>
              </a:endParaRPr>
            </a:p>
          </p:txBody>
        </p:sp>
      </p:grpSp>
      <p:pic>
        <p:nvPicPr>
          <p:cNvPr id="1073" name="Google Shape;1073;p58"/>
          <p:cNvPicPr preferRelativeResize="0"/>
          <p:nvPr/>
        </p:nvPicPr>
        <p:blipFill>
          <a:blip r:embed="rId4">
            <a:alphaModFix/>
          </a:blip>
          <a:stretch>
            <a:fillRect/>
          </a:stretch>
        </p:blipFill>
        <p:spPr>
          <a:xfrm>
            <a:off x="453837" y="1694737"/>
            <a:ext cx="3902525" cy="2415850"/>
          </a:xfrm>
          <a:prstGeom prst="rect">
            <a:avLst/>
          </a:prstGeom>
          <a:solidFill>
            <a:srgbClr val="FFFFFF"/>
          </a:solidFill>
          <a:ln cap="flat" cmpd="sng" w="9525">
            <a:solidFill>
              <a:srgbClr val="CBD5E1"/>
            </a:solidFill>
            <a:prstDash val="solid"/>
            <a:round/>
            <a:headEnd len="sm" w="sm" type="none"/>
            <a:tailEnd len="sm" w="sm" type="none"/>
          </a:ln>
        </p:spPr>
      </p:pic>
      <p:sp>
        <p:nvSpPr>
          <p:cNvPr id="1074" name="Google Shape;1074;p58"/>
          <p:cNvSpPr/>
          <p:nvPr/>
        </p:nvSpPr>
        <p:spPr>
          <a:xfrm>
            <a:off x="1193825" y="1600200"/>
            <a:ext cx="1063500" cy="3837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5" name="Google Shape;1075;p58"/>
          <p:cNvSpPr/>
          <p:nvPr/>
        </p:nvSpPr>
        <p:spPr>
          <a:xfrm>
            <a:off x="1136950" y="3882475"/>
            <a:ext cx="534600" cy="3048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076" name="Google Shape;1076;p58"/>
          <p:cNvPicPr preferRelativeResize="0"/>
          <p:nvPr/>
        </p:nvPicPr>
        <p:blipFill>
          <a:blip r:embed="rId5">
            <a:alphaModFix/>
          </a:blip>
          <a:stretch>
            <a:fillRect/>
          </a:stretch>
        </p:blipFill>
        <p:spPr>
          <a:xfrm>
            <a:off x="4870717" y="1806100"/>
            <a:ext cx="3736520" cy="2271875"/>
          </a:xfrm>
          <a:prstGeom prst="rect">
            <a:avLst/>
          </a:prstGeom>
          <a:solidFill>
            <a:srgbClr val="FFFFFF"/>
          </a:solidFill>
          <a:ln cap="flat" cmpd="sng" w="9525">
            <a:solidFill>
              <a:srgbClr val="CBD5E1"/>
            </a:solidFill>
            <a:prstDash val="solid"/>
            <a:round/>
            <a:headEnd len="sm" w="sm" type="none"/>
            <a:tailEnd len="sm" w="sm" type="none"/>
          </a:ln>
        </p:spPr>
      </p:pic>
      <p:sp>
        <p:nvSpPr>
          <p:cNvPr id="1077" name="Google Shape;1077;p58"/>
          <p:cNvSpPr/>
          <p:nvPr/>
        </p:nvSpPr>
        <p:spPr>
          <a:xfrm>
            <a:off x="5607675" y="1667025"/>
            <a:ext cx="1063500" cy="3837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8" name="Google Shape;1078;p58"/>
          <p:cNvSpPr/>
          <p:nvPr/>
        </p:nvSpPr>
        <p:spPr>
          <a:xfrm rot="5397049">
            <a:off x="5623075" y="3749425"/>
            <a:ext cx="349500" cy="5343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9" name="Google Shape;1079;p58"/>
          <p:cNvSpPr/>
          <p:nvPr/>
        </p:nvSpPr>
        <p:spPr>
          <a:xfrm>
            <a:off x="6147200" y="4077975"/>
            <a:ext cx="657600" cy="205500"/>
          </a:xfrm>
          <a:prstGeom prst="wedgeRectCallout">
            <a:avLst>
              <a:gd fmla="val -73774" name="adj1"/>
              <a:gd fmla="val -47612" name="adj2"/>
            </a:avLst>
          </a:prstGeom>
          <a:solidFill>
            <a:srgbClr val="FFFFFF"/>
          </a:solidFill>
          <a:ln cap="flat" cmpd="sng" w="9525">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Exceeds</a:t>
            </a:r>
            <a:endParaRPr b="1" sz="900"/>
          </a:p>
        </p:txBody>
      </p:sp>
      <p:sp>
        <p:nvSpPr>
          <p:cNvPr id="1080" name="Google Shape;1080;p58"/>
          <p:cNvSpPr/>
          <p:nvPr/>
        </p:nvSpPr>
        <p:spPr>
          <a:xfrm>
            <a:off x="1767575" y="4143288"/>
            <a:ext cx="657600" cy="205500"/>
          </a:xfrm>
          <a:prstGeom prst="wedgeRectCallout">
            <a:avLst>
              <a:gd fmla="val -73774" name="adj1"/>
              <a:gd fmla="val -47612" name="adj2"/>
            </a:avLst>
          </a:prstGeom>
          <a:solidFill>
            <a:srgbClr val="FFFFFF"/>
          </a:solidFill>
          <a:ln cap="flat" cmpd="sng" w="9525">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Exceeds</a:t>
            </a:r>
            <a:endParaRPr b="1" sz="9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4" name="Shape 1084"/>
        <p:cNvGrpSpPr/>
        <p:nvPr/>
      </p:nvGrpSpPr>
      <p:grpSpPr>
        <a:xfrm>
          <a:off x="0" y="0"/>
          <a:ext cx="0" cy="0"/>
          <a:chOff x="0" y="0"/>
          <a:chExt cx="0" cy="0"/>
        </a:xfrm>
      </p:grpSpPr>
      <p:sp>
        <p:nvSpPr>
          <p:cNvPr id="1085" name="Google Shape;1085;p59"/>
          <p:cNvSpPr/>
          <p:nvPr/>
        </p:nvSpPr>
        <p:spPr>
          <a:xfrm>
            <a:off x="0" y="0"/>
            <a:ext cx="9144000" cy="781200"/>
          </a:xfrm>
          <a:prstGeom prst="rect">
            <a:avLst/>
          </a:prstGeom>
          <a:solidFill>
            <a:srgbClr val="1F3E5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6" name="Google Shape;1086;p59"/>
          <p:cNvSpPr txBox="1"/>
          <p:nvPr/>
        </p:nvSpPr>
        <p:spPr>
          <a:xfrm>
            <a:off x="412125" y="85800"/>
            <a:ext cx="8382000" cy="609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E0EEF5"/>
                </a:solidFill>
                <a:latin typeface="Arial"/>
                <a:ea typeface="Arial"/>
                <a:cs typeface="Arial"/>
                <a:sym typeface="Arial"/>
              </a:rPr>
              <a:t>FACILITY &amp; CAPACITY CONSTRAINTS</a:t>
            </a:r>
            <a:endParaRPr b="1" sz="800">
              <a:solidFill>
                <a:srgbClr val="E0EEF5"/>
              </a:solidFill>
              <a:latin typeface="Arial"/>
              <a:ea typeface="Arial"/>
              <a:cs typeface="Arial"/>
              <a:sym typeface="Arial"/>
            </a:endParaRPr>
          </a:p>
          <a:p>
            <a:pPr indent="0" lvl="0" marL="0" rtl="0" algn="l">
              <a:spcBef>
                <a:spcPts val="150"/>
              </a:spcBef>
              <a:spcAft>
                <a:spcPts val="0"/>
              </a:spcAft>
              <a:buClr>
                <a:schemeClr val="dk1"/>
              </a:buClr>
              <a:buSzPts val="1100"/>
              <a:buFont typeface="Arial"/>
              <a:buNone/>
            </a:pPr>
            <a:r>
              <a:rPr b="1" lang="en" sz="1600">
                <a:solidFill>
                  <a:schemeClr val="lt1"/>
                </a:solidFill>
                <a:latin typeface="Arial"/>
                <a:ea typeface="Arial"/>
                <a:cs typeface="Arial"/>
                <a:sym typeface="Arial"/>
              </a:rPr>
              <a:t>Impact of </a:t>
            </a:r>
            <a:r>
              <a:rPr b="1" lang="en" sz="1600" u="sng">
                <a:solidFill>
                  <a:schemeClr val="lt1"/>
                </a:solidFill>
                <a:latin typeface="Arial"/>
                <a:ea typeface="Arial"/>
                <a:cs typeface="Arial"/>
                <a:sym typeface="Arial"/>
              </a:rPr>
              <a:t>not moving</a:t>
            </a:r>
            <a:r>
              <a:rPr b="1" lang="en" sz="1600">
                <a:solidFill>
                  <a:schemeClr val="lt1"/>
                </a:solidFill>
                <a:latin typeface="Arial"/>
                <a:ea typeface="Arial"/>
                <a:cs typeface="Arial"/>
                <a:sym typeface="Arial"/>
              </a:rPr>
              <a:t> valley 5th &amp; 6th graders</a:t>
            </a:r>
            <a:endParaRPr b="1" sz="1600">
              <a:solidFill>
                <a:srgbClr val="FFFFFF"/>
              </a:solidFill>
              <a:latin typeface="Arial"/>
              <a:ea typeface="Arial"/>
              <a:cs typeface="Arial"/>
              <a:sym typeface="Arial"/>
            </a:endParaRPr>
          </a:p>
        </p:txBody>
      </p:sp>
      <p:grpSp>
        <p:nvGrpSpPr>
          <p:cNvPr id="1087" name="Google Shape;1087;p59"/>
          <p:cNvGrpSpPr/>
          <p:nvPr/>
        </p:nvGrpSpPr>
        <p:grpSpPr>
          <a:xfrm>
            <a:off x="381000" y="876300"/>
            <a:ext cx="8382000" cy="324000"/>
            <a:chOff x="0" y="0"/>
            <a:chExt cx="8382000" cy="324000"/>
          </a:xfrm>
        </p:grpSpPr>
        <p:sp>
          <p:nvSpPr>
            <p:cNvPr id="1088" name="Google Shape;1088;p59"/>
            <p:cNvSpPr/>
            <p:nvPr/>
          </p:nvSpPr>
          <p:spPr>
            <a:xfrm>
              <a:off x="0" y="0"/>
              <a:ext cx="8382000" cy="324000"/>
            </a:xfrm>
            <a:prstGeom prst="roundRect">
              <a:avLst>
                <a:gd fmla="val 17647" name="adj"/>
              </a:avLst>
            </a:prstGeom>
            <a:solidFill>
              <a:srgbClr val="EDF5F8"/>
            </a:solidFill>
            <a:ln cap="flat" cmpd="sng" w="9525">
              <a:solidFill>
                <a:srgbClr val="CFE0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9" name="Google Shape;1089;p59"/>
            <p:cNvSpPr txBox="1"/>
            <p:nvPr/>
          </p:nvSpPr>
          <p:spPr>
            <a:xfrm>
              <a:off x="133350" y="0"/>
              <a:ext cx="8115300" cy="3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00">
                  <a:solidFill>
                    <a:srgbClr val="1F3E5B"/>
                  </a:solidFill>
                  <a:latin typeface="Arial"/>
                  <a:ea typeface="Arial"/>
                  <a:cs typeface="Arial"/>
                  <a:sym typeface="Arial"/>
                </a:rPr>
                <a:t>Comparative evaluation of student enrollment distributions and facility capacity limits across schools. </a:t>
              </a:r>
              <a:r>
                <a:rPr lang="en" sz="900">
                  <a:solidFill>
                    <a:srgbClr val="1F3E5B"/>
                  </a:solidFill>
                </a:rPr>
                <a:t>Based on home location to nearest school. </a:t>
              </a:r>
              <a:endParaRPr sz="900">
                <a:solidFill>
                  <a:srgbClr val="1F3E5B"/>
                </a:solidFill>
              </a:endParaRPr>
            </a:p>
            <a:p>
              <a:pPr indent="0" lvl="0" marL="0" rtl="0" algn="l">
                <a:spcBef>
                  <a:spcPts val="0"/>
                </a:spcBef>
                <a:spcAft>
                  <a:spcPts val="0"/>
                </a:spcAft>
                <a:buNone/>
              </a:pPr>
              <a:r>
                <a:t/>
              </a:r>
              <a:endParaRPr sz="900">
                <a:solidFill>
                  <a:srgbClr val="1F3E5B"/>
                </a:solidFill>
              </a:endParaRPr>
            </a:p>
          </p:txBody>
        </p:sp>
      </p:grpSp>
      <p:sp>
        <p:nvSpPr>
          <p:cNvPr id="1090" name="Google Shape;1090;p59"/>
          <p:cNvSpPr/>
          <p:nvPr/>
        </p:nvSpPr>
        <p:spPr>
          <a:xfrm>
            <a:off x="381000" y="1295400"/>
            <a:ext cx="4048200" cy="2971800"/>
          </a:xfrm>
          <a:prstGeom prst="roundRect">
            <a:avLst>
              <a:gd fmla="val 25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91" name="Google Shape;1091;p59"/>
          <p:cNvGrpSpPr/>
          <p:nvPr/>
        </p:nvGrpSpPr>
        <p:grpSpPr>
          <a:xfrm>
            <a:off x="412125" y="1281600"/>
            <a:ext cx="4048200" cy="318600"/>
            <a:chOff x="0" y="-13800"/>
            <a:chExt cx="4048200" cy="318600"/>
          </a:xfrm>
        </p:grpSpPr>
        <p:sp>
          <p:nvSpPr>
            <p:cNvPr id="1092" name="Google Shape;1092;p59"/>
            <p:cNvSpPr/>
            <p:nvPr/>
          </p:nvSpPr>
          <p:spPr>
            <a:xfrm>
              <a:off x="0" y="0"/>
              <a:ext cx="4048200" cy="304800"/>
            </a:xfrm>
            <a:prstGeom prst="roundRect">
              <a:avLst>
                <a:gd fmla="val 25000" name="adj"/>
              </a:avLst>
            </a:prstGeom>
            <a:solidFill>
              <a:srgbClr val="F1F7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3" name="Google Shape;1093;p59"/>
            <p:cNvSpPr txBox="1"/>
            <p:nvPr/>
          </p:nvSpPr>
          <p:spPr>
            <a:xfrm>
              <a:off x="121275" y="-13800"/>
              <a:ext cx="3743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900">
                  <a:solidFill>
                    <a:srgbClr val="1F3E5B"/>
                  </a:solidFill>
                  <a:latin typeface="Arial"/>
                  <a:ea typeface="Arial"/>
                  <a:cs typeface="Arial"/>
                  <a:sym typeface="Arial"/>
                </a:rPr>
                <a:t>BROOKSIDE</a:t>
              </a:r>
              <a:r>
                <a:rPr b="1" lang="en" sz="900">
                  <a:solidFill>
                    <a:srgbClr val="1F3E5B"/>
                  </a:solidFill>
                  <a:latin typeface="Arial"/>
                  <a:ea typeface="Arial"/>
                  <a:cs typeface="Arial"/>
                  <a:sym typeface="Arial"/>
                </a:rPr>
                <a:t> EXCEEDS WASTEWATER CAPACITY</a:t>
              </a:r>
              <a:endParaRPr b="1" sz="900">
                <a:solidFill>
                  <a:srgbClr val="1F3E5B"/>
                </a:solidFill>
                <a:latin typeface="Arial"/>
                <a:ea typeface="Arial"/>
                <a:cs typeface="Arial"/>
                <a:sym typeface="Arial"/>
              </a:endParaRPr>
            </a:p>
          </p:txBody>
        </p:sp>
      </p:grpSp>
      <p:sp>
        <p:nvSpPr>
          <p:cNvPr id="1094" name="Google Shape;1094;p59"/>
          <p:cNvSpPr/>
          <p:nvPr/>
        </p:nvSpPr>
        <p:spPr>
          <a:xfrm>
            <a:off x="4714875" y="1295400"/>
            <a:ext cx="4048200" cy="2971800"/>
          </a:xfrm>
          <a:prstGeom prst="roundRect">
            <a:avLst>
              <a:gd fmla="val 25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95" name="Google Shape;1095;p59"/>
          <p:cNvGrpSpPr/>
          <p:nvPr/>
        </p:nvGrpSpPr>
        <p:grpSpPr>
          <a:xfrm>
            <a:off x="4740800" y="1291888"/>
            <a:ext cx="4048200" cy="304800"/>
            <a:chOff x="0" y="0"/>
            <a:chExt cx="4048200" cy="304800"/>
          </a:xfrm>
        </p:grpSpPr>
        <p:sp>
          <p:nvSpPr>
            <p:cNvPr id="1096" name="Google Shape;1096;p59"/>
            <p:cNvSpPr/>
            <p:nvPr/>
          </p:nvSpPr>
          <p:spPr>
            <a:xfrm>
              <a:off x="0" y="0"/>
              <a:ext cx="4048200" cy="304800"/>
            </a:xfrm>
            <a:prstGeom prst="roundRect">
              <a:avLst>
                <a:gd fmla="val 25000" name="adj"/>
              </a:avLst>
            </a:prstGeom>
            <a:solidFill>
              <a:srgbClr val="F1F7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7" name="Google Shape;1097;p59"/>
            <p:cNvSpPr txBox="1"/>
            <p:nvPr/>
          </p:nvSpPr>
          <p:spPr>
            <a:xfrm>
              <a:off x="152400" y="0"/>
              <a:ext cx="3743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1F3E5B"/>
                  </a:solidFill>
                  <a:latin typeface="Arial"/>
                  <a:ea typeface="Arial"/>
                  <a:cs typeface="Arial"/>
                  <a:sym typeface="Arial"/>
                </a:rPr>
                <a:t>FAYSTON EXCEEDS </a:t>
              </a:r>
              <a:r>
                <a:rPr b="1" lang="en" sz="900">
                  <a:solidFill>
                    <a:srgbClr val="1F3E5B"/>
                  </a:solidFill>
                  <a:latin typeface="Arial"/>
                  <a:ea typeface="Arial"/>
                  <a:cs typeface="Arial"/>
                  <a:sym typeface="Arial"/>
                </a:rPr>
                <a:t>WASTEWATER</a:t>
              </a:r>
              <a:r>
                <a:rPr b="1" lang="en" sz="900">
                  <a:solidFill>
                    <a:srgbClr val="1F3E5B"/>
                  </a:solidFill>
                  <a:latin typeface="Arial"/>
                  <a:ea typeface="Arial"/>
                  <a:cs typeface="Arial"/>
                  <a:sym typeface="Arial"/>
                </a:rPr>
                <a:t> CAPACITY</a:t>
              </a:r>
              <a:endParaRPr b="1" sz="900">
                <a:solidFill>
                  <a:srgbClr val="1F3E5B"/>
                </a:solidFill>
                <a:latin typeface="Arial"/>
                <a:ea typeface="Arial"/>
                <a:cs typeface="Arial"/>
                <a:sym typeface="Arial"/>
              </a:endParaRPr>
            </a:p>
          </p:txBody>
        </p:sp>
      </p:grpSp>
      <p:grpSp>
        <p:nvGrpSpPr>
          <p:cNvPr id="1098" name="Google Shape;1098;p59"/>
          <p:cNvGrpSpPr/>
          <p:nvPr/>
        </p:nvGrpSpPr>
        <p:grpSpPr>
          <a:xfrm>
            <a:off x="381000" y="4383650"/>
            <a:ext cx="8382000" cy="476400"/>
            <a:chOff x="0" y="0"/>
            <a:chExt cx="8382000" cy="476400"/>
          </a:xfrm>
        </p:grpSpPr>
        <p:sp>
          <p:nvSpPr>
            <p:cNvPr id="1099" name="Google Shape;1099;p59"/>
            <p:cNvSpPr/>
            <p:nvPr/>
          </p:nvSpPr>
          <p:spPr>
            <a:xfrm>
              <a:off x="0" y="0"/>
              <a:ext cx="8382000" cy="476400"/>
            </a:xfrm>
            <a:prstGeom prst="roundRect">
              <a:avLst>
                <a:gd fmla="val 16000" name="adj"/>
              </a:avLst>
            </a:prstGeom>
            <a:solidFill>
              <a:srgbClr val="FFF8EC"/>
            </a:solidFill>
            <a:ln cap="flat" cmpd="sng" w="9525">
              <a:solidFill>
                <a:srgbClr val="F3BE7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0" name="Google Shape;1100;p59"/>
            <p:cNvSpPr/>
            <p:nvPr/>
          </p:nvSpPr>
          <p:spPr>
            <a:xfrm>
              <a:off x="0" y="0"/>
              <a:ext cx="57300" cy="476400"/>
            </a:xfrm>
            <a:prstGeom prst="roundRect">
              <a:avLst>
                <a:gd fmla="val 50000" name="adj"/>
              </a:avLst>
            </a:prstGeom>
            <a:solidFill>
              <a:srgbClr val="EF7E1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1" name="Google Shape;1101;p59"/>
            <p:cNvSpPr txBox="1"/>
            <p:nvPr/>
          </p:nvSpPr>
          <p:spPr>
            <a:xfrm>
              <a:off x="171450" y="0"/>
              <a:ext cx="8096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EF7E19"/>
                  </a:solidFill>
                  <a:latin typeface="Arial"/>
                  <a:ea typeface="Arial"/>
                  <a:cs typeface="Arial"/>
                  <a:sym typeface="Arial"/>
                </a:rPr>
                <a:t>CRITICAL INFRASTRUCTURE FINDING</a:t>
              </a:r>
              <a:endParaRPr b="1" sz="800">
                <a:solidFill>
                  <a:srgbClr val="EF7E19"/>
                </a:solidFill>
                <a:latin typeface="Arial"/>
                <a:ea typeface="Arial"/>
                <a:cs typeface="Arial"/>
                <a:sym typeface="Arial"/>
              </a:endParaRPr>
            </a:p>
            <a:p>
              <a:pPr indent="0" lvl="0" marL="0" rtl="0" algn="l">
                <a:spcBef>
                  <a:spcPts val="150"/>
                </a:spcBef>
                <a:spcAft>
                  <a:spcPts val="0"/>
                </a:spcAft>
                <a:buNone/>
              </a:pPr>
              <a:r>
                <a:rPr lang="en" sz="1000">
                  <a:solidFill>
                    <a:srgbClr val="232D37"/>
                  </a:solidFill>
                  <a:latin typeface="Arial"/>
                  <a:ea typeface="Arial"/>
                  <a:cs typeface="Arial"/>
                  <a:sym typeface="Arial"/>
                </a:rPr>
                <a:t>Wastewater capacity constraints mandate grade realignment to ensure sustainable facility operations across all sites.</a:t>
              </a:r>
              <a:endParaRPr sz="1000">
                <a:solidFill>
                  <a:srgbClr val="232D37"/>
                </a:solidFill>
                <a:latin typeface="Arial"/>
                <a:ea typeface="Arial"/>
                <a:cs typeface="Arial"/>
                <a:sym typeface="Arial"/>
              </a:endParaRPr>
            </a:p>
          </p:txBody>
        </p:sp>
      </p:grpSp>
      <p:pic>
        <p:nvPicPr>
          <p:cNvPr id="1102" name="Google Shape;1102;p59"/>
          <p:cNvPicPr preferRelativeResize="0"/>
          <p:nvPr/>
        </p:nvPicPr>
        <p:blipFill>
          <a:blip r:embed="rId4">
            <a:alphaModFix/>
          </a:blip>
          <a:stretch>
            <a:fillRect/>
          </a:stretch>
        </p:blipFill>
        <p:spPr>
          <a:xfrm>
            <a:off x="562650" y="1788563"/>
            <a:ext cx="3749192" cy="2316838"/>
          </a:xfrm>
          <a:prstGeom prst="rect">
            <a:avLst/>
          </a:prstGeom>
          <a:solidFill>
            <a:srgbClr val="FFFFFF"/>
          </a:solidFill>
          <a:ln cap="flat" cmpd="sng" w="9525">
            <a:solidFill>
              <a:srgbClr val="CBD5E1"/>
            </a:solidFill>
            <a:prstDash val="solid"/>
            <a:round/>
            <a:headEnd len="sm" w="sm" type="none"/>
            <a:tailEnd len="sm" w="sm" type="none"/>
          </a:ln>
        </p:spPr>
      </p:pic>
      <p:sp>
        <p:nvSpPr>
          <p:cNvPr id="1103" name="Google Shape;1103;p59"/>
          <p:cNvSpPr/>
          <p:nvPr/>
        </p:nvSpPr>
        <p:spPr>
          <a:xfrm>
            <a:off x="1325050" y="1681500"/>
            <a:ext cx="1112100" cy="3837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4" name="Google Shape;1104;p59"/>
          <p:cNvSpPr/>
          <p:nvPr/>
        </p:nvSpPr>
        <p:spPr>
          <a:xfrm rot="5396370">
            <a:off x="2645253" y="3795075"/>
            <a:ext cx="284100" cy="4980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05" name="Google Shape;1105;p59"/>
          <p:cNvPicPr preferRelativeResize="0"/>
          <p:nvPr/>
        </p:nvPicPr>
        <p:blipFill>
          <a:blip r:embed="rId5">
            <a:alphaModFix/>
          </a:blip>
          <a:stretch>
            <a:fillRect/>
          </a:stretch>
        </p:blipFill>
        <p:spPr>
          <a:xfrm>
            <a:off x="4842325" y="1769603"/>
            <a:ext cx="3749201" cy="2354759"/>
          </a:xfrm>
          <a:prstGeom prst="rect">
            <a:avLst/>
          </a:prstGeom>
          <a:solidFill>
            <a:srgbClr val="FFFFFF"/>
          </a:solidFill>
          <a:ln cap="flat" cmpd="sng" w="9525">
            <a:solidFill>
              <a:srgbClr val="CBD5E1"/>
            </a:solidFill>
            <a:prstDash val="solid"/>
            <a:round/>
            <a:headEnd len="sm" w="sm" type="none"/>
            <a:tailEnd len="sm" w="sm" type="none"/>
          </a:ln>
        </p:spPr>
      </p:pic>
      <p:sp>
        <p:nvSpPr>
          <p:cNvPr id="1106" name="Google Shape;1106;p59"/>
          <p:cNvSpPr/>
          <p:nvPr/>
        </p:nvSpPr>
        <p:spPr>
          <a:xfrm>
            <a:off x="5627300" y="1688300"/>
            <a:ext cx="978000" cy="3837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7" name="Google Shape;1107;p59"/>
          <p:cNvSpPr/>
          <p:nvPr/>
        </p:nvSpPr>
        <p:spPr>
          <a:xfrm rot="5396751">
            <a:off x="5631325" y="3701150"/>
            <a:ext cx="317400" cy="5910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8" name="Google Shape;1108;p59"/>
          <p:cNvSpPr/>
          <p:nvPr/>
        </p:nvSpPr>
        <p:spPr>
          <a:xfrm>
            <a:off x="6064975" y="4083275"/>
            <a:ext cx="657600" cy="205500"/>
          </a:xfrm>
          <a:prstGeom prst="wedgeRectCallout">
            <a:avLst>
              <a:gd fmla="val -73774" name="adj1"/>
              <a:gd fmla="val -47612" name="adj2"/>
            </a:avLst>
          </a:prstGeom>
          <a:solidFill>
            <a:srgbClr val="FFFFFF"/>
          </a:solidFill>
          <a:ln cap="flat" cmpd="sng" w="9525">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Exceeds</a:t>
            </a:r>
            <a:endParaRPr b="1" sz="900"/>
          </a:p>
        </p:txBody>
      </p:sp>
      <p:sp>
        <p:nvSpPr>
          <p:cNvPr id="1109" name="Google Shape;1109;p59"/>
          <p:cNvSpPr/>
          <p:nvPr/>
        </p:nvSpPr>
        <p:spPr>
          <a:xfrm>
            <a:off x="3467713" y="4124350"/>
            <a:ext cx="705300" cy="438600"/>
          </a:xfrm>
          <a:prstGeom prst="wedgeRectCallout">
            <a:avLst>
              <a:gd fmla="val -123970" name="adj1"/>
              <a:gd fmla="val -42966" name="adj2"/>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chemeClr val="dk1"/>
                </a:solidFill>
              </a:rPr>
              <a:t>Max Occupancy is 480 </a:t>
            </a:r>
            <a:endParaRPr b="1" sz="7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3" name="Shape 1113"/>
        <p:cNvGrpSpPr/>
        <p:nvPr/>
      </p:nvGrpSpPr>
      <p:grpSpPr>
        <a:xfrm>
          <a:off x="0" y="0"/>
          <a:ext cx="0" cy="0"/>
          <a:chOff x="0" y="0"/>
          <a:chExt cx="0" cy="0"/>
        </a:xfrm>
      </p:grpSpPr>
      <p:sp>
        <p:nvSpPr>
          <p:cNvPr id="1114" name="Google Shape;1114;p60"/>
          <p:cNvSpPr/>
          <p:nvPr/>
        </p:nvSpPr>
        <p:spPr>
          <a:xfrm>
            <a:off x="0" y="0"/>
            <a:ext cx="9144000" cy="781200"/>
          </a:xfrm>
          <a:prstGeom prst="rect">
            <a:avLst/>
          </a:prstGeom>
          <a:solidFill>
            <a:srgbClr val="1F3E5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5" name="Google Shape;1115;p60"/>
          <p:cNvSpPr txBox="1"/>
          <p:nvPr/>
        </p:nvSpPr>
        <p:spPr>
          <a:xfrm>
            <a:off x="381000" y="95250"/>
            <a:ext cx="8382000" cy="609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E0EEF5"/>
                </a:solidFill>
                <a:latin typeface="Arial"/>
                <a:ea typeface="Arial"/>
                <a:cs typeface="Arial"/>
                <a:sym typeface="Arial"/>
              </a:rPr>
              <a:t>FACILITY &amp; CAPACITY CONSTRAINTS</a:t>
            </a:r>
            <a:endParaRPr b="1" sz="800">
              <a:solidFill>
                <a:srgbClr val="E0EEF5"/>
              </a:solidFill>
              <a:latin typeface="Arial"/>
              <a:ea typeface="Arial"/>
              <a:cs typeface="Arial"/>
              <a:sym typeface="Arial"/>
            </a:endParaRPr>
          </a:p>
          <a:p>
            <a:pPr indent="0" lvl="0" marL="0" rtl="0" algn="l">
              <a:spcBef>
                <a:spcPts val="150"/>
              </a:spcBef>
              <a:spcAft>
                <a:spcPts val="0"/>
              </a:spcAft>
              <a:buNone/>
            </a:pPr>
            <a:r>
              <a:rPr b="1" lang="en" sz="1600">
                <a:solidFill>
                  <a:srgbClr val="FFFFFF"/>
                </a:solidFill>
                <a:latin typeface="Arial"/>
                <a:ea typeface="Arial"/>
                <a:cs typeface="Arial"/>
                <a:sym typeface="Arial"/>
              </a:rPr>
              <a:t>Impact of </a:t>
            </a:r>
            <a:r>
              <a:rPr b="1" lang="en" sz="1600">
                <a:solidFill>
                  <a:srgbClr val="FFFFFF"/>
                </a:solidFill>
                <a:latin typeface="Arial"/>
                <a:ea typeface="Arial"/>
                <a:cs typeface="Arial"/>
                <a:sym typeface="Arial"/>
              </a:rPr>
              <a:t>PK-4 grade</a:t>
            </a:r>
            <a:endParaRPr b="1" sz="1600">
              <a:solidFill>
                <a:srgbClr val="FFFFFF"/>
              </a:solidFill>
              <a:latin typeface="Arial"/>
              <a:ea typeface="Arial"/>
              <a:cs typeface="Arial"/>
              <a:sym typeface="Arial"/>
            </a:endParaRPr>
          </a:p>
        </p:txBody>
      </p:sp>
      <p:grpSp>
        <p:nvGrpSpPr>
          <p:cNvPr id="1116" name="Google Shape;1116;p60"/>
          <p:cNvGrpSpPr/>
          <p:nvPr/>
        </p:nvGrpSpPr>
        <p:grpSpPr>
          <a:xfrm>
            <a:off x="381000" y="876300"/>
            <a:ext cx="8382000" cy="324000"/>
            <a:chOff x="0" y="0"/>
            <a:chExt cx="8382000" cy="324000"/>
          </a:xfrm>
        </p:grpSpPr>
        <p:sp>
          <p:nvSpPr>
            <p:cNvPr id="1117" name="Google Shape;1117;p60"/>
            <p:cNvSpPr/>
            <p:nvPr/>
          </p:nvSpPr>
          <p:spPr>
            <a:xfrm>
              <a:off x="0" y="0"/>
              <a:ext cx="8382000" cy="324000"/>
            </a:xfrm>
            <a:prstGeom prst="roundRect">
              <a:avLst>
                <a:gd fmla="val 17647" name="adj"/>
              </a:avLst>
            </a:prstGeom>
            <a:solidFill>
              <a:srgbClr val="EDF5F8"/>
            </a:solidFill>
            <a:ln cap="flat" cmpd="sng" w="9525">
              <a:solidFill>
                <a:srgbClr val="CFE0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8" name="Google Shape;1118;p60"/>
            <p:cNvSpPr txBox="1"/>
            <p:nvPr/>
          </p:nvSpPr>
          <p:spPr>
            <a:xfrm>
              <a:off x="133350" y="0"/>
              <a:ext cx="8115300" cy="3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00">
                  <a:solidFill>
                    <a:srgbClr val="1F3E5B"/>
                  </a:solidFill>
                  <a:latin typeface="Arial"/>
                  <a:ea typeface="Arial"/>
                  <a:cs typeface="Arial"/>
                  <a:sym typeface="Arial"/>
                </a:rPr>
                <a:t>Comparative evaluation of student enrollment distributions and facility capacity limits across schools.</a:t>
              </a:r>
              <a:r>
                <a:rPr lang="en" sz="900">
                  <a:solidFill>
                    <a:srgbClr val="1F3E5B"/>
                  </a:solidFill>
                </a:rPr>
                <a:t> Based on home location to nearest school. </a:t>
              </a:r>
              <a:endParaRPr sz="900">
                <a:solidFill>
                  <a:srgbClr val="1F3E5B"/>
                </a:solidFill>
                <a:latin typeface="Arial"/>
                <a:ea typeface="Arial"/>
                <a:cs typeface="Arial"/>
                <a:sym typeface="Arial"/>
              </a:endParaRPr>
            </a:p>
          </p:txBody>
        </p:sp>
      </p:grpSp>
      <p:sp>
        <p:nvSpPr>
          <p:cNvPr id="1119" name="Google Shape;1119;p60"/>
          <p:cNvSpPr/>
          <p:nvPr/>
        </p:nvSpPr>
        <p:spPr>
          <a:xfrm>
            <a:off x="381000" y="1295400"/>
            <a:ext cx="4048200" cy="2971800"/>
          </a:xfrm>
          <a:prstGeom prst="roundRect">
            <a:avLst>
              <a:gd fmla="val 25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20" name="Google Shape;1120;p60"/>
          <p:cNvGrpSpPr/>
          <p:nvPr/>
        </p:nvGrpSpPr>
        <p:grpSpPr>
          <a:xfrm>
            <a:off x="381000" y="1295400"/>
            <a:ext cx="4048200" cy="304800"/>
            <a:chOff x="0" y="0"/>
            <a:chExt cx="4048200" cy="304800"/>
          </a:xfrm>
        </p:grpSpPr>
        <p:sp>
          <p:nvSpPr>
            <p:cNvPr id="1121" name="Google Shape;1121;p60"/>
            <p:cNvSpPr/>
            <p:nvPr/>
          </p:nvSpPr>
          <p:spPr>
            <a:xfrm>
              <a:off x="0" y="0"/>
              <a:ext cx="4048200" cy="304800"/>
            </a:xfrm>
            <a:prstGeom prst="roundRect">
              <a:avLst>
                <a:gd fmla="val 25000" name="adj"/>
              </a:avLst>
            </a:prstGeom>
            <a:solidFill>
              <a:srgbClr val="F1F7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2" name="Google Shape;1122;p60"/>
            <p:cNvSpPr txBox="1"/>
            <p:nvPr/>
          </p:nvSpPr>
          <p:spPr>
            <a:xfrm>
              <a:off x="152400" y="0"/>
              <a:ext cx="3743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1F3E5B"/>
                  </a:solidFill>
                  <a:latin typeface="Arial"/>
                  <a:ea typeface="Arial"/>
                  <a:cs typeface="Arial"/>
                  <a:sym typeface="Arial"/>
                </a:rPr>
                <a:t>WAITSFIELD WOULD EXCEED WASTEWATER CAPACITY </a:t>
              </a:r>
              <a:endParaRPr b="1" sz="900">
                <a:solidFill>
                  <a:srgbClr val="1F3E5B"/>
                </a:solidFill>
                <a:latin typeface="Arial"/>
                <a:ea typeface="Arial"/>
                <a:cs typeface="Arial"/>
                <a:sym typeface="Arial"/>
              </a:endParaRPr>
            </a:p>
          </p:txBody>
        </p:sp>
      </p:grpSp>
      <p:sp>
        <p:nvSpPr>
          <p:cNvPr id="1123" name="Google Shape;1123;p60"/>
          <p:cNvSpPr/>
          <p:nvPr/>
        </p:nvSpPr>
        <p:spPr>
          <a:xfrm>
            <a:off x="4714875" y="1326250"/>
            <a:ext cx="4048200" cy="2971800"/>
          </a:xfrm>
          <a:prstGeom prst="roundRect">
            <a:avLst>
              <a:gd fmla="val 25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24" name="Google Shape;1124;p60"/>
          <p:cNvGrpSpPr/>
          <p:nvPr/>
        </p:nvGrpSpPr>
        <p:grpSpPr>
          <a:xfrm>
            <a:off x="4714875" y="1295400"/>
            <a:ext cx="4048200" cy="304800"/>
            <a:chOff x="0" y="0"/>
            <a:chExt cx="4048200" cy="304800"/>
          </a:xfrm>
        </p:grpSpPr>
        <p:sp>
          <p:nvSpPr>
            <p:cNvPr id="1125" name="Google Shape;1125;p60"/>
            <p:cNvSpPr/>
            <p:nvPr/>
          </p:nvSpPr>
          <p:spPr>
            <a:xfrm>
              <a:off x="0" y="0"/>
              <a:ext cx="4048200" cy="304800"/>
            </a:xfrm>
            <a:prstGeom prst="roundRect">
              <a:avLst>
                <a:gd fmla="val 25000" name="adj"/>
              </a:avLst>
            </a:prstGeom>
            <a:solidFill>
              <a:srgbClr val="F1F7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6" name="Google Shape;1126;p60"/>
            <p:cNvSpPr txBox="1"/>
            <p:nvPr/>
          </p:nvSpPr>
          <p:spPr>
            <a:xfrm>
              <a:off x="152400" y="0"/>
              <a:ext cx="3743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1F3E5B"/>
                  </a:solidFill>
                  <a:latin typeface="Arial"/>
                  <a:ea typeface="Arial"/>
                  <a:cs typeface="Arial"/>
                  <a:sym typeface="Arial"/>
                </a:rPr>
                <a:t>NO SCHOOL </a:t>
              </a:r>
              <a:r>
                <a:rPr b="1" lang="en" sz="900">
                  <a:solidFill>
                    <a:srgbClr val="1F3E5B"/>
                  </a:solidFill>
                  <a:latin typeface="Arial"/>
                  <a:ea typeface="Arial"/>
                  <a:cs typeface="Arial"/>
                  <a:sym typeface="Arial"/>
                </a:rPr>
                <a:t>WOULD EXCEED WASTEWATER CAPACITY</a:t>
              </a:r>
              <a:endParaRPr b="1" sz="900">
                <a:solidFill>
                  <a:srgbClr val="1F3E5B"/>
                </a:solidFill>
                <a:latin typeface="Arial"/>
                <a:ea typeface="Arial"/>
                <a:cs typeface="Arial"/>
                <a:sym typeface="Arial"/>
              </a:endParaRPr>
            </a:p>
          </p:txBody>
        </p:sp>
      </p:grpSp>
      <p:grpSp>
        <p:nvGrpSpPr>
          <p:cNvPr id="1127" name="Google Shape;1127;p60"/>
          <p:cNvGrpSpPr/>
          <p:nvPr/>
        </p:nvGrpSpPr>
        <p:grpSpPr>
          <a:xfrm>
            <a:off x="381000" y="4381500"/>
            <a:ext cx="8382000" cy="476400"/>
            <a:chOff x="0" y="0"/>
            <a:chExt cx="8382000" cy="476400"/>
          </a:xfrm>
        </p:grpSpPr>
        <p:sp>
          <p:nvSpPr>
            <p:cNvPr id="1128" name="Google Shape;1128;p60"/>
            <p:cNvSpPr/>
            <p:nvPr/>
          </p:nvSpPr>
          <p:spPr>
            <a:xfrm>
              <a:off x="0" y="0"/>
              <a:ext cx="8382000" cy="476400"/>
            </a:xfrm>
            <a:prstGeom prst="roundRect">
              <a:avLst>
                <a:gd fmla="val 16000" name="adj"/>
              </a:avLst>
            </a:prstGeom>
            <a:solidFill>
              <a:srgbClr val="FFF8EC"/>
            </a:solidFill>
            <a:ln cap="flat" cmpd="sng" w="9525">
              <a:solidFill>
                <a:srgbClr val="F3BE7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9" name="Google Shape;1129;p60"/>
            <p:cNvSpPr/>
            <p:nvPr/>
          </p:nvSpPr>
          <p:spPr>
            <a:xfrm>
              <a:off x="0" y="0"/>
              <a:ext cx="57300" cy="476400"/>
            </a:xfrm>
            <a:prstGeom prst="roundRect">
              <a:avLst>
                <a:gd fmla="val 50000" name="adj"/>
              </a:avLst>
            </a:prstGeom>
            <a:solidFill>
              <a:srgbClr val="EF7E1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0" name="Google Shape;1130;p60"/>
            <p:cNvSpPr txBox="1"/>
            <p:nvPr/>
          </p:nvSpPr>
          <p:spPr>
            <a:xfrm>
              <a:off x="171450" y="0"/>
              <a:ext cx="8096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EF7E19"/>
                  </a:solidFill>
                  <a:latin typeface="Arial"/>
                  <a:ea typeface="Arial"/>
                  <a:cs typeface="Arial"/>
                  <a:sym typeface="Arial"/>
                </a:rPr>
                <a:t>CRITICAL INFRASTRUCTURE FINDING</a:t>
              </a:r>
              <a:endParaRPr b="1" sz="800">
                <a:solidFill>
                  <a:srgbClr val="EF7E19"/>
                </a:solidFill>
                <a:latin typeface="Arial"/>
                <a:ea typeface="Arial"/>
                <a:cs typeface="Arial"/>
                <a:sym typeface="Arial"/>
              </a:endParaRPr>
            </a:p>
            <a:p>
              <a:pPr indent="0" lvl="0" marL="0" rtl="0" algn="l">
                <a:spcBef>
                  <a:spcPts val="150"/>
                </a:spcBef>
                <a:spcAft>
                  <a:spcPts val="0"/>
                </a:spcAft>
                <a:buNone/>
              </a:pPr>
              <a:r>
                <a:rPr lang="en" sz="1000">
                  <a:solidFill>
                    <a:srgbClr val="232D37"/>
                  </a:solidFill>
                  <a:latin typeface="Arial"/>
                  <a:ea typeface="Arial"/>
                  <a:cs typeface="Arial"/>
                  <a:sym typeface="Arial"/>
                </a:rPr>
                <a:t>Wastewater capacity constraints mandate grade realignment to ensure sustainable facility operations across all sites.</a:t>
              </a:r>
              <a:endParaRPr sz="1000">
                <a:solidFill>
                  <a:srgbClr val="232D37"/>
                </a:solidFill>
                <a:latin typeface="Arial"/>
                <a:ea typeface="Arial"/>
                <a:cs typeface="Arial"/>
                <a:sym typeface="Arial"/>
              </a:endParaRPr>
            </a:p>
          </p:txBody>
        </p:sp>
      </p:grpSp>
      <p:sp>
        <p:nvSpPr>
          <p:cNvPr id="1131" name="Google Shape;1131;p60"/>
          <p:cNvSpPr/>
          <p:nvPr/>
        </p:nvSpPr>
        <p:spPr>
          <a:xfrm>
            <a:off x="2010875" y="3878825"/>
            <a:ext cx="657600" cy="205500"/>
          </a:xfrm>
          <a:prstGeom prst="wedgeRectCallout">
            <a:avLst>
              <a:gd fmla="val -73774" name="adj1"/>
              <a:gd fmla="val -47612" name="adj2"/>
            </a:avLst>
          </a:prstGeom>
          <a:solidFill>
            <a:srgbClr val="FFFFFF"/>
          </a:solidFill>
          <a:ln cap="flat" cmpd="sng" w="9525">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Exceeds</a:t>
            </a:r>
            <a:endParaRPr b="1" sz="900"/>
          </a:p>
        </p:txBody>
      </p:sp>
      <p:pic>
        <p:nvPicPr>
          <p:cNvPr id="1132" name="Google Shape;1132;p60"/>
          <p:cNvPicPr preferRelativeResize="0"/>
          <p:nvPr/>
        </p:nvPicPr>
        <p:blipFill>
          <a:blip r:embed="rId4">
            <a:alphaModFix/>
          </a:blip>
          <a:stretch>
            <a:fillRect/>
          </a:stretch>
        </p:blipFill>
        <p:spPr>
          <a:xfrm>
            <a:off x="556645" y="1871748"/>
            <a:ext cx="3785805" cy="1924850"/>
          </a:xfrm>
          <a:prstGeom prst="rect">
            <a:avLst/>
          </a:prstGeom>
          <a:solidFill>
            <a:srgbClr val="FFFFFF"/>
          </a:solidFill>
          <a:ln cap="flat" cmpd="sng" w="9525">
            <a:solidFill>
              <a:srgbClr val="CBD5E1"/>
            </a:solidFill>
            <a:prstDash val="solid"/>
            <a:round/>
            <a:headEnd len="sm" w="sm" type="none"/>
            <a:tailEnd len="sm" w="sm" type="none"/>
          </a:ln>
        </p:spPr>
      </p:pic>
      <p:sp>
        <p:nvSpPr>
          <p:cNvPr id="1133" name="Google Shape;1133;p60"/>
          <p:cNvSpPr/>
          <p:nvPr/>
        </p:nvSpPr>
        <p:spPr>
          <a:xfrm>
            <a:off x="1455875" y="1832325"/>
            <a:ext cx="1294800" cy="3837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4" name="Google Shape;1134;p60"/>
          <p:cNvSpPr/>
          <p:nvPr/>
        </p:nvSpPr>
        <p:spPr>
          <a:xfrm>
            <a:off x="1455875" y="3603725"/>
            <a:ext cx="555000" cy="2751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35" name="Google Shape;1135;p60"/>
          <p:cNvPicPr preferRelativeResize="0"/>
          <p:nvPr/>
        </p:nvPicPr>
        <p:blipFill>
          <a:blip r:embed="rId5">
            <a:alphaModFix/>
          </a:blip>
          <a:stretch>
            <a:fillRect/>
          </a:stretch>
        </p:blipFill>
        <p:spPr>
          <a:xfrm>
            <a:off x="4794075" y="1971425"/>
            <a:ext cx="3785800" cy="1888977"/>
          </a:xfrm>
          <a:prstGeom prst="rect">
            <a:avLst/>
          </a:prstGeom>
          <a:solidFill>
            <a:srgbClr val="FFFFFF"/>
          </a:solidFill>
          <a:ln cap="flat" cmpd="sng" w="9525">
            <a:solidFill>
              <a:srgbClr val="CBD5E1"/>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9" name="Shape 1139"/>
        <p:cNvGrpSpPr/>
        <p:nvPr/>
      </p:nvGrpSpPr>
      <p:grpSpPr>
        <a:xfrm>
          <a:off x="0" y="0"/>
          <a:ext cx="0" cy="0"/>
          <a:chOff x="0" y="0"/>
          <a:chExt cx="0" cy="0"/>
        </a:xfrm>
      </p:grpSpPr>
      <p:sp>
        <p:nvSpPr>
          <p:cNvPr id="1140" name="Google Shape;1140;p61"/>
          <p:cNvSpPr/>
          <p:nvPr/>
        </p:nvSpPr>
        <p:spPr>
          <a:xfrm>
            <a:off x="0" y="0"/>
            <a:ext cx="9144000" cy="781200"/>
          </a:xfrm>
          <a:prstGeom prst="rect">
            <a:avLst/>
          </a:prstGeom>
          <a:solidFill>
            <a:srgbClr val="1F3E5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1" name="Google Shape;1141;p61"/>
          <p:cNvSpPr txBox="1"/>
          <p:nvPr/>
        </p:nvSpPr>
        <p:spPr>
          <a:xfrm>
            <a:off x="381000" y="95250"/>
            <a:ext cx="8382000" cy="609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E0EEF5"/>
                </a:solidFill>
                <a:latin typeface="Arial"/>
                <a:ea typeface="Arial"/>
                <a:cs typeface="Arial"/>
                <a:sym typeface="Arial"/>
              </a:rPr>
              <a:t>FACILITY &amp; CAPACITY CONSTRAINTS</a:t>
            </a:r>
            <a:endParaRPr b="1" sz="800">
              <a:solidFill>
                <a:srgbClr val="E0EEF5"/>
              </a:solidFill>
              <a:latin typeface="Arial"/>
              <a:ea typeface="Arial"/>
              <a:cs typeface="Arial"/>
              <a:sym typeface="Arial"/>
            </a:endParaRPr>
          </a:p>
          <a:p>
            <a:pPr indent="0" lvl="0" marL="0" rtl="0" algn="l">
              <a:spcBef>
                <a:spcPts val="150"/>
              </a:spcBef>
              <a:spcAft>
                <a:spcPts val="0"/>
              </a:spcAft>
              <a:buClr>
                <a:schemeClr val="dk1"/>
              </a:buClr>
              <a:buSzPts val="1100"/>
              <a:buFont typeface="Arial"/>
              <a:buNone/>
            </a:pPr>
            <a:r>
              <a:rPr b="1" lang="en" sz="1600">
                <a:solidFill>
                  <a:schemeClr val="lt1"/>
                </a:solidFill>
                <a:latin typeface="Arial"/>
                <a:ea typeface="Arial"/>
                <a:cs typeface="Arial"/>
                <a:sym typeface="Arial"/>
              </a:rPr>
              <a:t>Impact of PK-4 grade</a:t>
            </a:r>
            <a:endParaRPr b="1" sz="1600">
              <a:solidFill>
                <a:srgbClr val="FFFFFF"/>
              </a:solidFill>
              <a:latin typeface="Arial"/>
              <a:ea typeface="Arial"/>
              <a:cs typeface="Arial"/>
              <a:sym typeface="Arial"/>
            </a:endParaRPr>
          </a:p>
        </p:txBody>
      </p:sp>
      <p:grpSp>
        <p:nvGrpSpPr>
          <p:cNvPr id="1142" name="Google Shape;1142;p61"/>
          <p:cNvGrpSpPr/>
          <p:nvPr/>
        </p:nvGrpSpPr>
        <p:grpSpPr>
          <a:xfrm>
            <a:off x="381000" y="876300"/>
            <a:ext cx="8382000" cy="324000"/>
            <a:chOff x="0" y="0"/>
            <a:chExt cx="8382000" cy="324000"/>
          </a:xfrm>
        </p:grpSpPr>
        <p:sp>
          <p:nvSpPr>
            <p:cNvPr id="1143" name="Google Shape;1143;p61"/>
            <p:cNvSpPr/>
            <p:nvPr/>
          </p:nvSpPr>
          <p:spPr>
            <a:xfrm>
              <a:off x="0" y="0"/>
              <a:ext cx="8382000" cy="324000"/>
            </a:xfrm>
            <a:prstGeom prst="roundRect">
              <a:avLst>
                <a:gd fmla="val 17647" name="adj"/>
              </a:avLst>
            </a:prstGeom>
            <a:solidFill>
              <a:srgbClr val="EDF5F8"/>
            </a:solidFill>
            <a:ln cap="flat" cmpd="sng" w="9525">
              <a:solidFill>
                <a:srgbClr val="CFE0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4" name="Google Shape;1144;p61"/>
            <p:cNvSpPr txBox="1"/>
            <p:nvPr/>
          </p:nvSpPr>
          <p:spPr>
            <a:xfrm>
              <a:off x="133350" y="0"/>
              <a:ext cx="8115300" cy="3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00">
                  <a:solidFill>
                    <a:srgbClr val="1F3E5B"/>
                  </a:solidFill>
                  <a:latin typeface="Arial"/>
                  <a:ea typeface="Arial"/>
                  <a:cs typeface="Arial"/>
                  <a:sym typeface="Arial"/>
                </a:rPr>
                <a:t>Comparative evaluation of student enrollment distributions and facility capacity limits across schools. </a:t>
              </a:r>
              <a:r>
                <a:rPr lang="en" sz="900">
                  <a:solidFill>
                    <a:srgbClr val="1F3E5B"/>
                  </a:solidFill>
                </a:rPr>
                <a:t>Based on home location to nearest school. </a:t>
              </a:r>
              <a:endParaRPr sz="900">
                <a:solidFill>
                  <a:srgbClr val="1F3E5B"/>
                </a:solidFill>
              </a:endParaRPr>
            </a:p>
            <a:p>
              <a:pPr indent="0" lvl="0" marL="0" rtl="0" algn="l">
                <a:spcBef>
                  <a:spcPts val="0"/>
                </a:spcBef>
                <a:spcAft>
                  <a:spcPts val="0"/>
                </a:spcAft>
                <a:buNone/>
              </a:pPr>
              <a:r>
                <a:t/>
              </a:r>
              <a:endParaRPr sz="900">
                <a:solidFill>
                  <a:srgbClr val="1F3E5B"/>
                </a:solidFill>
              </a:endParaRPr>
            </a:p>
          </p:txBody>
        </p:sp>
      </p:grpSp>
      <p:sp>
        <p:nvSpPr>
          <p:cNvPr id="1145" name="Google Shape;1145;p61"/>
          <p:cNvSpPr/>
          <p:nvPr/>
        </p:nvSpPr>
        <p:spPr>
          <a:xfrm>
            <a:off x="381000" y="1295400"/>
            <a:ext cx="4048200" cy="2971800"/>
          </a:xfrm>
          <a:prstGeom prst="roundRect">
            <a:avLst>
              <a:gd fmla="val 25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46" name="Google Shape;1146;p61"/>
          <p:cNvGrpSpPr/>
          <p:nvPr/>
        </p:nvGrpSpPr>
        <p:grpSpPr>
          <a:xfrm>
            <a:off x="381000" y="1295388"/>
            <a:ext cx="4048200" cy="304800"/>
            <a:chOff x="0" y="0"/>
            <a:chExt cx="4048200" cy="304800"/>
          </a:xfrm>
        </p:grpSpPr>
        <p:sp>
          <p:nvSpPr>
            <p:cNvPr id="1147" name="Google Shape;1147;p61"/>
            <p:cNvSpPr/>
            <p:nvPr/>
          </p:nvSpPr>
          <p:spPr>
            <a:xfrm>
              <a:off x="0" y="0"/>
              <a:ext cx="4048200" cy="304800"/>
            </a:xfrm>
            <a:prstGeom prst="roundRect">
              <a:avLst>
                <a:gd fmla="val 25000" name="adj"/>
              </a:avLst>
            </a:prstGeom>
            <a:solidFill>
              <a:srgbClr val="F1F7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8" name="Google Shape;1148;p61"/>
            <p:cNvSpPr txBox="1"/>
            <p:nvPr/>
          </p:nvSpPr>
          <p:spPr>
            <a:xfrm>
              <a:off x="152400" y="0"/>
              <a:ext cx="3743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1F3E5B"/>
                  </a:solidFill>
                  <a:latin typeface="Arial"/>
                  <a:ea typeface="Arial"/>
                  <a:cs typeface="Arial"/>
                  <a:sym typeface="Arial"/>
                </a:rPr>
                <a:t>NO SCHOOL </a:t>
              </a:r>
              <a:r>
                <a:rPr b="1" lang="en" sz="900">
                  <a:solidFill>
                    <a:srgbClr val="1F3E5B"/>
                  </a:solidFill>
                  <a:latin typeface="Arial"/>
                  <a:ea typeface="Arial"/>
                  <a:cs typeface="Arial"/>
                  <a:sym typeface="Arial"/>
                </a:rPr>
                <a:t>WOULD NOT EXCEED WASTEWATER CAPACITY </a:t>
              </a:r>
              <a:endParaRPr b="1" sz="900">
                <a:solidFill>
                  <a:srgbClr val="1F3E5B"/>
                </a:solidFill>
                <a:latin typeface="Arial"/>
                <a:ea typeface="Arial"/>
                <a:cs typeface="Arial"/>
                <a:sym typeface="Arial"/>
              </a:endParaRPr>
            </a:p>
          </p:txBody>
        </p:sp>
      </p:grpSp>
      <p:sp>
        <p:nvSpPr>
          <p:cNvPr id="1149" name="Google Shape;1149;p61"/>
          <p:cNvSpPr/>
          <p:nvPr/>
        </p:nvSpPr>
        <p:spPr>
          <a:xfrm>
            <a:off x="4714800" y="1371750"/>
            <a:ext cx="4048200" cy="2971800"/>
          </a:xfrm>
          <a:prstGeom prst="roundRect">
            <a:avLst>
              <a:gd fmla="val 25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50" name="Google Shape;1150;p61"/>
          <p:cNvGrpSpPr/>
          <p:nvPr/>
        </p:nvGrpSpPr>
        <p:grpSpPr>
          <a:xfrm>
            <a:off x="4735675" y="1322713"/>
            <a:ext cx="4048200" cy="304800"/>
            <a:chOff x="0" y="0"/>
            <a:chExt cx="4048200" cy="304800"/>
          </a:xfrm>
        </p:grpSpPr>
        <p:sp>
          <p:nvSpPr>
            <p:cNvPr id="1151" name="Google Shape;1151;p61"/>
            <p:cNvSpPr/>
            <p:nvPr/>
          </p:nvSpPr>
          <p:spPr>
            <a:xfrm>
              <a:off x="0" y="0"/>
              <a:ext cx="4048200" cy="304800"/>
            </a:xfrm>
            <a:prstGeom prst="roundRect">
              <a:avLst>
                <a:gd fmla="val 25000" name="adj"/>
              </a:avLst>
            </a:prstGeom>
            <a:solidFill>
              <a:srgbClr val="F1F7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2" name="Google Shape;1152;p61"/>
            <p:cNvSpPr txBox="1"/>
            <p:nvPr/>
          </p:nvSpPr>
          <p:spPr>
            <a:xfrm>
              <a:off x="152400" y="0"/>
              <a:ext cx="3743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1F3E5B"/>
                  </a:solidFill>
                  <a:latin typeface="Arial"/>
                  <a:ea typeface="Arial"/>
                  <a:cs typeface="Arial"/>
                  <a:sym typeface="Arial"/>
                </a:rPr>
                <a:t>WAITSFIELD EXCEEDS WASTEWATER CAPACITY</a:t>
              </a:r>
              <a:endParaRPr b="1" sz="900">
                <a:solidFill>
                  <a:srgbClr val="1F3E5B"/>
                </a:solidFill>
                <a:latin typeface="Arial"/>
                <a:ea typeface="Arial"/>
                <a:cs typeface="Arial"/>
                <a:sym typeface="Arial"/>
              </a:endParaRPr>
            </a:p>
          </p:txBody>
        </p:sp>
      </p:grpSp>
      <p:grpSp>
        <p:nvGrpSpPr>
          <p:cNvPr id="1153" name="Google Shape;1153;p61"/>
          <p:cNvGrpSpPr/>
          <p:nvPr/>
        </p:nvGrpSpPr>
        <p:grpSpPr>
          <a:xfrm>
            <a:off x="381000" y="4381500"/>
            <a:ext cx="8382000" cy="476400"/>
            <a:chOff x="0" y="0"/>
            <a:chExt cx="8382000" cy="476400"/>
          </a:xfrm>
        </p:grpSpPr>
        <p:sp>
          <p:nvSpPr>
            <p:cNvPr id="1154" name="Google Shape;1154;p61"/>
            <p:cNvSpPr/>
            <p:nvPr/>
          </p:nvSpPr>
          <p:spPr>
            <a:xfrm>
              <a:off x="0" y="0"/>
              <a:ext cx="8382000" cy="476400"/>
            </a:xfrm>
            <a:prstGeom prst="roundRect">
              <a:avLst>
                <a:gd fmla="val 16000" name="adj"/>
              </a:avLst>
            </a:prstGeom>
            <a:solidFill>
              <a:srgbClr val="FFF8EC"/>
            </a:solidFill>
            <a:ln cap="flat" cmpd="sng" w="9525">
              <a:solidFill>
                <a:srgbClr val="F3BE7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5" name="Google Shape;1155;p61"/>
            <p:cNvSpPr/>
            <p:nvPr/>
          </p:nvSpPr>
          <p:spPr>
            <a:xfrm>
              <a:off x="0" y="0"/>
              <a:ext cx="57300" cy="476400"/>
            </a:xfrm>
            <a:prstGeom prst="roundRect">
              <a:avLst>
                <a:gd fmla="val 50000" name="adj"/>
              </a:avLst>
            </a:prstGeom>
            <a:solidFill>
              <a:srgbClr val="EF7E1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6" name="Google Shape;1156;p61"/>
            <p:cNvSpPr txBox="1"/>
            <p:nvPr/>
          </p:nvSpPr>
          <p:spPr>
            <a:xfrm>
              <a:off x="171450" y="0"/>
              <a:ext cx="8096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EF7E19"/>
                  </a:solidFill>
                  <a:latin typeface="Arial"/>
                  <a:ea typeface="Arial"/>
                  <a:cs typeface="Arial"/>
                  <a:sym typeface="Arial"/>
                </a:rPr>
                <a:t>CRITICAL INFRASTRUCTURE FINDING</a:t>
              </a:r>
              <a:endParaRPr b="1" sz="800">
                <a:solidFill>
                  <a:srgbClr val="EF7E19"/>
                </a:solidFill>
                <a:latin typeface="Arial"/>
                <a:ea typeface="Arial"/>
                <a:cs typeface="Arial"/>
                <a:sym typeface="Arial"/>
              </a:endParaRPr>
            </a:p>
            <a:p>
              <a:pPr indent="0" lvl="0" marL="0" rtl="0" algn="l">
                <a:spcBef>
                  <a:spcPts val="150"/>
                </a:spcBef>
                <a:spcAft>
                  <a:spcPts val="0"/>
                </a:spcAft>
                <a:buNone/>
              </a:pPr>
              <a:r>
                <a:rPr lang="en" sz="1000">
                  <a:solidFill>
                    <a:srgbClr val="232D37"/>
                  </a:solidFill>
                  <a:latin typeface="Arial"/>
                  <a:ea typeface="Arial"/>
                  <a:cs typeface="Arial"/>
                  <a:sym typeface="Arial"/>
                </a:rPr>
                <a:t>Wastewater capacity constraints mandate grade realignment to ensure sustainable facility operations across all sites.</a:t>
              </a:r>
              <a:endParaRPr sz="1000">
                <a:solidFill>
                  <a:srgbClr val="232D37"/>
                </a:solidFill>
                <a:latin typeface="Arial"/>
                <a:ea typeface="Arial"/>
                <a:cs typeface="Arial"/>
                <a:sym typeface="Arial"/>
              </a:endParaRPr>
            </a:p>
          </p:txBody>
        </p:sp>
      </p:grpSp>
      <p:sp>
        <p:nvSpPr>
          <p:cNvPr id="1157" name="Google Shape;1157;p61"/>
          <p:cNvSpPr/>
          <p:nvPr/>
        </p:nvSpPr>
        <p:spPr>
          <a:xfrm>
            <a:off x="6265425" y="3852300"/>
            <a:ext cx="657600" cy="205500"/>
          </a:xfrm>
          <a:prstGeom prst="wedgeRectCallout">
            <a:avLst>
              <a:gd fmla="val -73774" name="adj1"/>
              <a:gd fmla="val -47612" name="adj2"/>
            </a:avLst>
          </a:prstGeom>
          <a:solidFill>
            <a:srgbClr val="FFFFFF"/>
          </a:solidFill>
          <a:ln cap="flat" cmpd="sng" w="9525">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t>Exceeds</a:t>
            </a:r>
            <a:endParaRPr b="1" sz="900"/>
          </a:p>
        </p:txBody>
      </p:sp>
      <p:pic>
        <p:nvPicPr>
          <p:cNvPr id="1158" name="Google Shape;1158;p61"/>
          <p:cNvPicPr preferRelativeResize="0"/>
          <p:nvPr/>
        </p:nvPicPr>
        <p:blipFill>
          <a:blip r:embed="rId4">
            <a:alphaModFix/>
          </a:blip>
          <a:stretch>
            <a:fillRect/>
          </a:stretch>
        </p:blipFill>
        <p:spPr>
          <a:xfrm>
            <a:off x="651250" y="1977373"/>
            <a:ext cx="3663158" cy="1800925"/>
          </a:xfrm>
          <a:prstGeom prst="rect">
            <a:avLst/>
          </a:prstGeom>
          <a:solidFill>
            <a:srgbClr val="FFFFFF"/>
          </a:solidFill>
          <a:ln cap="flat" cmpd="sng" w="9525">
            <a:solidFill>
              <a:srgbClr val="CBD5E1"/>
            </a:solidFill>
            <a:prstDash val="solid"/>
            <a:round/>
            <a:headEnd len="sm" w="sm" type="none"/>
            <a:tailEnd len="sm" w="sm" type="none"/>
          </a:ln>
        </p:spPr>
      </p:pic>
      <p:sp>
        <p:nvSpPr>
          <p:cNvPr id="1159" name="Google Shape;1159;p61"/>
          <p:cNvSpPr/>
          <p:nvPr/>
        </p:nvSpPr>
        <p:spPr>
          <a:xfrm>
            <a:off x="1440450" y="1906775"/>
            <a:ext cx="1382100" cy="3837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60" name="Google Shape;1160;p61"/>
          <p:cNvPicPr preferRelativeResize="0"/>
          <p:nvPr/>
        </p:nvPicPr>
        <p:blipFill>
          <a:blip r:embed="rId5">
            <a:alphaModFix/>
          </a:blip>
          <a:stretch>
            <a:fillRect/>
          </a:stretch>
        </p:blipFill>
        <p:spPr>
          <a:xfrm>
            <a:off x="4839775" y="1960134"/>
            <a:ext cx="3663150" cy="1835404"/>
          </a:xfrm>
          <a:prstGeom prst="rect">
            <a:avLst/>
          </a:prstGeom>
          <a:solidFill>
            <a:srgbClr val="FFFFFF"/>
          </a:solidFill>
          <a:ln cap="flat" cmpd="sng" w="9525">
            <a:solidFill>
              <a:srgbClr val="CBD5E1"/>
            </a:solidFill>
            <a:prstDash val="solid"/>
            <a:round/>
            <a:headEnd len="sm" w="sm" type="none"/>
            <a:tailEnd len="sm" w="sm" type="none"/>
          </a:ln>
        </p:spPr>
      </p:pic>
      <p:sp>
        <p:nvSpPr>
          <p:cNvPr id="1161" name="Google Shape;1161;p61"/>
          <p:cNvSpPr/>
          <p:nvPr/>
        </p:nvSpPr>
        <p:spPr>
          <a:xfrm>
            <a:off x="5633350" y="1852000"/>
            <a:ext cx="1346100" cy="3837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2" name="Google Shape;1162;p61"/>
          <p:cNvSpPr/>
          <p:nvPr/>
        </p:nvSpPr>
        <p:spPr>
          <a:xfrm rot="5396007">
            <a:off x="5822853" y="3455850"/>
            <a:ext cx="258300" cy="5343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6" name="Shape 1166"/>
        <p:cNvGrpSpPr/>
        <p:nvPr/>
      </p:nvGrpSpPr>
      <p:grpSpPr>
        <a:xfrm>
          <a:off x="0" y="0"/>
          <a:ext cx="0" cy="0"/>
          <a:chOff x="0" y="0"/>
          <a:chExt cx="0" cy="0"/>
        </a:xfrm>
      </p:grpSpPr>
      <p:sp>
        <p:nvSpPr>
          <p:cNvPr id="1167" name="Google Shape;1167;p62"/>
          <p:cNvSpPr/>
          <p:nvPr/>
        </p:nvSpPr>
        <p:spPr>
          <a:xfrm>
            <a:off x="0" y="0"/>
            <a:ext cx="9144000" cy="781200"/>
          </a:xfrm>
          <a:prstGeom prst="rect">
            <a:avLst/>
          </a:prstGeom>
          <a:solidFill>
            <a:srgbClr val="1F3E5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8" name="Google Shape;1168;p62"/>
          <p:cNvSpPr txBox="1"/>
          <p:nvPr/>
        </p:nvSpPr>
        <p:spPr>
          <a:xfrm>
            <a:off x="412125" y="85800"/>
            <a:ext cx="8382000" cy="609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E0EEF5"/>
                </a:solidFill>
                <a:latin typeface="Arial"/>
                <a:ea typeface="Arial"/>
                <a:cs typeface="Arial"/>
                <a:sym typeface="Arial"/>
              </a:rPr>
              <a:t>FACILITY &amp; CAPACITY CONSTRAINTS</a:t>
            </a:r>
            <a:endParaRPr b="1" sz="800">
              <a:solidFill>
                <a:srgbClr val="E0EEF5"/>
              </a:solidFill>
              <a:latin typeface="Arial"/>
              <a:ea typeface="Arial"/>
              <a:cs typeface="Arial"/>
              <a:sym typeface="Arial"/>
            </a:endParaRPr>
          </a:p>
          <a:p>
            <a:pPr indent="0" lvl="0" marL="0" rtl="0" algn="l">
              <a:spcBef>
                <a:spcPts val="150"/>
              </a:spcBef>
              <a:spcAft>
                <a:spcPts val="0"/>
              </a:spcAft>
              <a:buClr>
                <a:schemeClr val="dk1"/>
              </a:buClr>
              <a:buSzPts val="1100"/>
              <a:buFont typeface="Arial"/>
              <a:buNone/>
            </a:pPr>
            <a:r>
              <a:rPr b="1" lang="en" sz="1600">
                <a:solidFill>
                  <a:schemeClr val="lt1"/>
                </a:solidFill>
                <a:latin typeface="Arial"/>
                <a:ea typeface="Arial"/>
                <a:cs typeface="Arial"/>
                <a:sym typeface="Arial"/>
              </a:rPr>
              <a:t>Impact of </a:t>
            </a:r>
            <a:r>
              <a:rPr b="1" lang="en" sz="1600">
                <a:solidFill>
                  <a:schemeClr val="lt1"/>
                </a:solidFill>
                <a:latin typeface="Arial"/>
                <a:ea typeface="Arial"/>
                <a:cs typeface="Arial"/>
                <a:sym typeface="Arial"/>
              </a:rPr>
              <a:t>PK-4 grade</a:t>
            </a:r>
            <a:endParaRPr b="1" sz="1600">
              <a:solidFill>
                <a:srgbClr val="FFFFFF"/>
              </a:solidFill>
              <a:latin typeface="Arial"/>
              <a:ea typeface="Arial"/>
              <a:cs typeface="Arial"/>
              <a:sym typeface="Arial"/>
            </a:endParaRPr>
          </a:p>
        </p:txBody>
      </p:sp>
      <p:grpSp>
        <p:nvGrpSpPr>
          <p:cNvPr id="1169" name="Google Shape;1169;p62"/>
          <p:cNvGrpSpPr/>
          <p:nvPr/>
        </p:nvGrpSpPr>
        <p:grpSpPr>
          <a:xfrm>
            <a:off x="381000" y="876300"/>
            <a:ext cx="8382000" cy="324000"/>
            <a:chOff x="0" y="0"/>
            <a:chExt cx="8382000" cy="324000"/>
          </a:xfrm>
        </p:grpSpPr>
        <p:sp>
          <p:nvSpPr>
            <p:cNvPr id="1170" name="Google Shape;1170;p62"/>
            <p:cNvSpPr/>
            <p:nvPr/>
          </p:nvSpPr>
          <p:spPr>
            <a:xfrm>
              <a:off x="0" y="0"/>
              <a:ext cx="8382000" cy="324000"/>
            </a:xfrm>
            <a:prstGeom prst="roundRect">
              <a:avLst>
                <a:gd fmla="val 17647" name="adj"/>
              </a:avLst>
            </a:prstGeom>
            <a:solidFill>
              <a:srgbClr val="EDF5F8"/>
            </a:solidFill>
            <a:ln cap="flat" cmpd="sng" w="9525">
              <a:solidFill>
                <a:srgbClr val="CFE0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1" name="Google Shape;1171;p62"/>
            <p:cNvSpPr txBox="1"/>
            <p:nvPr/>
          </p:nvSpPr>
          <p:spPr>
            <a:xfrm>
              <a:off x="133350" y="0"/>
              <a:ext cx="8115300" cy="3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00">
                  <a:solidFill>
                    <a:srgbClr val="1F3E5B"/>
                  </a:solidFill>
                  <a:latin typeface="Arial"/>
                  <a:ea typeface="Arial"/>
                  <a:cs typeface="Arial"/>
                  <a:sym typeface="Arial"/>
                </a:rPr>
                <a:t>Comparative evaluation of student enrollment distributions and facility capacity limits across schools. </a:t>
              </a:r>
              <a:r>
                <a:rPr lang="en" sz="900">
                  <a:solidFill>
                    <a:srgbClr val="1F3E5B"/>
                  </a:solidFill>
                </a:rPr>
                <a:t>Based on home location to nearest school. </a:t>
              </a:r>
              <a:endParaRPr sz="900">
                <a:solidFill>
                  <a:srgbClr val="1F3E5B"/>
                </a:solidFill>
              </a:endParaRPr>
            </a:p>
            <a:p>
              <a:pPr indent="0" lvl="0" marL="0" rtl="0" algn="l">
                <a:spcBef>
                  <a:spcPts val="0"/>
                </a:spcBef>
                <a:spcAft>
                  <a:spcPts val="0"/>
                </a:spcAft>
                <a:buNone/>
              </a:pPr>
              <a:r>
                <a:t/>
              </a:r>
              <a:endParaRPr sz="900">
                <a:solidFill>
                  <a:srgbClr val="1F3E5B"/>
                </a:solidFill>
              </a:endParaRPr>
            </a:p>
          </p:txBody>
        </p:sp>
      </p:grpSp>
      <p:sp>
        <p:nvSpPr>
          <p:cNvPr id="1172" name="Google Shape;1172;p62"/>
          <p:cNvSpPr/>
          <p:nvPr/>
        </p:nvSpPr>
        <p:spPr>
          <a:xfrm>
            <a:off x="381000" y="1295400"/>
            <a:ext cx="4048200" cy="2971800"/>
          </a:xfrm>
          <a:prstGeom prst="roundRect">
            <a:avLst>
              <a:gd fmla="val 25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73" name="Google Shape;1173;p62"/>
          <p:cNvGrpSpPr/>
          <p:nvPr/>
        </p:nvGrpSpPr>
        <p:grpSpPr>
          <a:xfrm>
            <a:off x="412125" y="1281600"/>
            <a:ext cx="4048200" cy="318600"/>
            <a:chOff x="0" y="-13800"/>
            <a:chExt cx="4048200" cy="318600"/>
          </a:xfrm>
        </p:grpSpPr>
        <p:sp>
          <p:nvSpPr>
            <p:cNvPr id="1174" name="Google Shape;1174;p62"/>
            <p:cNvSpPr/>
            <p:nvPr/>
          </p:nvSpPr>
          <p:spPr>
            <a:xfrm>
              <a:off x="0" y="0"/>
              <a:ext cx="4048200" cy="304800"/>
            </a:xfrm>
            <a:prstGeom prst="roundRect">
              <a:avLst>
                <a:gd fmla="val 25000" name="adj"/>
              </a:avLst>
            </a:prstGeom>
            <a:solidFill>
              <a:srgbClr val="F1F7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5" name="Google Shape;1175;p62"/>
            <p:cNvSpPr txBox="1"/>
            <p:nvPr/>
          </p:nvSpPr>
          <p:spPr>
            <a:xfrm>
              <a:off x="121275" y="-13800"/>
              <a:ext cx="3743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900">
                  <a:solidFill>
                    <a:srgbClr val="1F3E5B"/>
                  </a:solidFill>
                  <a:latin typeface="Arial"/>
                  <a:ea typeface="Arial"/>
                  <a:cs typeface="Arial"/>
                  <a:sym typeface="Arial"/>
                </a:rPr>
                <a:t>BROOKSIDE EXCEEDS WASTEWATER CAPACITY</a:t>
              </a:r>
              <a:endParaRPr b="1" sz="900">
                <a:solidFill>
                  <a:srgbClr val="1F3E5B"/>
                </a:solidFill>
                <a:latin typeface="Arial"/>
                <a:ea typeface="Arial"/>
                <a:cs typeface="Arial"/>
                <a:sym typeface="Arial"/>
              </a:endParaRPr>
            </a:p>
          </p:txBody>
        </p:sp>
      </p:grpSp>
      <p:sp>
        <p:nvSpPr>
          <p:cNvPr id="1176" name="Google Shape;1176;p62"/>
          <p:cNvSpPr/>
          <p:nvPr/>
        </p:nvSpPr>
        <p:spPr>
          <a:xfrm>
            <a:off x="4714800" y="1306075"/>
            <a:ext cx="4048200" cy="2971800"/>
          </a:xfrm>
          <a:prstGeom prst="roundRect">
            <a:avLst>
              <a:gd fmla="val 25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77" name="Google Shape;1177;p62"/>
          <p:cNvGrpSpPr/>
          <p:nvPr/>
        </p:nvGrpSpPr>
        <p:grpSpPr>
          <a:xfrm>
            <a:off x="4740800" y="1291888"/>
            <a:ext cx="4048200" cy="304800"/>
            <a:chOff x="0" y="0"/>
            <a:chExt cx="4048200" cy="304800"/>
          </a:xfrm>
        </p:grpSpPr>
        <p:sp>
          <p:nvSpPr>
            <p:cNvPr id="1178" name="Google Shape;1178;p62"/>
            <p:cNvSpPr/>
            <p:nvPr/>
          </p:nvSpPr>
          <p:spPr>
            <a:xfrm>
              <a:off x="0" y="0"/>
              <a:ext cx="4048200" cy="304800"/>
            </a:xfrm>
            <a:prstGeom prst="roundRect">
              <a:avLst>
                <a:gd fmla="val 25000" name="adj"/>
              </a:avLst>
            </a:prstGeom>
            <a:solidFill>
              <a:srgbClr val="F1F7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9" name="Google Shape;1179;p62"/>
            <p:cNvSpPr txBox="1"/>
            <p:nvPr/>
          </p:nvSpPr>
          <p:spPr>
            <a:xfrm>
              <a:off x="152400" y="0"/>
              <a:ext cx="3743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1F3E5B"/>
                  </a:solidFill>
                  <a:latin typeface="Arial"/>
                  <a:ea typeface="Arial"/>
                  <a:cs typeface="Arial"/>
                  <a:sym typeface="Arial"/>
                </a:rPr>
                <a:t>NO SCHOOL</a:t>
              </a:r>
              <a:r>
                <a:rPr b="1" lang="en" sz="900">
                  <a:solidFill>
                    <a:srgbClr val="1F3E5B"/>
                  </a:solidFill>
                  <a:latin typeface="Arial"/>
                  <a:ea typeface="Arial"/>
                  <a:cs typeface="Arial"/>
                  <a:sym typeface="Arial"/>
                </a:rPr>
                <a:t> EXCEEDS WASTEWATER CAPACITY</a:t>
              </a:r>
              <a:endParaRPr b="1" sz="900">
                <a:solidFill>
                  <a:srgbClr val="1F3E5B"/>
                </a:solidFill>
                <a:latin typeface="Arial"/>
                <a:ea typeface="Arial"/>
                <a:cs typeface="Arial"/>
                <a:sym typeface="Arial"/>
              </a:endParaRPr>
            </a:p>
          </p:txBody>
        </p:sp>
      </p:grpSp>
      <p:grpSp>
        <p:nvGrpSpPr>
          <p:cNvPr id="1180" name="Google Shape;1180;p62"/>
          <p:cNvGrpSpPr/>
          <p:nvPr/>
        </p:nvGrpSpPr>
        <p:grpSpPr>
          <a:xfrm>
            <a:off x="381000" y="4383650"/>
            <a:ext cx="8382000" cy="476400"/>
            <a:chOff x="0" y="0"/>
            <a:chExt cx="8382000" cy="476400"/>
          </a:xfrm>
        </p:grpSpPr>
        <p:sp>
          <p:nvSpPr>
            <p:cNvPr id="1181" name="Google Shape;1181;p62"/>
            <p:cNvSpPr/>
            <p:nvPr/>
          </p:nvSpPr>
          <p:spPr>
            <a:xfrm>
              <a:off x="0" y="0"/>
              <a:ext cx="8382000" cy="476400"/>
            </a:xfrm>
            <a:prstGeom prst="roundRect">
              <a:avLst>
                <a:gd fmla="val 16000" name="adj"/>
              </a:avLst>
            </a:prstGeom>
            <a:solidFill>
              <a:srgbClr val="FFF8EC"/>
            </a:solidFill>
            <a:ln cap="flat" cmpd="sng" w="9525">
              <a:solidFill>
                <a:srgbClr val="F3BE7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2" name="Google Shape;1182;p62"/>
            <p:cNvSpPr/>
            <p:nvPr/>
          </p:nvSpPr>
          <p:spPr>
            <a:xfrm>
              <a:off x="0" y="0"/>
              <a:ext cx="57300" cy="476400"/>
            </a:xfrm>
            <a:prstGeom prst="roundRect">
              <a:avLst>
                <a:gd fmla="val 50000" name="adj"/>
              </a:avLst>
            </a:prstGeom>
            <a:solidFill>
              <a:srgbClr val="EF7E1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3" name="Google Shape;1183;p62"/>
            <p:cNvSpPr txBox="1"/>
            <p:nvPr/>
          </p:nvSpPr>
          <p:spPr>
            <a:xfrm>
              <a:off x="171450" y="0"/>
              <a:ext cx="8096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EF7E19"/>
                  </a:solidFill>
                  <a:latin typeface="Arial"/>
                  <a:ea typeface="Arial"/>
                  <a:cs typeface="Arial"/>
                  <a:sym typeface="Arial"/>
                </a:rPr>
                <a:t>CRITICAL INFRASTRUCTURE FINDING</a:t>
              </a:r>
              <a:endParaRPr b="1" sz="800">
                <a:solidFill>
                  <a:srgbClr val="EF7E19"/>
                </a:solidFill>
                <a:latin typeface="Arial"/>
                <a:ea typeface="Arial"/>
                <a:cs typeface="Arial"/>
                <a:sym typeface="Arial"/>
              </a:endParaRPr>
            </a:p>
            <a:p>
              <a:pPr indent="0" lvl="0" marL="0" rtl="0" algn="l">
                <a:spcBef>
                  <a:spcPts val="150"/>
                </a:spcBef>
                <a:spcAft>
                  <a:spcPts val="0"/>
                </a:spcAft>
                <a:buNone/>
              </a:pPr>
              <a:r>
                <a:rPr lang="en" sz="1000">
                  <a:solidFill>
                    <a:srgbClr val="232D37"/>
                  </a:solidFill>
                  <a:latin typeface="Arial"/>
                  <a:ea typeface="Arial"/>
                  <a:cs typeface="Arial"/>
                  <a:sym typeface="Arial"/>
                </a:rPr>
                <a:t>Wastewater capacity constraints mandate grade realignment to ensure sustainable facility operations across all sites.</a:t>
              </a:r>
              <a:endParaRPr sz="1000">
                <a:solidFill>
                  <a:srgbClr val="232D37"/>
                </a:solidFill>
                <a:latin typeface="Arial"/>
                <a:ea typeface="Arial"/>
                <a:cs typeface="Arial"/>
                <a:sym typeface="Arial"/>
              </a:endParaRPr>
            </a:p>
          </p:txBody>
        </p:sp>
      </p:grpSp>
      <p:pic>
        <p:nvPicPr>
          <p:cNvPr id="1184" name="Google Shape;1184;p62"/>
          <p:cNvPicPr preferRelativeResize="0"/>
          <p:nvPr/>
        </p:nvPicPr>
        <p:blipFill>
          <a:blip r:embed="rId4">
            <a:alphaModFix/>
          </a:blip>
          <a:stretch>
            <a:fillRect/>
          </a:stretch>
        </p:blipFill>
        <p:spPr>
          <a:xfrm>
            <a:off x="588263" y="1871912"/>
            <a:ext cx="3695931" cy="1840125"/>
          </a:xfrm>
          <a:prstGeom prst="rect">
            <a:avLst/>
          </a:prstGeom>
          <a:solidFill>
            <a:srgbClr val="FFFFFF"/>
          </a:solidFill>
          <a:ln cap="flat" cmpd="sng" w="9525">
            <a:solidFill>
              <a:srgbClr val="CBD5E1"/>
            </a:solidFill>
            <a:prstDash val="solid"/>
            <a:round/>
            <a:headEnd len="sm" w="sm" type="none"/>
            <a:tailEnd len="sm" w="sm" type="none"/>
          </a:ln>
        </p:spPr>
      </p:pic>
      <p:sp>
        <p:nvSpPr>
          <p:cNvPr id="1185" name="Google Shape;1185;p62"/>
          <p:cNvSpPr/>
          <p:nvPr/>
        </p:nvSpPr>
        <p:spPr>
          <a:xfrm>
            <a:off x="1479200" y="1798950"/>
            <a:ext cx="1287000" cy="3837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6" name="Google Shape;1186;p62"/>
          <p:cNvSpPr/>
          <p:nvPr/>
        </p:nvSpPr>
        <p:spPr>
          <a:xfrm rot="5396370">
            <a:off x="3076528" y="3385550"/>
            <a:ext cx="284100" cy="4980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7" name="Google Shape;1187;p62"/>
          <p:cNvSpPr/>
          <p:nvPr/>
        </p:nvSpPr>
        <p:spPr>
          <a:xfrm>
            <a:off x="3637288" y="3777350"/>
            <a:ext cx="705300" cy="438600"/>
          </a:xfrm>
          <a:prstGeom prst="wedgeRectCallout">
            <a:avLst>
              <a:gd fmla="val -86089" name="adj1"/>
              <a:gd fmla="val -55227" name="adj2"/>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chemeClr val="dk1"/>
                </a:solidFill>
              </a:rPr>
              <a:t>Max Occupancy is 480 </a:t>
            </a:r>
            <a:endParaRPr b="1" sz="700">
              <a:solidFill>
                <a:schemeClr val="dk1"/>
              </a:solidFill>
            </a:endParaRPr>
          </a:p>
        </p:txBody>
      </p:sp>
      <p:pic>
        <p:nvPicPr>
          <p:cNvPr id="1188" name="Google Shape;1188;p62"/>
          <p:cNvPicPr preferRelativeResize="0"/>
          <p:nvPr/>
        </p:nvPicPr>
        <p:blipFill>
          <a:blip r:embed="rId5">
            <a:alphaModFix/>
          </a:blip>
          <a:stretch>
            <a:fillRect/>
          </a:stretch>
        </p:blipFill>
        <p:spPr>
          <a:xfrm>
            <a:off x="4815600" y="1894363"/>
            <a:ext cx="3621150" cy="1795225"/>
          </a:xfrm>
          <a:prstGeom prst="rect">
            <a:avLst/>
          </a:prstGeom>
          <a:solidFill>
            <a:srgbClr val="FFFFFF"/>
          </a:solidFill>
          <a:ln cap="flat" cmpd="sng" w="9525">
            <a:solidFill>
              <a:srgbClr val="CBD5E1"/>
            </a:solidFill>
            <a:prstDash val="solid"/>
            <a:round/>
            <a:headEnd len="sm" w="sm" type="none"/>
            <a:tailEnd len="sm" w="sm" type="none"/>
          </a:ln>
        </p:spPr>
      </p:pic>
      <p:sp>
        <p:nvSpPr>
          <p:cNvPr id="1189" name="Google Shape;1189;p62"/>
          <p:cNvSpPr/>
          <p:nvPr/>
        </p:nvSpPr>
        <p:spPr>
          <a:xfrm>
            <a:off x="5602525" y="1776850"/>
            <a:ext cx="1310100" cy="383700"/>
          </a:xfrm>
          <a:prstGeom prst="ellipse">
            <a:avLst/>
          </a:prstGeom>
          <a:solidFill>
            <a:srgbClr val="000000">
              <a:alpha val="0"/>
            </a:srgbClr>
          </a:solidFill>
          <a:ln cap="flat" cmpd="sng" w="19050">
            <a:solidFill>
              <a:srgbClr val="DC262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3" name="Shape 1193"/>
        <p:cNvGrpSpPr/>
        <p:nvPr/>
      </p:nvGrpSpPr>
      <p:grpSpPr>
        <a:xfrm>
          <a:off x="0" y="0"/>
          <a:ext cx="0" cy="0"/>
          <a:chOff x="0" y="0"/>
          <a:chExt cx="0" cy="0"/>
        </a:xfrm>
      </p:grpSpPr>
      <p:pic>
        <p:nvPicPr>
          <p:cNvPr descr="image(8).png" id="1194" name="Google Shape;1194;p63"/>
          <p:cNvPicPr preferRelativeResize="0"/>
          <p:nvPr/>
        </p:nvPicPr>
        <p:blipFill rotWithShape="1">
          <a:blip r:embed="rId3">
            <a:alphaModFix/>
          </a:blip>
          <a:srcRect b="0" l="0" r="0" t="0"/>
          <a:stretch/>
        </p:blipFill>
        <p:spPr>
          <a:xfrm>
            <a:off x="116623" y="93277"/>
            <a:ext cx="2880360" cy="4882895"/>
          </a:xfrm>
          <a:prstGeom prst="rect">
            <a:avLst/>
          </a:prstGeom>
          <a:noFill/>
          <a:ln>
            <a:noFill/>
          </a:ln>
        </p:spPr>
      </p:pic>
      <p:sp>
        <p:nvSpPr>
          <p:cNvPr id="1195" name="Google Shape;1195;p63"/>
          <p:cNvSpPr/>
          <p:nvPr/>
        </p:nvSpPr>
        <p:spPr>
          <a:xfrm>
            <a:off x="3140964" y="123444"/>
            <a:ext cx="5870400" cy="4883100"/>
          </a:xfrm>
          <a:prstGeom prst="roundRect">
            <a:avLst>
              <a:gd fmla="val 16667" name="adj"/>
            </a:avLst>
          </a:prstGeom>
          <a:solidFill>
            <a:srgbClr val="F1F7FC"/>
          </a:solidFill>
          <a:ln cap="flat" cmpd="sng" w="7150">
            <a:solidFill>
              <a:srgbClr val="D7E2ED"/>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196" name="Google Shape;1196;p63"/>
          <p:cNvSpPr/>
          <p:nvPr/>
        </p:nvSpPr>
        <p:spPr>
          <a:xfrm>
            <a:off x="3140964" y="123444"/>
            <a:ext cx="5870400" cy="740700"/>
          </a:xfrm>
          <a:prstGeom prst="roundRect">
            <a:avLst>
              <a:gd fmla="val 16667" name="adj"/>
            </a:avLst>
          </a:prstGeom>
          <a:solidFill>
            <a:srgbClr val="123B69"/>
          </a:solidFill>
          <a:ln cap="flat" cmpd="sng" w="7150">
            <a:solidFill>
              <a:srgbClr val="123B69"/>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197" name="Google Shape;1197;p63"/>
          <p:cNvSpPr txBox="1"/>
          <p:nvPr/>
        </p:nvSpPr>
        <p:spPr>
          <a:xfrm>
            <a:off x="3346704" y="192024"/>
            <a:ext cx="5472600" cy="3354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rPr b="1" i="0" lang="en" sz="2000" u="none" cap="none" strike="noStrike">
                <a:solidFill>
                  <a:srgbClr val="FFFFFF"/>
                </a:solidFill>
                <a:latin typeface="Arial"/>
                <a:ea typeface="Arial"/>
                <a:cs typeface="Arial"/>
                <a:sym typeface="Arial"/>
              </a:rPr>
              <a:t>HUUSD SCHOOL LOCATIONS</a:t>
            </a:r>
            <a:endParaRPr sz="1100"/>
          </a:p>
        </p:txBody>
      </p:sp>
      <p:sp>
        <p:nvSpPr>
          <p:cNvPr id="1198" name="Google Shape;1198;p63"/>
          <p:cNvSpPr txBox="1"/>
          <p:nvPr/>
        </p:nvSpPr>
        <p:spPr>
          <a:xfrm>
            <a:off x="3360420" y="493776"/>
            <a:ext cx="5417700" cy="1971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t/>
            </a:r>
            <a:endParaRPr sz="1100"/>
          </a:p>
        </p:txBody>
      </p:sp>
      <p:sp>
        <p:nvSpPr>
          <p:cNvPr id="1199" name="Google Shape;1199;p63"/>
          <p:cNvSpPr/>
          <p:nvPr/>
        </p:nvSpPr>
        <p:spPr>
          <a:xfrm>
            <a:off x="3346704" y="1014984"/>
            <a:ext cx="5459100" cy="809400"/>
          </a:xfrm>
          <a:prstGeom prst="roundRect">
            <a:avLst>
              <a:gd fmla="val 16667" name="adj"/>
            </a:avLst>
          </a:prstGeom>
          <a:solidFill>
            <a:srgbClr val="FFFFFF"/>
          </a:solidFill>
          <a:ln cap="flat" cmpd="sng" w="7150">
            <a:solidFill>
              <a:srgbClr val="BED4E8"/>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00" name="Google Shape;1200;p63"/>
          <p:cNvSpPr txBox="1"/>
          <p:nvPr/>
        </p:nvSpPr>
        <p:spPr>
          <a:xfrm>
            <a:off x="3511296" y="1097280"/>
            <a:ext cx="5129700" cy="3972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rPr b="1" i="0" lang="en" sz="1200" u="none" cap="none" strike="noStrike">
                <a:solidFill>
                  <a:srgbClr val="123B69"/>
                </a:solidFill>
                <a:latin typeface="Arial"/>
                <a:ea typeface="Arial"/>
                <a:cs typeface="Arial"/>
                <a:sym typeface="Arial"/>
              </a:rPr>
              <a:t>HARWOOD UNION HIGH SCHOOL  →  CROSSETT BROOK MIDDLE SCHOOL</a:t>
            </a:r>
            <a:endParaRPr sz="1100"/>
          </a:p>
        </p:txBody>
      </p:sp>
      <p:sp>
        <p:nvSpPr>
          <p:cNvPr id="1201" name="Google Shape;1201;p63"/>
          <p:cNvSpPr txBox="1"/>
          <p:nvPr/>
        </p:nvSpPr>
        <p:spPr>
          <a:xfrm>
            <a:off x="3511296" y="1424725"/>
            <a:ext cx="2194800" cy="2892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rPr b="1" i="0" lang="en" sz="1700" u="none" cap="none" strike="noStrike">
                <a:solidFill>
                  <a:srgbClr val="EF7E19"/>
                </a:solidFill>
                <a:latin typeface="Arial"/>
                <a:ea typeface="Arial"/>
                <a:cs typeface="Arial"/>
                <a:sym typeface="Arial"/>
              </a:rPr>
              <a:t>Approx. 5 miles</a:t>
            </a:r>
            <a:endParaRPr sz="1100"/>
          </a:p>
        </p:txBody>
      </p:sp>
      <p:sp>
        <p:nvSpPr>
          <p:cNvPr id="1202" name="Google Shape;1202;p63"/>
          <p:cNvSpPr txBox="1"/>
          <p:nvPr/>
        </p:nvSpPr>
        <p:spPr>
          <a:xfrm>
            <a:off x="5706090" y="1422079"/>
            <a:ext cx="2914800" cy="1971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rPr b="1" i="0" lang="en" sz="1100" u="none" cap="none" strike="noStrike">
                <a:solidFill>
                  <a:srgbClr val="123B69"/>
                </a:solidFill>
                <a:latin typeface="Arial"/>
                <a:ea typeface="Arial"/>
                <a:cs typeface="Arial"/>
                <a:sym typeface="Arial"/>
              </a:rPr>
              <a:t>Approx. 7–10 minutes by car</a:t>
            </a:r>
            <a:endParaRPr sz="1100"/>
          </a:p>
        </p:txBody>
      </p:sp>
      <p:sp>
        <p:nvSpPr>
          <p:cNvPr id="1203" name="Google Shape;1203;p63"/>
          <p:cNvSpPr txBox="1"/>
          <p:nvPr/>
        </p:nvSpPr>
        <p:spPr>
          <a:xfrm>
            <a:off x="3415284" y="1975104"/>
            <a:ext cx="5212200" cy="2124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rPr b="1" i="0" lang="en" sz="1200" u="none" cap="none" strike="noStrike">
                <a:solidFill>
                  <a:srgbClr val="123B69"/>
                </a:solidFill>
                <a:latin typeface="Arial"/>
                <a:ea typeface="Arial"/>
                <a:cs typeface="Arial"/>
                <a:sym typeface="Arial"/>
              </a:rPr>
              <a:t>SEVEN HUUSD SCHOOL LOCATIONS</a:t>
            </a:r>
            <a:endParaRPr sz="1100"/>
          </a:p>
        </p:txBody>
      </p:sp>
      <p:sp>
        <p:nvSpPr>
          <p:cNvPr id="1204" name="Google Shape;1204;p63"/>
          <p:cNvSpPr/>
          <p:nvPr/>
        </p:nvSpPr>
        <p:spPr>
          <a:xfrm>
            <a:off x="3442716" y="2366009"/>
            <a:ext cx="150900" cy="150900"/>
          </a:xfrm>
          <a:prstGeom prst="ellipse">
            <a:avLst/>
          </a:prstGeom>
          <a:solidFill>
            <a:srgbClr val="1D77BE"/>
          </a:solidFill>
          <a:ln cap="flat" cmpd="sng" w="7150">
            <a:solidFill>
              <a:srgbClr val="1D77BE"/>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05" name="Google Shape;1205;p63"/>
          <p:cNvSpPr txBox="1"/>
          <p:nvPr/>
        </p:nvSpPr>
        <p:spPr>
          <a:xfrm>
            <a:off x="3662172" y="2318004"/>
            <a:ext cx="2434500" cy="1662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rPr b="1" i="0" lang="en" sz="900" u="none" cap="none" strike="noStrike">
                <a:solidFill>
                  <a:srgbClr val="1A3049"/>
                </a:solidFill>
                <a:latin typeface="Arial"/>
                <a:ea typeface="Arial"/>
                <a:cs typeface="Arial"/>
                <a:sym typeface="Arial"/>
              </a:rPr>
              <a:t>Harwood Union High School</a:t>
            </a:r>
            <a:endParaRPr sz="1100"/>
          </a:p>
        </p:txBody>
      </p:sp>
      <p:sp>
        <p:nvSpPr>
          <p:cNvPr id="1206" name="Google Shape;1206;p63"/>
          <p:cNvSpPr/>
          <p:nvPr/>
        </p:nvSpPr>
        <p:spPr>
          <a:xfrm>
            <a:off x="6137909" y="2366009"/>
            <a:ext cx="150900" cy="150900"/>
          </a:xfrm>
          <a:prstGeom prst="ellipse">
            <a:avLst/>
          </a:prstGeom>
          <a:solidFill>
            <a:srgbClr val="EF7E19"/>
          </a:solidFill>
          <a:ln cap="flat" cmpd="sng" w="7150">
            <a:solidFill>
              <a:srgbClr val="EF7E19"/>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07" name="Google Shape;1207;p63"/>
          <p:cNvSpPr txBox="1"/>
          <p:nvPr/>
        </p:nvSpPr>
        <p:spPr>
          <a:xfrm>
            <a:off x="6357366" y="2318004"/>
            <a:ext cx="2434500" cy="1662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rPr b="1" i="0" lang="en" sz="900" u="none" cap="none" strike="noStrike">
                <a:solidFill>
                  <a:srgbClr val="1A3049"/>
                </a:solidFill>
                <a:latin typeface="Arial"/>
                <a:ea typeface="Arial"/>
                <a:cs typeface="Arial"/>
                <a:sym typeface="Arial"/>
              </a:rPr>
              <a:t>Crossett Brook Middle School</a:t>
            </a:r>
            <a:endParaRPr sz="1100"/>
          </a:p>
        </p:txBody>
      </p:sp>
      <p:sp>
        <p:nvSpPr>
          <p:cNvPr id="1208" name="Google Shape;1208;p63"/>
          <p:cNvSpPr/>
          <p:nvPr/>
        </p:nvSpPr>
        <p:spPr>
          <a:xfrm>
            <a:off x="3442716" y="2859786"/>
            <a:ext cx="150900" cy="150900"/>
          </a:xfrm>
          <a:prstGeom prst="ellipse">
            <a:avLst/>
          </a:prstGeom>
          <a:solidFill>
            <a:srgbClr val="123B69"/>
          </a:solidFill>
          <a:ln cap="flat" cmpd="sng" w="7150">
            <a:solidFill>
              <a:srgbClr val="123B69"/>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09" name="Google Shape;1209;p63"/>
          <p:cNvSpPr txBox="1"/>
          <p:nvPr/>
        </p:nvSpPr>
        <p:spPr>
          <a:xfrm>
            <a:off x="3662172" y="2811779"/>
            <a:ext cx="2434500" cy="1662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rPr b="1" i="0" lang="en" sz="900" u="none" cap="none" strike="noStrike">
                <a:solidFill>
                  <a:srgbClr val="1A3049"/>
                </a:solidFill>
                <a:latin typeface="Arial"/>
                <a:ea typeface="Arial"/>
                <a:cs typeface="Arial"/>
                <a:sym typeface="Arial"/>
              </a:rPr>
              <a:t>Brookside Primary School</a:t>
            </a:r>
            <a:endParaRPr sz="1100"/>
          </a:p>
        </p:txBody>
      </p:sp>
      <p:sp>
        <p:nvSpPr>
          <p:cNvPr id="1210" name="Google Shape;1210;p63"/>
          <p:cNvSpPr/>
          <p:nvPr/>
        </p:nvSpPr>
        <p:spPr>
          <a:xfrm>
            <a:off x="6137909" y="2859786"/>
            <a:ext cx="150900" cy="150900"/>
          </a:xfrm>
          <a:prstGeom prst="ellipse">
            <a:avLst/>
          </a:prstGeom>
          <a:solidFill>
            <a:srgbClr val="CD3C3C"/>
          </a:solidFill>
          <a:ln cap="flat" cmpd="sng" w="7150">
            <a:solidFill>
              <a:srgbClr val="CD3C3C"/>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11" name="Google Shape;1211;p63"/>
          <p:cNvSpPr txBox="1"/>
          <p:nvPr/>
        </p:nvSpPr>
        <p:spPr>
          <a:xfrm>
            <a:off x="6357366" y="2811779"/>
            <a:ext cx="2434500" cy="1662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rPr b="1" i="0" lang="en" sz="900" u="none" cap="none" strike="noStrike">
                <a:solidFill>
                  <a:srgbClr val="1A3049"/>
                </a:solidFill>
                <a:latin typeface="Arial"/>
                <a:ea typeface="Arial"/>
                <a:cs typeface="Arial"/>
                <a:sym typeface="Arial"/>
              </a:rPr>
              <a:t>Moretown Elementary School</a:t>
            </a:r>
            <a:endParaRPr sz="1100"/>
          </a:p>
        </p:txBody>
      </p:sp>
      <p:sp>
        <p:nvSpPr>
          <p:cNvPr id="1212" name="Google Shape;1212;p63"/>
          <p:cNvSpPr/>
          <p:nvPr/>
        </p:nvSpPr>
        <p:spPr>
          <a:xfrm>
            <a:off x="3442716" y="3353562"/>
            <a:ext cx="150900" cy="150900"/>
          </a:xfrm>
          <a:prstGeom prst="ellipse">
            <a:avLst/>
          </a:prstGeom>
          <a:solidFill>
            <a:srgbClr val="20875E"/>
          </a:solidFill>
          <a:ln cap="flat" cmpd="sng" w="7150">
            <a:solidFill>
              <a:srgbClr val="20875E"/>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13" name="Google Shape;1213;p63"/>
          <p:cNvSpPr txBox="1"/>
          <p:nvPr/>
        </p:nvSpPr>
        <p:spPr>
          <a:xfrm>
            <a:off x="3662172" y="3305556"/>
            <a:ext cx="2434500" cy="1662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rPr b="1" i="0" lang="en" sz="900" u="none" cap="none" strike="noStrike">
                <a:solidFill>
                  <a:srgbClr val="1A3049"/>
                </a:solidFill>
                <a:latin typeface="Arial"/>
                <a:ea typeface="Arial"/>
                <a:cs typeface="Arial"/>
                <a:sym typeface="Arial"/>
              </a:rPr>
              <a:t>Waitsfield Elementary School</a:t>
            </a:r>
            <a:endParaRPr sz="1100"/>
          </a:p>
        </p:txBody>
      </p:sp>
      <p:sp>
        <p:nvSpPr>
          <p:cNvPr id="1214" name="Google Shape;1214;p63"/>
          <p:cNvSpPr/>
          <p:nvPr/>
        </p:nvSpPr>
        <p:spPr>
          <a:xfrm>
            <a:off x="6137909" y="3353562"/>
            <a:ext cx="150900" cy="150900"/>
          </a:xfrm>
          <a:prstGeom prst="ellipse">
            <a:avLst/>
          </a:prstGeom>
          <a:solidFill>
            <a:srgbClr val="8243A0"/>
          </a:solidFill>
          <a:ln cap="flat" cmpd="sng" w="7150">
            <a:solidFill>
              <a:srgbClr val="8243A0"/>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15" name="Google Shape;1215;p63"/>
          <p:cNvSpPr txBox="1"/>
          <p:nvPr/>
        </p:nvSpPr>
        <p:spPr>
          <a:xfrm>
            <a:off x="6357366" y="3305556"/>
            <a:ext cx="2434500" cy="1662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rPr b="1" i="0" lang="en" sz="900" u="none" cap="none" strike="noStrike">
                <a:solidFill>
                  <a:srgbClr val="1A3049"/>
                </a:solidFill>
                <a:latin typeface="Arial"/>
                <a:ea typeface="Arial"/>
                <a:cs typeface="Arial"/>
                <a:sym typeface="Arial"/>
              </a:rPr>
              <a:t>Fayston Elementary School</a:t>
            </a:r>
            <a:endParaRPr sz="1100"/>
          </a:p>
        </p:txBody>
      </p:sp>
      <p:sp>
        <p:nvSpPr>
          <p:cNvPr id="1216" name="Google Shape;1216;p63"/>
          <p:cNvSpPr/>
          <p:nvPr/>
        </p:nvSpPr>
        <p:spPr>
          <a:xfrm>
            <a:off x="3442716" y="3847338"/>
            <a:ext cx="150900" cy="150900"/>
          </a:xfrm>
          <a:prstGeom prst="ellipse">
            <a:avLst/>
          </a:prstGeom>
          <a:solidFill>
            <a:srgbClr val="1499A4"/>
          </a:solidFill>
          <a:ln cap="flat" cmpd="sng" w="7150">
            <a:solidFill>
              <a:srgbClr val="1499A4"/>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17" name="Google Shape;1217;p63"/>
          <p:cNvSpPr txBox="1"/>
          <p:nvPr/>
        </p:nvSpPr>
        <p:spPr>
          <a:xfrm>
            <a:off x="3662172" y="3799332"/>
            <a:ext cx="2434500" cy="1662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rPr b="1" i="0" lang="en" sz="900" u="none" cap="none" strike="noStrike">
                <a:solidFill>
                  <a:srgbClr val="1A3049"/>
                </a:solidFill>
                <a:latin typeface="Arial"/>
                <a:ea typeface="Arial"/>
                <a:cs typeface="Arial"/>
                <a:sym typeface="Arial"/>
              </a:rPr>
              <a:t>Warren Elementary School</a:t>
            </a:r>
            <a:endParaRPr sz="1100"/>
          </a:p>
        </p:txBody>
      </p:sp>
      <p:sp>
        <p:nvSpPr>
          <p:cNvPr id="1218" name="Google Shape;1218;p63"/>
          <p:cNvSpPr/>
          <p:nvPr/>
        </p:nvSpPr>
        <p:spPr>
          <a:xfrm>
            <a:off x="3415284" y="4238244"/>
            <a:ext cx="5335500" cy="493800"/>
          </a:xfrm>
          <a:prstGeom prst="roundRect">
            <a:avLst>
              <a:gd fmla="val 16667" name="adj"/>
            </a:avLst>
          </a:prstGeom>
          <a:solidFill>
            <a:srgbClr val="FFF8EC"/>
          </a:solidFill>
          <a:ln cap="flat" cmpd="sng" w="7150">
            <a:solidFill>
              <a:srgbClr val="F3BE7D"/>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19" name="Google Shape;1219;p63"/>
          <p:cNvSpPr txBox="1"/>
          <p:nvPr/>
        </p:nvSpPr>
        <p:spPr>
          <a:xfrm>
            <a:off x="3538728" y="4265676"/>
            <a:ext cx="5088600" cy="1509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rPr b="1" i="0" lang="en" sz="800" u="none" cap="none" strike="noStrike">
                <a:solidFill>
                  <a:srgbClr val="EF7E19"/>
                </a:solidFill>
                <a:latin typeface="Arial"/>
                <a:ea typeface="Arial"/>
                <a:cs typeface="Arial"/>
                <a:sym typeface="Arial"/>
              </a:rPr>
              <a:t>DISCUSSION POINT</a:t>
            </a:r>
            <a:endParaRPr sz="1100"/>
          </a:p>
        </p:txBody>
      </p:sp>
      <p:sp>
        <p:nvSpPr>
          <p:cNvPr id="1220" name="Google Shape;1220;p63"/>
          <p:cNvSpPr txBox="1"/>
          <p:nvPr/>
        </p:nvSpPr>
        <p:spPr>
          <a:xfrm>
            <a:off x="3538728" y="4443984"/>
            <a:ext cx="5088600" cy="1815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rPr lang="en" sz="1000"/>
              <a:t>We currently </a:t>
            </a:r>
            <a:r>
              <a:rPr lang="en" sz="1000"/>
              <a:t>have</a:t>
            </a:r>
            <a:r>
              <a:rPr lang="en" sz="1000"/>
              <a:t> students on Intradistrict Choice (IDC) attending CBMS from the Valley.</a:t>
            </a:r>
            <a:endParaRPr sz="1000"/>
          </a:p>
        </p:txBody>
      </p:sp>
      <p:sp>
        <p:nvSpPr>
          <p:cNvPr id="1221" name="Google Shape;1221;p63"/>
          <p:cNvSpPr/>
          <p:nvPr/>
        </p:nvSpPr>
        <p:spPr>
          <a:xfrm>
            <a:off x="1606283" y="202374"/>
            <a:ext cx="699600" cy="205800"/>
          </a:xfrm>
          <a:prstGeom prst="roundRect">
            <a:avLst>
              <a:gd fmla="val 16667" name="adj"/>
            </a:avLst>
          </a:prstGeom>
          <a:solidFill>
            <a:srgbClr val="FFFFFF"/>
          </a:solidFill>
          <a:ln cap="flat" cmpd="sng" w="7150">
            <a:solidFill>
              <a:srgbClr val="123B69"/>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0" lIns="20575" spcFirstLastPara="1" rIns="20575" wrap="square" tIns="0">
            <a:noAutofit/>
          </a:bodyPr>
          <a:lstStyle/>
          <a:p>
            <a:pPr indent="0" lvl="0" marL="0" marR="0" rtl="0" algn="ctr">
              <a:spcBef>
                <a:spcPts val="0"/>
              </a:spcBef>
              <a:spcAft>
                <a:spcPts val="0"/>
              </a:spcAft>
              <a:buNone/>
            </a:pPr>
            <a:r>
              <a:rPr b="1" i="0" lang="en" sz="600" u="none" cap="none" strike="noStrike">
                <a:solidFill>
                  <a:srgbClr val="123B69"/>
                </a:solidFill>
                <a:latin typeface="Arial"/>
                <a:ea typeface="Arial"/>
                <a:cs typeface="Arial"/>
                <a:sym typeface="Arial"/>
              </a:rPr>
              <a:t>Brookside Primary</a:t>
            </a:r>
            <a:endParaRPr sz="1100"/>
          </a:p>
        </p:txBody>
      </p:sp>
      <p:sp>
        <p:nvSpPr>
          <p:cNvPr id="1222" name="Google Shape;1222;p63"/>
          <p:cNvSpPr/>
          <p:nvPr/>
        </p:nvSpPr>
        <p:spPr>
          <a:xfrm>
            <a:off x="986009" y="1793122"/>
            <a:ext cx="699600" cy="205800"/>
          </a:xfrm>
          <a:prstGeom prst="roundRect">
            <a:avLst>
              <a:gd fmla="val 16667" name="adj"/>
            </a:avLst>
          </a:prstGeom>
          <a:solidFill>
            <a:srgbClr val="FFFFFF"/>
          </a:solidFill>
          <a:ln cap="flat" cmpd="sng" w="7150">
            <a:solidFill>
              <a:srgbClr val="1D77BE"/>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0" lIns="20575" spcFirstLastPara="1" rIns="20575" wrap="square" tIns="0">
            <a:noAutofit/>
          </a:bodyPr>
          <a:lstStyle/>
          <a:p>
            <a:pPr indent="0" lvl="0" marL="0" marR="0" rtl="0" algn="ctr">
              <a:spcBef>
                <a:spcPts val="0"/>
              </a:spcBef>
              <a:spcAft>
                <a:spcPts val="0"/>
              </a:spcAft>
              <a:buNone/>
            </a:pPr>
            <a:r>
              <a:rPr b="1" i="0" lang="en" sz="600" u="none" cap="none" strike="noStrike">
                <a:solidFill>
                  <a:srgbClr val="1D77BE"/>
                </a:solidFill>
                <a:latin typeface="Arial"/>
                <a:ea typeface="Arial"/>
                <a:cs typeface="Arial"/>
                <a:sym typeface="Arial"/>
              </a:rPr>
              <a:t>Harwood HS</a:t>
            </a:r>
            <a:endParaRPr sz="1100"/>
          </a:p>
        </p:txBody>
      </p:sp>
      <p:sp>
        <p:nvSpPr>
          <p:cNvPr id="1223" name="Google Shape;1223;p63"/>
          <p:cNvSpPr/>
          <p:nvPr/>
        </p:nvSpPr>
        <p:spPr>
          <a:xfrm>
            <a:off x="1363484" y="716410"/>
            <a:ext cx="699600" cy="205800"/>
          </a:xfrm>
          <a:prstGeom prst="roundRect">
            <a:avLst>
              <a:gd fmla="val 16667" name="adj"/>
            </a:avLst>
          </a:prstGeom>
          <a:solidFill>
            <a:srgbClr val="FFFFFF"/>
          </a:solidFill>
          <a:ln cap="flat" cmpd="sng" w="7150">
            <a:solidFill>
              <a:srgbClr val="EF7E19"/>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0" lIns="20575" spcFirstLastPara="1" rIns="20575" wrap="square" tIns="0">
            <a:noAutofit/>
          </a:bodyPr>
          <a:lstStyle/>
          <a:p>
            <a:pPr indent="0" lvl="0" marL="0" marR="0" rtl="0" algn="ctr">
              <a:spcBef>
                <a:spcPts val="0"/>
              </a:spcBef>
              <a:spcAft>
                <a:spcPts val="0"/>
              </a:spcAft>
              <a:buNone/>
            </a:pPr>
            <a:r>
              <a:rPr b="1" i="0" lang="en" sz="600" u="none" cap="none" strike="noStrike">
                <a:solidFill>
                  <a:srgbClr val="EF7E19"/>
                </a:solidFill>
                <a:latin typeface="Arial"/>
                <a:ea typeface="Arial"/>
                <a:cs typeface="Arial"/>
                <a:sym typeface="Arial"/>
              </a:rPr>
              <a:t>Crossett Brook MS</a:t>
            </a:r>
            <a:endParaRPr sz="1100"/>
          </a:p>
        </p:txBody>
      </p:sp>
      <p:sp>
        <p:nvSpPr>
          <p:cNvPr id="1224" name="Google Shape;1224;p63"/>
          <p:cNvSpPr/>
          <p:nvPr/>
        </p:nvSpPr>
        <p:spPr>
          <a:xfrm>
            <a:off x="2297429" y="1923731"/>
            <a:ext cx="699600" cy="205800"/>
          </a:xfrm>
          <a:prstGeom prst="roundRect">
            <a:avLst>
              <a:gd fmla="val 16667" name="adj"/>
            </a:avLst>
          </a:prstGeom>
          <a:solidFill>
            <a:srgbClr val="FFFFFF"/>
          </a:solidFill>
          <a:ln cap="flat" cmpd="sng" w="7150">
            <a:solidFill>
              <a:srgbClr val="CD3C3C"/>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0" lIns="20575" spcFirstLastPara="1" rIns="20575" wrap="square" tIns="0">
            <a:noAutofit/>
          </a:bodyPr>
          <a:lstStyle/>
          <a:p>
            <a:pPr indent="0" lvl="0" marL="0" marR="0" rtl="0" algn="ctr">
              <a:spcBef>
                <a:spcPts val="0"/>
              </a:spcBef>
              <a:spcAft>
                <a:spcPts val="0"/>
              </a:spcAft>
              <a:buNone/>
            </a:pPr>
            <a:r>
              <a:rPr b="1" i="0" lang="en" sz="600" u="none" cap="none" strike="noStrike">
                <a:solidFill>
                  <a:srgbClr val="CD3C3C"/>
                </a:solidFill>
                <a:latin typeface="Arial"/>
                <a:ea typeface="Arial"/>
                <a:cs typeface="Arial"/>
                <a:sym typeface="Arial"/>
              </a:rPr>
              <a:t>Moretown Elementary</a:t>
            </a:r>
            <a:endParaRPr sz="1100"/>
          </a:p>
        </p:txBody>
      </p:sp>
      <p:sp>
        <p:nvSpPr>
          <p:cNvPr id="1225" name="Google Shape;1225;p63"/>
          <p:cNvSpPr/>
          <p:nvPr/>
        </p:nvSpPr>
        <p:spPr>
          <a:xfrm>
            <a:off x="1495722" y="2977964"/>
            <a:ext cx="699600" cy="205800"/>
          </a:xfrm>
          <a:prstGeom prst="roundRect">
            <a:avLst>
              <a:gd fmla="val 16667" name="adj"/>
            </a:avLst>
          </a:prstGeom>
          <a:solidFill>
            <a:srgbClr val="FFFFFF"/>
          </a:solidFill>
          <a:ln cap="flat" cmpd="sng" w="7150">
            <a:solidFill>
              <a:srgbClr val="20875E"/>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0" lIns="20575" spcFirstLastPara="1" rIns="20575" wrap="square" tIns="0">
            <a:noAutofit/>
          </a:bodyPr>
          <a:lstStyle/>
          <a:p>
            <a:pPr indent="0" lvl="0" marL="0" marR="0" rtl="0" algn="ctr">
              <a:spcBef>
                <a:spcPts val="0"/>
              </a:spcBef>
              <a:spcAft>
                <a:spcPts val="0"/>
              </a:spcAft>
              <a:buNone/>
            </a:pPr>
            <a:r>
              <a:rPr b="1" i="0" lang="en" sz="600" u="none" cap="none" strike="noStrike">
                <a:solidFill>
                  <a:srgbClr val="20875E"/>
                </a:solidFill>
                <a:latin typeface="Arial"/>
                <a:ea typeface="Arial"/>
                <a:cs typeface="Arial"/>
                <a:sym typeface="Arial"/>
              </a:rPr>
              <a:t>Waitsfield Elementary</a:t>
            </a:r>
            <a:endParaRPr sz="1100"/>
          </a:p>
        </p:txBody>
      </p:sp>
      <p:sp>
        <p:nvSpPr>
          <p:cNvPr id="1226" name="Google Shape;1226;p63"/>
          <p:cNvSpPr/>
          <p:nvPr/>
        </p:nvSpPr>
        <p:spPr>
          <a:xfrm>
            <a:off x="198838" y="2917442"/>
            <a:ext cx="699600" cy="205800"/>
          </a:xfrm>
          <a:prstGeom prst="roundRect">
            <a:avLst>
              <a:gd fmla="val 16667" name="adj"/>
            </a:avLst>
          </a:prstGeom>
          <a:solidFill>
            <a:srgbClr val="FFFFFF"/>
          </a:solidFill>
          <a:ln cap="flat" cmpd="sng" w="7150">
            <a:solidFill>
              <a:srgbClr val="8243A0"/>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0" lIns="20575" spcFirstLastPara="1" rIns="20575" wrap="square" tIns="0">
            <a:noAutofit/>
          </a:bodyPr>
          <a:lstStyle/>
          <a:p>
            <a:pPr indent="0" lvl="0" marL="0" marR="0" rtl="0" algn="ctr">
              <a:spcBef>
                <a:spcPts val="0"/>
              </a:spcBef>
              <a:spcAft>
                <a:spcPts val="0"/>
              </a:spcAft>
              <a:buNone/>
            </a:pPr>
            <a:r>
              <a:rPr b="1" i="0" lang="en" sz="600" u="none" cap="none" strike="noStrike">
                <a:solidFill>
                  <a:srgbClr val="8243A0"/>
                </a:solidFill>
                <a:latin typeface="Arial"/>
                <a:ea typeface="Arial"/>
                <a:cs typeface="Arial"/>
                <a:sym typeface="Arial"/>
              </a:rPr>
              <a:t>Fayston Elementary</a:t>
            </a:r>
            <a:endParaRPr sz="1100"/>
          </a:p>
        </p:txBody>
      </p:sp>
      <p:sp>
        <p:nvSpPr>
          <p:cNvPr id="1227" name="Google Shape;1227;p63"/>
          <p:cNvSpPr/>
          <p:nvPr/>
        </p:nvSpPr>
        <p:spPr>
          <a:xfrm>
            <a:off x="1080607" y="4341114"/>
            <a:ext cx="699600" cy="205800"/>
          </a:xfrm>
          <a:prstGeom prst="roundRect">
            <a:avLst>
              <a:gd fmla="val 16667" name="adj"/>
            </a:avLst>
          </a:prstGeom>
          <a:solidFill>
            <a:srgbClr val="FFFFFF"/>
          </a:solidFill>
          <a:ln cap="flat" cmpd="sng" w="7150">
            <a:solidFill>
              <a:srgbClr val="1499A4"/>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0" lIns="20575" spcFirstLastPara="1" rIns="20575" wrap="square" tIns="0">
            <a:noAutofit/>
          </a:bodyPr>
          <a:lstStyle/>
          <a:p>
            <a:pPr indent="0" lvl="0" marL="0" marR="0" rtl="0" algn="ctr">
              <a:spcBef>
                <a:spcPts val="0"/>
              </a:spcBef>
              <a:spcAft>
                <a:spcPts val="0"/>
              </a:spcAft>
              <a:buNone/>
            </a:pPr>
            <a:r>
              <a:rPr b="1" i="0" lang="en" sz="600" u="none" cap="none" strike="noStrike">
                <a:solidFill>
                  <a:srgbClr val="1499A4"/>
                </a:solidFill>
                <a:latin typeface="Arial"/>
                <a:ea typeface="Arial"/>
                <a:cs typeface="Arial"/>
                <a:sym typeface="Arial"/>
              </a:rPr>
              <a:t>Warren Elementary</a:t>
            </a:r>
            <a:endParaRPr sz="1100"/>
          </a:p>
        </p:txBody>
      </p:sp>
      <p:sp>
        <p:nvSpPr>
          <p:cNvPr id="1228" name="Google Shape;1228;p63"/>
          <p:cNvSpPr txBox="1"/>
          <p:nvPr/>
        </p:nvSpPr>
        <p:spPr>
          <a:xfrm>
            <a:off x="178308" y="4814316"/>
            <a:ext cx="2757000" cy="120000"/>
          </a:xfrm>
          <a:prstGeom prst="rect">
            <a:avLst/>
          </a:prstGeom>
          <a:noFill/>
          <a:ln>
            <a:noFill/>
          </a:ln>
        </p:spPr>
        <p:txBody>
          <a:bodyPr anchorCtr="0" anchor="ctr" bIns="13700" lIns="41150" spcFirstLastPara="1" rIns="41150" wrap="square" tIns="13700">
            <a:spAutoFit/>
          </a:bodyPr>
          <a:lstStyle/>
          <a:p>
            <a:pPr indent="0" lvl="0" marL="0" marR="0" rtl="0" algn="l">
              <a:spcBef>
                <a:spcPts val="0"/>
              </a:spcBef>
              <a:spcAft>
                <a:spcPts val="0"/>
              </a:spcAft>
              <a:buNone/>
            </a:pPr>
            <a:r>
              <a:rPr b="0" i="0" lang="en" sz="600" u="none" cap="none" strike="noStrike">
                <a:solidFill>
                  <a:srgbClr val="647382"/>
                </a:solidFill>
                <a:latin typeface="Arial"/>
                <a:ea typeface="Arial"/>
                <a:cs typeface="Arial"/>
                <a:sym typeface="Arial"/>
              </a:rPr>
              <a:t>Map reference supplied by HUUSD • labels are editable</a:t>
            </a:r>
            <a:endParaRPr sz="11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2" name="Shape 1232"/>
        <p:cNvGrpSpPr/>
        <p:nvPr/>
      </p:nvGrpSpPr>
      <p:grpSpPr>
        <a:xfrm>
          <a:off x="0" y="0"/>
          <a:ext cx="0" cy="0"/>
          <a:chOff x="0" y="0"/>
          <a:chExt cx="0" cy="0"/>
        </a:xfrm>
      </p:grpSpPr>
      <p:sp>
        <p:nvSpPr>
          <p:cNvPr id="1233" name="Google Shape;1233;p64"/>
          <p:cNvSpPr/>
          <p:nvPr/>
        </p:nvSpPr>
        <p:spPr>
          <a:xfrm>
            <a:off x="0" y="0"/>
            <a:ext cx="9143700" cy="788700"/>
          </a:xfrm>
          <a:prstGeom prst="rect">
            <a:avLst/>
          </a:prstGeom>
          <a:solidFill>
            <a:srgbClr val="1B3552"/>
          </a:solidFill>
          <a:ln>
            <a:noFill/>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34" name="Google Shape;1234;p64"/>
          <p:cNvSpPr txBox="1"/>
          <p:nvPr/>
        </p:nvSpPr>
        <p:spPr>
          <a:xfrm>
            <a:off x="377190" y="123444"/>
            <a:ext cx="8367000" cy="361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900" u="none" cap="none" strike="noStrike">
                <a:solidFill>
                  <a:srgbClr val="FFFFFF"/>
                </a:solidFill>
              </a:rPr>
              <a:t>ELEMENTARY CONSOLIDATION: SIX POSSIBLE SCENARIOS</a:t>
            </a:r>
            <a:endParaRPr sz="1100"/>
          </a:p>
        </p:txBody>
      </p:sp>
      <p:sp>
        <p:nvSpPr>
          <p:cNvPr id="1235" name="Google Shape;1235;p64"/>
          <p:cNvSpPr txBox="1"/>
          <p:nvPr/>
        </p:nvSpPr>
        <p:spPr>
          <a:xfrm>
            <a:off x="397764" y="500634"/>
            <a:ext cx="8229600" cy="361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800" u="none" cap="none" strike="noStrike">
                <a:solidFill>
                  <a:srgbClr val="E2EBF1"/>
                </a:solidFill>
                <a:latin typeface="Arial"/>
                <a:ea typeface="Arial"/>
                <a:cs typeface="Arial"/>
                <a:sym typeface="Arial"/>
              </a:rPr>
              <a:t>Compare the six combinations</a:t>
            </a:r>
            <a:r>
              <a:rPr lang="en" sz="800">
                <a:solidFill>
                  <a:srgbClr val="E2EBF1"/>
                </a:solidFill>
              </a:rPr>
              <a:t>, </a:t>
            </a:r>
            <a:r>
              <a:rPr lang="en" sz="800">
                <a:solidFill>
                  <a:srgbClr val="E0EEF5"/>
                </a:solidFill>
              </a:rPr>
              <a:t>w</a:t>
            </a:r>
            <a:r>
              <a:rPr lang="en" sz="800">
                <a:solidFill>
                  <a:srgbClr val="E0EEF5"/>
                </a:solidFill>
              </a:rPr>
              <a:t>hich schools are best equipped to serve students in a sustainable future configuration?</a:t>
            </a:r>
            <a:endParaRPr sz="900">
              <a:solidFill>
                <a:schemeClr val="dk1"/>
              </a:solidFill>
            </a:endParaRPr>
          </a:p>
          <a:p>
            <a:pPr indent="0" lvl="0" marL="0" marR="0" rtl="0" algn="l">
              <a:spcBef>
                <a:spcPts val="0"/>
              </a:spcBef>
              <a:spcAft>
                <a:spcPts val="0"/>
              </a:spcAft>
              <a:buNone/>
            </a:pPr>
            <a:r>
              <a:t/>
            </a:r>
            <a:endParaRPr sz="1100"/>
          </a:p>
        </p:txBody>
      </p:sp>
      <p:sp>
        <p:nvSpPr>
          <p:cNvPr id="1236" name="Google Shape;1236;p64"/>
          <p:cNvSpPr txBox="1"/>
          <p:nvPr/>
        </p:nvSpPr>
        <p:spPr>
          <a:xfrm>
            <a:off x="397764" y="905256"/>
            <a:ext cx="82983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rgbClr val="1B3552"/>
                </a:solidFill>
                <a:latin typeface="Arial"/>
                <a:ea typeface="Arial"/>
                <a:cs typeface="Arial"/>
                <a:sym typeface="Arial"/>
              </a:rPr>
              <a:t>SCORING:  5 = Strong fit   •   4 = Good fit   •   3 = Adequate   •   2 = Challenging   •   1 = Poor fit   </a:t>
            </a:r>
            <a:endParaRPr sz="1100"/>
          </a:p>
        </p:txBody>
      </p:sp>
      <p:graphicFrame>
        <p:nvGraphicFramePr>
          <p:cNvPr id="1237" name="Google Shape;1237;p64"/>
          <p:cNvGraphicFramePr/>
          <p:nvPr/>
        </p:nvGraphicFramePr>
        <p:xfrm>
          <a:off x="377190" y="1248156"/>
          <a:ext cx="3000000" cy="3000000"/>
        </p:xfrm>
        <a:graphic>
          <a:graphicData uri="http://schemas.openxmlformats.org/drawingml/2006/table">
            <a:tbl>
              <a:tblPr bandRow="1" firstRow="1">
                <a:noFill/>
                <a:tableStyleId>{F59AC9E0-F204-4E01-998C-C9AF3E462FDF}</a:tableStyleId>
              </a:tblPr>
              <a:tblGrid>
                <a:gridCol w="1199250"/>
                <a:gridCol w="995325"/>
                <a:gridCol w="1083575"/>
                <a:gridCol w="1131575"/>
                <a:gridCol w="1131575"/>
                <a:gridCol w="1200150"/>
                <a:gridCol w="1645925"/>
              </a:tblGrid>
              <a:tr h="397775">
                <a:tc>
                  <a:txBody>
                    <a:bodyPr/>
                    <a:lstStyle/>
                    <a:p>
                      <a:pPr indent="0" lvl="0" marL="0" marR="0" rtl="0" algn="ctr">
                        <a:spcBef>
                          <a:spcPts val="0"/>
                        </a:spcBef>
                        <a:spcAft>
                          <a:spcPts val="0"/>
                        </a:spcAft>
                        <a:buNone/>
                      </a:pPr>
                      <a:r>
                        <a:rPr lang="en" sz="700" u="none" cap="none" strike="noStrike">
                          <a:solidFill>
                            <a:srgbClr val="FFFFFF"/>
                          </a:solidFill>
                          <a:latin typeface="Inter"/>
                          <a:ea typeface="Inter"/>
                          <a:cs typeface="Inter"/>
                          <a:sym typeface="Inter"/>
                        </a:rPr>
                        <a:t>SCENARIO</a:t>
                      </a:r>
                      <a:endParaRPr sz="1100">
                        <a:latin typeface="Inter"/>
                        <a:ea typeface="Inter"/>
                        <a:cs typeface="Inter"/>
                        <a:sym typeface="Inter"/>
                      </a:endParaRPr>
                    </a:p>
                    <a:p>
                      <a:pPr indent="0" lvl="0" marL="0" marR="0" rtl="0" algn="ctr">
                        <a:spcBef>
                          <a:spcPts val="0"/>
                        </a:spcBef>
                        <a:spcAft>
                          <a:spcPts val="0"/>
                        </a:spcAft>
                        <a:buNone/>
                      </a:pPr>
                      <a:r>
                        <a:rPr lang="en" sz="700" u="none" cap="none" strike="noStrike">
                          <a:solidFill>
                            <a:srgbClr val="FFFFFF"/>
                          </a:solidFill>
                          <a:latin typeface="Inter"/>
                          <a:ea typeface="Inter"/>
                          <a:cs typeface="Inter"/>
                          <a:sym typeface="Inter"/>
                        </a:rPr>
                        <a:t>Schools staying open</a:t>
                      </a:r>
                      <a:endParaRPr sz="1100">
                        <a:latin typeface="Inter"/>
                        <a:ea typeface="Inter"/>
                        <a:cs typeface="Inter"/>
                        <a:sym typeface="Inter"/>
                      </a:endParaRPr>
                    </a:p>
                  </a:txBody>
                  <a:tcPr marT="27425" marB="20575" marR="41150" marL="48000" anchor="ctr">
                    <a:solidFill>
                      <a:srgbClr val="2B707A"/>
                    </a:solidFill>
                  </a:tcPr>
                </a:tc>
                <a:tc>
                  <a:txBody>
                    <a:bodyPr/>
                    <a:lstStyle/>
                    <a:p>
                      <a:pPr indent="0" lvl="0" marL="0" marR="0" rtl="0" algn="ctr">
                        <a:spcBef>
                          <a:spcPts val="0"/>
                        </a:spcBef>
                        <a:spcAft>
                          <a:spcPts val="0"/>
                        </a:spcAft>
                        <a:buNone/>
                      </a:pPr>
                      <a:r>
                        <a:rPr lang="en" sz="700" u="none" cap="none" strike="noStrike">
                          <a:solidFill>
                            <a:srgbClr val="FFFFFF"/>
                          </a:solidFill>
                          <a:latin typeface="Inter"/>
                          <a:ea typeface="Inter"/>
                          <a:cs typeface="Inter"/>
                          <a:sym typeface="Inter"/>
                        </a:rPr>
                        <a:t>Enrollment &amp;</a:t>
                      </a:r>
                      <a:endParaRPr sz="1100">
                        <a:latin typeface="Inter"/>
                        <a:ea typeface="Inter"/>
                        <a:cs typeface="Inter"/>
                        <a:sym typeface="Inter"/>
                      </a:endParaRPr>
                    </a:p>
                    <a:p>
                      <a:pPr indent="0" lvl="0" marL="0" marR="0" rtl="0" algn="ctr">
                        <a:spcBef>
                          <a:spcPts val="0"/>
                        </a:spcBef>
                        <a:spcAft>
                          <a:spcPts val="0"/>
                        </a:spcAft>
                        <a:buNone/>
                      </a:pPr>
                      <a:r>
                        <a:rPr lang="en" sz="700" u="none" cap="none" strike="noStrike">
                          <a:solidFill>
                            <a:srgbClr val="FFFFFF"/>
                          </a:solidFill>
                          <a:latin typeface="Inter"/>
                          <a:ea typeface="Inter"/>
                          <a:cs typeface="Inter"/>
                          <a:sym typeface="Inter"/>
                        </a:rPr>
                        <a:t>receiving capacity</a:t>
                      </a:r>
                      <a:endParaRPr sz="1100">
                        <a:latin typeface="Inter"/>
                        <a:ea typeface="Inter"/>
                        <a:cs typeface="Inter"/>
                        <a:sym typeface="Inter"/>
                      </a:endParaRPr>
                    </a:p>
                  </a:txBody>
                  <a:tcPr marT="27425" marB="20575" marR="41150" marL="48000" anchor="ctr">
                    <a:solidFill>
                      <a:srgbClr val="2B707A"/>
                    </a:solidFill>
                  </a:tcPr>
                </a:tc>
                <a:tc>
                  <a:txBody>
                    <a:bodyPr/>
                    <a:lstStyle/>
                    <a:p>
                      <a:pPr indent="0" lvl="0" marL="0" marR="0" rtl="0" algn="ctr">
                        <a:spcBef>
                          <a:spcPts val="0"/>
                        </a:spcBef>
                        <a:spcAft>
                          <a:spcPts val="0"/>
                        </a:spcAft>
                        <a:buNone/>
                      </a:pPr>
                      <a:r>
                        <a:rPr lang="en" sz="700" u="none" cap="none" strike="noStrike">
                          <a:solidFill>
                            <a:srgbClr val="FFFFFF"/>
                          </a:solidFill>
                          <a:latin typeface="Inter"/>
                          <a:ea typeface="Inter"/>
                          <a:cs typeface="Inter"/>
                          <a:sym typeface="Inter"/>
                        </a:rPr>
                        <a:t>Building condition &amp;</a:t>
                      </a:r>
                      <a:endParaRPr sz="1100">
                        <a:latin typeface="Inter"/>
                        <a:ea typeface="Inter"/>
                        <a:cs typeface="Inter"/>
                        <a:sym typeface="Inter"/>
                      </a:endParaRPr>
                    </a:p>
                    <a:p>
                      <a:pPr indent="0" lvl="0" marL="0" marR="0" rtl="0" algn="ctr">
                        <a:spcBef>
                          <a:spcPts val="0"/>
                        </a:spcBef>
                        <a:spcAft>
                          <a:spcPts val="0"/>
                        </a:spcAft>
                        <a:buNone/>
                      </a:pPr>
                      <a:r>
                        <a:rPr lang="en" sz="700" u="none" cap="none" strike="noStrike">
                          <a:solidFill>
                            <a:srgbClr val="FFFFFF"/>
                          </a:solidFill>
                          <a:latin typeface="Inter"/>
                          <a:ea typeface="Inter"/>
                          <a:cs typeface="Inter"/>
                          <a:sym typeface="Inter"/>
                        </a:rPr>
                        <a:t>capital needs</a:t>
                      </a:r>
                      <a:endParaRPr sz="1100">
                        <a:latin typeface="Inter"/>
                        <a:ea typeface="Inter"/>
                        <a:cs typeface="Inter"/>
                        <a:sym typeface="Inter"/>
                      </a:endParaRPr>
                    </a:p>
                  </a:txBody>
                  <a:tcPr marT="27425" marB="20575" marR="41150" marL="48000" anchor="ctr">
                    <a:solidFill>
                      <a:srgbClr val="2B707A"/>
                    </a:solidFill>
                  </a:tcPr>
                </a:tc>
                <a:tc>
                  <a:txBody>
                    <a:bodyPr/>
                    <a:lstStyle/>
                    <a:p>
                      <a:pPr indent="0" lvl="0" marL="0" marR="0" rtl="0" algn="ctr">
                        <a:spcBef>
                          <a:spcPts val="0"/>
                        </a:spcBef>
                        <a:spcAft>
                          <a:spcPts val="0"/>
                        </a:spcAft>
                        <a:buNone/>
                      </a:pPr>
                      <a:r>
                        <a:rPr lang="en" sz="700" u="none" cap="none" strike="noStrike">
                          <a:solidFill>
                            <a:srgbClr val="FFFFFF"/>
                          </a:solidFill>
                          <a:latin typeface="Inter"/>
                          <a:ea typeface="Inter"/>
                          <a:cs typeface="Inter"/>
                          <a:sym typeface="Inter"/>
                        </a:rPr>
                        <a:t>Kitchen &amp;</a:t>
                      </a:r>
                      <a:endParaRPr sz="1100">
                        <a:latin typeface="Inter"/>
                        <a:ea typeface="Inter"/>
                        <a:cs typeface="Inter"/>
                        <a:sym typeface="Inter"/>
                      </a:endParaRPr>
                    </a:p>
                    <a:p>
                      <a:pPr indent="0" lvl="0" marL="0" marR="0" rtl="0" algn="ctr">
                        <a:spcBef>
                          <a:spcPts val="0"/>
                        </a:spcBef>
                        <a:spcAft>
                          <a:spcPts val="0"/>
                        </a:spcAft>
                        <a:buNone/>
                      </a:pPr>
                      <a:r>
                        <a:rPr lang="en" sz="700" u="none" cap="none" strike="noStrike">
                          <a:solidFill>
                            <a:srgbClr val="FFFFFF"/>
                          </a:solidFill>
                          <a:latin typeface="Inter"/>
                          <a:ea typeface="Inter"/>
                          <a:cs typeface="Inter"/>
                          <a:sym typeface="Inter"/>
                        </a:rPr>
                        <a:t>meal operations</a:t>
                      </a:r>
                      <a:endParaRPr sz="1100">
                        <a:latin typeface="Inter"/>
                        <a:ea typeface="Inter"/>
                        <a:cs typeface="Inter"/>
                        <a:sym typeface="Inter"/>
                      </a:endParaRPr>
                    </a:p>
                  </a:txBody>
                  <a:tcPr marT="27425" marB="20575" marR="41150" marL="48000" anchor="ctr">
                    <a:solidFill>
                      <a:srgbClr val="2B707A"/>
                    </a:solidFill>
                  </a:tcPr>
                </a:tc>
                <a:tc>
                  <a:txBody>
                    <a:bodyPr/>
                    <a:lstStyle/>
                    <a:p>
                      <a:pPr indent="0" lvl="0" marL="0" marR="0" rtl="0" algn="ctr">
                        <a:spcBef>
                          <a:spcPts val="0"/>
                        </a:spcBef>
                        <a:spcAft>
                          <a:spcPts val="0"/>
                        </a:spcAft>
                        <a:buNone/>
                      </a:pPr>
                      <a:r>
                        <a:rPr lang="en" sz="700" u="none" cap="none" strike="noStrike">
                          <a:solidFill>
                            <a:srgbClr val="FFFFFF"/>
                          </a:solidFill>
                          <a:latin typeface="Inter"/>
                          <a:ea typeface="Inter"/>
                          <a:cs typeface="Inter"/>
                          <a:sym typeface="Inter"/>
                        </a:rPr>
                        <a:t>Wastewater</a:t>
                      </a:r>
                      <a:endParaRPr sz="1100">
                        <a:latin typeface="Inter"/>
                        <a:ea typeface="Inter"/>
                        <a:cs typeface="Inter"/>
                        <a:sym typeface="Inter"/>
                      </a:endParaRPr>
                    </a:p>
                    <a:p>
                      <a:pPr indent="0" lvl="0" marL="0" marR="0" rtl="0" algn="ctr">
                        <a:spcBef>
                          <a:spcPts val="0"/>
                        </a:spcBef>
                        <a:spcAft>
                          <a:spcPts val="0"/>
                        </a:spcAft>
                        <a:buNone/>
                      </a:pPr>
                      <a:r>
                        <a:rPr lang="en" sz="700" u="none" cap="none" strike="noStrike">
                          <a:solidFill>
                            <a:srgbClr val="FFFFFF"/>
                          </a:solidFill>
                          <a:latin typeface="Inter"/>
                          <a:ea typeface="Inter"/>
                          <a:cs typeface="Inter"/>
                          <a:sym typeface="Inter"/>
                        </a:rPr>
                        <a:t>feasibility</a:t>
                      </a:r>
                      <a:endParaRPr sz="1100">
                        <a:latin typeface="Inter"/>
                        <a:ea typeface="Inter"/>
                        <a:cs typeface="Inter"/>
                        <a:sym typeface="Inter"/>
                      </a:endParaRPr>
                    </a:p>
                  </a:txBody>
                  <a:tcPr marT="27425" marB="20575" marR="41150" marL="48000" anchor="ctr">
                    <a:solidFill>
                      <a:srgbClr val="2B707A"/>
                    </a:solidFill>
                  </a:tcPr>
                </a:tc>
                <a:tc>
                  <a:txBody>
                    <a:bodyPr/>
                    <a:lstStyle/>
                    <a:p>
                      <a:pPr indent="0" lvl="0" marL="0" marR="0" rtl="0" algn="ctr">
                        <a:spcBef>
                          <a:spcPts val="0"/>
                        </a:spcBef>
                        <a:spcAft>
                          <a:spcPts val="0"/>
                        </a:spcAft>
                        <a:buNone/>
                      </a:pPr>
                      <a:r>
                        <a:rPr lang="en" sz="700">
                          <a:latin typeface="Inter"/>
                          <a:ea typeface="Inter"/>
                          <a:cs typeface="Inter"/>
                          <a:sym typeface="Inter"/>
                        </a:rPr>
                        <a:t>Ranking of school combination</a:t>
                      </a:r>
                      <a:endParaRPr sz="700">
                        <a:latin typeface="Inter"/>
                        <a:ea typeface="Inter"/>
                        <a:cs typeface="Inter"/>
                        <a:sym typeface="Inter"/>
                      </a:endParaRPr>
                    </a:p>
                  </a:txBody>
                  <a:tcPr marT="27425" marB="20575" marR="41150" marL="48000" anchor="ctr">
                    <a:solidFill>
                      <a:srgbClr val="2B707A"/>
                    </a:solidFill>
                  </a:tcPr>
                </a:tc>
                <a:tc>
                  <a:txBody>
                    <a:bodyPr/>
                    <a:lstStyle/>
                    <a:p>
                      <a:pPr indent="0" lvl="0" marL="0" marR="0" rtl="0" algn="ctr">
                        <a:spcBef>
                          <a:spcPts val="0"/>
                        </a:spcBef>
                        <a:spcAft>
                          <a:spcPts val="0"/>
                        </a:spcAft>
                        <a:buNone/>
                      </a:pPr>
                      <a:r>
                        <a:rPr lang="en" sz="700">
                          <a:solidFill>
                            <a:srgbClr val="FFFFFF"/>
                          </a:solidFill>
                          <a:latin typeface="Inter"/>
                          <a:ea typeface="Inter"/>
                          <a:cs typeface="Inter"/>
                          <a:sym typeface="Inter"/>
                        </a:rPr>
                        <a:t>Total</a:t>
                      </a:r>
                      <a:r>
                        <a:rPr lang="en" sz="700" u="none" cap="none" strike="noStrike">
                          <a:solidFill>
                            <a:srgbClr val="FFFFFF"/>
                          </a:solidFill>
                          <a:latin typeface="Inter"/>
                          <a:ea typeface="Inter"/>
                          <a:cs typeface="Inter"/>
                          <a:sym typeface="Inter"/>
                        </a:rPr>
                        <a:t> score </a:t>
                      </a:r>
                      <a:endParaRPr sz="1100">
                        <a:latin typeface="Inter"/>
                        <a:ea typeface="Inter"/>
                        <a:cs typeface="Inter"/>
                        <a:sym typeface="Inter"/>
                      </a:endParaRPr>
                    </a:p>
                    <a:p>
                      <a:pPr indent="0" lvl="0" marL="0" marR="0" rtl="0" algn="l">
                        <a:spcBef>
                          <a:spcPts val="0"/>
                        </a:spcBef>
                        <a:spcAft>
                          <a:spcPts val="0"/>
                        </a:spcAft>
                        <a:buNone/>
                      </a:pPr>
                      <a:r>
                        <a:t/>
                      </a:r>
                      <a:endParaRPr sz="1100">
                        <a:latin typeface="Inter"/>
                        <a:ea typeface="Inter"/>
                        <a:cs typeface="Inter"/>
                        <a:sym typeface="Inter"/>
                      </a:endParaRPr>
                    </a:p>
                  </a:txBody>
                  <a:tcPr marT="27425" marB="20575" marR="41150" marL="48000" anchor="ctr">
                    <a:solidFill>
                      <a:srgbClr val="2B707A"/>
                    </a:solidFill>
                  </a:tcPr>
                </a:tc>
              </a:tr>
              <a:tr h="473200">
                <a:tc>
                  <a:txBody>
                    <a:bodyPr/>
                    <a:lstStyle/>
                    <a:p>
                      <a:pPr indent="0" lvl="0" marL="0" marR="0" rtl="0" algn="l">
                        <a:spcBef>
                          <a:spcPts val="0"/>
                        </a:spcBef>
                        <a:spcAft>
                          <a:spcPts val="0"/>
                        </a:spcAft>
                        <a:buNone/>
                      </a:pPr>
                      <a:r>
                        <a:rPr b="1" lang="en" sz="700" u="none" cap="none" strike="noStrike">
                          <a:solidFill>
                            <a:srgbClr val="1B3552"/>
                          </a:solidFill>
                          <a:latin typeface="Inter"/>
                          <a:ea typeface="Inter"/>
                          <a:cs typeface="Inter"/>
                          <a:sym typeface="Inter"/>
                        </a:rPr>
                        <a:t>1  Moretown + Fayston</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l">
                        <a:spcBef>
                          <a:spcPts val="0"/>
                        </a:spcBef>
                        <a:spcAft>
                          <a:spcPts val="0"/>
                        </a:spcAft>
                        <a:buNone/>
                      </a:pPr>
                      <a:r>
                        <a:rPr lang="en" sz="600" u="none" cap="none" strike="noStrike">
                          <a:solidFill>
                            <a:srgbClr val="64707C"/>
                          </a:solidFill>
                          <a:latin typeface="Inter"/>
                          <a:ea typeface="Inter"/>
                          <a:cs typeface="Inter"/>
                          <a:sym typeface="Inter"/>
                        </a:rPr>
                        <a:t>Total: ___ </a:t>
                      </a:r>
                      <a:endParaRPr sz="1100">
                        <a:latin typeface="Inter"/>
                        <a:ea typeface="Inter"/>
                        <a:cs typeface="Inter"/>
                        <a:sym typeface="Inter"/>
                      </a:endParaRPr>
                    </a:p>
                  </a:txBody>
                  <a:tcPr marT="27425" marB="20575" marR="34300" marL="48000" anchor="ctr">
                    <a:solidFill>
                      <a:srgbClr val="F5F7F9"/>
                    </a:solidFill>
                  </a:tcPr>
                </a:tc>
              </a:tr>
              <a:tr h="473200">
                <a:tc>
                  <a:txBody>
                    <a:bodyPr/>
                    <a:lstStyle/>
                    <a:p>
                      <a:pPr indent="0" lvl="0" marL="0" marR="0" rtl="0" algn="l">
                        <a:spcBef>
                          <a:spcPts val="0"/>
                        </a:spcBef>
                        <a:spcAft>
                          <a:spcPts val="0"/>
                        </a:spcAft>
                        <a:buNone/>
                      </a:pPr>
                      <a:r>
                        <a:rPr b="1" lang="en" sz="700" u="none" cap="none" strike="noStrike">
                          <a:solidFill>
                            <a:srgbClr val="1B3552"/>
                          </a:solidFill>
                          <a:latin typeface="Inter"/>
                          <a:ea typeface="Inter"/>
                          <a:cs typeface="Inter"/>
                          <a:sym typeface="Inter"/>
                        </a:rPr>
                        <a:t>2  Moretown + Waitsfield</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l">
                        <a:spcBef>
                          <a:spcPts val="0"/>
                        </a:spcBef>
                        <a:spcAft>
                          <a:spcPts val="0"/>
                        </a:spcAft>
                        <a:buNone/>
                      </a:pPr>
                      <a:r>
                        <a:rPr lang="en" sz="600" u="none" cap="none" strike="noStrike">
                          <a:solidFill>
                            <a:srgbClr val="64707C"/>
                          </a:solidFill>
                          <a:latin typeface="Inter"/>
                          <a:ea typeface="Inter"/>
                          <a:cs typeface="Inter"/>
                          <a:sym typeface="Inter"/>
                        </a:rPr>
                        <a:t>Total: ___ </a:t>
                      </a:r>
                      <a:endParaRPr sz="1100">
                        <a:latin typeface="Inter"/>
                        <a:ea typeface="Inter"/>
                        <a:cs typeface="Inter"/>
                        <a:sym typeface="Inter"/>
                      </a:endParaRPr>
                    </a:p>
                  </a:txBody>
                  <a:tcPr marT="27425" marB="20575" marR="34300" marL="48000" anchor="ctr">
                    <a:solidFill>
                      <a:srgbClr val="FFFFFF"/>
                    </a:solidFill>
                  </a:tcPr>
                </a:tc>
              </a:tr>
              <a:tr h="473200">
                <a:tc>
                  <a:txBody>
                    <a:bodyPr/>
                    <a:lstStyle/>
                    <a:p>
                      <a:pPr indent="0" lvl="0" marL="0" marR="0" rtl="0" algn="l">
                        <a:spcBef>
                          <a:spcPts val="0"/>
                        </a:spcBef>
                        <a:spcAft>
                          <a:spcPts val="0"/>
                        </a:spcAft>
                        <a:buNone/>
                      </a:pPr>
                      <a:r>
                        <a:rPr b="1" lang="en" sz="700" u="none" cap="none" strike="noStrike">
                          <a:solidFill>
                            <a:srgbClr val="1B3552"/>
                          </a:solidFill>
                          <a:latin typeface="Inter"/>
                          <a:ea typeface="Inter"/>
                          <a:cs typeface="Inter"/>
                          <a:sym typeface="Inter"/>
                        </a:rPr>
                        <a:t>3  Moretown + Warren</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l">
                        <a:spcBef>
                          <a:spcPts val="0"/>
                        </a:spcBef>
                        <a:spcAft>
                          <a:spcPts val="0"/>
                        </a:spcAft>
                        <a:buNone/>
                      </a:pPr>
                      <a:r>
                        <a:rPr lang="en" sz="600" u="none" cap="none" strike="noStrike">
                          <a:solidFill>
                            <a:srgbClr val="64707C"/>
                          </a:solidFill>
                          <a:latin typeface="Inter"/>
                          <a:ea typeface="Inter"/>
                          <a:cs typeface="Inter"/>
                          <a:sym typeface="Inter"/>
                        </a:rPr>
                        <a:t>Total: ___ </a:t>
                      </a:r>
                      <a:endParaRPr sz="1100">
                        <a:latin typeface="Inter"/>
                        <a:ea typeface="Inter"/>
                        <a:cs typeface="Inter"/>
                        <a:sym typeface="Inter"/>
                      </a:endParaRPr>
                    </a:p>
                  </a:txBody>
                  <a:tcPr marT="27425" marB="20575" marR="34300" marL="48000" anchor="ctr">
                    <a:solidFill>
                      <a:srgbClr val="F5F7F9"/>
                    </a:solidFill>
                  </a:tcPr>
                </a:tc>
              </a:tr>
              <a:tr h="473200">
                <a:tc>
                  <a:txBody>
                    <a:bodyPr/>
                    <a:lstStyle/>
                    <a:p>
                      <a:pPr indent="0" lvl="0" marL="0" marR="0" rtl="0" algn="l">
                        <a:spcBef>
                          <a:spcPts val="0"/>
                        </a:spcBef>
                        <a:spcAft>
                          <a:spcPts val="0"/>
                        </a:spcAft>
                        <a:buNone/>
                      </a:pPr>
                      <a:r>
                        <a:rPr b="1" lang="en" sz="700" u="none" cap="none" strike="noStrike">
                          <a:solidFill>
                            <a:srgbClr val="1B3552"/>
                          </a:solidFill>
                          <a:latin typeface="Inter"/>
                          <a:ea typeface="Inter"/>
                          <a:cs typeface="Inter"/>
                          <a:sym typeface="Inter"/>
                        </a:rPr>
                        <a:t>4  Fayston + Waitsfield</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l">
                        <a:spcBef>
                          <a:spcPts val="0"/>
                        </a:spcBef>
                        <a:spcAft>
                          <a:spcPts val="0"/>
                        </a:spcAft>
                        <a:buNone/>
                      </a:pPr>
                      <a:r>
                        <a:rPr lang="en" sz="600" u="none" cap="none" strike="noStrike">
                          <a:solidFill>
                            <a:srgbClr val="64707C"/>
                          </a:solidFill>
                          <a:latin typeface="Inter"/>
                          <a:ea typeface="Inter"/>
                          <a:cs typeface="Inter"/>
                          <a:sym typeface="Inter"/>
                        </a:rPr>
                        <a:t>Total: ___ </a:t>
                      </a:r>
                      <a:endParaRPr sz="1100">
                        <a:latin typeface="Inter"/>
                        <a:ea typeface="Inter"/>
                        <a:cs typeface="Inter"/>
                        <a:sym typeface="Inter"/>
                      </a:endParaRPr>
                    </a:p>
                  </a:txBody>
                  <a:tcPr marT="27425" marB="20575" marR="34300" marL="48000" anchor="ctr">
                    <a:solidFill>
                      <a:srgbClr val="FFFFFF"/>
                    </a:solidFill>
                  </a:tcPr>
                </a:tc>
              </a:tr>
              <a:tr h="473200">
                <a:tc>
                  <a:txBody>
                    <a:bodyPr/>
                    <a:lstStyle/>
                    <a:p>
                      <a:pPr indent="0" lvl="0" marL="0" marR="0" rtl="0" algn="l">
                        <a:spcBef>
                          <a:spcPts val="0"/>
                        </a:spcBef>
                        <a:spcAft>
                          <a:spcPts val="0"/>
                        </a:spcAft>
                        <a:buNone/>
                      </a:pPr>
                      <a:r>
                        <a:rPr b="1" lang="en" sz="700" u="none" cap="none" strike="noStrike">
                          <a:solidFill>
                            <a:srgbClr val="1B3552"/>
                          </a:solidFill>
                          <a:latin typeface="Inter"/>
                          <a:ea typeface="Inter"/>
                          <a:cs typeface="Inter"/>
                          <a:sym typeface="Inter"/>
                        </a:rPr>
                        <a:t>5  Fayston + Warren</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5F7F9"/>
                    </a:solidFill>
                  </a:tcPr>
                </a:tc>
                <a:tc>
                  <a:txBody>
                    <a:bodyPr/>
                    <a:lstStyle/>
                    <a:p>
                      <a:pPr indent="0" lvl="0" marL="0" marR="0" rtl="0" algn="l">
                        <a:spcBef>
                          <a:spcPts val="0"/>
                        </a:spcBef>
                        <a:spcAft>
                          <a:spcPts val="0"/>
                        </a:spcAft>
                        <a:buNone/>
                      </a:pPr>
                      <a:r>
                        <a:rPr lang="en" sz="600" u="none" cap="none" strike="noStrike">
                          <a:solidFill>
                            <a:srgbClr val="64707C"/>
                          </a:solidFill>
                          <a:latin typeface="Inter"/>
                          <a:ea typeface="Inter"/>
                          <a:cs typeface="Inter"/>
                          <a:sym typeface="Inter"/>
                        </a:rPr>
                        <a:t>Total: ___ </a:t>
                      </a:r>
                      <a:endParaRPr sz="1100">
                        <a:latin typeface="Inter"/>
                        <a:ea typeface="Inter"/>
                        <a:cs typeface="Inter"/>
                        <a:sym typeface="Inter"/>
                      </a:endParaRPr>
                    </a:p>
                  </a:txBody>
                  <a:tcPr marT="27425" marB="20575" marR="34300" marL="48000" anchor="ctr">
                    <a:solidFill>
                      <a:srgbClr val="F5F7F9"/>
                    </a:solidFill>
                  </a:tcPr>
                </a:tc>
              </a:tr>
              <a:tr h="473200">
                <a:tc>
                  <a:txBody>
                    <a:bodyPr/>
                    <a:lstStyle/>
                    <a:p>
                      <a:pPr indent="0" lvl="0" marL="0" marR="0" rtl="0" algn="l">
                        <a:spcBef>
                          <a:spcPts val="0"/>
                        </a:spcBef>
                        <a:spcAft>
                          <a:spcPts val="0"/>
                        </a:spcAft>
                        <a:buNone/>
                      </a:pPr>
                      <a:r>
                        <a:rPr b="1" lang="en" sz="700" u="none" cap="none" strike="noStrike">
                          <a:solidFill>
                            <a:srgbClr val="1B3552"/>
                          </a:solidFill>
                          <a:latin typeface="Inter"/>
                          <a:ea typeface="Inter"/>
                          <a:cs typeface="Inter"/>
                          <a:sym typeface="Inter"/>
                        </a:rPr>
                        <a:t>6  Waitsfield + Warren</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ctr">
                        <a:spcBef>
                          <a:spcPts val="0"/>
                        </a:spcBef>
                        <a:spcAft>
                          <a:spcPts val="0"/>
                        </a:spcAft>
                        <a:buNone/>
                      </a:pPr>
                      <a:r>
                        <a:rPr lang="en" sz="700" u="none" cap="none" strike="noStrike">
                          <a:solidFill>
                            <a:srgbClr val="64707C"/>
                          </a:solidFill>
                          <a:latin typeface="Inter"/>
                          <a:ea typeface="Inter"/>
                          <a:cs typeface="Inter"/>
                          <a:sym typeface="Inter"/>
                        </a:rPr>
                        <a:t>Score: ___</a:t>
                      </a:r>
                      <a:endParaRPr sz="1100">
                        <a:latin typeface="Inter"/>
                        <a:ea typeface="Inter"/>
                        <a:cs typeface="Inter"/>
                        <a:sym typeface="Inter"/>
                      </a:endParaRPr>
                    </a:p>
                  </a:txBody>
                  <a:tcPr marT="27425" marB="20575" marR="34300" marL="48000" anchor="ctr">
                    <a:solidFill>
                      <a:srgbClr val="FFFFFF"/>
                    </a:solidFill>
                  </a:tcPr>
                </a:tc>
                <a:tc>
                  <a:txBody>
                    <a:bodyPr/>
                    <a:lstStyle/>
                    <a:p>
                      <a:pPr indent="0" lvl="0" marL="0" marR="0" rtl="0" algn="l">
                        <a:spcBef>
                          <a:spcPts val="0"/>
                        </a:spcBef>
                        <a:spcAft>
                          <a:spcPts val="0"/>
                        </a:spcAft>
                        <a:buNone/>
                      </a:pPr>
                      <a:r>
                        <a:rPr lang="en" sz="600" u="none" cap="none" strike="noStrike">
                          <a:solidFill>
                            <a:srgbClr val="64707C"/>
                          </a:solidFill>
                          <a:latin typeface="Inter"/>
                          <a:ea typeface="Inter"/>
                          <a:cs typeface="Inter"/>
                          <a:sym typeface="Inter"/>
                        </a:rPr>
                        <a:t>Total: ___ </a:t>
                      </a:r>
                      <a:endParaRPr sz="1100">
                        <a:latin typeface="Inter"/>
                        <a:ea typeface="Inter"/>
                        <a:cs typeface="Inter"/>
                        <a:sym typeface="Inter"/>
                      </a:endParaRPr>
                    </a:p>
                  </a:txBody>
                  <a:tcPr marT="27425" marB="20575" marR="34300" marL="48000" anchor="ctr">
                    <a:solidFill>
                      <a:srgbClr val="FFFFFF"/>
                    </a:solidFill>
                  </a:tcPr>
                </a:tc>
              </a:tr>
            </a:tbl>
          </a:graphicData>
        </a:graphic>
      </p:graphicFrame>
      <p:sp>
        <p:nvSpPr>
          <p:cNvPr id="1238" name="Google Shape;1238;p64"/>
          <p:cNvSpPr/>
          <p:nvPr/>
        </p:nvSpPr>
        <p:spPr>
          <a:xfrm>
            <a:off x="397764" y="4581144"/>
            <a:ext cx="8353200" cy="329100"/>
          </a:xfrm>
          <a:prstGeom prst="roundRect">
            <a:avLst>
              <a:gd fmla="val 16667" name="adj"/>
            </a:avLst>
          </a:prstGeom>
          <a:solidFill>
            <a:srgbClr val="E2EFF0"/>
          </a:solidFill>
          <a:ln cap="flat" cmpd="sng" w="7150">
            <a:solidFill>
              <a:srgbClr val="E2EFF0"/>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13700" lIns="102875" spcFirstLastPara="1" rIns="82300" wrap="square" tIns="27425">
            <a:noAutofit/>
          </a:bodyPr>
          <a:lstStyle/>
          <a:p>
            <a:pPr indent="0" lvl="0" marL="0" marR="0" rtl="0" algn="ctr">
              <a:spcBef>
                <a:spcPts val="0"/>
              </a:spcBef>
              <a:spcAft>
                <a:spcPts val="0"/>
              </a:spcAft>
              <a:buNone/>
            </a:pPr>
            <a:r>
              <a:rPr b="1" lang="en" sz="800">
                <a:solidFill>
                  <a:srgbClr val="1B3552"/>
                </a:solidFill>
              </a:rPr>
              <a:t>BOARD QUESTIONS</a:t>
            </a:r>
            <a:r>
              <a:rPr b="1" i="0" lang="en" sz="800" u="none" cap="none" strike="noStrike">
                <a:solidFill>
                  <a:srgbClr val="1B3552"/>
                </a:solidFill>
                <a:latin typeface="Arial"/>
                <a:ea typeface="Arial"/>
                <a:cs typeface="Arial"/>
                <a:sym typeface="Arial"/>
              </a:rPr>
              <a:t>: </a:t>
            </a:r>
            <a:r>
              <a:rPr b="1" lang="en" sz="800">
                <a:solidFill>
                  <a:srgbClr val="232D37"/>
                </a:solidFill>
              </a:rPr>
              <a:t>Which two-school configuration can safely accommodate more students, support strong programs, and deliver sustainable net savings?</a:t>
            </a:r>
            <a:endParaRPr sz="1100">
              <a:solidFill>
                <a:schemeClr val="dk1"/>
              </a:solidFill>
            </a:endParaRPr>
          </a:p>
          <a:p>
            <a:pPr indent="0" lvl="0" marL="0" marR="0" rtl="0" algn="ctr">
              <a:spcBef>
                <a:spcPts val="0"/>
              </a:spcBef>
              <a:spcAft>
                <a:spcPts val="0"/>
              </a:spcAft>
              <a:buNone/>
            </a:pPr>
            <a:r>
              <a:t/>
            </a:r>
            <a:endParaRPr sz="1100"/>
          </a:p>
        </p:txBody>
      </p:sp>
      <p:sp>
        <p:nvSpPr>
          <p:cNvPr id="1239" name="Google Shape;1239;p64"/>
          <p:cNvSpPr txBox="1"/>
          <p:nvPr/>
        </p:nvSpPr>
        <p:spPr>
          <a:xfrm>
            <a:off x="7322175" y="425550"/>
            <a:ext cx="1734900" cy="329100"/>
          </a:xfrm>
          <a:prstGeom prst="rect">
            <a:avLst/>
          </a:prstGeom>
          <a:solidFill>
            <a:srgbClr val="EF7E19"/>
          </a:solidFill>
          <a:ln>
            <a:noFill/>
          </a:ln>
        </p:spPr>
        <p:txBody>
          <a:bodyPr anchorCtr="0" anchor="ctr" bIns="19050" lIns="76200" spcFirstLastPara="1" rIns="76200" wrap="square" tIns="19050">
            <a:noAutofit/>
          </a:bodyPr>
          <a:lstStyle/>
          <a:p>
            <a:pPr indent="0" lvl="0" marL="0" rtl="0" algn="ctr">
              <a:spcBef>
                <a:spcPts val="0"/>
              </a:spcBef>
              <a:spcAft>
                <a:spcPts val="0"/>
              </a:spcAft>
              <a:buNone/>
            </a:pPr>
            <a:r>
              <a:rPr b="1" lang="en" sz="1000">
                <a:solidFill>
                  <a:srgbClr val="FFFFFF"/>
                </a:solidFill>
                <a:latin typeface="Arial"/>
                <a:ea typeface="Arial"/>
                <a:cs typeface="Arial"/>
                <a:sym typeface="Arial"/>
              </a:rPr>
              <a:t>HOMEWORK FOR BOARD</a:t>
            </a:r>
            <a:endParaRPr b="1" sz="1000">
              <a:solidFill>
                <a:srgbClr val="FFFFFF"/>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3" name="Shape 1243"/>
        <p:cNvGrpSpPr/>
        <p:nvPr/>
      </p:nvGrpSpPr>
      <p:grpSpPr>
        <a:xfrm>
          <a:off x="0" y="0"/>
          <a:ext cx="0" cy="0"/>
          <a:chOff x="0" y="0"/>
          <a:chExt cx="0" cy="0"/>
        </a:xfrm>
      </p:grpSpPr>
      <p:sp>
        <p:nvSpPr>
          <p:cNvPr id="1244" name="Google Shape;1244;p65"/>
          <p:cNvSpPr/>
          <p:nvPr/>
        </p:nvSpPr>
        <p:spPr>
          <a:xfrm>
            <a:off x="0" y="0"/>
            <a:ext cx="9143700" cy="699600"/>
          </a:xfrm>
          <a:prstGeom prst="rect">
            <a:avLst/>
          </a:prstGeom>
          <a:solidFill>
            <a:srgbClr val="1F3E5B"/>
          </a:solidFill>
          <a:ln cap="flat" cmpd="sng" w="7150">
            <a:solidFill>
              <a:srgbClr val="1F3E5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45" name="Google Shape;1245;p65"/>
          <p:cNvSpPr txBox="1"/>
          <p:nvPr/>
        </p:nvSpPr>
        <p:spPr>
          <a:xfrm>
            <a:off x="329184" y="68580"/>
            <a:ext cx="8503800" cy="2754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1" i="0" lang="en" sz="1700" u="none" cap="none" strike="noStrike">
                <a:solidFill>
                  <a:srgbClr val="FFFFFF"/>
                </a:solidFill>
                <a:latin typeface="Arial"/>
                <a:ea typeface="Arial"/>
                <a:cs typeface="Arial"/>
                <a:sym typeface="Arial"/>
              </a:rPr>
              <a:t>HUUSD CONSOLIDATION GANTT CHART</a:t>
            </a:r>
            <a:endParaRPr sz="1100"/>
          </a:p>
        </p:txBody>
      </p:sp>
      <p:sp>
        <p:nvSpPr>
          <p:cNvPr id="1246" name="Google Shape;1246;p65"/>
          <p:cNvSpPr txBox="1"/>
          <p:nvPr/>
        </p:nvSpPr>
        <p:spPr>
          <a:xfrm>
            <a:off x="377200" y="324548"/>
            <a:ext cx="8367000" cy="1371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800" u="none" cap="none" strike="noStrike">
                <a:solidFill>
                  <a:srgbClr val="E0EEF5"/>
                </a:solidFill>
                <a:latin typeface="Arial"/>
                <a:ea typeface="Arial"/>
                <a:cs typeface="Arial"/>
                <a:sym typeface="Arial"/>
              </a:rPr>
              <a:t>October 2026 – August 2027 | Decision milestones, planning, and implementation</a:t>
            </a:r>
            <a:endParaRPr sz="1100"/>
          </a:p>
        </p:txBody>
      </p:sp>
      <p:sp>
        <p:nvSpPr>
          <p:cNvPr id="1247" name="Google Shape;1247;p65"/>
          <p:cNvSpPr txBox="1"/>
          <p:nvPr/>
        </p:nvSpPr>
        <p:spPr>
          <a:xfrm>
            <a:off x="329184" y="857250"/>
            <a:ext cx="2914800" cy="1215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1" i="0" lang="en" sz="700" u="none" cap="none" strike="noStrike">
                <a:solidFill>
                  <a:srgbClr val="247E91"/>
                </a:solidFill>
                <a:latin typeface="Arial"/>
                <a:ea typeface="Arial"/>
                <a:cs typeface="Arial"/>
                <a:sym typeface="Arial"/>
              </a:rPr>
              <a:t>MILESTONE / WORKSTREAM</a:t>
            </a:r>
            <a:endParaRPr sz="1100"/>
          </a:p>
        </p:txBody>
      </p:sp>
      <p:sp>
        <p:nvSpPr>
          <p:cNvPr id="1248" name="Google Shape;1248;p65"/>
          <p:cNvSpPr/>
          <p:nvPr/>
        </p:nvSpPr>
        <p:spPr>
          <a:xfrm>
            <a:off x="3243834" y="857250"/>
            <a:ext cx="495900" cy="205800"/>
          </a:xfrm>
          <a:prstGeom prst="rect">
            <a:avLst/>
          </a:prstGeom>
          <a:solidFill>
            <a:srgbClr val="1F3E5B"/>
          </a:solidFill>
          <a:ln cap="flat" cmpd="sng" w="7150">
            <a:solidFill>
              <a:srgbClr val="1F3E5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49" name="Google Shape;1249;p65"/>
          <p:cNvSpPr txBox="1"/>
          <p:nvPr/>
        </p:nvSpPr>
        <p:spPr>
          <a:xfrm>
            <a:off x="3243834" y="857250"/>
            <a:ext cx="495900" cy="106200"/>
          </a:xfrm>
          <a:prstGeom prst="rect">
            <a:avLst/>
          </a:prstGeom>
          <a:noFill/>
          <a:ln>
            <a:noFill/>
          </a:ln>
        </p:spPr>
        <p:txBody>
          <a:bodyPr anchorCtr="0" anchor="ctr" bIns="6850" lIns="27425" spcFirstLastPara="1" rIns="27425" wrap="square" tIns="6850">
            <a:spAutoFit/>
          </a:bodyPr>
          <a:lstStyle/>
          <a:p>
            <a:pPr indent="0" lvl="0" marL="0" marR="0" rtl="0" algn="ctr">
              <a:spcBef>
                <a:spcPts val="0"/>
              </a:spcBef>
              <a:spcAft>
                <a:spcPts val="0"/>
              </a:spcAft>
              <a:buNone/>
            </a:pPr>
            <a:r>
              <a:rPr b="1" i="0" lang="en" sz="600" u="none" cap="none" strike="noStrike">
                <a:solidFill>
                  <a:srgbClr val="FFFFFF"/>
                </a:solidFill>
                <a:latin typeface="Arial"/>
                <a:ea typeface="Arial"/>
                <a:cs typeface="Arial"/>
                <a:sym typeface="Arial"/>
              </a:rPr>
              <a:t>Oct</a:t>
            </a:r>
            <a:endParaRPr sz="1100"/>
          </a:p>
        </p:txBody>
      </p:sp>
      <p:sp>
        <p:nvSpPr>
          <p:cNvPr id="1250" name="Google Shape;1250;p65"/>
          <p:cNvSpPr/>
          <p:nvPr/>
        </p:nvSpPr>
        <p:spPr>
          <a:xfrm>
            <a:off x="3750079" y="857250"/>
            <a:ext cx="495900" cy="205800"/>
          </a:xfrm>
          <a:prstGeom prst="rect">
            <a:avLst/>
          </a:prstGeom>
          <a:solidFill>
            <a:srgbClr val="1F3E5B"/>
          </a:solidFill>
          <a:ln cap="flat" cmpd="sng" w="7150">
            <a:solidFill>
              <a:srgbClr val="1F3E5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51" name="Google Shape;1251;p65"/>
          <p:cNvSpPr txBox="1"/>
          <p:nvPr/>
        </p:nvSpPr>
        <p:spPr>
          <a:xfrm>
            <a:off x="3750079" y="857250"/>
            <a:ext cx="495900" cy="106200"/>
          </a:xfrm>
          <a:prstGeom prst="rect">
            <a:avLst/>
          </a:prstGeom>
          <a:noFill/>
          <a:ln>
            <a:noFill/>
          </a:ln>
        </p:spPr>
        <p:txBody>
          <a:bodyPr anchorCtr="0" anchor="ctr" bIns="6850" lIns="27425" spcFirstLastPara="1" rIns="27425" wrap="square" tIns="6850">
            <a:spAutoFit/>
          </a:bodyPr>
          <a:lstStyle/>
          <a:p>
            <a:pPr indent="0" lvl="0" marL="0" marR="0" rtl="0" algn="ctr">
              <a:spcBef>
                <a:spcPts val="0"/>
              </a:spcBef>
              <a:spcAft>
                <a:spcPts val="0"/>
              </a:spcAft>
              <a:buNone/>
            </a:pPr>
            <a:r>
              <a:rPr b="1" i="0" lang="en" sz="600" u="none" cap="none" strike="noStrike">
                <a:solidFill>
                  <a:srgbClr val="FFFFFF"/>
                </a:solidFill>
                <a:latin typeface="Arial"/>
                <a:ea typeface="Arial"/>
                <a:cs typeface="Arial"/>
                <a:sym typeface="Arial"/>
              </a:rPr>
              <a:t>Nov</a:t>
            </a:r>
            <a:endParaRPr sz="1100"/>
          </a:p>
        </p:txBody>
      </p:sp>
      <p:sp>
        <p:nvSpPr>
          <p:cNvPr id="1252" name="Google Shape;1252;p65"/>
          <p:cNvSpPr/>
          <p:nvPr/>
        </p:nvSpPr>
        <p:spPr>
          <a:xfrm>
            <a:off x="4256324" y="857250"/>
            <a:ext cx="495900" cy="205800"/>
          </a:xfrm>
          <a:prstGeom prst="rect">
            <a:avLst/>
          </a:prstGeom>
          <a:solidFill>
            <a:srgbClr val="1F3E5B"/>
          </a:solidFill>
          <a:ln cap="flat" cmpd="sng" w="7150">
            <a:solidFill>
              <a:srgbClr val="1F3E5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53" name="Google Shape;1253;p65"/>
          <p:cNvSpPr txBox="1"/>
          <p:nvPr/>
        </p:nvSpPr>
        <p:spPr>
          <a:xfrm>
            <a:off x="4256324" y="857250"/>
            <a:ext cx="495900" cy="106200"/>
          </a:xfrm>
          <a:prstGeom prst="rect">
            <a:avLst/>
          </a:prstGeom>
          <a:noFill/>
          <a:ln>
            <a:noFill/>
          </a:ln>
        </p:spPr>
        <p:txBody>
          <a:bodyPr anchorCtr="0" anchor="ctr" bIns="6850" lIns="27425" spcFirstLastPara="1" rIns="27425" wrap="square" tIns="6850">
            <a:spAutoFit/>
          </a:bodyPr>
          <a:lstStyle/>
          <a:p>
            <a:pPr indent="0" lvl="0" marL="0" marR="0" rtl="0" algn="ctr">
              <a:spcBef>
                <a:spcPts val="0"/>
              </a:spcBef>
              <a:spcAft>
                <a:spcPts val="0"/>
              </a:spcAft>
              <a:buNone/>
            </a:pPr>
            <a:r>
              <a:rPr b="1" i="0" lang="en" sz="600" u="none" cap="none" strike="noStrike">
                <a:solidFill>
                  <a:srgbClr val="FFFFFF"/>
                </a:solidFill>
                <a:latin typeface="Arial"/>
                <a:ea typeface="Arial"/>
                <a:cs typeface="Arial"/>
                <a:sym typeface="Arial"/>
              </a:rPr>
              <a:t>Dec</a:t>
            </a:r>
            <a:endParaRPr sz="1100"/>
          </a:p>
        </p:txBody>
      </p:sp>
      <p:sp>
        <p:nvSpPr>
          <p:cNvPr id="1254" name="Google Shape;1254;p65"/>
          <p:cNvSpPr/>
          <p:nvPr/>
        </p:nvSpPr>
        <p:spPr>
          <a:xfrm>
            <a:off x="4762569" y="857250"/>
            <a:ext cx="495900" cy="205800"/>
          </a:xfrm>
          <a:prstGeom prst="rect">
            <a:avLst/>
          </a:prstGeom>
          <a:solidFill>
            <a:srgbClr val="1F3E5B"/>
          </a:solidFill>
          <a:ln cap="flat" cmpd="sng" w="7150">
            <a:solidFill>
              <a:srgbClr val="1F3E5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55" name="Google Shape;1255;p65"/>
          <p:cNvSpPr txBox="1"/>
          <p:nvPr/>
        </p:nvSpPr>
        <p:spPr>
          <a:xfrm>
            <a:off x="4762569" y="857250"/>
            <a:ext cx="495900" cy="106200"/>
          </a:xfrm>
          <a:prstGeom prst="rect">
            <a:avLst/>
          </a:prstGeom>
          <a:noFill/>
          <a:ln>
            <a:noFill/>
          </a:ln>
        </p:spPr>
        <p:txBody>
          <a:bodyPr anchorCtr="0" anchor="ctr" bIns="6850" lIns="27425" spcFirstLastPara="1" rIns="27425" wrap="square" tIns="6850">
            <a:spAutoFit/>
          </a:bodyPr>
          <a:lstStyle/>
          <a:p>
            <a:pPr indent="0" lvl="0" marL="0" marR="0" rtl="0" algn="ctr">
              <a:spcBef>
                <a:spcPts val="0"/>
              </a:spcBef>
              <a:spcAft>
                <a:spcPts val="0"/>
              </a:spcAft>
              <a:buNone/>
            </a:pPr>
            <a:r>
              <a:rPr b="1" i="0" lang="en" sz="600" u="none" cap="none" strike="noStrike">
                <a:solidFill>
                  <a:srgbClr val="FFFFFF"/>
                </a:solidFill>
                <a:latin typeface="Arial"/>
                <a:ea typeface="Arial"/>
                <a:cs typeface="Arial"/>
                <a:sym typeface="Arial"/>
              </a:rPr>
              <a:t>Jan</a:t>
            </a:r>
            <a:endParaRPr sz="1100"/>
          </a:p>
        </p:txBody>
      </p:sp>
      <p:sp>
        <p:nvSpPr>
          <p:cNvPr id="1256" name="Google Shape;1256;p65"/>
          <p:cNvSpPr/>
          <p:nvPr/>
        </p:nvSpPr>
        <p:spPr>
          <a:xfrm>
            <a:off x="5268814" y="857250"/>
            <a:ext cx="495900" cy="205800"/>
          </a:xfrm>
          <a:prstGeom prst="rect">
            <a:avLst/>
          </a:prstGeom>
          <a:solidFill>
            <a:srgbClr val="1F3E5B"/>
          </a:solidFill>
          <a:ln cap="flat" cmpd="sng" w="7150">
            <a:solidFill>
              <a:srgbClr val="1F3E5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57" name="Google Shape;1257;p65"/>
          <p:cNvSpPr txBox="1"/>
          <p:nvPr/>
        </p:nvSpPr>
        <p:spPr>
          <a:xfrm>
            <a:off x="5268814" y="857250"/>
            <a:ext cx="495900" cy="106200"/>
          </a:xfrm>
          <a:prstGeom prst="rect">
            <a:avLst/>
          </a:prstGeom>
          <a:noFill/>
          <a:ln>
            <a:noFill/>
          </a:ln>
        </p:spPr>
        <p:txBody>
          <a:bodyPr anchorCtr="0" anchor="ctr" bIns="6850" lIns="27425" spcFirstLastPara="1" rIns="27425" wrap="square" tIns="6850">
            <a:spAutoFit/>
          </a:bodyPr>
          <a:lstStyle/>
          <a:p>
            <a:pPr indent="0" lvl="0" marL="0" marR="0" rtl="0" algn="ctr">
              <a:spcBef>
                <a:spcPts val="0"/>
              </a:spcBef>
              <a:spcAft>
                <a:spcPts val="0"/>
              </a:spcAft>
              <a:buNone/>
            </a:pPr>
            <a:r>
              <a:rPr b="1" i="0" lang="en" sz="600" u="none" cap="none" strike="noStrike">
                <a:solidFill>
                  <a:srgbClr val="FFFFFF"/>
                </a:solidFill>
                <a:latin typeface="Arial"/>
                <a:ea typeface="Arial"/>
                <a:cs typeface="Arial"/>
                <a:sym typeface="Arial"/>
              </a:rPr>
              <a:t>Feb</a:t>
            </a:r>
            <a:endParaRPr sz="1100"/>
          </a:p>
        </p:txBody>
      </p:sp>
      <p:sp>
        <p:nvSpPr>
          <p:cNvPr id="1258" name="Google Shape;1258;p65"/>
          <p:cNvSpPr/>
          <p:nvPr/>
        </p:nvSpPr>
        <p:spPr>
          <a:xfrm>
            <a:off x="5775059" y="857250"/>
            <a:ext cx="495900" cy="205800"/>
          </a:xfrm>
          <a:prstGeom prst="rect">
            <a:avLst/>
          </a:prstGeom>
          <a:solidFill>
            <a:srgbClr val="1F3E5B"/>
          </a:solidFill>
          <a:ln cap="flat" cmpd="sng" w="7150">
            <a:solidFill>
              <a:srgbClr val="1F3E5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59" name="Google Shape;1259;p65"/>
          <p:cNvSpPr txBox="1"/>
          <p:nvPr/>
        </p:nvSpPr>
        <p:spPr>
          <a:xfrm>
            <a:off x="5775059" y="857250"/>
            <a:ext cx="495900" cy="106200"/>
          </a:xfrm>
          <a:prstGeom prst="rect">
            <a:avLst/>
          </a:prstGeom>
          <a:noFill/>
          <a:ln>
            <a:noFill/>
          </a:ln>
        </p:spPr>
        <p:txBody>
          <a:bodyPr anchorCtr="0" anchor="ctr" bIns="6850" lIns="27425" spcFirstLastPara="1" rIns="27425" wrap="square" tIns="6850">
            <a:spAutoFit/>
          </a:bodyPr>
          <a:lstStyle/>
          <a:p>
            <a:pPr indent="0" lvl="0" marL="0" marR="0" rtl="0" algn="ctr">
              <a:spcBef>
                <a:spcPts val="0"/>
              </a:spcBef>
              <a:spcAft>
                <a:spcPts val="0"/>
              </a:spcAft>
              <a:buNone/>
            </a:pPr>
            <a:r>
              <a:rPr b="1" i="0" lang="en" sz="600" u="none" cap="none" strike="noStrike">
                <a:solidFill>
                  <a:srgbClr val="FFFFFF"/>
                </a:solidFill>
                <a:latin typeface="Arial"/>
                <a:ea typeface="Arial"/>
                <a:cs typeface="Arial"/>
                <a:sym typeface="Arial"/>
              </a:rPr>
              <a:t>Mar</a:t>
            </a:r>
            <a:endParaRPr sz="1100"/>
          </a:p>
        </p:txBody>
      </p:sp>
      <p:sp>
        <p:nvSpPr>
          <p:cNvPr id="1260" name="Google Shape;1260;p65"/>
          <p:cNvSpPr/>
          <p:nvPr/>
        </p:nvSpPr>
        <p:spPr>
          <a:xfrm>
            <a:off x="6281304" y="857250"/>
            <a:ext cx="495900" cy="205800"/>
          </a:xfrm>
          <a:prstGeom prst="rect">
            <a:avLst/>
          </a:prstGeom>
          <a:solidFill>
            <a:srgbClr val="1F3E5B"/>
          </a:solidFill>
          <a:ln cap="flat" cmpd="sng" w="7150">
            <a:solidFill>
              <a:srgbClr val="1F3E5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61" name="Google Shape;1261;p65"/>
          <p:cNvSpPr txBox="1"/>
          <p:nvPr/>
        </p:nvSpPr>
        <p:spPr>
          <a:xfrm>
            <a:off x="6281304" y="857250"/>
            <a:ext cx="495900" cy="106200"/>
          </a:xfrm>
          <a:prstGeom prst="rect">
            <a:avLst/>
          </a:prstGeom>
          <a:noFill/>
          <a:ln>
            <a:noFill/>
          </a:ln>
        </p:spPr>
        <p:txBody>
          <a:bodyPr anchorCtr="0" anchor="ctr" bIns="6850" lIns="27425" spcFirstLastPara="1" rIns="27425" wrap="square" tIns="6850">
            <a:spAutoFit/>
          </a:bodyPr>
          <a:lstStyle/>
          <a:p>
            <a:pPr indent="0" lvl="0" marL="0" marR="0" rtl="0" algn="ctr">
              <a:spcBef>
                <a:spcPts val="0"/>
              </a:spcBef>
              <a:spcAft>
                <a:spcPts val="0"/>
              </a:spcAft>
              <a:buNone/>
            </a:pPr>
            <a:r>
              <a:rPr b="1" i="0" lang="en" sz="600" u="none" cap="none" strike="noStrike">
                <a:solidFill>
                  <a:srgbClr val="FFFFFF"/>
                </a:solidFill>
                <a:latin typeface="Arial"/>
                <a:ea typeface="Arial"/>
                <a:cs typeface="Arial"/>
                <a:sym typeface="Arial"/>
              </a:rPr>
              <a:t>Apr</a:t>
            </a:r>
            <a:endParaRPr sz="1100"/>
          </a:p>
        </p:txBody>
      </p:sp>
      <p:sp>
        <p:nvSpPr>
          <p:cNvPr id="1262" name="Google Shape;1262;p65"/>
          <p:cNvSpPr/>
          <p:nvPr/>
        </p:nvSpPr>
        <p:spPr>
          <a:xfrm>
            <a:off x="6787549" y="857250"/>
            <a:ext cx="495900" cy="205800"/>
          </a:xfrm>
          <a:prstGeom prst="rect">
            <a:avLst/>
          </a:prstGeom>
          <a:solidFill>
            <a:srgbClr val="1F3E5B"/>
          </a:solidFill>
          <a:ln cap="flat" cmpd="sng" w="7150">
            <a:solidFill>
              <a:srgbClr val="1F3E5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63" name="Google Shape;1263;p65"/>
          <p:cNvSpPr txBox="1"/>
          <p:nvPr/>
        </p:nvSpPr>
        <p:spPr>
          <a:xfrm>
            <a:off x="6787549" y="857250"/>
            <a:ext cx="495900" cy="106200"/>
          </a:xfrm>
          <a:prstGeom prst="rect">
            <a:avLst/>
          </a:prstGeom>
          <a:noFill/>
          <a:ln>
            <a:noFill/>
          </a:ln>
        </p:spPr>
        <p:txBody>
          <a:bodyPr anchorCtr="0" anchor="ctr" bIns="6850" lIns="27425" spcFirstLastPara="1" rIns="27425" wrap="square" tIns="6850">
            <a:spAutoFit/>
          </a:bodyPr>
          <a:lstStyle/>
          <a:p>
            <a:pPr indent="0" lvl="0" marL="0" marR="0" rtl="0" algn="ctr">
              <a:spcBef>
                <a:spcPts val="0"/>
              </a:spcBef>
              <a:spcAft>
                <a:spcPts val="0"/>
              </a:spcAft>
              <a:buNone/>
            </a:pPr>
            <a:r>
              <a:rPr b="1" i="0" lang="en" sz="600" u="none" cap="none" strike="noStrike">
                <a:solidFill>
                  <a:srgbClr val="FFFFFF"/>
                </a:solidFill>
                <a:latin typeface="Arial"/>
                <a:ea typeface="Arial"/>
                <a:cs typeface="Arial"/>
                <a:sym typeface="Arial"/>
              </a:rPr>
              <a:t>May</a:t>
            </a:r>
            <a:endParaRPr sz="1100"/>
          </a:p>
        </p:txBody>
      </p:sp>
      <p:sp>
        <p:nvSpPr>
          <p:cNvPr id="1264" name="Google Shape;1264;p65"/>
          <p:cNvSpPr/>
          <p:nvPr/>
        </p:nvSpPr>
        <p:spPr>
          <a:xfrm>
            <a:off x="7293794" y="857250"/>
            <a:ext cx="495900" cy="205800"/>
          </a:xfrm>
          <a:prstGeom prst="rect">
            <a:avLst/>
          </a:prstGeom>
          <a:solidFill>
            <a:srgbClr val="1F3E5B"/>
          </a:solidFill>
          <a:ln cap="flat" cmpd="sng" w="7150">
            <a:solidFill>
              <a:srgbClr val="1F3E5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65" name="Google Shape;1265;p65"/>
          <p:cNvSpPr txBox="1"/>
          <p:nvPr/>
        </p:nvSpPr>
        <p:spPr>
          <a:xfrm>
            <a:off x="7293794" y="857250"/>
            <a:ext cx="495900" cy="106200"/>
          </a:xfrm>
          <a:prstGeom prst="rect">
            <a:avLst/>
          </a:prstGeom>
          <a:noFill/>
          <a:ln>
            <a:noFill/>
          </a:ln>
        </p:spPr>
        <p:txBody>
          <a:bodyPr anchorCtr="0" anchor="ctr" bIns="6850" lIns="27425" spcFirstLastPara="1" rIns="27425" wrap="square" tIns="6850">
            <a:spAutoFit/>
          </a:bodyPr>
          <a:lstStyle/>
          <a:p>
            <a:pPr indent="0" lvl="0" marL="0" marR="0" rtl="0" algn="ctr">
              <a:spcBef>
                <a:spcPts val="0"/>
              </a:spcBef>
              <a:spcAft>
                <a:spcPts val="0"/>
              </a:spcAft>
              <a:buNone/>
            </a:pPr>
            <a:r>
              <a:rPr b="1" i="0" lang="en" sz="600" u="none" cap="none" strike="noStrike">
                <a:solidFill>
                  <a:srgbClr val="FFFFFF"/>
                </a:solidFill>
                <a:latin typeface="Arial"/>
                <a:ea typeface="Arial"/>
                <a:cs typeface="Arial"/>
                <a:sym typeface="Arial"/>
              </a:rPr>
              <a:t>Jun</a:t>
            </a:r>
            <a:endParaRPr sz="1100"/>
          </a:p>
        </p:txBody>
      </p:sp>
      <p:sp>
        <p:nvSpPr>
          <p:cNvPr id="1266" name="Google Shape;1266;p65"/>
          <p:cNvSpPr/>
          <p:nvPr/>
        </p:nvSpPr>
        <p:spPr>
          <a:xfrm>
            <a:off x="7800040" y="857250"/>
            <a:ext cx="495900" cy="205800"/>
          </a:xfrm>
          <a:prstGeom prst="rect">
            <a:avLst/>
          </a:prstGeom>
          <a:solidFill>
            <a:srgbClr val="1F3E5B"/>
          </a:solidFill>
          <a:ln cap="flat" cmpd="sng" w="7150">
            <a:solidFill>
              <a:srgbClr val="1F3E5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67" name="Google Shape;1267;p65"/>
          <p:cNvSpPr txBox="1"/>
          <p:nvPr/>
        </p:nvSpPr>
        <p:spPr>
          <a:xfrm>
            <a:off x="7800040" y="857250"/>
            <a:ext cx="495900" cy="106200"/>
          </a:xfrm>
          <a:prstGeom prst="rect">
            <a:avLst/>
          </a:prstGeom>
          <a:noFill/>
          <a:ln>
            <a:noFill/>
          </a:ln>
        </p:spPr>
        <p:txBody>
          <a:bodyPr anchorCtr="0" anchor="ctr" bIns="6850" lIns="27425" spcFirstLastPara="1" rIns="27425" wrap="square" tIns="6850">
            <a:spAutoFit/>
          </a:bodyPr>
          <a:lstStyle/>
          <a:p>
            <a:pPr indent="0" lvl="0" marL="0" marR="0" rtl="0" algn="ctr">
              <a:spcBef>
                <a:spcPts val="0"/>
              </a:spcBef>
              <a:spcAft>
                <a:spcPts val="0"/>
              </a:spcAft>
              <a:buNone/>
            </a:pPr>
            <a:r>
              <a:rPr b="1" i="0" lang="en" sz="600" u="none" cap="none" strike="noStrike">
                <a:solidFill>
                  <a:srgbClr val="FFFFFF"/>
                </a:solidFill>
                <a:latin typeface="Arial"/>
                <a:ea typeface="Arial"/>
                <a:cs typeface="Arial"/>
                <a:sym typeface="Arial"/>
              </a:rPr>
              <a:t>Jul</a:t>
            </a:r>
            <a:endParaRPr sz="1100"/>
          </a:p>
        </p:txBody>
      </p:sp>
      <p:sp>
        <p:nvSpPr>
          <p:cNvPr id="1268" name="Google Shape;1268;p65"/>
          <p:cNvSpPr/>
          <p:nvPr/>
        </p:nvSpPr>
        <p:spPr>
          <a:xfrm>
            <a:off x="8306285" y="857250"/>
            <a:ext cx="495900" cy="205800"/>
          </a:xfrm>
          <a:prstGeom prst="rect">
            <a:avLst/>
          </a:prstGeom>
          <a:solidFill>
            <a:srgbClr val="1F3E5B"/>
          </a:solidFill>
          <a:ln cap="flat" cmpd="sng" w="7150">
            <a:solidFill>
              <a:srgbClr val="1F3E5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69" name="Google Shape;1269;p65"/>
          <p:cNvSpPr txBox="1"/>
          <p:nvPr/>
        </p:nvSpPr>
        <p:spPr>
          <a:xfrm>
            <a:off x="8306285" y="857250"/>
            <a:ext cx="495900" cy="106200"/>
          </a:xfrm>
          <a:prstGeom prst="rect">
            <a:avLst/>
          </a:prstGeom>
          <a:noFill/>
          <a:ln>
            <a:noFill/>
          </a:ln>
        </p:spPr>
        <p:txBody>
          <a:bodyPr anchorCtr="0" anchor="ctr" bIns="6850" lIns="27425" spcFirstLastPara="1" rIns="27425" wrap="square" tIns="6850">
            <a:spAutoFit/>
          </a:bodyPr>
          <a:lstStyle/>
          <a:p>
            <a:pPr indent="0" lvl="0" marL="0" marR="0" rtl="0" algn="ctr">
              <a:spcBef>
                <a:spcPts val="0"/>
              </a:spcBef>
              <a:spcAft>
                <a:spcPts val="0"/>
              </a:spcAft>
              <a:buNone/>
            </a:pPr>
            <a:r>
              <a:rPr b="1" i="0" lang="en" sz="600" u="none" cap="none" strike="noStrike">
                <a:solidFill>
                  <a:srgbClr val="FFFFFF"/>
                </a:solidFill>
                <a:latin typeface="Arial"/>
                <a:ea typeface="Arial"/>
                <a:cs typeface="Arial"/>
                <a:sym typeface="Arial"/>
              </a:rPr>
              <a:t>Aug</a:t>
            </a:r>
            <a:endParaRPr sz="1100"/>
          </a:p>
        </p:txBody>
      </p:sp>
      <p:sp>
        <p:nvSpPr>
          <p:cNvPr id="1270" name="Google Shape;1270;p65"/>
          <p:cNvSpPr/>
          <p:nvPr/>
        </p:nvSpPr>
        <p:spPr>
          <a:xfrm>
            <a:off x="329184" y="1097280"/>
            <a:ext cx="8469600" cy="138600"/>
          </a:xfrm>
          <a:prstGeom prst="rect">
            <a:avLst/>
          </a:prstGeom>
          <a:solidFill>
            <a:srgbClr val="F8FAFB"/>
          </a:solidFill>
          <a:ln cap="flat" cmpd="sng" w="7150">
            <a:solidFill>
              <a:srgbClr val="F8FAF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71" name="Google Shape;1271;p65"/>
          <p:cNvSpPr txBox="1"/>
          <p:nvPr/>
        </p:nvSpPr>
        <p:spPr>
          <a:xfrm>
            <a:off x="342900" y="1097280"/>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1" i="0" lang="en" sz="500" u="none" cap="none" strike="noStrike">
                <a:solidFill>
                  <a:srgbClr val="232D37"/>
                </a:solidFill>
                <a:latin typeface="Arial"/>
                <a:ea typeface="Arial"/>
                <a:cs typeface="Arial"/>
                <a:sym typeface="Arial"/>
              </a:rPr>
              <a:t>Board </a:t>
            </a:r>
            <a:r>
              <a:rPr b="1" lang="en" sz="500">
                <a:solidFill>
                  <a:srgbClr val="232D37"/>
                </a:solidFill>
              </a:rPr>
              <a:t>direction</a:t>
            </a:r>
            <a:r>
              <a:rPr b="1" i="0" lang="en" sz="500" u="none" cap="none" strike="noStrike">
                <a:solidFill>
                  <a:srgbClr val="232D37"/>
                </a:solidFill>
                <a:latin typeface="Arial"/>
                <a:ea typeface="Arial"/>
                <a:cs typeface="Arial"/>
                <a:sym typeface="Arial"/>
              </a:rPr>
              <a:t>: Path A or Path B</a:t>
            </a:r>
            <a:endParaRPr sz="1100"/>
          </a:p>
        </p:txBody>
      </p:sp>
      <p:sp>
        <p:nvSpPr>
          <p:cNvPr id="1272" name="Google Shape;1272;p65"/>
          <p:cNvSpPr/>
          <p:nvPr/>
        </p:nvSpPr>
        <p:spPr>
          <a:xfrm>
            <a:off x="3660754" y="1134999"/>
            <a:ext cx="61800" cy="61800"/>
          </a:xfrm>
          <a:prstGeom prst="diamond">
            <a:avLst/>
          </a:prstGeom>
          <a:solidFill>
            <a:srgbClr val="E2AA35"/>
          </a:solidFill>
          <a:ln cap="flat" cmpd="sng" w="7150">
            <a:solidFill>
              <a:srgbClr val="E2AA35"/>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73" name="Google Shape;1273;p65"/>
          <p:cNvSpPr txBox="1"/>
          <p:nvPr/>
        </p:nvSpPr>
        <p:spPr>
          <a:xfrm>
            <a:off x="342900" y="1235811"/>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1" i="0" lang="en" sz="500" u="none" cap="none" strike="noStrike">
                <a:solidFill>
                  <a:srgbClr val="232D37"/>
                </a:solidFill>
                <a:latin typeface="Arial"/>
                <a:ea typeface="Arial"/>
                <a:cs typeface="Arial"/>
                <a:sym typeface="Arial"/>
              </a:rPr>
              <a:t>Feasibility proposals due</a:t>
            </a:r>
            <a:endParaRPr sz="1100"/>
          </a:p>
        </p:txBody>
      </p:sp>
      <p:sp>
        <p:nvSpPr>
          <p:cNvPr id="1274" name="Google Shape;1274;p65"/>
          <p:cNvSpPr/>
          <p:nvPr/>
        </p:nvSpPr>
        <p:spPr>
          <a:xfrm>
            <a:off x="3693415" y="1273530"/>
            <a:ext cx="61800" cy="61800"/>
          </a:xfrm>
          <a:prstGeom prst="diamond">
            <a:avLst/>
          </a:prstGeom>
          <a:solidFill>
            <a:srgbClr val="E2AA35"/>
          </a:solidFill>
          <a:ln cap="flat" cmpd="sng" w="7150">
            <a:solidFill>
              <a:srgbClr val="E2AA35"/>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75" name="Google Shape;1275;p65"/>
          <p:cNvSpPr/>
          <p:nvPr/>
        </p:nvSpPr>
        <p:spPr>
          <a:xfrm>
            <a:off x="329184" y="1374343"/>
            <a:ext cx="8469600" cy="138600"/>
          </a:xfrm>
          <a:prstGeom prst="rect">
            <a:avLst/>
          </a:prstGeom>
          <a:solidFill>
            <a:srgbClr val="F8FAFB"/>
          </a:solidFill>
          <a:ln cap="flat" cmpd="sng" w="7150">
            <a:solidFill>
              <a:srgbClr val="F8FAF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76" name="Google Shape;1276;p65"/>
          <p:cNvSpPr txBox="1"/>
          <p:nvPr/>
        </p:nvSpPr>
        <p:spPr>
          <a:xfrm>
            <a:off x="342900" y="1374343"/>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232D37"/>
                </a:solidFill>
                <a:latin typeface="Arial"/>
                <a:ea typeface="Arial"/>
                <a:cs typeface="Arial"/>
                <a:sym typeface="Arial"/>
              </a:rPr>
              <a:t>Board reviews data / identifies options</a:t>
            </a:r>
            <a:endParaRPr sz="1100"/>
          </a:p>
        </p:txBody>
      </p:sp>
      <p:sp>
        <p:nvSpPr>
          <p:cNvPr id="1277" name="Google Shape;1277;p65"/>
          <p:cNvSpPr/>
          <p:nvPr/>
        </p:nvSpPr>
        <p:spPr>
          <a:xfrm>
            <a:off x="3800703" y="1412062"/>
            <a:ext cx="455700" cy="61800"/>
          </a:xfrm>
          <a:prstGeom prst="roundRect">
            <a:avLst>
              <a:gd fmla="val 16667" name="adj"/>
            </a:avLst>
          </a:prstGeom>
          <a:solidFill>
            <a:srgbClr val="247E91"/>
          </a:solidFill>
          <a:ln cap="flat" cmpd="sng" w="7150">
            <a:solidFill>
              <a:srgbClr val="247E91"/>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78" name="Google Shape;1278;p65"/>
          <p:cNvSpPr txBox="1"/>
          <p:nvPr/>
        </p:nvSpPr>
        <p:spPr>
          <a:xfrm>
            <a:off x="342900" y="1512875"/>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232D37"/>
                </a:solidFill>
                <a:latin typeface="Arial"/>
                <a:ea typeface="Arial"/>
                <a:cs typeface="Arial"/>
                <a:sym typeface="Arial"/>
              </a:rPr>
              <a:t>Select RFP firm(s), if applicable</a:t>
            </a:r>
            <a:endParaRPr sz="1100"/>
          </a:p>
        </p:txBody>
      </p:sp>
      <p:sp>
        <p:nvSpPr>
          <p:cNvPr id="1279" name="Google Shape;1279;p65"/>
          <p:cNvSpPr/>
          <p:nvPr/>
        </p:nvSpPr>
        <p:spPr>
          <a:xfrm>
            <a:off x="3750079" y="1550594"/>
            <a:ext cx="337500" cy="61800"/>
          </a:xfrm>
          <a:prstGeom prst="roundRect">
            <a:avLst>
              <a:gd fmla="val 16667" name="adj"/>
            </a:avLst>
          </a:prstGeom>
          <a:solidFill>
            <a:srgbClr val="247E91"/>
          </a:solidFill>
          <a:ln cap="flat" cmpd="sng" w="7150">
            <a:solidFill>
              <a:srgbClr val="247E91"/>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80" name="Google Shape;1280;p65"/>
          <p:cNvSpPr/>
          <p:nvPr/>
        </p:nvSpPr>
        <p:spPr>
          <a:xfrm>
            <a:off x="329184" y="1651406"/>
            <a:ext cx="8469600" cy="138600"/>
          </a:xfrm>
          <a:prstGeom prst="rect">
            <a:avLst/>
          </a:prstGeom>
          <a:solidFill>
            <a:srgbClr val="F8FAFB"/>
          </a:solidFill>
          <a:ln cap="flat" cmpd="sng" w="7150">
            <a:solidFill>
              <a:srgbClr val="F8FAF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81" name="Google Shape;1281;p65"/>
          <p:cNvSpPr txBox="1"/>
          <p:nvPr/>
        </p:nvSpPr>
        <p:spPr>
          <a:xfrm>
            <a:off x="342900" y="1651406"/>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1" i="0" lang="en" sz="500" u="none" cap="none" strike="noStrike">
                <a:solidFill>
                  <a:srgbClr val="232D37"/>
                </a:solidFill>
                <a:latin typeface="Arial"/>
                <a:ea typeface="Arial"/>
                <a:cs typeface="Arial"/>
                <a:sym typeface="Arial"/>
              </a:rPr>
              <a:t>December 1 tax letter / projected yield</a:t>
            </a:r>
            <a:endParaRPr sz="1100"/>
          </a:p>
        </p:txBody>
      </p:sp>
      <p:sp>
        <p:nvSpPr>
          <p:cNvPr id="1282" name="Google Shape;1282;p65"/>
          <p:cNvSpPr/>
          <p:nvPr/>
        </p:nvSpPr>
        <p:spPr>
          <a:xfrm>
            <a:off x="4232321" y="1689125"/>
            <a:ext cx="61800" cy="61800"/>
          </a:xfrm>
          <a:prstGeom prst="diamond">
            <a:avLst/>
          </a:prstGeom>
          <a:solidFill>
            <a:srgbClr val="E2AA35"/>
          </a:solidFill>
          <a:ln cap="flat" cmpd="sng" w="7150">
            <a:solidFill>
              <a:srgbClr val="E2AA35"/>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83" name="Google Shape;1283;p65"/>
          <p:cNvSpPr txBox="1"/>
          <p:nvPr/>
        </p:nvSpPr>
        <p:spPr>
          <a:xfrm>
            <a:off x="342900" y="1789938"/>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232D37"/>
                </a:solidFill>
                <a:latin typeface="Arial"/>
                <a:ea typeface="Arial"/>
                <a:cs typeface="Arial"/>
                <a:sym typeface="Arial"/>
              </a:rPr>
              <a:t>Budget Overviews 2 &amp; 3</a:t>
            </a:r>
            <a:endParaRPr sz="1100"/>
          </a:p>
        </p:txBody>
      </p:sp>
      <p:sp>
        <p:nvSpPr>
          <p:cNvPr id="1284" name="Google Shape;1284;p65"/>
          <p:cNvSpPr/>
          <p:nvPr/>
        </p:nvSpPr>
        <p:spPr>
          <a:xfrm>
            <a:off x="4256324" y="1827657"/>
            <a:ext cx="1012500" cy="61800"/>
          </a:xfrm>
          <a:prstGeom prst="roundRect">
            <a:avLst>
              <a:gd fmla="val 16667" name="adj"/>
            </a:avLst>
          </a:prstGeom>
          <a:solidFill>
            <a:srgbClr val="247E91"/>
          </a:solidFill>
          <a:ln cap="flat" cmpd="sng" w="7150">
            <a:solidFill>
              <a:srgbClr val="247E91"/>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85" name="Google Shape;1285;p65"/>
          <p:cNvSpPr/>
          <p:nvPr/>
        </p:nvSpPr>
        <p:spPr>
          <a:xfrm>
            <a:off x="329184" y="1928469"/>
            <a:ext cx="8469600" cy="138600"/>
          </a:xfrm>
          <a:prstGeom prst="rect">
            <a:avLst/>
          </a:prstGeom>
          <a:solidFill>
            <a:srgbClr val="F8FAFB"/>
          </a:solidFill>
          <a:ln cap="flat" cmpd="sng" w="7150">
            <a:solidFill>
              <a:srgbClr val="F8FAF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86" name="Google Shape;1286;p65"/>
          <p:cNvSpPr txBox="1"/>
          <p:nvPr/>
        </p:nvSpPr>
        <p:spPr>
          <a:xfrm>
            <a:off x="342900" y="1928469"/>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232D37"/>
                </a:solidFill>
                <a:latin typeface="Arial"/>
                <a:ea typeface="Arial"/>
                <a:cs typeface="Arial"/>
                <a:sym typeface="Arial"/>
              </a:rPr>
              <a:t>Community engagement meetings on school closings</a:t>
            </a:r>
            <a:endParaRPr sz="1100"/>
          </a:p>
        </p:txBody>
      </p:sp>
      <p:sp>
        <p:nvSpPr>
          <p:cNvPr id="1287" name="Google Shape;1287;p65"/>
          <p:cNvSpPr/>
          <p:nvPr/>
        </p:nvSpPr>
        <p:spPr>
          <a:xfrm>
            <a:off x="3986327" y="1966188"/>
            <a:ext cx="1021200" cy="61800"/>
          </a:xfrm>
          <a:prstGeom prst="roundRect">
            <a:avLst>
              <a:gd fmla="val 16667" name="adj"/>
            </a:avLst>
          </a:prstGeom>
          <a:solidFill>
            <a:srgbClr val="539169"/>
          </a:solidFill>
          <a:ln cap="flat" cmpd="sng" w="7150">
            <a:solidFill>
              <a:srgbClr val="539169"/>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88" name="Google Shape;1288;p65"/>
          <p:cNvSpPr txBox="1"/>
          <p:nvPr/>
        </p:nvSpPr>
        <p:spPr>
          <a:xfrm>
            <a:off x="342900" y="2067001"/>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232D37"/>
                </a:solidFill>
                <a:latin typeface="Arial"/>
                <a:ea typeface="Arial"/>
                <a:cs typeface="Arial"/>
                <a:sym typeface="Arial"/>
              </a:rPr>
              <a:t>RFP / statutory notice process (confirm)</a:t>
            </a:r>
            <a:endParaRPr sz="1100"/>
          </a:p>
        </p:txBody>
      </p:sp>
      <p:sp>
        <p:nvSpPr>
          <p:cNvPr id="1289" name="Google Shape;1289;p65"/>
          <p:cNvSpPr/>
          <p:nvPr/>
        </p:nvSpPr>
        <p:spPr>
          <a:xfrm>
            <a:off x="3986327" y="2104720"/>
            <a:ext cx="1021200" cy="61800"/>
          </a:xfrm>
          <a:prstGeom prst="roundRect">
            <a:avLst>
              <a:gd fmla="val 16667" name="adj"/>
            </a:avLst>
          </a:prstGeom>
          <a:solidFill>
            <a:srgbClr val="247E91"/>
          </a:solidFill>
          <a:ln cap="flat" cmpd="sng" w="7150">
            <a:solidFill>
              <a:srgbClr val="247E91"/>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90" name="Google Shape;1290;p65"/>
          <p:cNvSpPr/>
          <p:nvPr/>
        </p:nvSpPr>
        <p:spPr>
          <a:xfrm>
            <a:off x="329184" y="2205533"/>
            <a:ext cx="8469600" cy="138600"/>
          </a:xfrm>
          <a:prstGeom prst="rect">
            <a:avLst/>
          </a:prstGeom>
          <a:solidFill>
            <a:srgbClr val="F8FAFB"/>
          </a:solidFill>
          <a:ln cap="flat" cmpd="sng" w="7150">
            <a:solidFill>
              <a:srgbClr val="F8FAF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91" name="Google Shape;1291;p65"/>
          <p:cNvSpPr txBox="1"/>
          <p:nvPr/>
        </p:nvSpPr>
        <p:spPr>
          <a:xfrm>
            <a:off x="342900" y="2205533"/>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1" i="0" lang="en" sz="500" u="none" cap="none" strike="noStrike">
                <a:solidFill>
                  <a:srgbClr val="232D37"/>
                </a:solidFill>
                <a:latin typeface="Arial"/>
                <a:ea typeface="Arial"/>
                <a:cs typeface="Arial"/>
                <a:sym typeface="Arial"/>
              </a:rPr>
              <a:t>Board vote on school closures (listed date)</a:t>
            </a:r>
            <a:endParaRPr sz="1100"/>
          </a:p>
        </p:txBody>
      </p:sp>
      <p:sp>
        <p:nvSpPr>
          <p:cNvPr id="1292" name="Google Shape;1292;p65"/>
          <p:cNvSpPr/>
          <p:nvPr/>
        </p:nvSpPr>
        <p:spPr>
          <a:xfrm>
            <a:off x="4820219" y="2243252"/>
            <a:ext cx="61800" cy="61800"/>
          </a:xfrm>
          <a:prstGeom prst="diamond">
            <a:avLst/>
          </a:prstGeom>
          <a:solidFill>
            <a:srgbClr val="E2AA35"/>
          </a:solidFill>
          <a:ln cap="flat" cmpd="sng" w="7150">
            <a:solidFill>
              <a:srgbClr val="E2AA35"/>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93" name="Google Shape;1293;p65"/>
          <p:cNvSpPr txBox="1"/>
          <p:nvPr/>
        </p:nvSpPr>
        <p:spPr>
          <a:xfrm>
            <a:off x="342900" y="2344064"/>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1" i="0" lang="en" sz="500" u="none" cap="none" strike="noStrike">
                <a:solidFill>
                  <a:srgbClr val="232D37"/>
                </a:solidFill>
                <a:latin typeface="Arial"/>
                <a:ea typeface="Arial"/>
                <a:cs typeface="Arial"/>
                <a:sym typeface="Arial"/>
              </a:rPr>
              <a:t>Announced tuition due (confirm date)</a:t>
            </a:r>
            <a:endParaRPr sz="1100"/>
          </a:p>
        </p:txBody>
      </p:sp>
      <p:sp>
        <p:nvSpPr>
          <p:cNvPr id="1294" name="Google Shape;1294;p65"/>
          <p:cNvSpPr/>
          <p:nvPr/>
        </p:nvSpPr>
        <p:spPr>
          <a:xfrm>
            <a:off x="4967193" y="2381783"/>
            <a:ext cx="61800" cy="61800"/>
          </a:xfrm>
          <a:prstGeom prst="diamond">
            <a:avLst/>
          </a:prstGeom>
          <a:solidFill>
            <a:srgbClr val="E2AA35"/>
          </a:solidFill>
          <a:ln cap="flat" cmpd="sng" w="7150">
            <a:solidFill>
              <a:srgbClr val="E2AA35"/>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95" name="Google Shape;1295;p65"/>
          <p:cNvSpPr/>
          <p:nvPr/>
        </p:nvSpPr>
        <p:spPr>
          <a:xfrm>
            <a:off x="329184" y="2482596"/>
            <a:ext cx="8469600" cy="138600"/>
          </a:xfrm>
          <a:prstGeom prst="rect">
            <a:avLst/>
          </a:prstGeom>
          <a:solidFill>
            <a:srgbClr val="F8FAFB"/>
          </a:solidFill>
          <a:ln cap="flat" cmpd="sng" w="7150">
            <a:solidFill>
              <a:srgbClr val="F8FAF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96" name="Google Shape;1296;p65"/>
          <p:cNvSpPr txBox="1"/>
          <p:nvPr/>
        </p:nvSpPr>
        <p:spPr>
          <a:xfrm>
            <a:off x="342900" y="2482596"/>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1" i="0" lang="en" sz="500" u="none" cap="none" strike="noStrike">
                <a:solidFill>
                  <a:srgbClr val="232D37"/>
                </a:solidFill>
                <a:latin typeface="Arial"/>
                <a:ea typeface="Arial"/>
                <a:cs typeface="Arial"/>
                <a:sym typeface="Arial"/>
              </a:rPr>
              <a:t>Common Level of Appraisal published (confirm)</a:t>
            </a:r>
            <a:endParaRPr sz="1100"/>
          </a:p>
        </p:txBody>
      </p:sp>
      <p:sp>
        <p:nvSpPr>
          <p:cNvPr id="1297" name="Google Shape;1297;p65"/>
          <p:cNvSpPr/>
          <p:nvPr/>
        </p:nvSpPr>
        <p:spPr>
          <a:xfrm>
            <a:off x="4738566" y="2520315"/>
            <a:ext cx="61800" cy="61800"/>
          </a:xfrm>
          <a:prstGeom prst="diamond">
            <a:avLst/>
          </a:prstGeom>
          <a:solidFill>
            <a:srgbClr val="E2AA35"/>
          </a:solidFill>
          <a:ln cap="flat" cmpd="sng" w="7150">
            <a:solidFill>
              <a:srgbClr val="E2AA35"/>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98" name="Google Shape;1298;p65"/>
          <p:cNvSpPr txBox="1"/>
          <p:nvPr/>
        </p:nvSpPr>
        <p:spPr>
          <a:xfrm>
            <a:off x="342900" y="2621127"/>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232D37"/>
                </a:solidFill>
                <a:latin typeface="Arial"/>
                <a:ea typeface="Arial"/>
                <a:cs typeface="Arial"/>
                <a:sym typeface="Arial"/>
              </a:rPr>
              <a:t>Final budget, warning &amp; articles</a:t>
            </a:r>
            <a:endParaRPr sz="1100"/>
          </a:p>
        </p:txBody>
      </p:sp>
      <p:sp>
        <p:nvSpPr>
          <p:cNvPr id="1299" name="Google Shape;1299;p65"/>
          <p:cNvSpPr/>
          <p:nvPr/>
        </p:nvSpPr>
        <p:spPr>
          <a:xfrm>
            <a:off x="4762569" y="2658846"/>
            <a:ext cx="777300" cy="61800"/>
          </a:xfrm>
          <a:prstGeom prst="roundRect">
            <a:avLst>
              <a:gd fmla="val 16667" name="adj"/>
            </a:avLst>
          </a:prstGeom>
          <a:solidFill>
            <a:srgbClr val="247E91"/>
          </a:solidFill>
          <a:ln cap="flat" cmpd="sng" w="7150">
            <a:solidFill>
              <a:srgbClr val="247E91"/>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00" name="Google Shape;1300;p65"/>
          <p:cNvSpPr/>
          <p:nvPr/>
        </p:nvSpPr>
        <p:spPr>
          <a:xfrm>
            <a:off x="329184" y="2759659"/>
            <a:ext cx="8469600" cy="138600"/>
          </a:xfrm>
          <a:prstGeom prst="rect">
            <a:avLst/>
          </a:prstGeom>
          <a:solidFill>
            <a:srgbClr val="F8FAFB"/>
          </a:solidFill>
          <a:ln cap="flat" cmpd="sng" w="7150">
            <a:solidFill>
              <a:srgbClr val="F8FAF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01" name="Google Shape;1301;p65"/>
          <p:cNvSpPr txBox="1"/>
          <p:nvPr/>
        </p:nvSpPr>
        <p:spPr>
          <a:xfrm>
            <a:off x="342900" y="2759659"/>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232D37"/>
                </a:solidFill>
                <a:latin typeface="Arial"/>
                <a:ea typeface="Arial"/>
                <a:cs typeface="Arial"/>
                <a:sym typeface="Arial"/>
              </a:rPr>
              <a:t>Administrator contract notifications</a:t>
            </a:r>
            <a:endParaRPr sz="1100"/>
          </a:p>
        </p:txBody>
      </p:sp>
      <p:sp>
        <p:nvSpPr>
          <p:cNvPr id="1302" name="Google Shape;1302;p65"/>
          <p:cNvSpPr/>
          <p:nvPr/>
        </p:nvSpPr>
        <p:spPr>
          <a:xfrm>
            <a:off x="5268814" y="2797378"/>
            <a:ext cx="751200" cy="61800"/>
          </a:xfrm>
          <a:prstGeom prst="roundRect">
            <a:avLst>
              <a:gd fmla="val 16667" name="adj"/>
            </a:avLst>
          </a:prstGeom>
          <a:solidFill>
            <a:srgbClr val="247E91"/>
          </a:solidFill>
          <a:ln cap="flat" cmpd="sng" w="7150">
            <a:solidFill>
              <a:srgbClr val="247E91"/>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03" name="Google Shape;1303;p65"/>
          <p:cNvSpPr txBox="1"/>
          <p:nvPr/>
        </p:nvSpPr>
        <p:spPr>
          <a:xfrm>
            <a:off x="342900" y="2898191"/>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1" i="0" lang="en" sz="500" u="none" cap="none" strike="noStrike">
                <a:solidFill>
                  <a:srgbClr val="232D37"/>
                </a:solidFill>
                <a:latin typeface="Arial"/>
                <a:ea typeface="Arial"/>
                <a:cs typeface="Arial"/>
                <a:sym typeface="Arial"/>
              </a:rPr>
              <a:t>Interdistrict choice deadline (confirm)</a:t>
            </a:r>
            <a:endParaRPr sz="1100"/>
          </a:p>
        </p:txBody>
      </p:sp>
      <p:sp>
        <p:nvSpPr>
          <p:cNvPr id="1304" name="Google Shape;1304;p65"/>
          <p:cNvSpPr/>
          <p:nvPr/>
        </p:nvSpPr>
        <p:spPr>
          <a:xfrm>
            <a:off x="5244811" y="2935910"/>
            <a:ext cx="61800" cy="61800"/>
          </a:xfrm>
          <a:prstGeom prst="diamond">
            <a:avLst/>
          </a:prstGeom>
          <a:solidFill>
            <a:srgbClr val="E2AA35"/>
          </a:solidFill>
          <a:ln cap="flat" cmpd="sng" w="7150">
            <a:solidFill>
              <a:srgbClr val="E2AA35"/>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05" name="Google Shape;1305;p65"/>
          <p:cNvSpPr/>
          <p:nvPr/>
        </p:nvSpPr>
        <p:spPr>
          <a:xfrm>
            <a:off x="329184" y="3036722"/>
            <a:ext cx="8469600" cy="138600"/>
          </a:xfrm>
          <a:prstGeom prst="rect">
            <a:avLst/>
          </a:prstGeom>
          <a:solidFill>
            <a:srgbClr val="F8FAFB"/>
          </a:solidFill>
          <a:ln cap="flat" cmpd="sng" w="7150">
            <a:solidFill>
              <a:srgbClr val="F8FAF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06" name="Google Shape;1306;p65"/>
          <p:cNvSpPr txBox="1"/>
          <p:nvPr/>
        </p:nvSpPr>
        <p:spPr>
          <a:xfrm>
            <a:off x="342900" y="3036722"/>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232D37"/>
                </a:solidFill>
                <a:latin typeface="Arial"/>
                <a:ea typeface="Arial"/>
                <a:cs typeface="Arial"/>
                <a:sym typeface="Arial"/>
              </a:rPr>
              <a:t>HUUSD annual report</a:t>
            </a:r>
            <a:endParaRPr sz="1100"/>
          </a:p>
        </p:txBody>
      </p:sp>
      <p:sp>
        <p:nvSpPr>
          <p:cNvPr id="1307" name="Google Shape;1307;p65"/>
          <p:cNvSpPr/>
          <p:nvPr/>
        </p:nvSpPr>
        <p:spPr>
          <a:xfrm>
            <a:off x="4762569" y="3074441"/>
            <a:ext cx="777300" cy="61800"/>
          </a:xfrm>
          <a:prstGeom prst="roundRect">
            <a:avLst>
              <a:gd fmla="val 16667" name="adj"/>
            </a:avLst>
          </a:prstGeom>
          <a:solidFill>
            <a:srgbClr val="247E91"/>
          </a:solidFill>
          <a:ln cap="flat" cmpd="sng" w="7150">
            <a:solidFill>
              <a:srgbClr val="247E91"/>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08" name="Google Shape;1308;p65"/>
          <p:cNvSpPr txBox="1"/>
          <p:nvPr/>
        </p:nvSpPr>
        <p:spPr>
          <a:xfrm>
            <a:off x="342900" y="3175254"/>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1" i="0" lang="en" sz="500" u="none" cap="none" strike="noStrike">
                <a:solidFill>
                  <a:srgbClr val="232D37"/>
                </a:solidFill>
                <a:latin typeface="Arial"/>
                <a:ea typeface="Arial"/>
                <a:cs typeface="Arial"/>
                <a:sym typeface="Arial"/>
              </a:rPr>
              <a:t>Budget informational hearing</a:t>
            </a:r>
            <a:endParaRPr sz="1100"/>
          </a:p>
        </p:txBody>
      </p:sp>
      <p:sp>
        <p:nvSpPr>
          <p:cNvPr id="1309" name="Google Shape;1309;p65"/>
          <p:cNvSpPr/>
          <p:nvPr/>
        </p:nvSpPr>
        <p:spPr>
          <a:xfrm>
            <a:off x="5751056" y="3212973"/>
            <a:ext cx="61800" cy="61800"/>
          </a:xfrm>
          <a:prstGeom prst="diamond">
            <a:avLst/>
          </a:prstGeom>
          <a:solidFill>
            <a:srgbClr val="E2AA35"/>
          </a:solidFill>
          <a:ln cap="flat" cmpd="sng" w="7150">
            <a:solidFill>
              <a:srgbClr val="E2AA35"/>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10" name="Google Shape;1310;p65"/>
          <p:cNvSpPr/>
          <p:nvPr/>
        </p:nvSpPr>
        <p:spPr>
          <a:xfrm>
            <a:off x="329184" y="3313785"/>
            <a:ext cx="8469600" cy="138600"/>
          </a:xfrm>
          <a:prstGeom prst="rect">
            <a:avLst/>
          </a:prstGeom>
          <a:solidFill>
            <a:srgbClr val="F8FAFB"/>
          </a:solidFill>
          <a:ln cap="flat" cmpd="sng" w="7150">
            <a:solidFill>
              <a:srgbClr val="F8FAF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11" name="Google Shape;1311;p65"/>
          <p:cNvSpPr txBox="1"/>
          <p:nvPr/>
        </p:nvSpPr>
        <p:spPr>
          <a:xfrm>
            <a:off x="342900" y="3313785"/>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1" i="0" lang="en" sz="500" u="none" cap="none" strike="noStrike">
                <a:solidFill>
                  <a:srgbClr val="232D37"/>
                </a:solidFill>
                <a:latin typeface="Arial"/>
                <a:ea typeface="Arial"/>
                <a:cs typeface="Arial"/>
                <a:sym typeface="Arial"/>
              </a:rPr>
              <a:t>Town Meeting Day</a:t>
            </a:r>
            <a:endParaRPr sz="1100"/>
          </a:p>
        </p:txBody>
      </p:sp>
      <p:sp>
        <p:nvSpPr>
          <p:cNvPr id="1312" name="Google Shape;1312;p65"/>
          <p:cNvSpPr/>
          <p:nvPr/>
        </p:nvSpPr>
        <p:spPr>
          <a:xfrm>
            <a:off x="5767387" y="3351504"/>
            <a:ext cx="61800" cy="61800"/>
          </a:xfrm>
          <a:prstGeom prst="diamond">
            <a:avLst/>
          </a:prstGeom>
          <a:solidFill>
            <a:srgbClr val="E2AA35"/>
          </a:solidFill>
          <a:ln cap="flat" cmpd="sng" w="7150">
            <a:solidFill>
              <a:srgbClr val="E2AA35"/>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13" name="Google Shape;1313;p65"/>
          <p:cNvSpPr txBox="1"/>
          <p:nvPr/>
        </p:nvSpPr>
        <p:spPr>
          <a:xfrm>
            <a:off x="342900" y="3452317"/>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232D37"/>
                </a:solidFill>
                <a:latin typeface="Arial"/>
                <a:ea typeface="Arial"/>
                <a:cs typeface="Arial"/>
                <a:sym typeface="Arial"/>
              </a:rPr>
              <a:t>Preliminary school assignments</a:t>
            </a:r>
            <a:endParaRPr sz="1100"/>
          </a:p>
        </p:txBody>
      </p:sp>
      <p:sp>
        <p:nvSpPr>
          <p:cNvPr id="1314" name="Google Shape;1314;p65"/>
          <p:cNvSpPr/>
          <p:nvPr/>
        </p:nvSpPr>
        <p:spPr>
          <a:xfrm>
            <a:off x="5775059" y="3490036"/>
            <a:ext cx="1012500" cy="61800"/>
          </a:xfrm>
          <a:prstGeom prst="roundRect">
            <a:avLst>
              <a:gd fmla="val 16667" name="adj"/>
            </a:avLst>
          </a:prstGeom>
          <a:solidFill>
            <a:srgbClr val="247E91"/>
          </a:solidFill>
          <a:ln cap="flat" cmpd="sng" w="7150">
            <a:solidFill>
              <a:srgbClr val="247E91"/>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15" name="Google Shape;1315;p65"/>
          <p:cNvSpPr/>
          <p:nvPr/>
        </p:nvSpPr>
        <p:spPr>
          <a:xfrm>
            <a:off x="329184" y="3590849"/>
            <a:ext cx="8469600" cy="138600"/>
          </a:xfrm>
          <a:prstGeom prst="rect">
            <a:avLst/>
          </a:prstGeom>
          <a:solidFill>
            <a:srgbClr val="F8FAFB"/>
          </a:solidFill>
          <a:ln cap="flat" cmpd="sng" w="7150">
            <a:solidFill>
              <a:srgbClr val="F8FAF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16" name="Google Shape;1316;p65"/>
          <p:cNvSpPr txBox="1"/>
          <p:nvPr/>
        </p:nvSpPr>
        <p:spPr>
          <a:xfrm>
            <a:off x="342900" y="3590849"/>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232D37"/>
                </a:solidFill>
                <a:latin typeface="Arial"/>
                <a:ea typeface="Arial"/>
                <a:cs typeface="Arial"/>
                <a:sym typeface="Arial"/>
              </a:rPr>
              <a:t>Teacher contracts / LOIs / RIF planning</a:t>
            </a:r>
            <a:endParaRPr sz="1100"/>
          </a:p>
        </p:txBody>
      </p:sp>
      <p:sp>
        <p:nvSpPr>
          <p:cNvPr id="1317" name="Google Shape;1317;p65"/>
          <p:cNvSpPr/>
          <p:nvPr/>
        </p:nvSpPr>
        <p:spPr>
          <a:xfrm>
            <a:off x="5268814" y="3628568"/>
            <a:ext cx="1518900" cy="61800"/>
          </a:xfrm>
          <a:prstGeom prst="roundRect">
            <a:avLst>
              <a:gd fmla="val 16667" name="adj"/>
            </a:avLst>
          </a:prstGeom>
          <a:solidFill>
            <a:srgbClr val="247E91"/>
          </a:solidFill>
          <a:ln cap="flat" cmpd="sng" w="7150">
            <a:solidFill>
              <a:srgbClr val="247E91"/>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18" name="Google Shape;1318;p65"/>
          <p:cNvSpPr txBox="1"/>
          <p:nvPr/>
        </p:nvSpPr>
        <p:spPr>
          <a:xfrm>
            <a:off x="342900" y="3729380"/>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232D37"/>
                </a:solidFill>
                <a:latin typeface="Arial"/>
                <a:ea typeface="Arial"/>
                <a:cs typeface="Arial"/>
                <a:sym typeface="Arial"/>
              </a:rPr>
              <a:t>Union staff contracts</a:t>
            </a:r>
            <a:endParaRPr sz="1100"/>
          </a:p>
        </p:txBody>
      </p:sp>
      <p:sp>
        <p:nvSpPr>
          <p:cNvPr id="1319" name="Google Shape;1319;p65"/>
          <p:cNvSpPr/>
          <p:nvPr/>
        </p:nvSpPr>
        <p:spPr>
          <a:xfrm>
            <a:off x="5775059" y="3767099"/>
            <a:ext cx="1518900" cy="61800"/>
          </a:xfrm>
          <a:prstGeom prst="roundRect">
            <a:avLst>
              <a:gd fmla="val 16667" name="adj"/>
            </a:avLst>
          </a:prstGeom>
          <a:solidFill>
            <a:srgbClr val="247E91"/>
          </a:solidFill>
          <a:ln cap="flat" cmpd="sng" w="7150">
            <a:solidFill>
              <a:srgbClr val="247E91"/>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20" name="Google Shape;1320;p65"/>
          <p:cNvSpPr/>
          <p:nvPr/>
        </p:nvSpPr>
        <p:spPr>
          <a:xfrm>
            <a:off x="329184" y="3867912"/>
            <a:ext cx="8469600" cy="138600"/>
          </a:xfrm>
          <a:prstGeom prst="rect">
            <a:avLst/>
          </a:prstGeom>
          <a:solidFill>
            <a:srgbClr val="F8FAFB"/>
          </a:solidFill>
          <a:ln cap="flat" cmpd="sng" w="7150">
            <a:solidFill>
              <a:srgbClr val="F8FAF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21" name="Google Shape;1321;p65"/>
          <p:cNvSpPr txBox="1"/>
          <p:nvPr/>
        </p:nvSpPr>
        <p:spPr>
          <a:xfrm>
            <a:off x="342900" y="3867912"/>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1" i="0" lang="en" sz="500" u="none" cap="none" strike="noStrike">
                <a:solidFill>
                  <a:srgbClr val="232D37"/>
                </a:solidFill>
                <a:latin typeface="Arial"/>
                <a:ea typeface="Arial"/>
                <a:cs typeface="Arial"/>
                <a:sym typeface="Arial"/>
              </a:rPr>
              <a:t>Teacher contracts due back (confirm)</a:t>
            </a:r>
            <a:endParaRPr sz="1100"/>
          </a:p>
        </p:txBody>
      </p:sp>
      <p:sp>
        <p:nvSpPr>
          <p:cNvPr id="1322" name="Google Shape;1322;p65"/>
          <p:cNvSpPr/>
          <p:nvPr/>
        </p:nvSpPr>
        <p:spPr>
          <a:xfrm>
            <a:off x="6257301" y="3905631"/>
            <a:ext cx="61800" cy="61800"/>
          </a:xfrm>
          <a:prstGeom prst="diamond">
            <a:avLst/>
          </a:prstGeom>
          <a:solidFill>
            <a:srgbClr val="E2AA35"/>
          </a:solidFill>
          <a:ln cap="flat" cmpd="sng" w="7150">
            <a:solidFill>
              <a:srgbClr val="E2AA35"/>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23" name="Google Shape;1323;p65"/>
          <p:cNvSpPr txBox="1"/>
          <p:nvPr/>
        </p:nvSpPr>
        <p:spPr>
          <a:xfrm>
            <a:off x="342900" y="4006443"/>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232D37"/>
                </a:solidFill>
                <a:latin typeface="Arial"/>
                <a:ea typeface="Arial"/>
                <a:cs typeface="Arial"/>
                <a:sym typeface="Arial"/>
              </a:rPr>
              <a:t>Non-union contracts</a:t>
            </a:r>
            <a:endParaRPr sz="1100"/>
          </a:p>
        </p:txBody>
      </p:sp>
      <p:sp>
        <p:nvSpPr>
          <p:cNvPr id="1324" name="Google Shape;1324;p65"/>
          <p:cNvSpPr/>
          <p:nvPr/>
        </p:nvSpPr>
        <p:spPr>
          <a:xfrm>
            <a:off x="5775059" y="4044162"/>
            <a:ext cx="1518900" cy="61800"/>
          </a:xfrm>
          <a:prstGeom prst="roundRect">
            <a:avLst>
              <a:gd fmla="val 16667" name="adj"/>
            </a:avLst>
          </a:prstGeom>
          <a:solidFill>
            <a:srgbClr val="247E91"/>
          </a:solidFill>
          <a:ln cap="flat" cmpd="sng" w="7150">
            <a:solidFill>
              <a:srgbClr val="247E91"/>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25" name="Google Shape;1325;p65"/>
          <p:cNvSpPr/>
          <p:nvPr/>
        </p:nvSpPr>
        <p:spPr>
          <a:xfrm>
            <a:off x="329184" y="4144975"/>
            <a:ext cx="8469600" cy="138600"/>
          </a:xfrm>
          <a:prstGeom prst="rect">
            <a:avLst/>
          </a:prstGeom>
          <a:solidFill>
            <a:srgbClr val="F8FAFB"/>
          </a:solidFill>
          <a:ln cap="flat" cmpd="sng" w="7150">
            <a:solidFill>
              <a:srgbClr val="F8FAF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26" name="Google Shape;1326;p65"/>
          <p:cNvSpPr txBox="1"/>
          <p:nvPr/>
        </p:nvSpPr>
        <p:spPr>
          <a:xfrm>
            <a:off x="342900" y="4144975"/>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1" i="0" lang="en" sz="500" u="none" cap="none" strike="noStrike">
                <a:solidFill>
                  <a:srgbClr val="232D37"/>
                </a:solidFill>
                <a:latin typeface="Arial"/>
                <a:ea typeface="Arial"/>
                <a:cs typeface="Arial"/>
                <a:sym typeface="Arial"/>
              </a:rPr>
              <a:t>Union staff contracts due back (confirm)</a:t>
            </a:r>
            <a:endParaRPr sz="1100"/>
          </a:p>
        </p:txBody>
      </p:sp>
      <p:sp>
        <p:nvSpPr>
          <p:cNvPr id="1327" name="Google Shape;1327;p65"/>
          <p:cNvSpPr/>
          <p:nvPr/>
        </p:nvSpPr>
        <p:spPr>
          <a:xfrm>
            <a:off x="6257301" y="4182694"/>
            <a:ext cx="61800" cy="61800"/>
          </a:xfrm>
          <a:prstGeom prst="diamond">
            <a:avLst/>
          </a:prstGeom>
          <a:solidFill>
            <a:srgbClr val="E2AA35"/>
          </a:solidFill>
          <a:ln cap="flat" cmpd="sng" w="7150">
            <a:solidFill>
              <a:srgbClr val="E2AA35"/>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28" name="Google Shape;1328;p65"/>
          <p:cNvSpPr txBox="1"/>
          <p:nvPr/>
        </p:nvSpPr>
        <p:spPr>
          <a:xfrm>
            <a:off x="342900" y="4283507"/>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232D37"/>
                </a:solidFill>
                <a:latin typeface="Arial"/>
                <a:ea typeface="Arial"/>
                <a:cs typeface="Arial"/>
                <a:sym typeface="Arial"/>
              </a:rPr>
              <a:t>Financial year-end close</a:t>
            </a:r>
            <a:endParaRPr sz="1100"/>
          </a:p>
        </p:txBody>
      </p:sp>
      <p:sp>
        <p:nvSpPr>
          <p:cNvPr id="1329" name="Google Shape;1329;p65"/>
          <p:cNvSpPr/>
          <p:nvPr/>
        </p:nvSpPr>
        <p:spPr>
          <a:xfrm>
            <a:off x="7293794" y="4321226"/>
            <a:ext cx="1511700" cy="61800"/>
          </a:xfrm>
          <a:prstGeom prst="roundRect">
            <a:avLst>
              <a:gd fmla="val 16667" name="adj"/>
            </a:avLst>
          </a:prstGeom>
          <a:solidFill>
            <a:srgbClr val="247E91"/>
          </a:solidFill>
          <a:ln cap="flat" cmpd="sng" w="7150">
            <a:solidFill>
              <a:srgbClr val="247E91"/>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30" name="Google Shape;1330;p65"/>
          <p:cNvSpPr/>
          <p:nvPr/>
        </p:nvSpPr>
        <p:spPr>
          <a:xfrm>
            <a:off x="329184" y="4422038"/>
            <a:ext cx="8469600" cy="138600"/>
          </a:xfrm>
          <a:prstGeom prst="rect">
            <a:avLst/>
          </a:prstGeom>
          <a:solidFill>
            <a:srgbClr val="F8FAFB"/>
          </a:solidFill>
          <a:ln cap="flat" cmpd="sng" w="7150">
            <a:solidFill>
              <a:srgbClr val="F8FAF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31" name="Google Shape;1331;p65"/>
          <p:cNvSpPr txBox="1"/>
          <p:nvPr/>
        </p:nvSpPr>
        <p:spPr>
          <a:xfrm>
            <a:off x="342900" y="4422038"/>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232D37"/>
                </a:solidFill>
                <a:latin typeface="Arial"/>
                <a:ea typeface="Arial"/>
                <a:cs typeface="Arial"/>
                <a:sym typeface="Arial"/>
              </a:rPr>
              <a:t>Prepare for possible school closings</a:t>
            </a:r>
            <a:endParaRPr sz="1100"/>
          </a:p>
        </p:txBody>
      </p:sp>
      <p:sp>
        <p:nvSpPr>
          <p:cNvPr id="1332" name="Google Shape;1332;p65"/>
          <p:cNvSpPr/>
          <p:nvPr/>
        </p:nvSpPr>
        <p:spPr>
          <a:xfrm>
            <a:off x="5775059" y="4459757"/>
            <a:ext cx="2025000" cy="61800"/>
          </a:xfrm>
          <a:prstGeom prst="roundRect">
            <a:avLst>
              <a:gd fmla="val 16667" name="adj"/>
            </a:avLst>
          </a:prstGeom>
          <a:solidFill>
            <a:srgbClr val="247E91"/>
          </a:solidFill>
          <a:ln cap="flat" cmpd="sng" w="7150">
            <a:solidFill>
              <a:srgbClr val="247E91"/>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33" name="Google Shape;1333;p65"/>
          <p:cNvSpPr txBox="1"/>
          <p:nvPr/>
        </p:nvSpPr>
        <p:spPr>
          <a:xfrm>
            <a:off x="342900" y="4560570"/>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232D37"/>
                </a:solidFill>
                <a:latin typeface="Arial"/>
                <a:ea typeface="Arial"/>
                <a:cs typeface="Arial"/>
                <a:sym typeface="Arial"/>
              </a:rPr>
              <a:t>Plan receiving-school readiness / reopening</a:t>
            </a:r>
            <a:endParaRPr sz="1100"/>
          </a:p>
        </p:txBody>
      </p:sp>
      <p:sp>
        <p:nvSpPr>
          <p:cNvPr id="1334" name="Google Shape;1334;p65"/>
          <p:cNvSpPr/>
          <p:nvPr/>
        </p:nvSpPr>
        <p:spPr>
          <a:xfrm>
            <a:off x="6281304" y="4598289"/>
            <a:ext cx="2270100" cy="61800"/>
          </a:xfrm>
          <a:prstGeom prst="roundRect">
            <a:avLst>
              <a:gd fmla="val 16667" name="adj"/>
            </a:avLst>
          </a:prstGeom>
          <a:solidFill>
            <a:srgbClr val="247E91"/>
          </a:solidFill>
          <a:ln cap="flat" cmpd="sng" w="7150">
            <a:solidFill>
              <a:srgbClr val="247E91"/>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35" name="Google Shape;1335;p65"/>
          <p:cNvSpPr/>
          <p:nvPr/>
        </p:nvSpPr>
        <p:spPr>
          <a:xfrm>
            <a:off x="329184" y="4699101"/>
            <a:ext cx="8469600" cy="138600"/>
          </a:xfrm>
          <a:prstGeom prst="rect">
            <a:avLst/>
          </a:prstGeom>
          <a:solidFill>
            <a:srgbClr val="F8FAFB"/>
          </a:solidFill>
          <a:ln cap="flat" cmpd="sng" w="7150">
            <a:solidFill>
              <a:srgbClr val="F8FAFB"/>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36" name="Google Shape;1336;p65"/>
          <p:cNvSpPr txBox="1"/>
          <p:nvPr/>
        </p:nvSpPr>
        <p:spPr>
          <a:xfrm>
            <a:off x="342900" y="4699101"/>
            <a:ext cx="28806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1" i="0" lang="en" sz="500" u="none" cap="none" strike="noStrike">
                <a:solidFill>
                  <a:srgbClr val="232D37"/>
                </a:solidFill>
                <a:latin typeface="Arial"/>
                <a:ea typeface="Arial"/>
                <a:cs typeface="Arial"/>
                <a:sym typeface="Arial"/>
              </a:rPr>
              <a:t>School openings</a:t>
            </a:r>
            <a:endParaRPr sz="1100"/>
          </a:p>
        </p:txBody>
      </p:sp>
      <p:sp>
        <p:nvSpPr>
          <p:cNvPr id="1337" name="Google Shape;1337;p65"/>
          <p:cNvSpPr/>
          <p:nvPr/>
        </p:nvSpPr>
        <p:spPr>
          <a:xfrm>
            <a:off x="8282282" y="4736820"/>
            <a:ext cx="61800" cy="61800"/>
          </a:xfrm>
          <a:prstGeom prst="diamond">
            <a:avLst/>
          </a:prstGeom>
          <a:solidFill>
            <a:srgbClr val="E2AA35"/>
          </a:solidFill>
          <a:ln cap="flat" cmpd="sng" w="7150">
            <a:solidFill>
              <a:srgbClr val="E2AA35"/>
            </a:solidFill>
            <a:prstDash val="solid"/>
            <a:round/>
            <a:headEnd len="sm" w="sm" type="none"/>
            <a:tailEnd len="sm" w="sm" type="none"/>
          </a:ln>
          <a:effectLst>
            <a:outerShdw blurRad="30000"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38" name="Google Shape;1338;p65"/>
          <p:cNvSpPr txBox="1"/>
          <p:nvPr/>
        </p:nvSpPr>
        <p:spPr>
          <a:xfrm>
            <a:off x="377190" y="4889754"/>
            <a:ext cx="8367000" cy="909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b="0" i="0" lang="en" sz="500" u="none" cap="none" strike="noStrike">
                <a:solidFill>
                  <a:srgbClr val="66737D"/>
                </a:solidFill>
                <a:latin typeface="Arial"/>
                <a:ea typeface="Arial"/>
                <a:cs typeface="Arial"/>
                <a:sym typeface="Arial"/>
              </a:rPr>
              <a:t>WORKING DRAFT</a:t>
            </a:r>
            <a:endParaRPr sz="1100"/>
          </a:p>
        </p:txBody>
      </p:sp>
      <p:sp>
        <p:nvSpPr>
          <p:cNvPr id="1339" name="Google Shape;1339;p65"/>
          <p:cNvSpPr txBox="1"/>
          <p:nvPr/>
        </p:nvSpPr>
        <p:spPr>
          <a:xfrm>
            <a:off x="377200" y="532061"/>
            <a:ext cx="8367000" cy="137100"/>
          </a:xfrm>
          <a:prstGeom prst="rect">
            <a:avLst/>
          </a:prstGeom>
          <a:noFill/>
          <a:ln>
            <a:noFill/>
          </a:ln>
        </p:spPr>
        <p:txBody>
          <a:bodyPr anchorCtr="0" anchor="ctr" bIns="6850" lIns="27425" spcFirstLastPara="1" rIns="27425" wrap="square" tIns="6850">
            <a:spAutoFit/>
          </a:bodyPr>
          <a:lstStyle/>
          <a:p>
            <a:pPr indent="0" lvl="0" marL="0" marR="0" rtl="0" algn="l">
              <a:spcBef>
                <a:spcPts val="0"/>
              </a:spcBef>
              <a:spcAft>
                <a:spcPts val="0"/>
              </a:spcAft>
              <a:buNone/>
            </a:pPr>
            <a:r>
              <a:rPr i="1" lang="en" sz="800">
                <a:solidFill>
                  <a:srgbClr val="E0EEF5"/>
                </a:solidFill>
              </a:rPr>
              <a:t>Note: A Gantt chart is a visual bar chart that illustrates a project schedule, showing tasks, start and end dates, durations, and how activities depend on one another across a timeline</a:t>
            </a:r>
            <a:r>
              <a:rPr lang="en" sz="800">
                <a:solidFill>
                  <a:srgbClr val="E0EEF5"/>
                </a:solidFill>
              </a:rPr>
              <a:t>.</a:t>
            </a:r>
            <a:endParaRPr sz="11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3" name="Shape 1343"/>
        <p:cNvGrpSpPr/>
        <p:nvPr/>
      </p:nvGrpSpPr>
      <p:grpSpPr>
        <a:xfrm>
          <a:off x="0" y="0"/>
          <a:ext cx="0" cy="0"/>
          <a:chOff x="0" y="0"/>
          <a:chExt cx="0" cy="0"/>
        </a:xfrm>
      </p:grpSpPr>
      <p:sp>
        <p:nvSpPr>
          <p:cNvPr id="1344" name="Google Shape;1344;p66"/>
          <p:cNvSpPr/>
          <p:nvPr/>
        </p:nvSpPr>
        <p:spPr>
          <a:xfrm>
            <a:off x="152400" y="152400"/>
            <a:ext cx="8839200" cy="514500"/>
          </a:xfrm>
          <a:prstGeom prst="roundRect">
            <a:avLst>
              <a:gd fmla="val 7407" name="adj"/>
            </a:avLst>
          </a:prstGeom>
          <a:solidFill>
            <a:srgbClr val="0F27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5" name="Google Shape;1345;p66"/>
          <p:cNvSpPr txBox="1"/>
          <p:nvPr/>
        </p:nvSpPr>
        <p:spPr>
          <a:xfrm>
            <a:off x="304800" y="152400"/>
            <a:ext cx="8534400" cy="5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000">
                <a:solidFill>
                  <a:srgbClr val="FFFFFF"/>
                </a:solidFill>
                <a:latin typeface="Inter ExtraBold"/>
                <a:ea typeface="Inter ExtraBold"/>
                <a:cs typeface="Inter ExtraBold"/>
                <a:sym typeface="Inter ExtraBold"/>
              </a:rPr>
              <a:t>HUUSD FY28 Budget Development Timeline </a:t>
            </a:r>
            <a:r>
              <a:rPr b="0" lang="en" sz="1300">
                <a:solidFill>
                  <a:srgbClr val="94A3B8"/>
                </a:solidFill>
                <a:latin typeface="Inter SemiBold"/>
                <a:ea typeface="Inter SemiBold"/>
                <a:cs typeface="Inter SemiBold"/>
                <a:sym typeface="Inter SemiBold"/>
              </a:rPr>
              <a:t>Process &amp; Milestones</a:t>
            </a:r>
            <a:endParaRPr>
              <a:latin typeface="Inter"/>
              <a:ea typeface="Inter"/>
              <a:cs typeface="Inter"/>
              <a:sym typeface="Inter"/>
            </a:endParaRPr>
          </a:p>
        </p:txBody>
      </p:sp>
      <p:sp>
        <p:nvSpPr>
          <p:cNvPr id="1346" name="Google Shape;1346;p66"/>
          <p:cNvSpPr txBox="1"/>
          <p:nvPr/>
        </p:nvSpPr>
        <p:spPr>
          <a:xfrm>
            <a:off x="304800" y="742950"/>
            <a:ext cx="85344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50">
                <a:solidFill>
                  <a:srgbClr val="64748B"/>
                </a:solidFill>
                <a:latin typeface="Inter Medium"/>
                <a:ea typeface="Inter Medium"/>
                <a:cs typeface="Inter Medium"/>
                <a:sym typeface="Inter Medium"/>
              </a:rPr>
              <a:t>Key board decisions and budget-development milestones from October through Town Meeting Day</a:t>
            </a:r>
            <a:endParaRPr>
              <a:latin typeface="Inter"/>
              <a:ea typeface="Inter"/>
              <a:cs typeface="Inter"/>
              <a:sym typeface="Inter"/>
            </a:endParaRPr>
          </a:p>
        </p:txBody>
      </p:sp>
      <p:cxnSp>
        <p:nvCxnSpPr>
          <p:cNvPr id="1347" name="Google Shape;1347;p66"/>
          <p:cNvCxnSpPr/>
          <p:nvPr/>
        </p:nvCxnSpPr>
        <p:spPr>
          <a:xfrm>
            <a:off x="571500" y="1381125"/>
            <a:ext cx="8001000" cy="0"/>
          </a:xfrm>
          <a:prstGeom prst="straightConnector1">
            <a:avLst/>
          </a:prstGeom>
          <a:solidFill>
            <a:srgbClr val="FFFFFF"/>
          </a:solidFill>
          <a:ln cap="flat" cmpd="sng" w="38100">
            <a:solidFill>
              <a:srgbClr val="CBD5E1"/>
            </a:solidFill>
            <a:prstDash val="solid"/>
            <a:round/>
            <a:headEnd len="sm" w="sm" type="none"/>
            <a:tailEnd len="sm" w="sm" type="none"/>
          </a:ln>
        </p:spPr>
      </p:cxnSp>
      <p:grpSp>
        <p:nvGrpSpPr>
          <p:cNvPr id="1348" name="Google Shape;1348;p66"/>
          <p:cNvGrpSpPr/>
          <p:nvPr/>
        </p:nvGrpSpPr>
        <p:grpSpPr>
          <a:xfrm>
            <a:off x="342900" y="1171575"/>
            <a:ext cx="990600" cy="3305175"/>
            <a:chOff x="342900" y="1171575"/>
            <a:chExt cx="990600" cy="3305175"/>
          </a:xfrm>
        </p:grpSpPr>
        <p:sp>
          <p:nvSpPr>
            <p:cNvPr id="1349" name="Google Shape;1349;p66"/>
            <p:cNvSpPr/>
            <p:nvPr/>
          </p:nvSpPr>
          <p:spPr>
            <a:xfrm>
              <a:off x="628650" y="1171575"/>
              <a:ext cx="419100" cy="419100"/>
            </a:xfrm>
            <a:prstGeom prst="ellipse">
              <a:avLst/>
            </a:prstGeom>
            <a:solidFill>
              <a:srgbClr val="FFFFFF"/>
            </a:solidFill>
            <a:ln cap="flat" cmpd="sng" w="3810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0" name="Google Shape;1350;p66"/>
            <p:cNvSpPr/>
            <p:nvPr/>
          </p:nvSpPr>
          <p:spPr>
            <a:xfrm>
              <a:off x="695325" y="1238250"/>
              <a:ext cx="285900" cy="285900"/>
            </a:xfrm>
            <a:prstGeom prst="ellipse">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1" name="Google Shape;1351;p66"/>
            <p:cNvSpPr txBox="1"/>
            <p:nvPr/>
          </p:nvSpPr>
          <p:spPr>
            <a:xfrm>
              <a:off x="628650" y="1238250"/>
              <a:ext cx="4191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FFFFFF"/>
                  </a:solidFill>
                  <a:latin typeface="Inter ExtraBold"/>
                  <a:ea typeface="Inter ExtraBold"/>
                  <a:cs typeface="Inter ExtraBold"/>
                  <a:sym typeface="Inter ExtraBold"/>
                </a:rPr>
                <a:t>01</a:t>
              </a:r>
              <a:endParaRPr b="0" sz="1000">
                <a:solidFill>
                  <a:srgbClr val="FFFFFF"/>
                </a:solidFill>
                <a:latin typeface="Inter ExtraBold"/>
                <a:ea typeface="Inter ExtraBold"/>
                <a:cs typeface="Inter ExtraBold"/>
                <a:sym typeface="Inter ExtraBold"/>
              </a:endParaRPr>
            </a:p>
          </p:txBody>
        </p:sp>
        <p:sp>
          <p:nvSpPr>
            <p:cNvPr id="1352" name="Google Shape;1352;p66"/>
            <p:cNvSpPr/>
            <p:nvPr/>
          </p:nvSpPr>
          <p:spPr>
            <a:xfrm>
              <a:off x="342900" y="1714500"/>
              <a:ext cx="990600" cy="285900"/>
            </a:xfrm>
            <a:prstGeom prst="roundRect">
              <a:avLst>
                <a:gd fmla="val 13333"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3" name="Google Shape;1353;p66"/>
            <p:cNvSpPr txBox="1"/>
            <p:nvPr/>
          </p:nvSpPr>
          <p:spPr>
            <a:xfrm>
              <a:off x="342900" y="1714500"/>
              <a:ext cx="990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FFFFFF"/>
                  </a:solidFill>
                  <a:latin typeface="Inter"/>
                  <a:ea typeface="Inter"/>
                  <a:cs typeface="Inter"/>
                  <a:sym typeface="Inter"/>
                </a:rPr>
                <a:t>Oct. 14, 2026</a:t>
              </a:r>
              <a:endParaRPr b="1" sz="850">
                <a:solidFill>
                  <a:srgbClr val="FFFFFF"/>
                </a:solidFill>
                <a:latin typeface="Inter"/>
                <a:ea typeface="Inter"/>
                <a:cs typeface="Inter"/>
                <a:sym typeface="Inter"/>
              </a:endParaRPr>
            </a:p>
          </p:txBody>
        </p:sp>
        <p:sp>
          <p:nvSpPr>
            <p:cNvPr id="1354" name="Google Shape;1354;p66"/>
            <p:cNvSpPr/>
            <p:nvPr/>
          </p:nvSpPr>
          <p:spPr>
            <a:xfrm>
              <a:off x="342900" y="2076450"/>
              <a:ext cx="990600" cy="2400300"/>
            </a:xfrm>
            <a:prstGeom prst="roundRect">
              <a:avLst>
                <a:gd fmla="val 9615" name="adj"/>
              </a:avLst>
            </a:prstGeom>
            <a:solidFill>
              <a:srgbClr val="F0F9FF"/>
            </a:solidFill>
            <a:ln cap="flat" cmpd="sng" w="14300">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5" name="Google Shape;1355;p66"/>
            <p:cNvSpPr txBox="1"/>
            <p:nvPr/>
          </p:nvSpPr>
          <p:spPr>
            <a:xfrm>
              <a:off x="400050" y="2152650"/>
              <a:ext cx="876300" cy="224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750">
                  <a:solidFill>
                    <a:srgbClr val="0369A1"/>
                  </a:solidFill>
                  <a:latin typeface="Inter ExtraBold"/>
                  <a:ea typeface="Inter ExtraBold"/>
                  <a:cs typeface="Inter ExtraBold"/>
                  <a:sym typeface="Inter ExtraBold"/>
                </a:rPr>
                <a:t>BOARD MEETING</a:t>
              </a:r>
              <a:endParaRPr b="0" sz="750">
                <a:solidFill>
                  <a:srgbClr val="0369A1"/>
                </a:solidFill>
                <a:latin typeface="Inter ExtraBold"/>
                <a:ea typeface="Inter ExtraBold"/>
                <a:cs typeface="Inter ExtraBold"/>
                <a:sym typeface="Inter ExtraBold"/>
              </a:endParaRPr>
            </a:p>
            <a:p>
              <a:pPr indent="0" lvl="0" marL="0" rtl="0" algn="ctr">
                <a:spcBef>
                  <a:spcPts val="750"/>
                </a:spcBef>
                <a:spcAft>
                  <a:spcPts val="0"/>
                </a:spcAft>
                <a:buNone/>
              </a:pPr>
              <a:r>
                <a:rPr b="0" lang="en" sz="800">
                  <a:solidFill>
                    <a:srgbClr val="334155"/>
                  </a:solidFill>
                  <a:latin typeface="Inter SemiBold"/>
                  <a:ea typeface="Inter SemiBold"/>
                  <a:cs typeface="Inter SemiBold"/>
                  <a:sym typeface="Inter SemiBold"/>
                </a:rPr>
                <a:t>Budget Impact Presentation #1 Level Service</a:t>
              </a:r>
              <a:endParaRPr b="0" sz="800">
                <a:solidFill>
                  <a:srgbClr val="334155"/>
                </a:solidFill>
                <a:latin typeface="Inter SemiBold"/>
                <a:ea typeface="Inter SemiBold"/>
                <a:cs typeface="Inter SemiBold"/>
                <a:sym typeface="Inter SemiBold"/>
              </a:endParaRPr>
            </a:p>
            <a:p>
              <a:pPr indent="0" lvl="0" marL="0" rtl="0" algn="ctr">
                <a:spcBef>
                  <a:spcPts val="600"/>
                </a:spcBef>
                <a:spcAft>
                  <a:spcPts val="0"/>
                </a:spcAft>
                <a:buNone/>
              </a:pPr>
              <a:r>
                <a:rPr b="0" lang="en" sz="800">
                  <a:solidFill>
                    <a:srgbClr val="334155"/>
                  </a:solidFill>
                  <a:latin typeface="Inter SemiBold"/>
                  <a:ea typeface="Inter SemiBold"/>
                  <a:cs typeface="Inter SemiBold"/>
                  <a:sym typeface="Inter SemiBold"/>
                </a:rPr>
                <a:t>Consolidation of Middle Schools &amp; Valley Elementary</a:t>
              </a:r>
              <a:endParaRPr b="0" sz="800">
                <a:solidFill>
                  <a:srgbClr val="334155"/>
                </a:solidFill>
                <a:latin typeface="Inter SemiBold"/>
                <a:ea typeface="Inter SemiBold"/>
                <a:cs typeface="Inter SemiBold"/>
                <a:sym typeface="Inter SemiBold"/>
              </a:endParaRPr>
            </a:p>
          </p:txBody>
        </p:sp>
      </p:grpSp>
      <p:grpSp>
        <p:nvGrpSpPr>
          <p:cNvPr id="1356" name="Google Shape;1356;p66"/>
          <p:cNvGrpSpPr/>
          <p:nvPr/>
        </p:nvGrpSpPr>
        <p:grpSpPr>
          <a:xfrm>
            <a:off x="1409700" y="1171575"/>
            <a:ext cx="990600" cy="3305175"/>
            <a:chOff x="1409700" y="1171575"/>
            <a:chExt cx="990600" cy="3305175"/>
          </a:xfrm>
        </p:grpSpPr>
        <p:sp>
          <p:nvSpPr>
            <p:cNvPr id="1357" name="Google Shape;1357;p66"/>
            <p:cNvSpPr/>
            <p:nvPr/>
          </p:nvSpPr>
          <p:spPr>
            <a:xfrm>
              <a:off x="1695450" y="1171575"/>
              <a:ext cx="419100" cy="419100"/>
            </a:xfrm>
            <a:prstGeom prst="ellipse">
              <a:avLst/>
            </a:prstGeom>
            <a:solidFill>
              <a:srgbClr val="FFFFFF"/>
            </a:solidFill>
            <a:ln cap="flat" cmpd="sng" w="38100">
              <a:solidFill>
                <a:srgbClr val="CA8A0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8" name="Google Shape;1358;p66"/>
            <p:cNvSpPr/>
            <p:nvPr/>
          </p:nvSpPr>
          <p:spPr>
            <a:xfrm>
              <a:off x="1762125" y="1238250"/>
              <a:ext cx="285900" cy="285900"/>
            </a:xfrm>
            <a:prstGeom prst="ellipse">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9" name="Google Shape;1359;p66"/>
            <p:cNvSpPr txBox="1"/>
            <p:nvPr/>
          </p:nvSpPr>
          <p:spPr>
            <a:xfrm>
              <a:off x="1695450" y="1238250"/>
              <a:ext cx="4191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FFFFFF"/>
                  </a:solidFill>
                  <a:latin typeface="Inter ExtraBold"/>
                  <a:ea typeface="Inter ExtraBold"/>
                  <a:cs typeface="Inter ExtraBold"/>
                  <a:sym typeface="Inter ExtraBold"/>
                </a:rPr>
                <a:t>02</a:t>
              </a:r>
              <a:endParaRPr b="0" sz="1000">
                <a:solidFill>
                  <a:srgbClr val="FFFFFF"/>
                </a:solidFill>
                <a:latin typeface="Inter ExtraBold"/>
                <a:ea typeface="Inter ExtraBold"/>
                <a:cs typeface="Inter ExtraBold"/>
                <a:sym typeface="Inter ExtraBold"/>
              </a:endParaRPr>
            </a:p>
          </p:txBody>
        </p:sp>
        <p:sp>
          <p:nvSpPr>
            <p:cNvPr id="1360" name="Google Shape;1360;p66"/>
            <p:cNvSpPr/>
            <p:nvPr/>
          </p:nvSpPr>
          <p:spPr>
            <a:xfrm>
              <a:off x="1409700" y="1714500"/>
              <a:ext cx="990600" cy="285900"/>
            </a:xfrm>
            <a:prstGeom prst="roundRect">
              <a:avLst>
                <a:gd fmla="val 13333"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1" name="Google Shape;1361;p66"/>
            <p:cNvSpPr txBox="1"/>
            <p:nvPr/>
          </p:nvSpPr>
          <p:spPr>
            <a:xfrm>
              <a:off x="1409700" y="1714500"/>
              <a:ext cx="990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FFFFFF"/>
                  </a:solidFill>
                  <a:latin typeface="Inter"/>
                  <a:ea typeface="Inter"/>
                  <a:cs typeface="Inter"/>
                  <a:sym typeface="Inter"/>
                </a:rPr>
                <a:t>Oct. 28, 2026</a:t>
              </a:r>
              <a:endParaRPr b="1" sz="850">
                <a:solidFill>
                  <a:srgbClr val="FFFFFF"/>
                </a:solidFill>
                <a:latin typeface="Inter"/>
                <a:ea typeface="Inter"/>
                <a:cs typeface="Inter"/>
                <a:sym typeface="Inter"/>
              </a:endParaRPr>
            </a:p>
          </p:txBody>
        </p:sp>
        <p:sp>
          <p:nvSpPr>
            <p:cNvPr id="1362" name="Google Shape;1362;p66"/>
            <p:cNvSpPr/>
            <p:nvPr/>
          </p:nvSpPr>
          <p:spPr>
            <a:xfrm>
              <a:off x="1409700" y="2076450"/>
              <a:ext cx="990600" cy="2400300"/>
            </a:xfrm>
            <a:prstGeom prst="roundRect">
              <a:avLst>
                <a:gd fmla="val 9615" name="adj"/>
              </a:avLst>
            </a:prstGeom>
            <a:solidFill>
              <a:srgbClr val="FEFCE8"/>
            </a:solidFill>
            <a:ln cap="flat" cmpd="sng" w="14300">
              <a:solidFill>
                <a:srgbClr val="FEF0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3" name="Google Shape;1363;p66"/>
            <p:cNvSpPr txBox="1"/>
            <p:nvPr/>
          </p:nvSpPr>
          <p:spPr>
            <a:xfrm>
              <a:off x="1466850" y="2152650"/>
              <a:ext cx="876300" cy="224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750">
                  <a:solidFill>
                    <a:srgbClr val="854D0E"/>
                  </a:solidFill>
                  <a:latin typeface="Inter ExtraBold"/>
                  <a:ea typeface="Inter ExtraBold"/>
                  <a:cs typeface="Inter ExtraBold"/>
                  <a:sym typeface="Inter ExtraBold"/>
                </a:rPr>
                <a:t>BOARD MEETING</a:t>
              </a:r>
              <a:endParaRPr b="0" sz="750">
                <a:solidFill>
                  <a:srgbClr val="854D0E"/>
                </a:solidFill>
                <a:latin typeface="Inter ExtraBold"/>
                <a:ea typeface="Inter ExtraBold"/>
                <a:cs typeface="Inter ExtraBold"/>
                <a:sym typeface="Inter ExtraBold"/>
              </a:endParaRPr>
            </a:p>
            <a:p>
              <a:pPr indent="0" lvl="0" marL="0" rtl="0" algn="ctr">
                <a:spcBef>
                  <a:spcPts val="750"/>
                </a:spcBef>
                <a:spcAft>
                  <a:spcPts val="0"/>
                </a:spcAft>
                <a:buNone/>
              </a:pPr>
              <a:r>
                <a:rPr b="0" lang="en" sz="800">
                  <a:solidFill>
                    <a:srgbClr val="334155"/>
                  </a:solidFill>
                  <a:latin typeface="Inter SemiBold"/>
                  <a:ea typeface="Inter SemiBold"/>
                  <a:cs typeface="Inter SemiBold"/>
                  <a:sym typeface="Inter SemiBold"/>
                </a:rPr>
                <a:t>Budget Impact Presentation #2</a:t>
              </a:r>
              <a:endParaRPr b="0" sz="800">
                <a:solidFill>
                  <a:srgbClr val="334155"/>
                </a:solidFill>
                <a:latin typeface="Inter SemiBold"/>
                <a:ea typeface="Inter SemiBold"/>
                <a:cs typeface="Inter SemiBold"/>
                <a:sym typeface="Inter SemiBold"/>
              </a:endParaRPr>
            </a:p>
            <a:p>
              <a:pPr indent="0" lvl="0" marL="0" rtl="0" algn="ctr">
                <a:spcBef>
                  <a:spcPts val="600"/>
                </a:spcBef>
                <a:spcAft>
                  <a:spcPts val="0"/>
                </a:spcAft>
                <a:buNone/>
              </a:pPr>
              <a:r>
                <a:rPr b="0" lang="en" sz="800">
                  <a:solidFill>
                    <a:srgbClr val="334155"/>
                  </a:solidFill>
                  <a:latin typeface="Inter SemiBold"/>
                  <a:ea typeface="Inter SemiBold"/>
                  <a:cs typeface="Inter SemiBold"/>
                  <a:sym typeface="Inter SemiBold"/>
                </a:rPr>
                <a:t>Review Enrollment Projections</a:t>
              </a:r>
              <a:endParaRPr b="0" sz="800">
                <a:solidFill>
                  <a:srgbClr val="334155"/>
                </a:solidFill>
                <a:latin typeface="Inter SemiBold"/>
                <a:ea typeface="Inter SemiBold"/>
                <a:cs typeface="Inter SemiBold"/>
                <a:sym typeface="Inter SemiBold"/>
              </a:endParaRPr>
            </a:p>
          </p:txBody>
        </p:sp>
      </p:grpSp>
      <p:grpSp>
        <p:nvGrpSpPr>
          <p:cNvPr id="1364" name="Google Shape;1364;p66"/>
          <p:cNvGrpSpPr/>
          <p:nvPr/>
        </p:nvGrpSpPr>
        <p:grpSpPr>
          <a:xfrm>
            <a:off x="2476500" y="1171575"/>
            <a:ext cx="990600" cy="3305175"/>
            <a:chOff x="2476500" y="1171575"/>
            <a:chExt cx="990600" cy="3305175"/>
          </a:xfrm>
        </p:grpSpPr>
        <p:sp>
          <p:nvSpPr>
            <p:cNvPr id="1365" name="Google Shape;1365;p66"/>
            <p:cNvSpPr/>
            <p:nvPr/>
          </p:nvSpPr>
          <p:spPr>
            <a:xfrm>
              <a:off x="2762250" y="1171575"/>
              <a:ext cx="419100" cy="419100"/>
            </a:xfrm>
            <a:prstGeom prst="ellipse">
              <a:avLst/>
            </a:prstGeom>
            <a:solidFill>
              <a:srgbClr val="FFFFFF"/>
            </a:solidFill>
            <a:ln cap="flat" cmpd="sng" w="38100">
              <a:solidFill>
                <a:srgbClr val="16A3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6" name="Google Shape;1366;p66"/>
            <p:cNvSpPr/>
            <p:nvPr/>
          </p:nvSpPr>
          <p:spPr>
            <a:xfrm>
              <a:off x="2828925" y="1238250"/>
              <a:ext cx="285900" cy="285900"/>
            </a:xfrm>
            <a:prstGeom prst="ellipse">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7" name="Google Shape;1367;p66"/>
            <p:cNvSpPr txBox="1"/>
            <p:nvPr/>
          </p:nvSpPr>
          <p:spPr>
            <a:xfrm>
              <a:off x="2762250" y="1238250"/>
              <a:ext cx="4191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FFFFFF"/>
                  </a:solidFill>
                  <a:latin typeface="Inter ExtraBold"/>
                  <a:ea typeface="Inter ExtraBold"/>
                  <a:cs typeface="Inter ExtraBold"/>
                  <a:sym typeface="Inter ExtraBold"/>
                </a:rPr>
                <a:t>03</a:t>
              </a:r>
              <a:endParaRPr b="0" sz="1000">
                <a:solidFill>
                  <a:srgbClr val="FFFFFF"/>
                </a:solidFill>
                <a:latin typeface="Inter ExtraBold"/>
                <a:ea typeface="Inter ExtraBold"/>
                <a:cs typeface="Inter ExtraBold"/>
                <a:sym typeface="Inter ExtraBold"/>
              </a:endParaRPr>
            </a:p>
          </p:txBody>
        </p:sp>
        <p:sp>
          <p:nvSpPr>
            <p:cNvPr id="1368" name="Google Shape;1368;p66"/>
            <p:cNvSpPr/>
            <p:nvPr/>
          </p:nvSpPr>
          <p:spPr>
            <a:xfrm>
              <a:off x="2476500" y="1714500"/>
              <a:ext cx="990600" cy="285900"/>
            </a:xfrm>
            <a:prstGeom prst="roundRect">
              <a:avLst>
                <a:gd fmla="val 13333" name="adj"/>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9" name="Google Shape;1369;p66"/>
            <p:cNvSpPr txBox="1"/>
            <p:nvPr/>
          </p:nvSpPr>
          <p:spPr>
            <a:xfrm>
              <a:off x="2476500" y="1714500"/>
              <a:ext cx="990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FFFFFF"/>
                  </a:solidFill>
                  <a:latin typeface="Inter"/>
                  <a:ea typeface="Inter"/>
                  <a:cs typeface="Inter"/>
                  <a:sym typeface="Inter"/>
                </a:rPr>
                <a:t>Nov. 4, 2026</a:t>
              </a:r>
              <a:endParaRPr b="1" sz="850">
                <a:solidFill>
                  <a:srgbClr val="FFFFFF"/>
                </a:solidFill>
                <a:latin typeface="Inter"/>
                <a:ea typeface="Inter"/>
                <a:cs typeface="Inter"/>
                <a:sym typeface="Inter"/>
              </a:endParaRPr>
            </a:p>
          </p:txBody>
        </p:sp>
        <p:sp>
          <p:nvSpPr>
            <p:cNvPr id="1370" name="Google Shape;1370;p66"/>
            <p:cNvSpPr/>
            <p:nvPr/>
          </p:nvSpPr>
          <p:spPr>
            <a:xfrm>
              <a:off x="2476500" y="2076450"/>
              <a:ext cx="990600" cy="2400300"/>
            </a:xfrm>
            <a:prstGeom prst="roundRect">
              <a:avLst>
                <a:gd fmla="val 9615" name="adj"/>
              </a:avLst>
            </a:prstGeom>
            <a:solidFill>
              <a:srgbClr val="F0FDF4"/>
            </a:solidFill>
            <a:ln cap="flat" cmpd="sng" w="14300">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1" name="Google Shape;1371;p66"/>
            <p:cNvSpPr txBox="1"/>
            <p:nvPr/>
          </p:nvSpPr>
          <p:spPr>
            <a:xfrm>
              <a:off x="2533650" y="2152650"/>
              <a:ext cx="876300" cy="224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750">
                  <a:solidFill>
                    <a:srgbClr val="166534"/>
                  </a:solidFill>
                  <a:latin typeface="Inter ExtraBold"/>
                  <a:ea typeface="Inter ExtraBold"/>
                  <a:cs typeface="Inter ExtraBold"/>
                  <a:sym typeface="Inter ExtraBold"/>
                </a:rPr>
                <a:t>BOARD MEETING</a:t>
              </a:r>
              <a:endParaRPr b="0" sz="750">
                <a:solidFill>
                  <a:srgbClr val="166534"/>
                </a:solidFill>
                <a:latin typeface="Inter ExtraBold"/>
                <a:ea typeface="Inter ExtraBold"/>
                <a:cs typeface="Inter ExtraBold"/>
                <a:sym typeface="Inter ExtraBold"/>
              </a:endParaRPr>
            </a:p>
            <a:p>
              <a:pPr indent="0" lvl="0" marL="0" rtl="0" algn="ctr">
                <a:spcBef>
                  <a:spcPts val="750"/>
                </a:spcBef>
                <a:spcAft>
                  <a:spcPts val="0"/>
                </a:spcAft>
                <a:buNone/>
              </a:pPr>
              <a:r>
                <a:rPr lang="en" sz="800">
                  <a:solidFill>
                    <a:srgbClr val="334155"/>
                  </a:solidFill>
                  <a:latin typeface="Inter SemiBold"/>
                  <a:ea typeface="Inter SemiBold"/>
                  <a:cs typeface="Inter SemiBold"/>
                  <a:sym typeface="Inter SemiBold"/>
                </a:rPr>
                <a:t>Building Analysis Chart</a:t>
              </a:r>
              <a:endParaRPr sz="800">
                <a:solidFill>
                  <a:srgbClr val="334155"/>
                </a:solidFill>
                <a:latin typeface="Inter SemiBold"/>
                <a:ea typeface="Inter SemiBold"/>
                <a:cs typeface="Inter SemiBold"/>
                <a:sym typeface="Inter SemiBold"/>
              </a:endParaRPr>
            </a:p>
            <a:p>
              <a:pPr indent="0" lvl="0" marL="0" rtl="0" algn="ctr">
                <a:spcBef>
                  <a:spcPts val="0"/>
                </a:spcBef>
                <a:spcAft>
                  <a:spcPts val="0"/>
                </a:spcAft>
                <a:buNone/>
              </a:pPr>
              <a:r>
                <a:t/>
              </a:r>
              <a:endParaRPr sz="800">
                <a:solidFill>
                  <a:srgbClr val="334155"/>
                </a:solidFill>
                <a:latin typeface="Inter SemiBold"/>
                <a:ea typeface="Inter SemiBold"/>
                <a:cs typeface="Inter SemiBold"/>
                <a:sym typeface="Inter SemiBold"/>
              </a:endParaRPr>
            </a:p>
            <a:p>
              <a:pPr indent="0" lvl="0" marL="0" rtl="0" algn="ctr">
                <a:spcBef>
                  <a:spcPts val="0"/>
                </a:spcBef>
                <a:spcAft>
                  <a:spcPts val="0"/>
                </a:spcAft>
                <a:buNone/>
              </a:pPr>
              <a:r>
                <a:rPr b="0" lang="en" sz="800">
                  <a:solidFill>
                    <a:srgbClr val="334155"/>
                  </a:solidFill>
                  <a:latin typeface="Inter SemiBold"/>
                  <a:ea typeface="Inter SemiBold"/>
                  <a:cs typeface="Inter SemiBold"/>
                  <a:sym typeface="Inter SemiBold"/>
                </a:rPr>
                <a:t>FY28 Finalize Board Budget Priorities</a:t>
              </a:r>
              <a:endParaRPr b="0" sz="800">
                <a:solidFill>
                  <a:srgbClr val="334155"/>
                </a:solidFill>
                <a:latin typeface="Inter SemiBold"/>
                <a:ea typeface="Inter SemiBold"/>
                <a:cs typeface="Inter SemiBold"/>
                <a:sym typeface="Inter SemiBold"/>
              </a:endParaRPr>
            </a:p>
          </p:txBody>
        </p:sp>
      </p:grpSp>
      <p:grpSp>
        <p:nvGrpSpPr>
          <p:cNvPr id="1372" name="Google Shape;1372;p66"/>
          <p:cNvGrpSpPr/>
          <p:nvPr/>
        </p:nvGrpSpPr>
        <p:grpSpPr>
          <a:xfrm>
            <a:off x="3543300" y="1171575"/>
            <a:ext cx="990600" cy="3305175"/>
            <a:chOff x="3543300" y="1171575"/>
            <a:chExt cx="990600" cy="3305175"/>
          </a:xfrm>
        </p:grpSpPr>
        <p:sp>
          <p:nvSpPr>
            <p:cNvPr id="1373" name="Google Shape;1373;p66"/>
            <p:cNvSpPr/>
            <p:nvPr/>
          </p:nvSpPr>
          <p:spPr>
            <a:xfrm>
              <a:off x="3829050" y="1171575"/>
              <a:ext cx="419100" cy="419100"/>
            </a:xfrm>
            <a:prstGeom prst="ellipse">
              <a:avLst/>
            </a:prstGeom>
            <a:solidFill>
              <a:srgbClr val="FFFFFF"/>
            </a:solidFill>
            <a:ln cap="flat" cmpd="sng" w="3810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4" name="Google Shape;1374;p66"/>
            <p:cNvSpPr/>
            <p:nvPr/>
          </p:nvSpPr>
          <p:spPr>
            <a:xfrm>
              <a:off x="3895725" y="1238250"/>
              <a:ext cx="285900" cy="285900"/>
            </a:xfrm>
            <a:prstGeom prst="ellipse">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5" name="Google Shape;1375;p66"/>
            <p:cNvSpPr txBox="1"/>
            <p:nvPr/>
          </p:nvSpPr>
          <p:spPr>
            <a:xfrm>
              <a:off x="3829050" y="1238250"/>
              <a:ext cx="4191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FFFFFF"/>
                  </a:solidFill>
                  <a:latin typeface="Inter ExtraBold"/>
                  <a:ea typeface="Inter ExtraBold"/>
                  <a:cs typeface="Inter ExtraBold"/>
                  <a:sym typeface="Inter ExtraBold"/>
                </a:rPr>
                <a:t>04</a:t>
              </a:r>
              <a:endParaRPr b="0" sz="1000">
                <a:solidFill>
                  <a:srgbClr val="FFFFFF"/>
                </a:solidFill>
                <a:latin typeface="Inter ExtraBold"/>
                <a:ea typeface="Inter ExtraBold"/>
                <a:cs typeface="Inter ExtraBold"/>
                <a:sym typeface="Inter ExtraBold"/>
              </a:endParaRPr>
            </a:p>
          </p:txBody>
        </p:sp>
        <p:sp>
          <p:nvSpPr>
            <p:cNvPr id="1376" name="Google Shape;1376;p66"/>
            <p:cNvSpPr/>
            <p:nvPr/>
          </p:nvSpPr>
          <p:spPr>
            <a:xfrm>
              <a:off x="3543300" y="1714500"/>
              <a:ext cx="990600" cy="285900"/>
            </a:xfrm>
            <a:prstGeom prst="roundRect">
              <a:avLst>
                <a:gd fmla="val 13333"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7" name="Google Shape;1377;p66"/>
            <p:cNvSpPr txBox="1"/>
            <p:nvPr/>
          </p:nvSpPr>
          <p:spPr>
            <a:xfrm>
              <a:off x="3543300" y="1714500"/>
              <a:ext cx="990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FFFFFF"/>
                  </a:solidFill>
                  <a:latin typeface="Inter"/>
                  <a:ea typeface="Inter"/>
                  <a:cs typeface="Inter"/>
                  <a:sym typeface="Inter"/>
                </a:rPr>
                <a:t>Nov. 18, 2026</a:t>
              </a:r>
              <a:endParaRPr b="1" sz="850">
                <a:solidFill>
                  <a:srgbClr val="FFFFFF"/>
                </a:solidFill>
                <a:latin typeface="Inter"/>
                <a:ea typeface="Inter"/>
                <a:cs typeface="Inter"/>
                <a:sym typeface="Inter"/>
              </a:endParaRPr>
            </a:p>
          </p:txBody>
        </p:sp>
        <p:sp>
          <p:nvSpPr>
            <p:cNvPr id="1378" name="Google Shape;1378;p66"/>
            <p:cNvSpPr/>
            <p:nvPr/>
          </p:nvSpPr>
          <p:spPr>
            <a:xfrm>
              <a:off x="3543300" y="2076450"/>
              <a:ext cx="990600" cy="2400300"/>
            </a:xfrm>
            <a:prstGeom prst="roundRect">
              <a:avLst>
                <a:gd fmla="val 9615" name="adj"/>
              </a:avLst>
            </a:prstGeom>
            <a:solidFill>
              <a:srgbClr val="F0F9FF"/>
            </a:solidFill>
            <a:ln cap="flat" cmpd="sng" w="14300">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9" name="Google Shape;1379;p66"/>
            <p:cNvSpPr txBox="1"/>
            <p:nvPr/>
          </p:nvSpPr>
          <p:spPr>
            <a:xfrm>
              <a:off x="3600450" y="2152650"/>
              <a:ext cx="876300" cy="224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750">
                  <a:solidFill>
                    <a:srgbClr val="0369A1"/>
                  </a:solidFill>
                  <a:latin typeface="Inter ExtraBold"/>
                  <a:ea typeface="Inter ExtraBold"/>
                  <a:cs typeface="Inter ExtraBold"/>
                  <a:sym typeface="Inter ExtraBold"/>
                </a:rPr>
                <a:t>BOARD MEETING</a:t>
              </a:r>
              <a:endParaRPr b="0" sz="750">
                <a:solidFill>
                  <a:srgbClr val="0369A1"/>
                </a:solidFill>
                <a:latin typeface="Inter ExtraBold"/>
                <a:ea typeface="Inter ExtraBold"/>
                <a:cs typeface="Inter ExtraBold"/>
                <a:sym typeface="Inter ExtraBold"/>
              </a:endParaRPr>
            </a:p>
            <a:p>
              <a:pPr indent="0" lvl="0" marL="0" rtl="0" algn="ctr">
                <a:spcBef>
                  <a:spcPts val="750"/>
                </a:spcBef>
                <a:spcAft>
                  <a:spcPts val="0"/>
                </a:spcAft>
                <a:buNone/>
              </a:pPr>
              <a:r>
                <a:rPr b="0" lang="en" sz="800">
                  <a:solidFill>
                    <a:srgbClr val="334155"/>
                  </a:solidFill>
                  <a:latin typeface="Inter SemiBold"/>
                  <a:ea typeface="Inter SemiBold"/>
                  <a:cs typeface="Inter SemiBold"/>
                  <a:sym typeface="Inter SemiBold"/>
                </a:rPr>
                <a:t>Budget Overview #1</a:t>
              </a:r>
              <a:endParaRPr b="0" sz="800">
                <a:solidFill>
                  <a:srgbClr val="334155"/>
                </a:solidFill>
                <a:latin typeface="Inter SemiBold"/>
                <a:ea typeface="Inter SemiBold"/>
                <a:cs typeface="Inter SemiBold"/>
                <a:sym typeface="Inter SemiBold"/>
              </a:endParaRPr>
            </a:p>
            <a:p>
              <a:pPr indent="0" lvl="0" marL="0" rtl="0" algn="ctr">
                <a:spcBef>
                  <a:spcPts val="600"/>
                </a:spcBef>
                <a:spcAft>
                  <a:spcPts val="0"/>
                </a:spcAft>
                <a:buNone/>
              </a:pPr>
              <a:r>
                <a:rPr b="0" lang="en" sz="800">
                  <a:solidFill>
                    <a:srgbClr val="334155"/>
                  </a:solidFill>
                  <a:latin typeface="Inter SemiBold"/>
                  <a:ea typeface="Inter SemiBold"/>
                  <a:cs typeface="Inter SemiBold"/>
                  <a:sym typeface="Inter SemiBold"/>
                </a:rPr>
                <a:t>Enrollment &amp; Staffing</a:t>
              </a:r>
              <a:endParaRPr b="0" sz="800">
                <a:solidFill>
                  <a:srgbClr val="334155"/>
                </a:solidFill>
                <a:latin typeface="Inter SemiBold"/>
                <a:ea typeface="Inter SemiBold"/>
                <a:cs typeface="Inter SemiBold"/>
                <a:sym typeface="Inter SemiBold"/>
              </a:endParaRPr>
            </a:p>
          </p:txBody>
        </p:sp>
      </p:grpSp>
      <p:grpSp>
        <p:nvGrpSpPr>
          <p:cNvPr id="1380" name="Google Shape;1380;p66"/>
          <p:cNvGrpSpPr/>
          <p:nvPr/>
        </p:nvGrpSpPr>
        <p:grpSpPr>
          <a:xfrm>
            <a:off x="4610100" y="1171575"/>
            <a:ext cx="990600" cy="3305175"/>
            <a:chOff x="4610100" y="1171575"/>
            <a:chExt cx="990600" cy="3305175"/>
          </a:xfrm>
        </p:grpSpPr>
        <p:sp>
          <p:nvSpPr>
            <p:cNvPr id="1381" name="Google Shape;1381;p66"/>
            <p:cNvSpPr/>
            <p:nvPr/>
          </p:nvSpPr>
          <p:spPr>
            <a:xfrm>
              <a:off x="4895850" y="1171575"/>
              <a:ext cx="419100" cy="419100"/>
            </a:xfrm>
            <a:prstGeom prst="ellipse">
              <a:avLst/>
            </a:prstGeom>
            <a:solidFill>
              <a:srgbClr val="FFFFFF"/>
            </a:solidFill>
            <a:ln cap="flat" cmpd="sng" w="38100">
              <a:solidFill>
                <a:srgbClr val="CA8A0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2" name="Google Shape;1382;p66"/>
            <p:cNvSpPr/>
            <p:nvPr/>
          </p:nvSpPr>
          <p:spPr>
            <a:xfrm>
              <a:off x="4962525" y="1238250"/>
              <a:ext cx="285900" cy="285900"/>
            </a:xfrm>
            <a:prstGeom prst="ellipse">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3" name="Google Shape;1383;p66"/>
            <p:cNvSpPr txBox="1"/>
            <p:nvPr/>
          </p:nvSpPr>
          <p:spPr>
            <a:xfrm>
              <a:off x="4895850" y="1238250"/>
              <a:ext cx="4191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FFFFFF"/>
                  </a:solidFill>
                  <a:latin typeface="Inter ExtraBold"/>
                  <a:ea typeface="Inter ExtraBold"/>
                  <a:cs typeface="Inter ExtraBold"/>
                  <a:sym typeface="Inter ExtraBold"/>
                </a:rPr>
                <a:t>05</a:t>
              </a:r>
              <a:endParaRPr b="0" sz="1000">
                <a:solidFill>
                  <a:srgbClr val="FFFFFF"/>
                </a:solidFill>
                <a:latin typeface="Inter ExtraBold"/>
                <a:ea typeface="Inter ExtraBold"/>
                <a:cs typeface="Inter ExtraBold"/>
                <a:sym typeface="Inter ExtraBold"/>
              </a:endParaRPr>
            </a:p>
          </p:txBody>
        </p:sp>
        <p:sp>
          <p:nvSpPr>
            <p:cNvPr id="1384" name="Google Shape;1384;p66"/>
            <p:cNvSpPr/>
            <p:nvPr/>
          </p:nvSpPr>
          <p:spPr>
            <a:xfrm>
              <a:off x="4610100" y="1714500"/>
              <a:ext cx="990600" cy="285900"/>
            </a:xfrm>
            <a:prstGeom prst="roundRect">
              <a:avLst>
                <a:gd fmla="val 13333"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5" name="Google Shape;1385;p66"/>
            <p:cNvSpPr txBox="1"/>
            <p:nvPr/>
          </p:nvSpPr>
          <p:spPr>
            <a:xfrm>
              <a:off x="4610100" y="1714500"/>
              <a:ext cx="990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FFFFF"/>
                  </a:solidFill>
                  <a:latin typeface="Inter"/>
                  <a:ea typeface="Inter"/>
                  <a:cs typeface="Inter"/>
                  <a:sym typeface="Inter"/>
                </a:rPr>
                <a:t>Dec. 2 &amp; 16 2026</a:t>
              </a:r>
              <a:endParaRPr b="1" sz="800">
                <a:solidFill>
                  <a:srgbClr val="FFFFFF"/>
                </a:solidFill>
                <a:latin typeface="Inter"/>
                <a:ea typeface="Inter"/>
                <a:cs typeface="Inter"/>
                <a:sym typeface="Inter"/>
              </a:endParaRPr>
            </a:p>
          </p:txBody>
        </p:sp>
        <p:sp>
          <p:nvSpPr>
            <p:cNvPr id="1386" name="Google Shape;1386;p66"/>
            <p:cNvSpPr/>
            <p:nvPr/>
          </p:nvSpPr>
          <p:spPr>
            <a:xfrm>
              <a:off x="4610100" y="2076450"/>
              <a:ext cx="990600" cy="2400300"/>
            </a:xfrm>
            <a:prstGeom prst="roundRect">
              <a:avLst>
                <a:gd fmla="val 9615" name="adj"/>
              </a:avLst>
            </a:prstGeom>
            <a:solidFill>
              <a:srgbClr val="FEFCE8"/>
            </a:solidFill>
            <a:ln cap="flat" cmpd="sng" w="14300">
              <a:solidFill>
                <a:srgbClr val="FEF0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7" name="Google Shape;1387;p66"/>
            <p:cNvSpPr txBox="1"/>
            <p:nvPr/>
          </p:nvSpPr>
          <p:spPr>
            <a:xfrm>
              <a:off x="4667250" y="2152650"/>
              <a:ext cx="876300" cy="224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750">
                  <a:solidFill>
                    <a:srgbClr val="854D0E"/>
                  </a:solidFill>
                  <a:latin typeface="Inter ExtraBold"/>
                  <a:ea typeface="Inter ExtraBold"/>
                  <a:cs typeface="Inter ExtraBold"/>
                  <a:sym typeface="Inter ExtraBold"/>
                </a:rPr>
                <a:t>BOARD MEETING</a:t>
              </a:r>
              <a:endParaRPr b="0" sz="750">
                <a:solidFill>
                  <a:srgbClr val="854D0E"/>
                </a:solidFill>
                <a:latin typeface="Inter ExtraBold"/>
                <a:ea typeface="Inter ExtraBold"/>
                <a:cs typeface="Inter ExtraBold"/>
                <a:sym typeface="Inter ExtraBold"/>
              </a:endParaRPr>
            </a:p>
            <a:p>
              <a:pPr indent="0" lvl="0" marL="0" rtl="0" algn="ctr">
                <a:spcBef>
                  <a:spcPts val="750"/>
                </a:spcBef>
                <a:spcAft>
                  <a:spcPts val="0"/>
                </a:spcAft>
                <a:buNone/>
              </a:pPr>
              <a:r>
                <a:rPr b="1" lang="en" sz="750">
                  <a:solidFill>
                    <a:srgbClr val="854D0E"/>
                  </a:solidFill>
                  <a:latin typeface="Inter"/>
                  <a:ea typeface="Inter"/>
                  <a:cs typeface="Inter"/>
                  <a:sym typeface="Inter"/>
                </a:rPr>
                <a:t>December 2:</a:t>
              </a:r>
              <a:endParaRPr b="1" sz="750">
                <a:solidFill>
                  <a:srgbClr val="854D0E"/>
                </a:solidFill>
                <a:latin typeface="Inter"/>
                <a:ea typeface="Inter"/>
                <a:cs typeface="Inter"/>
                <a:sym typeface="Inter"/>
              </a:endParaRPr>
            </a:p>
            <a:p>
              <a:pPr indent="0" lvl="0" marL="0" rtl="0" algn="ctr">
                <a:spcBef>
                  <a:spcPts val="150"/>
                </a:spcBef>
                <a:spcAft>
                  <a:spcPts val="0"/>
                </a:spcAft>
                <a:buNone/>
              </a:pPr>
              <a:r>
                <a:rPr b="0" lang="en" sz="750">
                  <a:solidFill>
                    <a:srgbClr val="334155"/>
                  </a:solidFill>
                  <a:latin typeface="Inter SemiBold"/>
                  <a:ea typeface="Inter SemiBold"/>
                  <a:cs typeface="Inter SemiBold"/>
                  <a:sym typeface="Inter SemiBold"/>
                </a:rPr>
                <a:t>Budget Overview #2</a:t>
              </a:r>
              <a:endParaRPr b="0" sz="750">
                <a:solidFill>
                  <a:srgbClr val="334155"/>
                </a:solidFill>
                <a:latin typeface="Inter SemiBold"/>
                <a:ea typeface="Inter SemiBold"/>
                <a:cs typeface="Inter SemiBold"/>
                <a:sym typeface="Inter SemiBold"/>
              </a:endParaRPr>
            </a:p>
            <a:p>
              <a:pPr indent="0" lvl="0" marL="0" rtl="0" algn="ctr">
                <a:spcBef>
                  <a:spcPts val="750"/>
                </a:spcBef>
                <a:spcAft>
                  <a:spcPts val="0"/>
                </a:spcAft>
                <a:buNone/>
              </a:pPr>
              <a:r>
                <a:rPr b="1" lang="en" sz="750">
                  <a:solidFill>
                    <a:srgbClr val="854D0E"/>
                  </a:solidFill>
                  <a:latin typeface="Inter"/>
                  <a:ea typeface="Inter"/>
                  <a:cs typeface="Inter"/>
                  <a:sym typeface="Inter"/>
                </a:rPr>
                <a:t>December 16:</a:t>
              </a:r>
              <a:endParaRPr b="1" sz="750">
                <a:solidFill>
                  <a:srgbClr val="854D0E"/>
                </a:solidFill>
                <a:latin typeface="Inter"/>
                <a:ea typeface="Inter"/>
                <a:cs typeface="Inter"/>
                <a:sym typeface="Inter"/>
              </a:endParaRPr>
            </a:p>
            <a:p>
              <a:pPr indent="0" lvl="0" marL="0" rtl="0" algn="ctr">
                <a:spcBef>
                  <a:spcPts val="150"/>
                </a:spcBef>
                <a:spcAft>
                  <a:spcPts val="0"/>
                </a:spcAft>
                <a:buNone/>
              </a:pPr>
              <a:r>
                <a:rPr b="0" lang="en" sz="750">
                  <a:solidFill>
                    <a:srgbClr val="334155"/>
                  </a:solidFill>
                  <a:latin typeface="Inter SemiBold"/>
                  <a:ea typeface="Inter SemiBold"/>
                  <a:cs typeface="Inter SemiBold"/>
                  <a:sym typeface="Inter SemiBold"/>
                </a:rPr>
                <a:t>Budget Overview #3</a:t>
              </a:r>
              <a:endParaRPr b="0" sz="750">
                <a:solidFill>
                  <a:srgbClr val="334155"/>
                </a:solidFill>
                <a:latin typeface="Inter SemiBold"/>
                <a:ea typeface="Inter SemiBold"/>
                <a:cs typeface="Inter SemiBold"/>
                <a:sym typeface="Inter SemiBold"/>
              </a:endParaRPr>
            </a:p>
          </p:txBody>
        </p:sp>
      </p:grpSp>
      <p:grpSp>
        <p:nvGrpSpPr>
          <p:cNvPr id="1388" name="Google Shape;1388;p66"/>
          <p:cNvGrpSpPr/>
          <p:nvPr/>
        </p:nvGrpSpPr>
        <p:grpSpPr>
          <a:xfrm>
            <a:off x="5676900" y="1171575"/>
            <a:ext cx="990600" cy="3305175"/>
            <a:chOff x="5676900" y="1171575"/>
            <a:chExt cx="990600" cy="3305175"/>
          </a:xfrm>
        </p:grpSpPr>
        <p:sp>
          <p:nvSpPr>
            <p:cNvPr id="1389" name="Google Shape;1389;p66"/>
            <p:cNvSpPr/>
            <p:nvPr/>
          </p:nvSpPr>
          <p:spPr>
            <a:xfrm>
              <a:off x="5962650" y="1171575"/>
              <a:ext cx="419100" cy="419100"/>
            </a:xfrm>
            <a:prstGeom prst="ellipse">
              <a:avLst/>
            </a:prstGeom>
            <a:solidFill>
              <a:srgbClr val="FFFFFF"/>
            </a:solidFill>
            <a:ln cap="flat" cmpd="sng" w="38100">
              <a:solidFill>
                <a:srgbClr val="16A3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0" name="Google Shape;1390;p66"/>
            <p:cNvSpPr/>
            <p:nvPr/>
          </p:nvSpPr>
          <p:spPr>
            <a:xfrm>
              <a:off x="6029325" y="1238250"/>
              <a:ext cx="285900" cy="285900"/>
            </a:xfrm>
            <a:prstGeom prst="ellipse">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1" name="Google Shape;1391;p66"/>
            <p:cNvSpPr txBox="1"/>
            <p:nvPr/>
          </p:nvSpPr>
          <p:spPr>
            <a:xfrm>
              <a:off x="5962650" y="1238250"/>
              <a:ext cx="4191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FFFFFF"/>
                  </a:solidFill>
                  <a:latin typeface="Inter ExtraBold"/>
                  <a:ea typeface="Inter ExtraBold"/>
                  <a:cs typeface="Inter ExtraBold"/>
                  <a:sym typeface="Inter ExtraBold"/>
                </a:rPr>
                <a:t>06</a:t>
              </a:r>
              <a:endParaRPr b="0" sz="1000">
                <a:solidFill>
                  <a:srgbClr val="FFFFFF"/>
                </a:solidFill>
                <a:latin typeface="Inter ExtraBold"/>
                <a:ea typeface="Inter ExtraBold"/>
                <a:cs typeface="Inter ExtraBold"/>
                <a:sym typeface="Inter ExtraBold"/>
              </a:endParaRPr>
            </a:p>
          </p:txBody>
        </p:sp>
        <p:sp>
          <p:nvSpPr>
            <p:cNvPr id="1392" name="Google Shape;1392;p66"/>
            <p:cNvSpPr/>
            <p:nvPr/>
          </p:nvSpPr>
          <p:spPr>
            <a:xfrm>
              <a:off x="5676900" y="1714500"/>
              <a:ext cx="990600" cy="285900"/>
            </a:xfrm>
            <a:prstGeom prst="roundRect">
              <a:avLst>
                <a:gd fmla="val 13333" name="adj"/>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3" name="Google Shape;1393;p66"/>
            <p:cNvSpPr txBox="1"/>
            <p:nvPr/>
          </p:nvSpPr>
          <p:spPr>
            <a:xfrm>
              <a:off x="5676900" y="1714500"/>
              <a:ext cx="990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FFFFF"/>
                  </a:solidFill>
                  <a:latin typeface="Inter"/>
                  <a:ea typeface="Inter"/>
                  <a:cs typeface="Inter"/>
                  <a:sym typeface="Inter"/>
                </a:rPr>
                <a:t>Jan 6 &amp; 13, 2027</a:t>
              </a:r>
              <a:endParaRPr b="1" sz="800">
                <a:solidFill>
                  <a:srgbClr val="FFFFFF"/>
                </a:solidFill>
                <a:latin typeface="Inter"/>
                <a:ea typeface="Inter"/>
                <a:cs typeface="Inter"/>
                <a:sym typeface="Inter"/>
              </a:endParaRPr>
            </a:p>
          </p:txBody>
        </p:sp>
        <p:sp>
          <p:nvSpPr>
            <p:cNvPr id="1394" name="Google Shape;1394;p66"/>
            <p:cNvSpPr/>
            <p:nvPr/>
          </p:nvSpPr>
          <p:spPr>
            <a:xfrm>
              <a:off x="5676900" y="2076450"/>
              <a:ext cx="990600" cy="2400300"/>
            </a:xfrm>
            <a:prstGeom prst="roundRect">
              <a:avLst>
                <a:gd fmla="val 9615" name="adj"/>
              </a:avLst>
            </a:prstGeom>
            <a:solidFill>
              <a:srgbClr val="F0FDF4"/>
            </a:solidFill>
            <a:ln cap="flat" cmpd="sng" w="14300">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5" name="Google Shape;1395;p66"/>
            <p:cNvSpPr txBox="1"/>
            <p:nvPr/>
          </p:nvSpPr>
          <p:spPr>
            <a:xfrm>
              <a:off x="5734050" y="2152650"/>
              <a:ext cx="876300" cy="224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750">
                  <a:solidFill>
                    <a:srgbClr val="166534"/>
                  </a:solidFill>
                  <a:latin typeface="Inter ExtraBold"/>
                  <a:ea typeface="Inter ExtraBold"/>
                  <a:cs typeface="Inter ExtraBold"/>
                  <a:sym typeface="Inter ExtraBold"/>
                </a:rPr>
                <a:t>BOARD MEETING</a:t>
              </a:r>
              <a:endParaRPr b="0" sz="750">
                <a:solidFill>
                  <a:srgbClr val="166534"/>
                </a:solidFill>
                <a:latin typeface="Inter ExtraBold"/>
                <a:ea typeface="Inter ExtraBold"/>
                <a:cs typeface="Inter ExtraBold"/>
                <a:sym typeface="Inter ExtraBold"/>
              </a:endParaRPr>
            </a:p>
            <a:p>
              <a:pPr indent="0" lvl="0" marL="0" rtl="0" algn="ctr">
                <a:spcBef>
                  <a:spcPts val="600"/>
                </a:spcBef>
                <a:spcAft>
                  <a:spcPts val="0"/>
                </a:spcAft>
                <a:buNone/>
              </a:pPr>
              <a:r>
                <a:rPr b="1" lang="en" sz="750">
                  <a:solidFill>
                    <a:srgbClr val="166534"/>
                  </a:solidFill>
                  <a:latin typeface="Inter"/>
                  <a:ea typeface="Inter"/>
                  <a:cs typeface="Inter"/>
                  <a:sym typeface="Inter"/>
                </a:rPr>
                <a:t>January 6:</a:t>
              </a:r>
              <a:endParaRPr b="1" sz="750">
                <a:solidFill>
                  <a:srgbClr val="166534"/>
                </a:solidFill>
                <a:latin typeface="Inter"/>
                <a:ea typeface="Inter"/>
                <a:cs typeface="Inter"/>
                <a:sym typeface="Inter"/>
              </a:endParaRPr>
            </a:p>
            <a:p>
              <a:pPr indent="0" lvl="0" marL="0" rtl="0" algn="ctr">
                <a:spcBef>
                  <a:spcPts val="150"/>
                </a:spcBef>
                <a:spcAft>
                  <a:spcPts val="0"/>
                </a:spcAft>
                <a:buNone/>
              </a:pPr>
              <a:r>
                <a:rPr b="0" lang="en" sz="750">
                  <a:solidFill>
                    <a:srgbClr val="334155"/>
                  </a:solidFill>
                  <a:latin typeface="Inter SemiBold"/>
                  <a:ea typeface="Inter SemiBold"/>
                  <a:cs typeface="Inter SemiBold"/>
                  <a:sym typeface="Inter SemiBold"/>
                </a:rPr>
                <a:t>Budget Recap Receive CLA from VT Dept of Taxes</a:t>
              </a:r>
              <a:endParaRPr b="0" sz="750">
                <a:solidFill>
                  <a:srgbClr val="334155"/>
                </a:solidFill>
                <a:latin typeface="Inter SemiBold"/>
                <a:ea typeface="Inter SemiBold"/>
                <a:cs typeface="Inter SemiBold"/>
                <a:sym typeface="Inter SemiBold"/>
              </a:endParaRPr>
            </a:p>
            <a:p>
              <a:pPr indent="0" lvl="0" marL="0" rtl="0" algn="ctr">
                <a:spcBef>
                  <a:spcPts val="600"/>
                </a:spcBef>
                <a:spcAft>
                  <a:spcPts val="0"/>
                </a:spcAft>
                <a:buNone/>
              </a:pPr>
              <a:r>
                <a:rPr b="1" lang="en" sz="750">
                  <a:solidFill>
                    <a:srgbClr val="166534"/>
                  </a:solidFill>
                  <a:latin typeface="Inter"/>
                  <a:ea typeface="Inter"/>
                  <a:cs typeface="Inter"/>
                  <a:sym typeface="Inter"/>
                </a:rPr>
                <a:t>January 13:</a:t>
              </a:r>
              <a:endParaRPr b="1" sz="750">
                <a:solidFill>
                  <a:srgbClr val="166534"/>
                </a:solidFill>
                <a:latin typeface="Inter"/>
                <a:ea typeface="Inter"/>
                <a:cs typeface="Inter"/>
                <a:sym typeface="Inter"/>
              </a:endParaRPr>
            </a:p>
            <a:p>
              <a:pPr indent="0" lvl="0" marL="0" rtl="0" algn="ctr">
                <a:spcBef>
                  <a:spcPts val="150"/>
                </a:spcBef>
                <a:spcAft>
                  <a:spcPts val="0"/>
                </a:spcAft>
                <a:buNone/>
              </a:pPr>
              <a:r>
                <a:rPr b="0" lang="en" sz="750">
                  <a:solidFill>
                    <a:srgbClr val="334155"/>
                  </a:solidFill>
                  <a:latin typeface="Inter SemiBold"/>
                  <a:ea typeface="Inter SemiBold"/>
                  <a:cs typeface="Inter SemiBold"/>
                  <a:sym typeface="Inter SemiBold"/>
                </a:rPr>
                <a:t>Final Budget Approve Warning &amp; Articles</a:t>
              </a:r>
              <a:endParaRPr b="0" sz="750">
                <a:solidFill>
                  <a:srgbClr val="334155"/>
                </a:solidFill>
                <a:latin typeface="Inter SemiBold"/>
                <a:ea typeface="Inter SemiBold"/>
                <a:cs typeface="Inter SemiBold"/>
                <a:sym typeface="Inter SemiBold"/>
              </a:endParaRPr>
            </a:p>
          </p:txBody>
        </p:sp>
      </p:grpSp>
      <p:grpSp>
        <p:nvGrpSpPr>
          <p:cNvPr id="1396" name="Google Shape;1396;p66"/>
          <p:cNvGrpSpPr/>
          <p:nvPr/>
        </p:nvGrpSpPr>
        <p:grpSpPr>
          <a:xfrm>
            <a:off x="6743700" y="1171575"/>
            <a:ext cx="990600" cy="3305175"/>
            <a:chOff x="6743700" y="1171575"/>
            <a:chExt cx="990600" cy="3305175"/>
          </a:xfrm>
        </p:grpSpPr>
        <p:sp>
          <p:nvSpPr>
            <p:cNvPr id="1397" name="Google Shape;1397;p66"/>
            <p:cNvSpPr/>
            <p:nvPr/>
          </p:nvSpPr>
          <p:spPr>
            <a:xfrm>
              <a:off x="7029450" y="1171575"/>
              <a:ext cx="419100" cy="419100"/>
            </a:xfrm>
            <a:prstGeom prst="ellipse">
              <a:avLst/>
            </a:prstGeom>
            <a:solidFill>
              <a:srgbClr val="FFFFFF"/>
            </a:solidFill>
            <a:ln cap="flat" cmpd="sng" w="3810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8" name="Google Shape;1398;p66"/>
            <p:cNvSpPr/>
            <p:nvPr/>
          </p:nvSpPr>
          <p:spPr>
            <a:xfrm>
              <a:off x="7096125" y="1238250"/>
              <a:ext cx="285900" cy="285900"/>
            </a:xfrm>
            <a:prstGeom prst="ellipse">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9" name="Google Shape;1399;p66"/>
            <p:cNvSpPr txBox="1"/>
            <p:nvPr/>
          </p:nvSpPr>
          <p:spPr>
            <a:xfrm>
              <a:off x="7029450" y="1238250"/>
              <a:ext cx="4191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FFFFFF"/>
                  </a:solidFill>
                  <a:latin typeface="Inter ExtraBold"/>
                  <a:ea typeface="Inter ExtraBold"/>
                  <a:cs typeface="Inter ExtraBold"/>
                  <a:sym typeface="Inter ExtraBold"/>
                </a:rPr>
                <a:t>07</a:t>
              </a:r>
              <a:endParaRPr b="0" sz="1000">
                <a:solidFill>
                  <a:srgbClr val="FFFFFF"/>
                </a:solidFill>
                <a:latin typeface="Inter ExtraBold"/>
                <a:ea typeface="Inter ExtraBold"/>
                <a:cs typeface="Inter ExtraBold"/>
                <a:sym typeface="Inter ExtraBold"/>
              </a:endParaRPr>
            </a:p>
          </p:txBody>
        </p:sp>
        <p:sp>
          <p:nvSpPr>
            <p:cNvPr id="1400" name="Google Shape;1400;p66"/>
            <p:cNvSpPr/>
            <p:nvPr/>
          </p:nvSpPr>
          <p:spPr>
            <a:xfrm>
              <a:off x="6743700" y="1714500"/>
              <a:ext cx="990600" cy="285900"/>
            </a:xfrm>
            <a:prstGeom prst="roundRect">
              <a:avLst>
                <a:gd fmla="val 13333"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1" name="Google Shape;1401;p66"/>
            <p:cNvSpPr txBox="1"/>
            <p:nvPr/>
          </p:nvSpPr>
          <p:spPr>
            <a:xfrm>
              <a:off x="6743700" y="1714500"/>
              <a:ext cx="990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FFFFFF"/>
                  </a:solidFill>
                  <a:latin typeface="Inter"/>
                  <a:ea typeface="Inter"/>
                  <a:cs typeface="Inter"/>
                  <a:sym typeface="Inter"/>
                </a:rPr>
                <a:t>Mar 1, 2027</a:t>
              </a:r>
              <a:endParaRPr b="1" sz="850">
                <a:solidFill>
                  <a:srgbClr val="FFFFFF"/>
                </a:solidFill>
                <a:latin typeface="Inter"/>
                <a:ea typeface="Inter"/>
                <a:cs typeface="Inter"/>
                <a:sym typeface="Inter"/>
              </a:endParaRPr>
            </a:p>
          </p:txBody>
        </p:sp>
        <p:sp>
          <p:nvSpPr>
            <p:cNvPr id="1402" name="Google Shape;1402;p66"/>
            <p:cNvSpPr/>
            <p:nvPr/>
          </p:nvSpPr>
          <p:spPr>
            <a:xfrm>
              <a:off x="6743700" y="2076450"/>
              <a:ext cx="990600" cy="2400300"/>
            </a:xfrm>
            <a:prstGeom prst="roundRect">
              <a:avLst>
                <a:gd fmla="val 9615" name="adj"/>
              </a:avLst>
            </a:prstGeom>
            <a:solidFill>
              <a:srgbClr val="F0F9FF"/>
            </a:solidFill>
            <a:ln cap="flat" cmpd="sng" w="14300">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3" name="Google Shape;1403;p66"/>
            <p:cNvSpPr txBox="1"/>
            <p:nvPr/>
          </p:nvSpPr>
          <p:spPr>
            <a:xfrm>
              <a:off x="6800850" y="2152650"/>
              <a:ext cx="876300" cy="224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750">
                  <a:solidFill>
                    <a:srgbClr val="0369A1"/>
                  </a:solidFill>
                  <a:latin typeface="Inter ExtraBold"/>
                  <a:ea typeface="Inter ExtraBold"/>
                  <a:cs typeface="Inter ExtraBold"/>
                  <a:sym typeface="Inter ExtraBold"/>
                </a:rPr>
                <a:t>BOARD MEETING</a:t>
              </a:r>
              <a:endParaRPr b="0" sz="750">
                <a:solidFill>
                  <a:srgbClr val="0369A1"/>
                </a:solidFill>
                <a:latin typeface="Inter ExtraBold"/>
                <a:ea typeface="Inter ExtraBold"/>
                <a:cs typeface="Inter ExtraBold"/>
                <a:sym typeface="Inter ExtraBold"/>
              </a:endParaRPr>
            </a:p>
            <a:p>
              <a:pPr indent="0" lvl="0" marL="0" rtl="0" algn="ctr">
                <a:spcBef>
                  <a:spcPts val="750"/>
                </a:spcBef>
                <a:spcAft>
                  <a:spcPts val="0"/>
                </a:spcAft>
                <a:buNone/>
              </a:pPr>
              <a:r>
                <a:rPr b="0" lang="en" sz="800">
                  <a:solidFill>
                    <a:srgbClr val="334155"/>
                  </a:solidFill>
                  <a:latin typeface="Inter SemiBold"/>
                  <a:ea typeface="Inter SemiBold"/>
                  <a:cs typeface="Inter SemiBold"/>
                  <a:sym typeface="Inter SemiBold"/>
                </a:rPr>
                <a:t>Budget Informational Hearing</a:t>
              </a:r>
              <a:endParaRPr b="0" sz="800">
                <a:solidFill>
                  <a:srgbClr val="334155"/>
                </a:solidFill>
                <a:latin typeface="Inter SemiBold"/>
                <a:ea typeface="Inter SemiBold"/>
                <a:cs typeface="Inter SemiBold"/>
                <a:sym typeface="Inter SemiBold"/>
              </a:endParaRPr>
            </a:p>
          </p:txBody>
        </p:sp>
      </p:grpSp>
      <p:grpSp>
        <p:nvGrpSpPr>
          <p:cNvPr id="1404" name="Google Shape;1404;p66"/>
          <p:cNvGrpSpPr/>
          <p:nvPr/>
        </p:nvGrpSpPr>
        <p:grpSpPr>
          <a:xfrm>
            <a:off x="7810500" y="1171575"/>
            <a:ext cx="990600" cy="3305175"/>
            <a:chOff x="7810500" y="1171575"/>
            <a:chExt cx="990600" cy="3305175"/>
          </a:xfrm>
        </p:grpSpPr>
        <p:sp>
          <p:nvSpPr>
            <p:cNvPr id="1405" name="Google Shape;1405;p66"/>
            <p:cNvSpPr/>
            <p:nvPr/>
          </p:nvSpPr>
          <p:spPr>
            <a:xfrm>
              <a:off x="8096250" y="1171575"/>
              <a:ext cx="419100" cy="419100"/>
            </a:xfrm>
            <a:prstGeom prst="ellipse">
              <a:avLst/>
            </a:prstGeom>
            <a:solidFill>
              <a:srgbClr val="FFFFFF"/>
            </a:solidFill>
            <a:ln cap="flat" cmpd="sng" w="38100">
              <a:solidFill>
                <a:srgbClr val="CA8A0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6" name="Google Shape;1406;p66"/>
            <p:cNvSpPr/>
            <p:nvPr/>
          </p:nvSpPr>
          <p:spPr>
            <a:xfrm>
              <a:off x="8162925" y="1238250"/>
              <a:ext cx="285900" cy="285900"/>
            </a:xfrm>
            <a:prstGeom prst="ellipse">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7" name="Google Shape;1407;p66"/>
            <p:cNvSpPr txBox="1"/>
            <p:nvPr/>
          </p:nvSpPr>
          <p:spPr>
            <a:xfrm>
              <a:off x="8096250" y="1238250"/>
              <a:ext cx="4191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FFFFFF"/>
                  </a:solidFill>
                  <a:latin typeface="Inter ExtraBold"/>
                  <a:ea typeface="Inter ExtraBold"/>
                  <a:cs typeface="Inter ExtraBold"/>
                  <a:sym typeface="Inter ExtraBold"/>
                </a:rPr>
                <a:t>08</a:t>
              </a:r>
              <a:endParaRPr b="0" sz="1000">
                <a:solidFill>
                  <a:srgbClr val="FFFFFF"/>
                </a:solidFill>
                <a:latin typeface="Inter ExtraBold"/>
                <a:ea typeface="Inter ExtraBold"/>
                <a:cs typeface="Inter ExtraBold"/>
                <a:sym typeface="Inter ExtraBold"/>
              </a:endParaRPr>
            </a:p>
          </p:txBody>
        </p:sp>
        <p:sp>
          <p:nvSpPr>
            <p:cNvPr id="1408" name="Google Shape;1408;p66"/>
            <p:cNvSpPr/>
            <p:nvPr/>
          </p:nvSpPr>
          <p:spPr>
            <a:xfrm>
              <a:off x="7810500" y="1714500"/>
              <a:ext cx="990600" cy="285900"/>
            </a:xfrm>
            <a:prstGeom prst="roundRect">
              <a:avLst>
                <a:gd fmla="val 13333"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9" name="Google Shape;1409;p66"/>
            <p:cNvSpPr txBox="1"/>
            <p:nvPr/>
          </p:nvSpPr>
          <p:spPr>
            <a:xfrm>
              <a:off x="7810500" y="1714500"/>
              <a:ext cx="9906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FFFFFF"/>
                  </a:solidFill>
                  <a:latin typeface="Inter"/>
                  <a:ea typeface="Inter"/>
                  <a:cs typeface="Inter"/>
                  <a:sym typeface="Inter"/>
                </a:rPr>
                <a:t>Mar. 2, 2027</a:t>
              </a:r>
              <a:endParaRPr b="1" sz="850">
                <a:solidFill>
                  <a:srgbClr val="FFFFFF"/>
                </a:solidFill>
                <a:latin typeface="Inter"/>
                <a:ea typeface="Inter"/>
                <a:cs typeface="Inter"/>
                <a:sym typeface="Inter"/>
              </a:endParaRPr>
            </a:p>
          </p:txBody>
        </p:sp>
        <p:sp>
          <p:nvSpPr>
            <p:cNvPr id="1410" name="Google Shape;1410;p66"/>
            <p:cNvSpPr/>
            <p:nvPr/>
          </p:nvSpPr>
          <p:spPr>
            <a:xfrm>
              <a:off x="7810500" y="2076450"/>
              <a:ext cx="990600" cy="2400300"/>
            </a:xfrm>
            <a:prstGeom prst="roundRect">
              <a:avLst>
                <a:gd fmla="val 9615" name="adj"/>
              </a:avLst>
            </a:prstGeom>
            <a:solidFill>
              <a:srgbClr val="FEFCE8"/>
            </a:solidFill>
            <a:ln cap="flat" cmpd="sng" w="14300">
              <a:solidFill>
                <a:srgbClr val="FEF0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1" name="Google Shape;1411;p66"/>
            <p:cNvSpPr txBox="1"/>
            <p:nvPr/>
          </p:nvSpPr>
          <p:spPr>
            <a:xfrm>
              <a:off x="7867650" y="2152650"/>
              <a:ext cx="876300" cy="224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750">
                  <a:solidFill>
                    <a:srgbClr val="854D0E"/>
                  </a:solidFill>
                  <a:latin typeface="Inter ExtraBold"/>
                  <a:ea typeface="Inter ExtraBold"/>
                  <a:cs typeface="Inter ExtraBold"/>
                  <a:sym typeface="Inter ExtraBold"/>
                </a:rPr>
                <a:t>VOTE</a:t>
              </a:r>
              <a:endParaRPr b="0" sz="750">
                <a:solidFill>
                  <a:srgbClr val="854D0E"/>
                </a:solidFill>
                <a:latin typeface="Inter ExtraBold"/>
                <a:ea typeface="Inter ExtraBold"/>
                <a:cs typeface="Inter ExtraBold"/>
                <a:sym typeface="Inter ExtraBold"/>
              </a:endParaRPr>
            </a:p>
            <a:p>
              <a:pPr indent="0" lvl="0" marL="0" rtl="0" algn="ctr">
                <a:spcBef>
                  <a:spcPts val="750"/>
                </a:spcBef>
                <a:spcAft>
                  <a:spcPts val="0"/>
                </a:spcAft>
                <a:buNone/>
              </a:pPr>
              <a:r>
                <a:rPr b="0" lang="en" sz="800">
                  <a:solidFill>
                    <a:srgbClr val="334155"/>
                  </a:solidFill>
                  <a:latin typeface="Inter SemiBold"/>
                  <a:ea typeface="Inter SemiBold"/>
                  <a:cs typeface="Inter SemiBold"/>
                  <a:sym typeface="Inter SemiBold"/>
                </a:rPr>
                <a:t>Town Meeting Day</a:t>
              </a:r>
              <a:endParaRPr b="0" sz="800">
                <a:solidFill>
                  <a:srgbClr val="334155"/>
                </a:solidFill>
                <a:latin typeface="Inter SemiBold"/>
                <a:ea typeface="Inter SemiBold"/>
                <a:cs typeface="Inter SemiBold"/>
                <a:sym typeface="Inter SemiBold"/>
              </a:endParaRPr>
            </a:p>
          </p:txBody>
        </p:sp>
      </p:grpSp>
      <p:sp>
        <p:nvSpPr>
          <p:cNvPr id="1412" name="Google Shape;1412;p66"/>
          <p:cNvSpPr txBox="1"/>
          <p:nvPr/>
        </p:nvSpPr>
        <p:spPr>
          <a:xfrm>
            <a:off x="266700" y="4676775"/>
            <a:ext cx="8534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800">
                <a:solidFill>
                  <a:srgbClr val="1D4ED8"/>
                </a:solidFill>
                <a:latin typeface="Inter SemiBold"/>
                <a:ea typeface="Inter SemiBold"/>
                <a:cs typeface="Inter SemiBold"/>
                <a:sym typeface="Inter SemiBold"/>
              </a:rPr>
              <a:t>***Addition meeting January 20, 2027 if necessary for budget adoption</a:t>
            </a:r>
            <a:endParaRPr b="0" sz="800">
              <a:solidFill>
                <a:srgbClr val="1D4ED8"/>
              </a:solidFill>
              <a:latin typeface="Inter SemiBold"/>
              <a:ea typeface="Inter SemiBold"/>
              <a:cs typeface="Inter SemiBold"/>
              <a:sym typeface="Inter SemiBo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sp>
        <p:nvSpPr>
          <p:cNvPr id="1417" name="Google Shape;1417;p67"/>
          <p:cNvSpPr/>
          <p:nvPr/>
        </p:nvSpPr>
        <p:spPr>
          <a:xfrm>
            <a:off x="0" y="0"/>
            <a:ext cx="9144000" cy="514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8" name="Google Shape;1418;p67"/>
          <p:cNvSpPr txBox="1"/>
          <p:nvPr/>
        </p:nvSpPr>
        <p:spPr>
          <a:xfrm>
            <a:off x="457200" y="285750"/>
            <a:ext cx="82296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850">
                <a:solidFill>
                  <a:srgbClr val="2563EB"/>
                </a:solidFill>
                <a:latin typeface="Inter ExtraBold"/>
                <a:ea typeface="Inter ExtraBold"/>
                <a:cs typeface="Inter ExtraBold"/>
                <a:sym typeface="Inter ExtraBold"/>
              </a:rPr>
              <a:t>GOVERNANCE &amp; RESTRUCTURING DIRECTIVES</a:t>
            </a:r>
            <a:endParaRPr b="0" sz="850">
              <a:solidFill>
                <a:srgbClr val="2563EB"/>
              </a:solidFill>
              <a:latin typeface="Inter ExtraBold"/>
              <a:ea typeface="Inter ExtraBold"/>
              <a:cs typeface="Inter ExtraBold"/>
              <a:sym typeface="Inter ExtraBold"/>
            </a:endParaRPr>
          </a:p>
        </p:txBody>
      </p:sp>
      <p:sp>
        <p:nvSpPr>
          <p:cNvPr id="1419" name="Google Shape;1419;p67"/>
          <p:cNvSpPr txBox="1"/>
          <p:nvPr/>
        </p:nvSpPr>
        <p:spPr>
          <a:xfrm>
            <a:off x="457200" y="495300"/>
            <a:ext cx="82296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2000">
                <a:solidFill>
                  <a:srgbClr val="0F172A"/>
                </a:solidFill>
                <a:latin typeface="Inter ExtraBold"/>
                <a:ea typeface="Inter ExtraBold"/>
                <a:cs typeface="Inter ExtraBold"/>
                <a:sym typeface="Inter ExtraBold"/>
              </a:rPr>
              <a:t>Question for Board Direction</a:t>
            </a:r>
            <a:endParaRPr b="0" sz="2000">
              <a:solidFill>
                <a:srgbClr val="0F172A"/>
              </a:solidFill>
              <a:latin typeface="Inter ExtraBold"/>
              <a:ea typeface="Inter ExtraBold"/>
              <a:cs typeface="Inter ExtraBold"/>
              <a:sym typeface="Inter ExtraBold"/>
            </a:endParaRPr>
          </a:p>
        </p:txBody>
      </p:sp>
      <p:sp>
        <p:nvSpPr>
          <p:cNvPr id="1420" name="Google Shape;1420;p67"/>
          <p:cNvSpPr/>
          <p:nvPr/>
        </p:nvSpPr>
        <p:spPr>
          <a:xfrm>
            <a:off x="457200" y="971550"/>
            <a:ext cx="4914900" cy="32385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1" name="Google Shape;1421;p67"/>
          <p:cNvSpPr txBox="1"/>
          <p:nvPr/>
        </p:nvSpPr>
        <p:spPr>
          <a:xfrm>
            <a:off x="685800" y="1143000"/>
            <a:ext cx="44577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1E293B"/>
                </a:solidFill>
                <a:latin typeface="Inter"/>
                <a:ea typeface="Inter"/>
                <a:cs typeface="Inter"/>
                <a:sym typeface="Inter"/>
              </a:rPr>
              <a:t>Path A or Path B?</a:t>
            </a:r>
            <a:endParaRPr b="1" sz="1500">
              <a:solidFill>
                <a:srgbClr val="1E293B"/>
              </a:solidFill>
              <a:latin typeface="Inter"/>
              <a:ea typeface="Inter"/>
              <a:cs typeface="Inter"/>
              <a:sym typeface="Inter"/>
            </a:endParaRPr>
          </a:p>
        </p:txBody>
      </p:sp>
      <p:sp>
        <p:nvSpPr>
          <p:cNvPr id="1422" name="Google Shape;1422;p67"/>
          <p:cNvSpPr/>
          <p:nvPr/>
        </p:nvSpPr>
        <p:spPr>
          <a:xfrm>
            <a:off x="685800" y="1562100"/>
            <a:ext cx="4457700" cy="914400"/>
          </a:xfrm>
          <a:prstGeom prst="roundRect">
            <a:avLst>
              <a:gd fmla="val 10416" name="adj"/>
            </a:avLst>
          </a:prstGeom>
          <a:solidFill>
            <a:srgbClr val="F8FAFC"/>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3" name="Google Shape;1423;p67"/>
          <p:cNvSpPr/>
          <p:nvPr/>
        </p:nvSpPr>
        <p:spPr>
          <a:xfrm>
            <a:off x="876300" y="1828800"/>
            <a:ext cx="381000" cy="3810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4" name="Google Shape;1424;p67"/>
          <p:cNvSpPr txBox="1"/>
          <p:nvPr/>
        </p:nvSpPr>
        <p:spPr>
          <a:xfrm>
            <a:off x="876300" y="1828800"/>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1300">
                <a:solidFill>
                  <a:srgbClr val="FFFFFF"/>
                </a:solidFill>
                <a:latin typeface="Inter ExtraBold"/>
                <a:ea typeface="Inter ExtraBold"/>
                <a:cs typeface="Inter ExtraBold"/>
                <a:sym typeface="Inter ExtraBold"/>
              </a:rPr>
              <a:t>A</a:t>
            </a:r>
            <a:endParaRPr b="0" sz="1300">
              <a:solidFill>
                <a:srgbClr val="FFFFFF"/>
              </a:solidFill>
              <a:latin typeface="Inter ExtraBold"/>
              <a:ea typeface="Inter ExtraBold"/>
              <a:cs typeface="Inter ExtraBold"/>
              <a:sym typeface="Inter ExtraBold"/>
            </a:endParaRPr>
          </a:p>
        </p:txBody>
      </p:sp>
      <p:sp>
        <p:nvSpPr>
          <p:cNvPr id="1425" name="Google Shape;1425;p67"/>
          <p:cNvSpPr txBox="1"/>
          <p:nvPr/>
        </p:nvSpPr>
        <p:spPr>
          <a:xfrm>
            <a:off x="1409700" y="1657350"/>
            <a:ext cx="3543300" cy="723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150">
                <a:solidFill>
                  <a:srgbClr val="0F172A"/>
                </a:solidFill>
                <a:latin typeface="Inter SemiBold"/>
                <a:ea typeface="Inter SemiBold"/>
                <a:cs typeface="Inter SemiBold"/>
                <a:sym typeface="Inter SemiBold"/>
              </a:rPr>
              <a:t>Maintain 7 buildings and make high impact reductions</a:t>
            </a:r>
            <a:endParaRPr b="0" sz="1150">
              <a:solidFill>
                <a:srgbClr val="0F172A"/>
              </a:solidFill>
              <a:latin typeface="Inter SemiBold"/>
              <a:ea typeface="Inter SemiBold"/>
              <a:cs typeface="Inter SemiBold"/>
              <a:sym typeface="Inter SemiBold"/>
            </a:endParaRPr>
          </a:p>
        </p:txBody>
      </p:sp>
      <p:sp>
        <p:nvSpPr>
          <p:cNvPr id="1426" name="Google Shape;1426;p67"/>
          <p:cNvSpPr/>
          <p:nvPr/>
        </p:nvSpPr>
        <p:spPr>
          <a:xfrm>
            <a:off x="685800" y="2628900"/>
            <a:ext cx="4457700" cy="914400"/>
          </a:xfrm>
          <a:prstGeom prst="roundRect">
            <a:avLst>
              <a:gd fmla="val 10416" name="adj"/>
            </a:avLst>
          </a:prstGeom>
          <a:solidFill>
            <a:srgbClr val="F8FAFC"/>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7" name="Google Shape;1427;p67"/>
          <p:cNvSpPr/>
          <p:nvPr/>
        </p:nvSpPr>
        <p:spPr>
          <a:xfrm>
            <a:off x="876300" y="2895600"/>
            <a:ext cx="381000" cy="3810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8" name="Google Shape;1428;p67"/>
          <p:cNvSpPr txBox="1"/>
          <p:nvPr/>
        </p:nvSpPr>
        <p:spPr>
          <a:xfrm>
            <a:off x="876300" y="2895600"/>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1300">
                <a:solidFill>
                  <a:srgbClr val="FFFFFF"/>
                </a:solidFill>
                <a:latin typeface="Inter ExtraBold"/>
                <a:ea typeface="Inter ExtraBold"/>
                <a:cs typeface="Inter ExtraBold"/>
                <a:sym typeface="Inter ExtraBold"/>
              </a:rPr>
              <a:t>B</a:t>
            </a:r>
            <a:endParaRPr b="0" sz="1300">
              <a:solidFill>
                <a:srgbClr val="FFFFFF"/>
              </a:solidFill>
              <a:latin typeface="Inter ExtraBold"/>
              <a:ea typeface="Inter ExtraBold"/>
              <a:cs typeface="Inter ExtraBold"/>
              <a:sym typeface="Inter ExtraBold"/>
            </a:endParaRPr>
          </a:p>
        </p:txBody>
      </p:sp>
      <p:sp>
        <p:nvSpPr>
          <p:cNvPr id="1429" name="Google Shape;1429;p67"/>
          <p:cNvSpPr txBox="1"/>
          <p:nvPr/>
        </p:nvSpPr>
        <p:spPr>
          <a:xfrm>
            <a:off x="1409700" y="2724150"/>
            <a:ext cx="3543300" cy="723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150">
                <a:solidFill>
                  <a:srgbClr val="0F172A"/>
                </a:solidFill>
                <a:latin typeface="Inter SemiBold"/>
                <a:ea typeface="Inter SemiBold"/>
                <a:cs typeface="Inter SemiBold"/>
                <a:sym typeface="Inter SemiBold"/>
              </a:rPr>
              <a:t>Valley Consolidation and Middle School Merger</a:t>
            </a:r>
            <a:endParaRPr b="0" sz="1150">
              <a:solidFill>
                <a:srgbClr val="0F172A"/>
              </a:solidFill>
              <a:latin typeface="Inter SemiBold"/>
              <a:ea typeface="Inter SemiBold"/>
              <a:cs typeface="Inter SemiBold"/>
              <a:sym typeface="Inter SemiBold"/>
            </a:endParaRPr>
          </a:p>
        </p:txBody>
      </p:sp>
      <p:sp>
        <p:nvSpPr>
          <p:cNvPr id="1430" name="Google Shape;1430;p67"/>
          <p:cNvSpPr/>
          <p:nvPr/>
        </p:nvSpPr>
        <p:spPr>
          <a:xfrm>
            <a:off x="5600700" y="971550"/>
            <a:ext cx="3086100" cy="3238500"/>
          </a:xfrm>
          <a:prstGeom prst="roundRect">
            <a:avLst>
              <a:gd fmla="val 3703"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1" name="Google Shape;1431;p67"/>
          <p:cNvSpPr/>
          <p:nvPr/>
        </p:nvSpPr>
        <p:spPr>
          <a:xfrm>
            <a:off x="5600700" y="971550"/>
            <a:ext cx="30861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2" name="Google Shape;1432;p67"/>
          <p:cNvSpPr txBox="1"/>
          <p:nvPr/>
        </p:nvSpPr>
        <p:spPr>
          <a:xfrm>
            <a:off x="5829300" y="1200150"/>
            <a:ext cx="26289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800">
                <a:solidFill>
                  <a:srgbClr val="2563EB"/>
                </a:solidFill>
                <a:latin typeface="Inter ExtraBold"/>
                <a:ea typeface="Inter ExtraBold"/>
                <a:cs typeface="Inter ExtraBold"/>
                <a:sym typeface="Inter ExtraBold"/>
              </a:rPr>
              <a:t>UPCOMING MILESTONE</a:t>
            </a:r>
            <a:endParaRPr b="0" sz="800">
              <a:solidFill>
                <a:srgbClr val="2563EB"/>
              </a:solidFill>
              <a:latin typeface="Inter ExtraBold"/>
              <a:ea typeface="Inter ExtraBold"/>
              <a:cs typeface="Inter ExtraBold"/>
              <a:sym typeface="Inter ExtraBold"/>
            </a:endParaRPr>
          </a:p>
        </p:txBody>
      </p:sp>
      <p:sp>
        <p:nvSpPr>
          <p:cNvPr id="1433" name="Google Shape;1433;p67"/>
          <p:cNvSpPr txBox="1"/>
          <p:nvPr/>
        </p:nvSpPr>
        <p:spPr>
          <a:xfrm>
            <a:off x="5829300" y="1409700"/>
            <a:ext cx="26289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0F172A"/>
                </a:solidFill>
                <a:latin typeface="Inter ExtraBold"/>
                <a:ea typeface="Inter ExtraBold"/>
                <a:cs typeface="Inter ExtraBold"/>
                <a:sym typeface="Inter ExtraBold"/>
              </a:rPr>
              <a:t>November 4th Meeting</a:t>
            </a:r>
            <a:endParaRPr b="0" sz="1600">
              <a:solidFill>
                <a:srgbClr val="0F172A"/>
              </a:solidFill>
              <a:latin typeface="Inter ExtraBold"/>
              <a:ea typeface="Inter ExtraBold"/>
              <a:cs typeface="Inter ExtraBold"/>
              <a:sym typeface="Inter ExtraBold"/>
            </a:endParaRPr>
          </a:p>
        </p:txBody>
      </p:sp>
      <p:sp>
        <p:nvSpPr>
          <p:cNvPr id="1434" name="Google Shape;1434;p67"/>
          <p:cNvSpPr txBox="1"/>
          <p:nvPr/>
        </p:nvSpPr>
        <p:spPr>
          <a:xfrm>
            <a:off x="5829300" y="1752600"/>
            <a:ext cx="2628900" cy="209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1E40AF"/>
                </a:solidFill>
                <a:latin typeface="Inter SemiBold"/>
                <a:ea typeface="Inter SemiBold"/>
                <a:cs typeface="Inter SemiBold"/>
                <a:sym typeface="Inter SemiBold"/>
              </a:rPr>
              <a:t>School Board Decision Point</a:t>
            </a:r>
            <a:endParaRPr b="0" sz="1000">
              <a:solidFill>
                <a:srgbClr val="1E40AF"/>
              </a:solidFill>
              <a:latin typeface="Inter SemiBold"/>
              <a:ea typeface="Inter SemiBold"/>
              <a:cs typeface="Inter SemiBold"/>
              <a:sym typeface="Inter SemiBold"/>
            </a:endParaRPr>
          </a:p>
        </p:txBody>
      </p:sp>
      <p:sp>
        <p:nvSpPr>
          <p:cNvPr id="1435" name="Google Shape;1435;p67"/>
          <p:cNvSpPr/>
          <p:nvPr/>
        </p:nvSpPr>
        <p:spPr>
          <a:xfrm>
            <a:off x="5829300" y="2076450"/>
            <a:ext cx="2628900" cy="9600"/>
          </a:xfrm>
          <a:prstGeom prst="rect">
            <a:avLst/>
          </a:prstGeom>
          <a:solidFill>
            <a:srgbClr val="BFDB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6" name="Google Shape;1436;p67"/>
          <p:cNvSpPr txBox="1"/>
          <p:nvPr/>
        </p:nvSpPr>
        <p:spPr>
          <a:xfrm>
            <a:off x="5829300" y="2228850"/>
            <a:ext cx="2628900" cy="1790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0F172A"/>
                </a:solidFill>
                <a:latin typeface="Inter ExtraBold"/>
                <a:ea typeface="Inter ExtraBold"/>
                <a:cs typeface="Inter ExtraBold"/>
                <a:sym typeface="Inter ExtraBold"/>
              </a:rPr>
              <a:t>Action Needed:</a:t>
            </a:r>
            <a:endParaRPr b="0" sz="1100">
              <a:solidFill>
                <a:srgbClr val="0F172A"/>
              </a:solidFill>
              <a:latin typeface="Inter ExtraBold"/>
              <a:ea typeface="Inter ExtraBold"/>
              <a:cs typeface="Inter ExtraBold"/>
              <a:sym typeface="Inter ExtraBold"/>
            </a:endParaRPr>
          </a:p>
          <a:p>
            <a:pPr indent="0" lvl="0" marL="0" rtl="0" algn="l">
              <a:spcBef>
                <a:spcPts val="800"/>
              </a:spcBef>
              <a:spcAft>
                <a:spcPts val="0"/>
              </a:spcAft>
              <a:buNone/>
            </a:pPr>
            <a:r>
              <a:rPr lang="en" sz="1000">
                <a:solidFill>
                  <a:srgbClr val="1E3A8A"/>
                </a:solidFill>
                <a:latin typeface="Inter Medium"/>
                <a:ea typeface="Inter Medium"/>
                <a:cs typeface="Inter Medium"/>
                <a:sym typeface="Inter Medium"/>
              </a:rPr>
              <a:t>If Path A, determine services and programs to be eliminated and reduced</a:t>
            </a:r>
            <a:endParaRPr sz="1000">
              <a:solidFill>
                <a:srgbClr val="1E3A8A"/>
              </a:solidFill>
              <a:latin typeface="Inter Medium"/>
              <a:ea typeface="Inter Medium"/>
              <a:cs typeface="Inter Medium"/>
              <a:sym typeface="Inter Medium"/>
            </a:endParaRPr>
          </a:p>
          <a:p>
            <a:pPr indent="0" lvl="0" marL="0" rtl="0" algn="l">
              <a:spcBef>
                <a:spcPts val="0"/>
              </a:spcBef>
              <a:spcAft>
                <a:spcPts val="0"/>
              </a:spcAft>
              <a:buNone/>
            </a:pPr>
            <a:r>
              <a:t/>
            </a:r>
            <a:endParaRPr sz="1000">
              <a:solidFill>
                <a:srgbClr val="1E3A8A"/>
              </a:solidFill>
              <a:latin typeface="Inter Medium"/>
              <a:ea typeface="Inter Medium"/>
              <a:cs typeface="Inter Medium"/>
              <a:sym typeface="Inter Medium"/>
            </a:endParaRPr>
          </a:p>
          <a:p>
            <a:pPr indent="0" lvl="0" marL="0" rtl="0" algn="l">
              <a:spcBef>
                <a:spcPts val="0"/>
              </a:spcBef>
              <a:spcAft>
                <a:spcPts val="0"/>
              </a:spcAft>
              <a:buNone/>
            </a:pPr>
            <a:r>
              <a:rPr b="0" lang="en" sz="1000">
                <a:solidFill>
                  <a:srgbClr val="1E3A8A"/>
                </a:solidFill>
                <a:latin typeface="Inter Medium"/>
                <a:ea typeface="Inter Medium"/>
                <a:cs typeface="Inter Medium"/>
                <a:sym typeface="Inter Medium"/>
              </a:rPr>
              <a:t>If Path B, use data provided to identify buildings for consolidation and subsequent meetings per the Articles of Agreement.</a:t>
            </a:r>
            <a:endParaRPr b="0" sz="1000">
              <a:solidFill>
                <a:srgbClr val="1E3A8A"/>
              </a:solidFill>
              <a:latin typeface="Inter Medium"/>
              <a:ea typeface="Inter Medium"/>
              <a:cs typeface="Inter Medium"/>
              <a:sym typeface="Inter Medium"/>
            </a:endParaRPr>
          </a:p>
        </p:txBody>
      </p:sp>
      <p:sp>
        <p:nvSpPr>
          <p:cNvPr id="1437" name="Google Shape;1437;p67"/>
          <p:cNvSpPr/>
          <p:nvPr/>
        </p:nvSpPr>
        <p:spPr>
          <a:xfrm>
            <a:off x="457200" y="4362450"/>
            <a:ext cx="8229600" cy="438300"/>
          </a:xfrm>
          <a:prstGeom prst="rect">
            <a:avLst/>
          </a:prstGeom>
          <a:solidFill>
            <a:srgbClr val="1E3A8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8" name="Google Shape;1438;p67"/>
          <p:cNvSpPr/>
          <p:nvPr/>
        </p:nvSpPr>
        <p:spPr>
          <a:xfrm>
            <a:off x="457200" y="4362450"/>
            <a:ext cx="57300" cy="438300"/>
          </a:xfrm>
          <a:prstGeom prst="rect">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9" name="Google Shape;1439;p67"/>
          <p:cNvSpPr txBox="1"/>
          <p:nvPr/>
        </p:nvSpPr>
        <p:spPr>
          <a:xfrm>
            <a:off x="647700" y="4362450"/>
            <a:ext cx="7886700" cy="438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FFFFFF"/>
                </a:solidFill>
                <a:latin typeface="Inter"/>
                <a:ea typeface="Inter"/>
                <a:cs typeface="Inter"/>
                <a:sym typeface="Inter"/>
              </a:rPr>
              <a:t>Next Step Requirement: A: Identify programs and services to curtail. B: Identify buildings to accommodate additional students, then hold the three community meetings required by the Articles of Agreement before any official board action on school closure.</a:t>
            </a:r>
            <a:endParaRPr b="1" sz="950">
              <a:solidFill>
                <a:srgbClr val="FFFFFF"/>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44" name="Shape 1444"/>
        <p:cNvGrpSpPr/>
        <p:nvPr/>
      </p:nvGrpSpPr>
      <p:grpSpPr>
        <a:xfrm>
          <a:off x="0" y="0"/>
          <a:ext cx="0" cy="0"/>
          <a:chOff x="0" y="0"/>
          <a:chExt cx="0" cy="0"/>
        </a:xfrm>
      </p:grpSpPr>
      <p:sp>
        <p:nvSpPr>
          <p:cNvPr id="1445" name="Google Shape;1445;p68"/>
          <p:cNvSpPr/>
          <p:nvPr/>
        </p:nvSpPr>
        <p:spPr>
          <a:xfrm>
            <a:off x="381000" y="247650"/>
            <a:ext cx="83820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975">
                <a:solidFill>
                  <a:srgbClr val="009F78"/>
                </a:solidFill>
                <a:latin typeface="Inter"/>
                <a:ea typeface="Inter"/>
                <a:cs typeface="Inter"/>
                <a:sym typeface="Inter"/>
              </a:rPr>
              <a:t>A REQUEST TO OUR LEGISLATORS</a:t>
            </a:r>
            <a:endParaRPr/>
          </a:p>
        </p:txBody>
      </p:sp>
      <p:sp>
        <p:nvSpPr>
          <p:cNvPr id="1446" name="Google Shape;1446;p68"/>
          <p:cNvSpPr/>
          <p:nvPr/>
        </p:nvSpPr>
        <p:spPr>
          <a:xfrm>
            <a:off x="381000" y="495300"/>
            <a:ext cx="8382000" cy="742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250">
                <a:solidFill>
                  <a:srgbClr val="11182B"/>
                </a:solidFill>
                <a:latin typeface="Inter"/>
                <a:ea typeface="Inter"/>
                <a:cs typeface="Inter"/>
                <a:sym typeface="Inter"/>
              </a:rPr>
              <a:t>An Excess Spending Designation</a:t>
            </a:r>
            <a:endParaRPr/>
          </a:p>
          <a:p>
            <a:pPr indent="0" lvl="0" marL="0" marR="0" rtl="0" algn="l">
              <a:spcBef>
                <a:spcPts val="0"/>
              </a:spcBef>
              <a:spcAft>
                <a:spcPts val="0"/>
              </a:spcAft>
              <a:buNone/>
            </a:pPr>
            <a:r>
              <a:rPr b="1" lang="en" sz="2250">
                <a:solidFill>
                  <a:srgbClr val="11182B"/>
                </a:solidFill>
                <a:latin typeface="Inter"/>
                <a:ea typeface="Inter"/>
                <a:cs typeface="Inter"/>
                <a:sym typeface="Inter"/>
              </a:rPr>
              <a:t>Is Not a Diagnosis</a:t>
            </a:r>
            <a:endParaRPr/>
          </a:p>
        </p:txBody>
      </p:sp>
      <p:sp>
        <p:nvSpPr>
          <p:cNvPr id="1447" name="Google Shape;1447;p68"/>
          <p:cNvSpPr/>
          <p:nvPr/>
        </p:nvSpPr>
        <p:spPr>
          <a:xfrm>
            <a:off x="381000" y="1323975"/>
            <a:ext cx="8382000" cy="409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350">
                <a:solidFill>
                  <a:srgbClr val="11182B"/>
                </a:solidFill>
                <a:latin typeface="Inter"/>
                <a:ea typeface="Inter"/>
                <a:cs typeface="Inter"/>
                <a:sym typeface="Inter"/>
              </a:rPr>
              <a:t>Even with consolidation, HUUSD faces limited room for annual budget growth after FY28.</a:t>
            </a:r>
            <a:endParaRPr/>
          </a:p>
        </p:txBody>
      </p:sp>
      <p:sp>
        <p:nvSpPr>
          <p:cNvPr id="1448" name="Google Shape;1448;p68"/>
          <p:cNvSpPr/>
          <p:nvPr/>
        </p:nvSpPr>
        <p:spPr>
          <a:xfrm>
            <a:off x="381000" y="1885950"/>
            <a:ext cx="423862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050">
                <a:solidFill>
                  <a:srgbClr val="007CAF"/>
                </a:solidFill>
                <a:latin typeface="Inter"/>
                <a:ea typeface="Inter"/>
                <a:cs typeface="Inter"/>
                <a:sym typeface="Inter"/>
              </a:rPr>
              <a:t>THE THRESHOLD PERCENTAGE KEEPS FALLING</a:t>
            </a:r>
            <a:endParaRPr/>
          </a:p>
        </p:txBody>
      </p:sp>
      <p:sp>
        <p:nvSpPr>
          <p:cNvPr id="1449" name="Google Shape;1449;p68"/>
          <p:cNvSpPr/>
          <p:nvPr/>
        </p:nvSpPr>
        <p:spPr>
          <a:xfrm>
            <a:off x="381000" y="2152650"/>
            <a:ext cx="4238625"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900">
                <a:solidFill>
                  <a:srgbClr val="64748B"/>
                </a:solidFill>
                <a:latin typeface="Inter"/>
                <a:ea typeface="Inter"/>
                <a:cs typeface="Inter"/>
                <a:sym typeface="Inter"/>
              </a:rPr>
              <a:t>Percent of the inflation-adjusted excess spending base</a:t>
            </a:r>
            <a:endParaRPr/>
          </a:p>
        </p:txBody>
      </p:sp>
      <p:pic>
        <p:nvPicPr>
          <p:cNvPr id="1450" name="Google Shape;1450;p68"/>
          <p:cNvPicPr preferRelativeResize="0"/>
          <p:nvPr/>
        </p:nvPicPr>
        <p:blipFill rotWithShape="1">
          <a:blip r:embed="rId3">
            <a:alphaModFix/>
          </a:blip>
          <a:srcRect b="0" l="0" r="0" t="0"/>
          <a:stretch/>
        </p:blipFill>
        <p:spPr>
          <a:xfrm>
            <a:off x="334463" y="2619375"/>
            <a:ext cx="4276800" cy="895500"/>
          </a:xfrm>
          <a:prstGeom prst="rect">
            <a:avLst/>
          </a:prstGeom>
          <a:noFill/>
          <a:ln>
            <a:noFill/>
          </a:ln>
        </p:spPr>
      </p:pic>
      <p:sp>
        <p:nvSpPr>
          <p:cNvPr id="1451" name="Google Shape;1451;p68"/>
          <p:cNvSpPr/>
          <p:nvPr/>
        </p:nvSpPr>
        <p:spPr>
          <a:xfrm>
            <a:off x="495275" y="2512000"/>
            <a:ext cx="666900" cy="23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 sz="1150">
                <a:solidFill>
                  <a:srgbClr val="11182B"/>
                </a:solidFill>
                <a:latin typeface="Inter"/>
                <a:ea typeface="Inter"/>
                <a:cs typeface="Inter"/>
                <a:sym typeface="Inter"/>
              </a:rPr>
              <a:t>115.5%</a:t>
            </a:r>
            <a:endParaRPr sz="1200"/>
          </a:p>
        </p:txBody>
      </p:sp>
      <p:sp>
        <p:nvSpPr>
          <p:cNvPr id="1452" name="Google Shape;1452;p68"/>
          <p:cNvSpPr/>
          <p:nvPr/>
        </p:nvSpPr>
        <p:spPr>
          <a:xfrm>
            <a:off x="1317308" y="2511988"/>
            <a:ext cx="666900" cy="23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 sz="1150">
                <a:solidFill>
                  <a:srgbClr val="11182B"/>
                </a:solidFill>
                <a:latin typeface="Inter"/>
                <a:ea typeface="Inter"/>
                <a:cs typeface="Inter"/>
                <a:sym typeface="Inter"/>
              </a:rPr>
              <a:t>114.5%</a:t>
            </a:r>
            <a:endParaRPr sz="1200"/>
          </a:p>
        </p:txBody>
      </p:sp>
      <p:sp>
        <p:nvSpPr>
          <p:cNvPr id="1453" name="Google Shape;1453;p68"/>
          <p:cNvSpPr/>
          <p:nvPr/>
        </p:nvSpPr>
        <p:spPr>
          <a:xfrm>
            <a:off x="2139378" y="2512038"/>
            <a:ext cx="666900" cy="23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 sz="1150">
                <a:solidFill>
                  <a:srgbClr val="11182B"/>
                </a:solidFill>
                <a:latin typeface="Inter"/>
                <a:ea typeface="Inter"/>
                <a:cs typeface="Inter"/>
                <a:sym typeface="Inter"/>
              </a:rPr>
              <a:t>113.5%</a:t>
            </a:r>
            <a:endParaRPr sz="1200"/>
          </a:p>
        </p:txBody>
      </p:sp>
      <p:sp>
        <p:nvSpPr>
          <p:cNvPr id="1454" name="Google Shape;1454;p68"/>
          <p:cNvSpPr/>
          <p:nvPr/>
        </p:nvSpPr>
        <p:spPr>
          <a:xfrm>
            <a:off x="2961423" y="2511988"/>
            <a:ext cx="666900" cy="23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 sz="1150">
                <a:solidFill>
                  <a:srgbClr val="11182B"/>
                </a:solidFill>
                <a:latin typeface="Inter"/>
                <a:ea typeface="Inter"/>
                <a:cs typeface="Inter"/>
                <a:sym typeface="Inter"/>
              </a:rPr>
              <a:t>113.0%</a:t>
            </a:r>
            <a:endParaRPr sz="1200"/>
          </a:p>
        </p:txBody>
      </p:sp>
      <p:sp>
        <p:nvSpPr>
          <p:cNvPr id="1455" name="Google Shape;1455;p68"/>
          <p:cNvSpPr/>
          <p:nvPr/>
        </p:nvSpPr>
        <p:spPr>
          <a:xfrm>
            <a:off x="3783480" y="2512038"/>
            <a:ext cx="666900" cy="23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 sz="1150">
                <a:solidFill>
                  <a:srgbClr val="11182B"/>
                </a:solidFill>
                <a:latin typeface="Inter"/>
                <a:ea typeface="Inter"/>
                <a:cs typeface="Inter"/>
                <a:sym typeface="Inter"/>
              </a:rPr>
              <a:t>112.5%</a:t>
            </a:r>
            <a:endParaRPr sz="1200"/>
          </a:p>
        </p:txBody>
      </p:sp>
      <p:sp>
        <p:nvSpPr>
          <p:cNvPr id="1456" name="Google Shape;1456;p68"/>
          <p:cNvSpPr/>
          <p:nvPr/>
        </p:nvSpPr>
        <p:spPr>
          <a:xfrm>
            <a:off x="381000" y="3648075"/>
            <a:ext cx="423862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863">
                <a:solidFill>
                  <a:srgbClr val="64748B"/>
                </a:solidFill>
                <a:latin typeface="Inter"/>
                <a:ea typeface="Inter"/>
                <a:cs typeface="Inter"/>
                <a:sym typeface="Inter"/>
              </a:rPr>
              <a:t>These are threshold percentages, not annual growth allowances.</a:t>
            </a:r>
            <a:endParaRPr/>
          </a:p>
          <a:p>
            <a:pPr indent="0" lvl="0" marL="0" marR="0" rtl="0" algn="l">
              <a:spcBef>
                <a:spcPts val="0"/>
              </a:spcBef>
              <a:spcAft>
                <a:spcPts val="0"/>
              </a:spcAft>
              <a:buNone/>
            </a:pPr>
            <a:r>
              <a:rPr b="0" lang="en" sz="863">
                <a:solidFill>
                  <a:srgbClr val="64748B"/>
                </a:solidFill>
                <a:latin typeface="Inter"/>
                <a:ea typeface="Inter"/>
                <a:cs typeface="Inter"/>
                <a:sym typeface="Inter"/>
              </a:rPr>
              <a:t>The dollar base adjusts for inflation. FY30+ assumes this system continues.</a:t>
            </a:r>
            <a:endParaRPr/>
          </a:p>
        </p:txBody>
      </p:sp>
      <p:sp>
        <p:nvSpPr>
          <p:cNvPr id="1457" name="Google Shape;1457;p68"/>
          <p:cNvSpPr/>
          <p:nvPr/>
        </p:nvSpPr>
        <p:spPr>
          <a:xfrm>
            <a:off x="4905375" y="1885950"/>
            <a:ext cx="385762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050">
                <a:solidFill>
                  <a:srgbClr val="009F78"/>
                </a:solidFill>
                <a:latin typeface="Inter"/>
                <a:ea typeface="Inter"/>
                <a:cs typeface="Inter"/>
                <a:sym typeface="Inter"/>
              </a:rPr>
              <a:t>THE DESIGNATION DOES NOT TELL US WHY</a:t>
            </a:r>
            <a:endParaRPr/>
          </a:p>
        </p:txBody>
      </p:sp>
      <p:sp>
        <p:nvSpPr>
          <p:cNvPr id="1458" name="Google Shape;1458;p68"/>
          <p:cNvSpPr/>
          <p:nvPr/>
        </p:nvSpPr>
        <p:spPr>
          <a:xfrm>
            <a:off x="4905375" y="2228850"/>
            <a:ext cx="3857625" cy="1162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275">
                <a:solidFill>
                  <a:srgbClr val="475569"/>
                </a:solidFill>
                <a:latin typeface="Inter"/>
                <a:ea typeface="Inter"/>
                <a:cs typeface="Inter"/>
                <a:sym typeface="Inter"/>
              </a:rPr>
              <a:t>The designation alone does not explain district geography, IEP service costs, regional teacher salary differences, or programs communities have added to enrich education.</a:t>
            </a:r>
            <a:endParaRPr/>
          </a:p>
        </p:txBody>
      </p:sp>
      <p:sp>
        <p:nvSpPr>
          <p:cNvPr id="1459" name="Google Shape;1459;p68"/>
          <p:cNvSpPr/>
          <p:nvPr/>
        </p:nvSpPr>
        <p:spPr>
          <a:xfrm>
            <a:off x="4905338" y="3170075"/>
            <a:ext cx="3857700" cy="66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475">
                <a:solidFill>
                  <a:schemeClr val="dk1"/>
                </a:solidFill>
                <a:highlight>
                  <a:srgbClr val="FFFF00"/>
                </a:highlight>
                <a:latin typeface="Inter"/>
                <a:ea typeface="Inter"/>
                <a:cs typeface="Inter"/>
                <a:sym typeface="Inter"/>
              </a:rPr>
              <a:t>This p</a:t>
            </a:r>
            <a:r>
              <a:rPr b="1" lang="en" sz="1475">
                <a:solidFill>
                  <a:schemeClr val="dk1"/>
                </a:solidFill>
                <a:highlight>
                  <a:srgbClr val="FFFF00"/>
                </a:highlight>
                <a:latin typeface="Inter"/>
                <a:ea typeface="Inter"/>
                <a:cs typeface="Inter"/>
                <a:sym typeface="Inter"/>
              </a:rPr>
              <a:t>olicy pushes spending toward an average. Our schools, students and performance cannot be reduced to an average.</a:t>
            </a:r>
            <a:endParaRPr sz="1600">
              <a:solidFill>
                <a:schemeClr val="dk1"/>
              </a:solidFill>
              <a:highlight>
                <a:srgbClr val="FFFF00"/>
              </a:highlight>
            </a:endParaRPr>
          </a:p>
        </p:txBody>
      </p:sp>
      <p:sp>
        <p:nvSpPr>
          <p:cNvPr id="1460" name="Google Shape;1460;p68"/>
          <p:cNvSpPr/>
          <p:nvPr/>
        </p:nvSpPr>
        <p:spPr>
          <a:xfrm>
            <a:off x="381000" y="4238625"/>
            <a:ext cx="8382000" cy="238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125">
                <a:solidFill>
                  <a:srgbClr val="009F78"/>
                </a:solidFill>
                <a:latin typeface="Inter"/>
                <a:ea typeface="Inter"/>
                <a:cs typeface="Inter"/>
                <a:sym typeface="Inter"/>
              </a:rPr>
              <a:t>FY28: WE WILL PLAN UNDER CURRENT RULES. THE REVIEW MUST BEGIN NOW.</a:t>
            </a:r>
            <a:endParaRPr/>
          </a:p>
        </p:txBody>
      </p:sp>
      <p:sp>
        <p:nvSpPr>
          <p:cNvPr id="1461" name="Google Shape;1461;p68"/>
          <p:cNvSpPr/>
          <p:nvPr/>
        </p:nvSpPr>
        <p:spPr>
          <a:xfrm>
            <a:off x="381000" y="4572000"/>
            <a:ext cx="83820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275">
                <a:solidFill>
                  <a:srgbClr val="11182B"/>
                </a:solidFill>
                <a:latin typeface="Inter"/>
                <a:ea typeface="Inter"/>
                <a:cs typeface="Inter"/>
                <a:sym typeface="Inter"/>
              </a:rPr>
              <a:t>For future budgets, examine these differences before treating higher spending as inefficiency. Protect affordability and the educational opportunities our communities value.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65" name="Shape 1465"/>
        <p:cNvGrpSpPr/>
        <p:nvPr/>
      </p:nvGrpSpPr>
      <p:grpSpPr>
        <a:xfrm>
          <a:off x="0" y="0"/>
          <a:ext cx="0" cy="0"/>
          <a:chOff x="0" y="0"/>
          <a:chExt cx="0" cy="0"/>
        </a:xfrm>
      </p:grpSpPr>
      <p:grpSp>
        <p:nvGrpSpPr>
          <p:cNvPr id="1466" name="Google Shape;1466;p69"/>
          <p:cNvGrpSpPr/>
          <p:nvPr/>
        </p:nvGrpSpPr>
        <p:grpSpPr>
          <a:xfrm>
            <a:off x="-190500" y="-762000"/>
            <a:ext cx="9715500" cy="6096000"/>
            <a:chOff x="-190500" y="-762000"/>
            <a:chExt cx="9715500" cy="6096000"/>
          </a:xfrm>
        </p:grpSpPr>
        <p:sp>
          <p:nvSpPr>
            <p:cNvPr id="1467" name="Google Shape;1467;p69"/>
            <p:cNvSpPr/>
            <p:nvPr/>
          </p:nvSpPr>
          <p:spPr>
            <a:xfrm>
              <a:off x="6096000" y="-762000"/>
              <a:ext cx="3429000" cy="34290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8" name="Google Shape;1468;p69"/>
            <p:cNvSpPr/>
            <p:nvPr/>
          </p:nvSpPr>
          <p:spPr>
            <a:xfrm>
              <a:off x="-190500" y="2667000"/>
              <a:ext cx="2667000" cy="2667000"/>
            </a:xfrm>
            <a:prstGeom prst="ellipse">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469" name="Google Shape;1469;p69"/>
            <p:cNvPicPr preferRelativeResize="0"/>
            <p:nvPr/>
          </p:nvPicPr>
          <p:blipFill rotWithShape="1">
            <a:blip r:embed="rId4">
              <a:alphaModFix/>
            </a:blip>
            <a:srcRect b="0" l="0" r="0" t="0"/>
            <a:stretch/>
          </p:blipFill>
          <p:spPr>
            <a:xfrm>
              <a:off x="6829425" y="2847975"/>
              <a:ext cx="1581300" cy="590700"/>
            </a:xfrm>
            <a:prstGeom prst="rect">
              <a:avLst/>
            </a:prstGeom>
            <a:noFill/>
            <a:ln>
              <a:noFill/>
            </a:ln>
          </p:spPr>
        </p:pic>
        <p:sp>
          <p:nvSpPr>
            <p:cNvPr id="1470" name="Google Shape;1470;p69"/>
            <p:cNvSpPr/>
            <p:nvPr/>
          </p:nvSpPr>
          <p:spPr>
            <a:xfrm>
              <a:off x="7029450" y="1600200"/>
              <a:ext cx="228600" cy="228600"/>
            </a:xfrm>
            <a:prstGeom prst="ellipse">
              <a:avLst/>
            </a:prstGeom>
            <a:solidFill>
              <a:srgbClr val="2563EB">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1" name="Google Shape;1471;p69"/>
            <p:cNvSpPr/>
            <p:nvPr/>
          </p:nvSpPr>
          <p:spPr>
            <a:xfrm>
              <a:off x="8020050" y="2019300"/>
              <a:ext cx="152400" cy="152400"/>
            </a:xfrm>
            <a:prstGeom prst="ellipse">
              <a:avLst/>
            </a:prstGeom>
            <a:solidFill>
              <a:srgbClr val="95B721">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472" name="Google Shape;1472;p69"/>
          <p:cNvGrpSpPr/>
          <p:nvPr/>
        </p:nvGrpSpPr>
        <p:grpSpPr>
          <a:xfrm>
            <a:off x="5143500" y="857250"/>
            <a:ext cx="3571875" cy="2809725"/>
            <a:chOff x="0" y="0"/>
            <a:chExt cx="3571875" cy="2809725"/>
          </a:xfrm>
        </p:grpSpPr>
        <p:sp>
          <p:nvSpPr>
            <p:cNvPr id="1473" name="Google Shape;1473;p69"/>
            <p:cNvSpPr/>
            <p:nvPr/>
          </p:nvSpPr>
          <p:spPr>
            <a:xfrm>
              <a:off x="0" y="0"/>
              <a:ext cx="2857500" cy="2190900"/>
            </a:xfrm>
            <a:custGeom>
              <a:rect b="b" l="l" r="r" t="t"/>
              <a:pathLst>
                <a:path extrusionOk="0" h="120000" w="120000">
                  <a:moveTo>
                    <a:pt x="12000" y="93913"/>
                  </a:moveTo>
                  <a:cubicBezTo>
                    <a:pt x="4000" y="93913"/>
                    <a:pt x="0" y="83478"/>
                    <a:pt x="0" y="73043"/>
                  </a:cubicBezTo>
                  <a:lnTo>
                    <a:pt x="0" y="26087"/>
                  </a:lnTo>
                  <a:cubicBezTo>
                    <a:pt x="0" y="10435"/>
                    <a:pt x="8000" y="0"/>
                    <a:pt x="20000" y="0"/>
                  </a:cubicBezTo>
                  <a:lnTo>
                    <a:pt x="100000" y="0"/>
                  </a:lnTo>
                  <a:cubicBezTo>
                    <a:pt x="112000" y="0"/>
                    <a:pt x="120000" y="10435"/>
                    <a:pt x="120000" y="26087"/>
                  </a:cubicBezTo>
                  <a:lnTo>
                    <a:pt x="120000" y="73043"/>
                  </a:lnTo>
                  <a:cubicBezTo>
                    <a:pt x="120000" y="83478"/>
                    <a:pt x="112000" y="93913"/>
                    <a:pt x="100000" y="93913"/>
                  </a:cubicBezTo>
                  <a:lnTo>
                    <a:pt x="48000" y="93913"/>
                  </a:lnTo>
                  <a:lnTo>
                    <a:pt x="28000" y="120000"/>
                  </a:lnTo>
                  <a:lnTo>
                    <a:pt x="32000" y="93913"/>
                  </a:lnTo>
                  <a:close/>
                </a:path>
              </a:pathLst>
            </a:cu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4" name="Google Shape;1474;p69"/>
            <p:cNvSpPr/>
            <p:nvPr/>
          </p:nvSpPr>
          <p:spPr>
            <a:xfrm>
              <a:off x="1666875" y="1190625"/>
              <a:ext cx="1905000" cy="1619100"/>
            </a:xfrm>
            <a:custGeom>
              <a:rect b="b" l="l" r="r" t="t"/>
              <a:pathLst>
                <a:path extrusionOk="0" h="120000" w="120000">
                  <a:moveTo>
                    <a:pt x="15000" y="95294"/>
                  </a:moveTo>
                  <a:cubicBezTo>
                    <a:pt x="6000" y="95294"/>
                    <a:pt x="0" y="84706"/>
                    <a:pt x="0" y="74118"/>
                  </a:cubicBezTo>
                  <a:lnTo>
                    <a:pt x="0" y="24706"/>
                  </a:lnTo>
                  <a:cubicBezTo>
                    <a:pt x="0" y="10588"/>
                    <a:pt x="9000" y="0"/>
                    <a:pt x="21000" y="0"/>
                  </a:cubicBezTo>
                  <a:lnTo>
                    <a:pt x="99000" y="0"/>
                  </a:lnTo>
                  <a:cubicBezTo>
                    <a:pt x="111000" y="0"/>
                    <a:pt x="120000" y="10588"/>
                    <a:pt x="120000" y="24706"/>
                  </a:cubicBezTo>
                  <a:lnTo>
                    <a:pt x="120000" y="74118"/>
                  </a:lnTo>
                  <a:cubicBezTo>
                    <a:pt x="120000" y="84706"/>
                    <a:pt x="111000" y="95294"/>
                    <a:pt x="99000" y="95294"/>
                  </a:cubicBezTo>
                  <a:lnTo>
                    <a:pt x="63000" y="95294"/>
                  </a:lnTo>
                  <a:lnTo>
                    <a:pt x="39000" y="120000"/>
                  </a:lnTo>
                  <a:lnTo>
                    <a:pt x="45000" y="95294"/>
                  </a:lnTo>
                  <a:close/>
                </a:path>
              </a:pathLst>
            </a:custGeom>
            <a:solidFill>
              <a:srgbClr val="95B72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5" name="Google Shape;1475;p69"/>
            <p:cNvSpPr txBox="1"/>
            <p:nvPr/>
          </p:nvSpPr>
          <p:spPr>
            <a:xfrm>
              <a:off x="381000" y="238125"/>
              <a:ext cx="2095500" cy="1238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200">
                  <a:solidFill>
                    <a:srgbClr val="FFFFFF"/>
                  </a:solidFill>
                  <a:latin typeface="Poppins Black"/>
                  <a:ea typeface="Poppins Black"/>
                  <a:cs typeface="Poppins Black"/>
                  <a:sym typeface="Poppins Black"/>
                </a:rPr>
                <a:t>?</a:t>
              </a:r>
              <a:endParaRPr b="0" sz="7200">
                <a:solidFill>
                  <a:srgbClr val="FFFFFF"/>
                </a:solidFill>
                <a:latin typeface="Poppins Black"/>
                <a:ea typeface="Poppins Black"/>
                <a:cs typeface="Poppins Black"/>
                <a:sym typeface="Poppins Black"/>
              </a:endParaRPr>
            </a:p>
          </p:txBody>
        </p:sp>
        <p:sp>
          <p:nvSpPr>
            <p:cNvPr id="1476" name="Google Shape;1476;p69"/>
            <p:cNvSpPr txBox="1"/>
            <p:nvPr/>
          </p:nvSpPr>
          <p:spPr>
            <a:xfrm>
              <a:off x="2000250" y="1333500"/>
              <a:ext cx="12384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4800">
                  <a:solidFill>
                    <a:srgbClr val="1B3859"/>
                  </a:solidFill>
                  <a:latin typeface="Poppins Black"/>
                  <a:ea typeface="Poppins Black"/>
                  <a:cs typeface="Poppins Black"/>
                  <a:sym typeface="Poppins Black"/>
                </a:rPr>
                <a:t>?</a:t>
              </a:r>
              <a:endParaRPr b="0" sz="4800">
                <a:solidFill>
                  <a:srgbClr val="1B3859"/>
                </a:solidFill>
                <a:latin typeface="Poppins Black"/>
                <a:ea typeface="Poppins Black"/>
                <a:cs typeface="Poppins Black"/>
                <a:sym typeface="Poppins Black"/>
              </a:endParaRPr>
            </a:p>
          </p:txBody>
        </p:sp>
      </p:grpSp>
      <p:grpSp>
        <p:nvGrpSpPr>
          <p:cNvPr id="1477" name="Google Shape;1477;p69"/>
          <p:cNvGrpSpPr/>
          <p:nvPr/>
        </p:nvGrpSpPr>
        <p:grpSpPr>
          <a:xfrm>
            <a:off x="630350" y="1461675"/>
            <a:ext cx="4381500" cy="1771650"/>
            <a:chOff x="0" y="419100"/>
            <a:chExt cx="4381500" cy="1771650"/>
          </a:xfrm>
        </p:grpSpPr>
        <p:sp>
          <p:nvSpPr>
            <p:cNvPr id="1478" name="Google Shape;1478;p69"/>
            <p:cNvSpPr txBox="1"/>
            <p:nvPr/>
          </p:nvSpPr>
          <p:spPr>
            <a:xfrm>
              <a:off x="0" y="419100"/>
              <a:ext cx="43815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3250">
                  <a:solidFill>
                    <a:srgbClr val="1B3859"/>
                  </a:solidFill>
                  <a:latin typeface="Poppins Black"/>
                  <a:ea typeface="Poppins Black"/>
                  <a:cs typeface="Poppins Black"/>
                  <a:sym typeface="Poppins Black"/>
                </a:rPr>
                <a:t>Questions </a:t>
              </a:r>
              <a:endParaRPr b="0" sz="3250">
                <a:solidFill>
                  <a:srgbClr val="95B721"/>
                </a:solidFill>
                <a:latin typeface="Poppins Black"/>
                <a:ea typeface="Poppins Black"/>
                <a:cs typeface="Poppins Black"/>
                <a:sym typeface="Poppins Black"/>
              </a:endParaRPr>
            </a:p>
          </p:txBody>
        </p:sp>
        <p:sp>
          <p:nvSpPr>
            <p:cNvPr id="1479" name="Google Shape;1479;p69"/>
            <p:cNvSpPr txBox="1"/>
            <p:nvPr/>
          </p:nvSpPr>
          <p:spPr>
            <a:xfrm>
              <a:off x="0" y="1619250"/>
              <a:ext cx="4000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475569"/>
                  </a:solidFill>
                  <a:latin typeface="Inter Medium"/>
                  <a:ea typeface="Inter Medium"/>
                  <a:cs typeface="Inter Medium"/>
                  <a:sym typeface="Inter Medium"/>
                </a:rPr>
                <a:t>We welcome your feedback, thoughts, and community questions regarding the district plans.</a:t>
              </a:r>
              <a:endParaRPr b="0" sz="1200">
                <a:solidFill>
                  <a:srgbClr val="475569"/>
                </a:solidFill>
                <a:latin typeface="Inter Medium"/>
                <a:ea typeface="Inter Medium"/>
                <a:cs typeface="Inter Medium"/>
                <a:sym typeface="Inter Medium"/>
              </a:endParaRPr>
            </a:p>
          </p:txBody>
        </p:sp>
      </p:grpSp>
      <p:grpSp>
        <p:nvGrpSpPr>
          <p:cNvPr id="1480" name="Google Shape;1480;p69"/>
          <p:cNvGrpSpPr/>
          <p:nvPr/>
        </p:nvGrpSpPr>
        <p:grpSpPr>
          <a:xfrm>
            <a:off x="609600" y="3048000"/>
            <a:ext cx="4343400" cy="1047900"/>
            <a:chOff x="0" y="0"/>
            <a:chExt cx="4343400" cy="1047900"/>
          </a:xfrm>
        </p:grpSpPr>
        <p:sp>
          <p:nvSpPr>
            <p:cNvPr id="1481" name="Google Shape;1481;p69"/>
            <p:cNvSpPr/>
            <p:nvPr/>
          </p:nvSpPr>
          <p:spPr>
            <a:xfrm>
              <a:off x="0" y="0"/>
              <a:ext cx="2095500" cy="10479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2" name="Google Shape;1482;p69"/>
            <p:cNvSpPr txBox="1"/>
            <p:nvPr/>
          </p:nvSpPr>
          <p:spPr>
            <a:xfrm>
              <a:off x="190500" y="152400"/>
              <a:ext cx="1714500" cy="743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1800">
                <a:solidFill>
                  <a:srgbClr val="2563EB"/>
                </a:solidFill>
                <a:latin typeface="Inter"/>
                <a:ea typeface="Inter"/>
                <a:cs typeface="Inter"/>
                <a:sym typeface="Inter"/>
              </a:endParaRPr>
            </a:p>
            <a:p>
              <a:pPr indent="0" lvl="0" marL="0" rtl="0" algn="l">
                <a:spcBef>
                  <a:spcPts val="300"/>
                </a:spcBef>
                <a:spcAft>
                  <a:spcPts val="0"/>
                </a:spcAft>
                <a:buNone/>
              </a:pPr>
              <a:r>
                <a:rPr b="1" lang="en" sz="1100">
                  <a:solidFill>
                    <a:srgbClr val="0F172A"/>
                  </a:solidFill>
                  <a:latin typeface="Inter"/>
                  <a:ea typeface="Inter"/>
                  <a:cs typeface="Inter"/>
                  <a:sym typeface="Inter"/>
                </a:rPr>
                <a:t>HUUSD Board</a:t>
              </a:r>
              <a:endParaRPr b="1" sz="1100">
                <a:solidFill>
                  <a:srgbClr val="0F172A"/>
                </a:solidFill>
                <a:latin typeface="Inter"/>
                <a:ea typeface="Inter"/>
                <a:cs typeface="Inter"/>
                <a:sym typeface="Inter"/>
              </a:endParaRPr>
            </a:p>
            <a:p>
              <a:pPr indent="0" lvl="0" marL="0" rtl="0" algn="l">
                <a:spcBef>
                  <a:spcPts val="150"/>
                </a:spcBef>
                <a:spcAft>
                  <a:spcPts val="0"/>
                </a:spcAft>
                <a:buNone/>
              </a:pPr>
              <a:r>
                <a:rPr lang="en" sz="900">
                  <a:solidFill>
                    <a:srgbClr val="64748B"/>
                  </a:solidFill>
                  <a:latin typeface="Inter"/>
                  <a:ea typeface="Inter"/>
                  <a:cs typeface="Inter"/>
                  <a:sym typeface="Inter"/>
                </a:rPr>
                <a:t>huusd.org/board</a:t>
              </a:r>
              <a:endParaRPr sz="900">
                <a:solidFill>
                  <a:srgbClr val="64748B"/>
                </a:solidFill>
                <a:latin typeface="Inter"/>
                <a:ea typeface="Inter"/>
                <a:cs typeface="Inter"/>
                <a:sym typeface="Inter"/>
              </a:endParaRPr>
            </a:p>
          </p:txBody>
        </p:sp>
        <p:sp>
          <p:nvSpPr>
            <p:cNvPr id="1483" name="Google Shape;1483;p69"/>
            <p:cNvSpPr/>
            <p:nvPr/>
          </p:nvSpPr>
          <p:spPr>
            <a:xfrm>
              <a:off x="2247900" y="0"/>
              <a:ext cx="2095500" cy="10479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4" name="Google Shape;1484;p69"/>
            <p:cNvSpPr txBox="1"/>
            <p:nvPr/>
          </p:nvSpPr>
          <p:spPr>
            <a:xfrm>
              <a:off x="2438400" y="152400"/>
              <a:ext cx="1714500" cy="743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1800">
                <a:solidFill>
                  <a:srgbClr val="95B721"/>
                </a:solidFill>
                <a:latin typeface="Inter"/>
                <a:ea typeface="Inter"/>
                <a:cs typeface="Inter"/>
                <a:sym typeface="Inter"/>
              </a:endParaRPr>
            </a:p>
            <a:p>
              <a:pPr indent="0" lvl="0" marL="0" rtl="0" algn="l">
                <a:spcBef>
                  <a:spcPts val="300"/>
                </a:spcBef>
                <a:spcAft>
                  <a:spcPts val="0"/>
                </a:spcAft>
                <a:buNone/>
              </a:pPr>
              <a:r>
                <a:rPr b="1" lang="en" sz="1100">
                  <a:solidFill>
                    <a:srgbClr val="0F172A"/>
                  </a:solidFill>
                  <a:latin typeface="Inter"/>
                  <a:ea typeface="Inter"/>
                  <a:cs typeface="Inter"/>
                  <a:sym typeface="Inter"/>
                </a:rPr>
                <a:t>Public Input</a:t>
              </a:r>
              <a:endParaRPr b="1" sz="1100">
                <a:solidFill>
                  <a:srgbClr val="0F172A"/>
                </a:solidFill>
                <a:latin typeface="Inter"/>
                <a:ea typeface="Inter"/>
                <a:cs typeface="Inter"/>
                <a:sym typeface="Inter"/>
              </a:endParaRPr>
            </a:p>
            <a:p>
              <a:pPr indent="0" lvl="0" marL="0" rtl="0" algn="l">
                <a:spcBef>
                  <a:spcPts val="150"/>
                </a:spcBef>
                <a:spcAft>
                  <a:spcPts val="0"/>
                </a:spcAft>
                <a:buNone/>
              </a:pPr>
              <a:r>
                <a:rPr lang="en" sz="900">
                  <a:solidFill>
                    <a:srgbClr val="64748B"/>
                  </a:solidFill>
                  <a:latin typeface="Inter"/>
                  <a:ea typeface="Inter"/>
                  <a:cs typeface="Inter"/>
                  <a:sym typeface="Inter"/>
                </a:rPr>
                <a:t>Comments &amp; Inquiries</a:t>
              </a:r>
              <a:endParaRPr sz="900">
                <a:solidFill>
                  <a:srgbClr val="64748B"/>
                </a:solidFill>
                <a:latin typeface="Inter"/>
                <a:ea typeface="Inter"/>
                <a:cs typeface="Inter"/>
                <a:sym typeface="Inter"/>
              </a:endParaRPr>
            </a:p>
          </p:txBody>
        </p:sp>
      </p:grpSp>
      <p:sp>
        <p:nvSpPr>
          <p:cNvPr id="1485" name="Google Shape;1485;p69"/>
          <p:cNvSpPr/>
          <p:nvPr/>
        </p:nvSpPr>
        <p:spPr>
          <a:xfrm>
            <a:off x="0" y="4686300"/>
            <a:ext cx="9144000" cy="457200"/>
          </a:xfrm>
          <a:prstGeom prst="rect">
            <a:avLst/>
          </a:prstGeom>
          <a:solidFill>
            <a:srgbClr val="1B385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6" name="Google Shape;1486;p69"/>
          <p:cNvSpPr txBox="1"/>
          <p:nvPr/>
        </p:nvSpPr>
        <p:spPr>
          <a:xfrm>
            <a:off x="609600" y="4762500"/>
            <a:ext cx="4762500" cy="304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rgbClr val="FFFFFF"/>
                </a:solidFill>
                <a:latin typeface="Poppins"/>
                <a:ea typeface="Poppins"/>
                <a:cs typeface="Poppins"/>
                <a:sym typeface="Poppins"/>
              </a:rPr>
              <a:t>HARWOOD UNIFIED UNION </a:t>
            </a:r>
            <a:r>
              <a:rPr b="0" lang="en" sz="1000">
                <a:solidFill>
                  <a:srgbClr val="95B721"/>
                </a:solidFill>
                <a:latin typeface="Poppins"/>
                <a:ea typeface="Poppins"/>
                <a:cs typeface="Poppins"/>
                <a:sym typeface="Poppins"/>
              </a:rPr>
              <a:t>SCHOOL DISTRICT</a:t>
            </a:r>
            <a:endParaRPr b="1" sz="1000">
              <a:solidFill>
                <a:srgbClr val="FFFFFF"/>
              </a:solidFill>
              <a:latin typeface="Poppins"/>
              <a:ea typeface="Poppins"/>
              <a:cs typeface="Poppins"/>
              <a:sym typeface="Poppins"/>
            </a:endParaRPr>
          </a:p>
        </p:txBody>
      </p:sp>
      <p:pic>
        <p:nvPicPr>
          <p:cNvPr id="1487" name="Google Shape;1487;p69"/>
          <p:cNvPicPr preferRelativeResize="0"/>
          <p:nvPr/>
        </p:nvPicPr>
        <p:blipFill rotWithShape="1">
          <a:blip r:embed="rId5">
            <a:alphaModFix/>
          </a:blip>
          <a:srcRect b="0" l="0" r="0" t="0"/>
          <a:stretch/>
        </p:blipFill>
        <p:spPr>
          <a:xfrm>
            <a:off x="2866199" y="110624"/>
            <a:ext cx="2049078" cy="213430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91" name="Shape 1491"/>
        <p:cNvGrpSpPr/>
        <p:nvPr/>
      </p:nvGrpSpPr>
      <p:grpSpPr>
        <a:xfrm>
          <a:off x="0" y="0"/>
          <a:ext cx="0" cy="0"/>
          <a:chOff x="0" y="0"/>
          <a:chExt cx="0" cy="0"/>
        </a:xfrm>
      </p:grpSpPr>
      <p:sp>
        <p:nvSpPr>
          <p:cNvPr id="1492" name="Google Shape;1492;p70"/>
          <p:cNvSpPr txBox="1"/>
          <p:nvPr/>
        </p:nvSpPr>
        <p:spPr>
          <a:xfrm>
            <a:off x="457200" y="266700"/>
            <a:ext cx="8229600" cy="61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736">
                <a:solidFill>
                  <a:srgbClr val="0D9488"/>
                </a:solidFill>
                <a:latin typeface="Inter"/>
                <a:ea typeface="Inter"/>
                <a:cs typeface="Inter"/>
                <a:sym typeface="Inter"/>
              </a:rPr>
              <a:t>PROGRAMMATIC ANALYSIS &amp; CURRICULUM</a:t>
            </a:r>
            <a:endParaRPr b="1" sz="736">
              <a:solidFill>
                <a:srgbClr val="0D9488"/>
              </a:solidFill>
              <a:latin typeface="Inter"/>
              <a:ea typeface="Inter"/>
              <a:cs typeface="Inter"/>
              <a:sym typeface="Inter"/>
            </a:endParaRPr>
          </a:p>
          <a:p>
            <a:pPr indent="0" lvl="0" marL="0" rtl="0" algn="l">
              <a:spcBef>
                <a:spcPts val="300"/>
              </a:spcBef>
              <a:spcAft>
                <a:spcPts val="0"/>
              </a:spcAft>
              <a:buNone/>
            </a:pPr>
            <a:r>
              <a:rPr b="0" lang="en" sz="1705">
                <a:solidFill>
                  <a:srgbClr val="0F172A"/>
                </a:solidFill>
                <a:latin typeface="Inter ExtraBold"/>
                <a:ea typeface="Inter ExtraBold"/>
                <a:cs typeface="Inter ExtraBold"/>
                <a:sym typeface="Inter ExtraBold"/>
              </a:rPr>
              <a:t>Education Benefits of Consolidation</a:t>
            </a:r>
            <a:endParaRPr b="0" sz="1705">
              <a:solidFill>
                <a:srgbClr val="0F172A"/>
              </a:solidFill>
              <a:latin typeface="Inter ExtraBold"/>
              <a:ea typeface="Inter ExtraBold"/>
              <a:cs typeface="Inter ExtraBold"/>
              <a:sym typeface="Inter ExtraBold"/>
            </a:endParaRPr>
          </a:p>
          <a:p>
            <a:pPr indent="0" lvl="0" marL="0" rtl="0" algn="l">
              <a:spcBef>
                <a:spcPts val="300"/>
              </a:spcBef>
              <a:spcAft>
                <a:spcPts val="0"/>
              </a:spcAft>
              <a:buNone/>
            </a:pPr>
            <a:r>
              <a:rPr b="0" lang="en" sz="814">
                <a:solidFill>
                  <a:srgbClr val="64748B"/>
                </a:solidFill>
                <a:latin typeface="Inter Medium"/>
                <a:ea typeface="Inter Medium"/>
                <a:cs typeface="Inter Medium"/>
                <a:sym typeface="Inter Medium"/>
              </a:rPr>
              <a:t>Benefits of consolidation and economy of scale preserve quality programming across all district schools.</a:t>
            </a:r>
            <a:endParaRPr b="0" sz="814">
              <a:solidFill>
                <a:srgbClr val="64748B"/>
              </a:solidFill>
              <a:latin typeface="Inter Medium"/>
              <a:ea typeface="Inter Medium"/>
              <a:cs typeface="Inter Medium"/>
              <a:sym typeface="Inter Medium"/>
            </a:endParaRPr>
          </a:p>
        </p:txBody>
      </p:sp>
      <p:grpSp>
        <p:nvGrpSpPr>
          <p:cNvPr id="1493" name="Google Shape;1493;p70"/>
          <p:cNvGrpSpPr/>
          <p:nvPr/>
        </p:nvGrpSpPr>
        <p:grpSpPr>
          <a:xfrm>
            <a:off x="457200" y="1047750"/>
            <a:ext cx="2400300" cy="3714900"/>
            <a:chOff x="0" y="0"/>
            <a:chExt cx="2400300" cy="3714900"/>
          </a:xfrm>
        </p:grpSpPr>
        <p:sp>
          <p:nvSpPr>
            <p:cNvPr id="1494" name="Google Shape;1494;p70"/>
            <p:cNvSpPr/>
            <p:nvPr/>
          </p:nvSpPr>
          <p:spPr>
            <a:xfrm>
              <a:off x="0" y="0"/>
              <a:ext cx="2400300" cy="3714900"/>
            </a:xfrm>
            <a:prstGeom prst="roundRect">
              <a:avLst>
                <a:gd fmla="val 5555"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5" name="Google Shape;1495;p70"/>
            <p:cNvSpPr/>
            <p:nvPr/>
          </p:nvSpPr>
          <p:spPr>
            <a:xfrm>
              <a:off x="0" y="0"/>
              <a:ext cx="2400300" cy="573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6" name="Google Shape;1496;p70"/>
            <p:cNvSpPr/>
            <p:nvPr/>
          </p:nvSpPr>
          <p:spPr>
            <a:xfrm>
              <a:off x="152400" y="190500"/>
              <a:ext cx="342900" cy="342900"/>
            </a:xfrm>
            <a:prstGeom prst="ellipse">
              <a:avLst/>
            </a:prstGeom>
            <a:solidFill>
              <a:srgbClr val="CCFB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7" name="Google Shape;1497;p70"/>
            <p:cNvSpPr txBox="1"/>
            <p:nvPr/>
          </p:nvSpPr>
          <p:spPr>
            <a:xfrm>
              <a:off x="152400" y="2167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800">
                  <a:solidFill>
                    <a:srgbClr val="0D9488"/>
                  </a:solidFill>
                  <a:latin typeface="Material Icons"/>
                  <a:ea typeface="Material Icons"/>
                  <a:cs typeface="Material Icons"/>
                  <a:sym typeface="Material Icons"/>
                </a:rPr>
                <a:t>music_note</a:t>
              </a:r>
              <a:endParaRPr b="0" sz="1800">
                <a:solidFill>
                  <a:srgbClr val="0D9488"/>
                </a:solidFill>
                <a:latin typeface="Material Icons"/>
                <a:ea typeface="Material Icons"/>
                <a:cs typeface="Material Icons"/>
                <a:sym typeface="Material Icons"/>
              </a:endParaRPr>
            </a:p>
          </p:txBody>
        </p:sp>
        <p:sp>
          <p:nvSpPr>
            <p:cNvPr id="1498" name="Google Shape;1498;p70"/>
            <p:cNvSpPr txBox="1"/>
            <p:nvPr/>
          </p:nvSpPr>
          <p:spPr>
            <a:xfrm>
              <a:off x="152400" y="628650"/>
              <a:ext cx="2095500" cy="293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F172A"/>
                  </a:solidFill>
                  <a:latin typeface="Inter"/>
                  <a:ea typeface="Inter"/>
                  <a:cs typeface="Inter"/>
                  <a:sym typeface="Inter"/>
                </a:rPr>
                <a:t>Programming</a:t>
              </a:r>
              <a:endParaRPr b="1" sz="1200">
                <a:solidFill>
                  <a:srgbClr val="0F172A"/>
                </a:solidFill>
                <a:latin typeface="Inter"/>
                <a:ea typeface="Inter"/>
                <a:cs typeface="Inter"/>
                <a:sym typeface="Inter"/>
              </a:endParaRPr>
            </a:p>
            <a:p>
              <a:pPr indent="0" lvl="0" marL="0" rtl="0" algn="l">
                <a:spcBef>
                  <a:spcPts val="200"/>
                </a:spcBef>
                <a:spcAft>
                  <a:spcPts val="0"/>
                </a:spcAft>
                <a:buNone/>
              </a:pPr>
              <a:r>
                <a:rPr b="0" lang="en" sz="850">
                  <a:solidFill>
                    <a:srgbClr val="0D9488"/>
                  </a:solidFill>
                  <a:latin typeface="Inter SemiBold"/>
                  <a:ea typeface="Inter SemiBold"/>
                  <a:cs typeface="Inter SemiBold"/>
                  <a:sym typeface="Inter SemiBold"/>
                </a:rPr>
                <a:t>Economy of Scale</a:t>
              </a:r>
              <a:endParaRPr b="0" sz="850">
                <a:solidFill>
                  <a:srgbClr val="0D9488"/>
                </a:solidFill>
                <a:latin typeface="Inter SemiBold"/>
                <a:ea typeface="Inter SemiBold"/>
                <a:cs typeface="Inter SemiBold"/>
                <a:sym typeface="Inter SemiBold"/>
              </a:endParaRPr>
            </a:p>
            <a:p>
              <a:pPr indent="0" lvl="0" marL="0" rtl="0" algn="l">
                <a:spcBef>
                  <a:spcPts val="1400"/>
                </a:spcBef>
                <a:spcAft>
                  <a:spcPts val="0"/>
                </a:spcAft>
                <a:buNone/>
              </a:pPr>
              <a:r>
                <a:rPr b="1" lang="en" sz="750">
                  <a:solidFill>
                    <a:srgbClr val="64748B"/>
                  </a:solidFill>
                  <a:highlight>
                    <a:srgbClr val="F8FAFC"/>
                  </a:highlight>
                  <a:latin typeface="Inter"/>
                  <a:ea typeface="Inter"/>
                  <a:cs typeface="Inter"/>
                  <a:sym typeface="Inter"/>
                </a:rPr>
                <a:t>CORE OBJECTIVE</a:t>
              </a:r>
              <a:endParaRPr b="1" sz="750">
                <a:solidFill>
                  <a:srgbClr val="64748B"/>
                </a:solidFill>
                <a:highlight>
                  <a:srgbClr val="F8FAFC"/>
                </a:highlight>
                <a:latin typeface="Inter"/>
                <a:ea typeface="Inter"/>
                <a:cs typeface="Inter"/>
                <a:sym typeface="Inter"/>
              </a:endParaRPr>
            </a:p>
            <a:p>
              <a:pPr indent="0" lvl="0" marL="0" rtl="0" algn="l">
                <a:spcBef>
                  <a:spcPts val="400"/>
                </a:spcBef>
                <a:spcAft>
                  <a:spcPts val="0"/>
                </a:spcAft>
                <a:buNone/>
              </a:pPr>
              <a:r>
                <a:rPr b="0" lang="en" sz="950">
                  <a:solidFill>
                    <a:srgbClr val="334155"/>
                  </a:solidFill>
                  <a:highlight>
                    <a:srgbClr val="F8FAFC"/>
                  </a:highlight>
                  <a:latin typeface="Inter Medium"/>
                  <a:ea typeface="Inter Medium"/>
                  <a:cs typeface="Inter Medium"/>
                  <a:sym typeface="Inter Medium"/>
                </a:rPr>
                <a:t>We will not continue to diminish programming across district facilities.</a:t>
              </a:r>
              <a:endParaRPr b="0" sz="950">
                <a:solidFill>
                  <a:srgbClr val="334155"/>
                </a:solidFill>
                <a:highlight>
                  <a:srgbClr val="F8FAFC"/>
                </a:highlight>
                <a:latin typeface="Inter Medium"/>
                <a:ea typeface="Inter Medium"/>
                <a:cs typeface="Inter Medium"/>
                <a:sym typeface="Inter Medium"/>
              </a:endParaRPr>
            </a:p>
            <a:p>
              <a:pPr indent="0" lvl="0" marL="0" rtl="0" algn="l">
                <a:spcBef>
                  <a:spcPts val="1400"/>
                </a:spcBef>
                <a:spcAft>
                  <a:spcPts val="0"/>
                </a:spcAft>
                <a:buNone/>
              </a:pPr>
              <a:r>
                <a:rPr b="1" lang="en" sz="800">
                  <a:solidFill>
                    <a:srgbClr val="0F766E"/>
                  </a:solidFill>
                  <a:latin typeface="Inter"/>
                  <a:ea typeface="Inter"/>
                  <a:cs typeface="Inter"/>
                  <a:sym typeface="Inter"/>
                </a:rPr>
                <a:t>KEY ADVANTAGES</a:t>
              </a:r>
              <a:endParaRPr b="1" sz="800">
                <a:solidFill>
                  <a:srgbClr val="0F766E"/>
                </a:solidFill>
                <a:latin typeface="Inter"/>
                <a:ea typeface="Inter"/>
                <a:cs typeface="Inter"/>
                <a:sym typeface="Inter"/>
              </a:endParaRPr>
            </a:p>
            <a:p>
              <a:pPr indent="-282575" lvl="0" marL="457200" rtl="0" algn="l">
                <a:spcBef>
                  <a:spcPts val="600"/>
                </a:spcBef>
                <a:spcAft>
                  <a:spcPts val="0"/>
                </a:spcAft>
                <a:buClr>
                  <a:srgbClr val="334155"/>
                </a:buClr>
                <a:buSzPts val="850"/>
                <a:buFont typeface="Inter"/>
                <a:buChar char="●"/>
              </a:pPr>
              <a:r>
                <a:rPr b="0" lang="en" sz="850">
                  <a:solidFill>
                    <a:srgbClr val="334155"/>
                  </a:solidFill>
                  <a:latin typeface="Inter Medium"/>
                  <a:ea typeface="Inter Medium"/>
                  <a:cs typeface="Inter Medium"/>
                  <a:sym typeface="Inter Medium"/>
                </a:rPr>
                <a:t>Consolidated staffing maximizes specialized FTE instruction.</a:t>
              </a:r>
              <a:endParaRPr b="0" sz="850">
                <a:solidFill>
                  <a:srgbClr val="334155"/>
                </a:solidFill>
                <a:latin typeface="Inter Medium"/>
                <a:ea typeface="Inter Medium"/>
                <a:cs typeface="Inter Medium"/>
                <a:sym typeface="Inter Medium"/>
              </a:endParaRPr>
            </a:p>
            <a:p>
              <a:pPr indent="-282575" lvl="0" marL="457200" rtl="0" algn="l">
                <a:spcBef>
                  <a:spcPts val="600"/>
                </a:spcBef>
                <a:spcAft>
                  <a:spcPts val="0"/>
                </a:spcAft>
                <a:buClr>
                  <a:srgbClr val="334155"/>
                </a:buClr>
                <a:buSzPts val="850"/>
                <a:buFont typeface="Inter"/>
                <a:buChar char="●"/>
              </a:pPr>
              <a:r>
                <a:rPr b="0" lang="en" sz="850">
                  <a:solidFill>
                    <a:srgbClr val="334155"/>
                  </a:solidFill>
                  <a:latin typeface="Inter Medium"/>
                  <a:ea typeface="Inter Medium"/>
                  <a:cs typeface="Inter Medium"/>
                  <a:sym typeface="Inter Medium"/>
                </a:rPr>
                <a:t>Dedicated music spaces replace shared multi-purpose rooms.</a:t>
              </a:r>
              <a:endParaRPr b="0" sz="850">
                <a:solidFill>
                  <a:srgbClr val="334155"/>
                </a:solidFill>
                <a:latin typeface="Inter Medium"/>
                <a:ea typeface="Inter Medium"/>
                <a:cs typeface="Inter Medium"/>
                <a:sym typeface="Inter Medium"/>
              </a:endParaRPr>
            </a:p>
            <a:p>
              <a:pPr indent="-282575" lvl="0" marL="457200" rtl="0" algn="l">
                <a:spcBef>
                  <a:spcPts val="600"/>
                </a:spcBef>
                <a:spcAft>
                  <a:spcPts val="0"/>
                </a:spcAft>
                <a:buClr>
                  <a:srgbClr val="334155"/>
                </a:buClr>
                <a:buSzPts val="850"/>
                <a:buFont typeface="Inter"/>
                <a:buChar char="●"/>
              </a:pPr>
              <a:r>
                <a:rPr b="0" lang="en" sz="850">
                  <a:solidFill>
                    <a:srgbClr val="334155"/>
                  </a:solidFill>
                  <a:latin typeface="Inter Medium"/>
                  <a:ea typeface="Inter Medium"/>
                  <a:cs typeface="Inter Medium"/>
                  <a:sym typeface="Inter Medium"/>
                </a:rPr>
                <a:t>Consistent weekly music, band, and choral scheduling.</a:t>
              </a:r>
              <a:endParaRPr b="0" sz="850">
                <a:solidFill>
                  <a:srgbClr val="334155"/>
                </a:solidFill>
                <a:latin typeface="Inter Medium"/>
                <a:ea typeface="Inter Medium"/>
                <a:cs typeface="Inter Medium"/>
                <a:sym typeface="Inter Medium"/>
              </a:endParaRPr>
            </a:p>
          </p:txBody>
        </p:sp>
      </p:grpSp>
      <p:grpSp>
        <p:nvGrpSpPr>
          <p:cNvPr id="1499" name="Google Shape;1499;p70"/>
          <p:cNvGrpSpPr/>
          <p:nvPr/>
        </p:nvGrpSpPr>
        <p:grpSpPr>
          <a:xfrm>
            <a:off x="3009900" y="1047750"/>
            <a:ext cx="5676900" cy="3714900"/>
            <a:chOff x="0" y="0"/>
            <a:chExt cx="5676900" cy="3714900"/>
          </a:xfrm>
        </p:grpSpPr>
        <p:sp>
          <p:nvSpPr>
            <p:cNvPr id="1500" name="Google Shape;1500;p70"/>
            <p:cNvSpPr/>
            <p:nvPr/>
          </p:nvSpPr>
          <p:spPr>
            <a:xfrm>
              <a:off x="0" y="0"/>
              <a:ext cx="5676900" cy="3714900"/>
            </a:xfrm>
            <a:prstGeom prst="roundRect">
              <a:avLst>
                <a:gd fmla="val 358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1" name="Google Shape;1501;p70"/>
            <p:cNvSpPr/>
            <p:nvPr/>
          </p:nvSpPr>
          <p:spPr>
            <a:xfrm>
              <a:off x="0" y="0"/>
              <a:ext cx="56769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2" name="Google Shape;1502;p70"/>
            <p:cNvSpPr txBox="1"/>
            <p:nvPr/>
          </p:nvSpPr>
          <p:spPr>
            <a:xfrm>
              <a:off x="190500" y="171450"/>
              <a:ext cx="52959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50">
                  <a:solidFill>
                    <a:srgbClr val="2563EB"/>
                  </a:solidFill>
                  <a:latin typeface="Inter"/>
                  <a:ea typeface="Inter"/>
                  <a:cs typeface="Inter"/>
                  <a:sym typeface="Inter"/>
                </a:rPr>
                <a:t>DISTRICT ALLOCATION MATRIX</a:t>
              </a:r>
              <a:endParaRPr b="1" sz="750">
                <a:solidFill>
                  <a:srgbClr val="2563EB"/>
                </a:solidFill>
                <a:latin typeface="Inter"/>
                <a:ea typeface="Inter"/>
                <a:cs typeface="Inter"/>
                <a:sym typeface="Inter"/>
              </a:endParaRPr>
            </a:p>
            <a:p>
              <a:pPr indent="0" lvl="0" marL="0" rtl="0" algn="l">
                <a:spcBef>
                  <a:spcPts val="200"/>
                </a:spcBef>
                <a:spcAft>
                  <a:spcPts val="0"/>
                </a:spcAft>
                <a:buNone/>
              </a:pPr>
              <a:r>
                <a:rPr b="1" lang="en" sz="1200">
                  <a:solidFill>
                    <a:srgbClr val="0F172A"/>
                  </a:solidFill>
                  <a:latin typeface="Inter"/>
                  <a:ea typeface="Inter"/>
                  <a:cs typeface="Inter"/>
                  <a:sym typeface="Inter"/>
                </a:rPr>
                <a:t>Music &amp; Arts Program Distribution Comparison</a:t>
              </a:r>
              <a:endParaRPr b="1" sz="1200">
                <a:solidFill>
                  <a:srgbClr val="0F172A"/>
                </a:solidFill>
                <a:latin typeface="Inter"/>
                <a:ea typeface="Inter"/>
                <a:cs typeface="Inter"/>
                <a:sym typeface="Inter"/>
              </a:endParaRPr>
            </a:p>
          </p:txBody>
        </p:sp>
      </p:grpSp>
      <p:pic>
        <p:nvPicPr>
          <p:cNvPr id="1503" name="Google Shape;1503;p70"/>
          <p:cNvPicPr preferRelativeResize="0"/>
          <p:nvPr/>
        </p:nvPicPr>
        <p:blipFill>
          <a:blip r:embed="rId4">
            <a:alphaModFix/>
          </a:blip>
          <a:stretch>
            <a:fillRect/>
          </a:stretch>
        </p:blipFill>
        <p:spPr>
          <a:xfrm>
            <a:off x="3063138" y="1740975"/>
            <a:ext cx="5570424" cy="26205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